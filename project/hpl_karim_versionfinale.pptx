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2"/>
    <p:sldId id="258" r:id="rId3"/>
    <p:sldId id="259" r:id="rId4"/>
    <p:sldId id="278" r:id="rId5"/>
    <p:sldId id="279" r:id="rId6"/>
    <p:sldId id="280" r:id="rId7"/>
    <p:sldId id="281" r:id="rId8"/>
    <p:sldId id="282" r:id="rId9"/>
    <p:sldId id="283" r:id="rId10"/>
    <p:sldId id="284" r:id="rId11"/>
    <p:sldId id="28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344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10" autoAdjust="0"/>
    <p:restoredTop sz="70452" autoAdjust="0"/>
  </p:normalViewPr>
  <p:slideViewPr>
    <p:cSldViewPr snapToGrid="0" snapToObjects="1">
      <p:cViewPr varScale="1">
        <p:scale>
          <a:sx n="59" d="100"/>
          <a:sy n="59" d="100"/>
        </p:scale>
        <p:origin x="2107"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CAA2F8-30A8-4E52-930B-95A54281A09C}" type="datetimeFigureOut">
              <a:rPr lang="fr-FR" smtClean="0"/>
              <a:t>28/01/2026</a:t>
            </a:fld>
            <a:endParaRPr lang="fr-F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698A5D-05D0-43BC-B7C4-FA1F8A5E7328}" type="slidenum">
              <a:rPr lang="fr-FR" smtClean="0"/>
              <a:t>‹N°›</a:t>
            </a:fld>
            <a:endParaRPr lang="fr-FR"/>
          </a:p>
        </p:txBody>
      </p:sp>
    </p:spTree>
    <p:extLst>
      <p:ext uri="{BB962C8B-B14F-4D97-AF65-F5344CB8AC3E}">
        <p14:creationId xmlns:p14="http://schemas.microsoft.com/office/powerpoint/2010/main" val="2014768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Pertinence et Spécificité</a:t>
            </a:r>
            <a:r>
              <a:rPr lang="fr-FR" dirty="0"/>
              <a:t> : Un benchmark doit être lié à un domaine précis ; plus il est généraliste, moins il est utile pour évaluer une tâche particulière.</a:t>
            </a:r>
          </a:p>
          <a:p>
            <a:r>
              <a:rPr lang="fr-FR" b="1" dirty="0"/>
              <a:t>Représentativité du Travail</a:t>
            </a:r>
            <a:r>
              <a:rPr lang="fr-FR" dirty="0"/>
              <a:t> : Il doit distiller les attributs essentiels d'une charge de travail réelle pour être significatif dans son domaine cible.</a:t>
            </a:r>
          </a:p>
          <a:p>
            <a:r>
              <a:rPr lang="fr-FR" b="1" dirty="0"/>
              <a:t>Évaluation Comparative</a:t>
            </a:r>
            <a:r>
              <a:rPr lang="fr-FR" dirty="0"/>
              <a:t> : Sa fonction première est de servir de base standardisée pour permettre une évaluation comparative entre différents matériels ou architectures.</a:t>
            </a:r>
          </a:p>
          <a:p>
            <a:r>
              <a:rPr lang="fr-FR" b="1" dirty="0"/>
              <a:t>Évolutivité (</a:t>
            </a:r>
            <a:r>
              <a:rPr lang="fr-FR" b="1" dirty="0" err="1"/>
              <a:t>Scalability</a:t>
            </a:r>
            <a:r>
              <a:rPr lang="fr-FR" b="1" dirty="0"/>
              <a:t>)</a:t>
            </a:r>
            <a:r>
              <a:rPr lang="fr-FR" dirty="0"/>
              <a:t> : Il doit pouvoir s'appliquer à un large spectre de puissances, allant d'un simple PC à des architectures de calcul massivement parallèles.</a:t>
            </a:r>
          </a:p>
          <a:p>
            <a:endParaRPr lang="fr-FR" dirty="0"/>
          </a:p>
        </p:txBody>
      </p:sp>
      <p:sp>
        <p:nvSpPr>
          <p:cNvPr id="4" name="Espace réservé du numéro de diapositive 3"/>
          <p:cNvSpPr>
            <a:spLocks noGrp="1"/>
          </p:cNvSpPr>
          <p:nvPr>
            <p:ph type="sldNum" sz="quarter" idx="5"/>
          </p:nvPr>
        </p:nvSpPr>
        <p:spPr/>
        <p:txBody>
          <a:bodyPr/>
          <a:lstStyle/>
          <a:p>
            <a:fld id="{FD698A5D-05D0-43BC-B7C4-FA1F8A5E7328}" type="slidenum">
              <a:rPr lang="fr-FR" smtClean="0"/>
              <a:t>2</a:t>
            </a:fld>
            <a:endParaRPr lang="fr-FR"/>
          </a:p>
        </p:txBody>
      </p:sp>
    </p:spTree>
    <p:extLst>
      <p:ext uri="{BB962C8B-B14F-4D97-AF65-F5344CB8AC3E}">
        <p14:creationId xmlns:p14="http://schemas.microsoft.com/office/powerpoint/2010/main" val="3137357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D698A5D-05D0-43BC-B7C4-FA1F8A5E7328}" type="slidenum">
              <a:rPr lang="fr-FR" smtClean="0"/>
              <a:t>3</a:t>
            </a:fld>
            <a:endParaRPr lang="fr-FR"/>
          </a:p>
        </p:txBody>
      </p:sp>
    </p:spTree>
    <p:extLst>
      <p:ext uri="{BB962C8B-B14F-4D97-AF65-F5344CB8AC3E}">
        <p14:creationId xmlns:p14="http://schemas.microsoft.com/office/powerpoint/2010/main" val="3320954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7C937-3A61-00FB-6CC9-026BF26DD96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7791F0-4A6C-2BB8-9731-415BC126A34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93455ED-2C4C-553F-18B4-7A2BA4B36BFB}"/>
              </a:ext>
            </a:extLst>
          </p:cNvPr>
          <p:cNvSpPr>
            <a:spLocks noGrp="1"/>
          </p:cNvSpPr>
          <p:nvPr>
            <p:ph type="body" idx="1"/>
          </p:nvPr>
        </p:nvSpPr>
        <p:spPr/>
        <p:txBody>
          <a:bodyPr/>
          <a:lstStyle/>
          <a:p>
            <a:r>
              <a:rPr lang="fr-FR" sz="1200" b="1" kern="1200" dirty="0">
                <a:solidFill>
                  <a:schemeClr val="tx1"/>
                </a:solidFill>
                <a:effectLst/>
                <a:latin typeface="+mn-lt"/>
                <a:ea typeface="+mn-ea"/>
                <a:cs typeface="+mn-cs"/>
              </a:rPr>
              <a:t>Distribution de Données : 2-D Block-</a:t>
            </a:r>
            <a:r>
              <a:rPr lang="fr-FR" sz="1200" b="1" kern="1200" dirty="0" err="1">
                <a:solidFill>
                  <a:schemeClr val="tx1"/>
                </a:solidFill>
                <a:effectLst/>
                <a:latin typeface="+mn-lt"/>
                <a:ea typeface="+mn-ea"/>
                <a:cs typeface="+mn-cs"/>
              </a:rPr>
              <a:t>Cyclic</a:t>
            </a:r>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La matrice est découpée en blocs et répartie de façon cyclique sur une grille de processus $P \times Q$ pour équilibrer la charge de travail.</a:t>
            </a:r>
          </a:p>
          <a:p>
            <a:r>
              <a:rPr lang="fr-FR" sz="1200" b="1" kern="1200" dirty="0">
                <a:solidFill>
                  <a:schemeClr val="tx1"/>
                </a:solidFill>
                <a:effectLst/>
                <a:latin typeface="+mn-lt"/>
                <a:ea typeface="+mn-ea"/>
                <a:cs typeface="+mn-cs"/>
              </a:rPr>
              <a:t>Factorisation LU "Right-</a:t>
            </a:r>
            <a:r>
              <a:rPr lang="fr-FR" sz="1200" b="1" kern="1200" dirty="0" err="1">
                <a:solidFill>
                  <a:schemeClr val="tx1"/>
                </a:solidFill>
                <a:effectLst/>
                <a:latin typeface="+mn-lt"/>
                <a:ea typeface="+mn-ea"/>
                <a:cs typeface="+mn-cs"/>
              </a:rPr>
              <a:t>Looking</a:t>
            </a:r>
            <a:r>
              <a:rPr lang="fr-FR" sz="1200" b="1" kern="1200" dirty="0">
                <a:solidFill>
                  <a:schemeClr val="tx1"/>
                </a:solidFill>
                <a:effectLst/>
                <a:latin typeface="+mn-lt"/>
                <a:ea typeface="+mn-ea"/>
                <a:cs typeface="+mn-cs"/>
              </a:rPr>
              <a:t>"</a:t>
            </a:r>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Utilise un variant qui privilégie les mises à jour à droite de la matrice avec un </a:t>
            </a:r>
            <a:r>
              <a:rPr lang="fr-FR" sz="1200" kern="1200" dirty="0" err="1">
                <a:solidFill>
                  <a:schemeClr val="tx1"/>
                </a:solidFill>
                <a:effectLst/>
                <a:latin typeface="+mn-lt"/>
                <a:ea typeface="+mn-ea"/>
                <a:cs typeface="+mn-cs"/>
              </a:rPr>
              <a:t>pivotage</a:t>
            </a:r>
            <a:r>
              <a:rPr lang="fr-FR" sz="1200" kern="1200" dirty="0">
                <a:solidFill>
                  <a:schemeClr val="tx1"/>
                </a:solidFill>
                <a:effectLst/>
                <a:latin typeface="+mn-lt"/>
                <a:ea typeface="+mn-ea"/>
                <a:cs typeface="+mn-cs"/>
              </a:rPr>
              <a:t> partiel par ligne pour assurer la stabilité numérique.</a:t>
            </a:r>
          </a:p>
          <a:p>
            <a:r>
              <a:rPr lang="fr-FR" sz="1200" b="1" kern="1200" dirty="0">
                <a:solidFill>
                  <a:schemeClr val="tx1"/>
                </a:solidFill>
                <a:effectLst/>
                <a:latin typeface="+mn-lt"/>
                <a:ea typeface="+mn-ea"/>
                <a:cs typeface="+mn-cs"/>
              </a:rPr>
              <a:t>Optimisation de la Communication</a:t>
            </a:r>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Intègre des techniques de "look-</a:t>
            </a:r>
            <a:r>
              <a:rPr lang="fr-FR" sz="1200" kern="1200" dirty="0" err="1">
                <a:solidFill>
                  <a:schemeClr val="tx1"/>
                </a:solidFill>
                <a:effectLst/>
                <a:latin typeface="+mn-lt"/>
                <a:ea typeface="+mn-ea"/>
                <a:cs typeface="+mn-cs"/>
              </a:rPr>
              <a:t>ahead</a:t>
            </a:r>
            <a:r>
              <a:rPr lang="fr-FR" sz="1200" kern="1200" dirty="0">
                <a:solidFill>
                  <a:schemeClr val="tx1"/>
                </a:solidFill>
                <a:effectLst/>
                <a:latin typeface="+mn-lt"/>
                <a:ea typeface="+mn-ea"/>
                <a:cs typeface="+mn-cs"/>
              </a:rPr>
              <a:t>" (anticipation) et différents types de topologies de diffusion (broadcast) pour masquer les temps de transfert entre processeurs.</a:t>
            </a:r>
          </a:p>
          <a:p>
            <a:r>
              <a:rPr lang="fr-FR" sz="1200" b="1" kern="1200" dirty="0">
                <a:solidFill>
                  <a:schemeClr val="tx1"/>
                </a:solidFill>
                <a:effectLst/>
                <a:latin typeface="+mn-lt"/>
                <a:ea typeface="+mn-ea"/>
                <a:cs typeface="+mn-cs"/>
              </a:rPr>
              <a:t>Complexité et Performance</a:t>
            </a:r>
            <a:endParaRPr lang="fr-FR" sz="1200" kern="1200" dirty="0">
              <a:solidFill>
                <a:schemeClr val="tx1"/>
              </a:solidFill>
              <a:effectLst/>
              <a:latin typeface="+mn-lt"/>
              <a:ea typeface="+mn-ea"/>
              <a:cs typeface="+mn-cs"/>
            </a:endParaRPr>
          </a:p>
          <a:p>
            <a:r>
              <a:rPr lang="fr-FR" sz="1200" kern="1200" dirty="0">
                <a:solidFill>
                  <a:schemeClr val="tx1"/>
                </a:solidFill>
                <a:effectLst/>
                <a:latin typeface="+mn-lt"/>
                <a:ea typeface="+mn-ea"/>
                <a:cs typeface="+mn-cs"/>
              </a:rPr>
              <a:t>Le nombre d'opérations en virgule flottante est défini par la formule</a:t>
            </a:r>
          </a:p>
        </p:txBody>
      </p:sp>
      <p:sp>
        <p:nvSpPr>
          <p:cNvPr id="4" name="Espace réservé du numéro de diapositive 3">
            <a:extLst>
              <a:ext uri="{FF2B5EF4-FFF2-40B4-BE49-F238E27FC236}">
                <a16:creationId xmlns:a16="http://schemas.microsoft.com/office/drawing/2014/main" id="{27808306-9495-89F8-B53E-86E0FF16E34F}"/>
              </a:ext>
            </a:extLst>
          </p:cNvPr>
          <p:cNvSpPr>
            <a:spLocks noGrp="1"/>
          </p:cNvSpPr>
          <p:nvPr>
            <p:ph type="sldNum" sz="quarter" idx="5"/>
          </p:nvPr>
        </p:nvSpPr>
        <p:spPr/>
        <p:txBody>
          <a:bodyPr/>
          <a:lstStyle/>
          <a:p>
            <a:fld id="{FD698A5D-05D0-43BC-B7C4-FA1F8A5E7328}" type="slidenum">
              <a:rPr lang="fr-FR" smtClean="0"/>
              <a:t>4</a:t>
            </a:fld>
            <a:endParaRPr lang="fr-FR"/>
          </a:p>
        </p:txBody>
      </p:sp>
    </p:spTree>
    <p:extLst>
      <p:ext uri="{BB962C8B-B14F-4D97-AF65-F5344CB8AC3E}">
        <p14:creationId xmlns:p14="http://schemas.microsoft.com/office/powerpoint/2010/main" val="1489517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F666B-2384-6FD9-638B-349230FE63D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16BE82F-31F7-9D03-19A4-D242811EF48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3A8C253-95BC-4FDE-3C0B-046C8FD69561}"/>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05433567-C191-1094-0704-32916A7CEB95}"/>
              </a:ext>
            </a:extLst>
          </p:cNvPr>
          <p:cNvSpPr>
            <a:spLocks noGrp="1"/>
          </p:cNvSpPr>
          <p:nvPr>
            <p:ph type="sldNum" sz="quarter" idx="5"/>
          </p:nvPr>
        </p:nvSpPr>
        <p:spPr/>
        <p:txBody>
          <a:bodyPr/>
          <a:lstStyle/>
          <a:p>
            <a:fld id="{FD698A5D-05D0-43BC-B7C4-FA1F8A5E7328}" type="slidenum">
              <a:rPr lang="fr-FR" smtClean="0"/>
              <a:t>5</a:t>
            </a:fld>
            <a:endParaRPr lang="fr-FR"/>
          </a:p>
        </p:txBody>
      </p:sp>
    </p:spTree>
    <p:extLst>
      <p:ext uri="{BB962C8B-B14F-4D97-AF65-F5344CB8AC3E}">
        <p14:creationId xmlns:p14="http://schemas.microsoft.com/office/powerpoint/2010/main" val="2357099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94686-F0C7-5C8E-424A-B9716B8426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1DE4809-273F-542C-EFE3-9DD55AE322E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64E9CC4-B7A1-BE67-0F4F-9FE5D1BFCE4A}"/>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760E2983-F95E-64AE-5108-E753D843DC15}"/>
              </a:ext>
            </a:extLst>
          </p:cNvPr>
          <p:cNvSpPr>
            <a:spLocks noGrp="1"/>
          </p:cNvSpPr>
          <p:nvPr>
            <p:ph type="sldNum" sz="quarter" idx="5"/>
          </p:nvPr>
        </p:nvSpPr>
        <p:spPr/>
        <p:txBody>
          <a:bodyPr/>
          <a:lstStyle/>
          <a:p>
            <a:fld id="{FD698A5D-05D0-43BC-B7C4-FA1F8A5E7328}" type="slidenum">
              <a:rPr lang="fr-FR" smtClean="0"/>
              <a:t>6</a:t>
            </a:fld>
            <a:endParaRPr lang="fr-FR"/>
          </a:p>
        </p:txBody>
      </p:sp>
    </p:spTree>
    <p:extLst>
      <p:ext uri="{BB962C8B-B14F-4D97-AF65-F5344CB8AC3E}">
        <p14:creationId xmlns:p14="http://schemas.microsoft.com/office/powerpoint/2010/main" val="3135296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58217-AFB6-98BE-0E9E-83122728036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2779DB-4218-BE66-1846-97427D3247D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BAF6D7E-7337-3975-102C-3EB8A22BDBB1}"/>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4EFFB190-83AA-6EA2-81C5-803014142ECD}"/>
              </a:ext>
            </a:extLst>
          </p:cNvPr>
          <p:cNvSpPr>
            <a:spLocks noGrp="1"/>
          </p:cNvSpPr>
          <p:nvPr>
            <p:ph type="sldNum" sz="quarter" idx="5"/>
          </p:nvPr>
        </p:nvSpPr>
        <p:spPr/>
        <p:txBody>
          <a:bodyPr/>
          <a:lstStyle/>
          <a:p>
            <a:fld id="{FD698A5D-05D0-43BC-B7C4-FA1F8A5E7328}" type="slidenum">
              <a:rPr lang="fr-FR" smtClean="0"/>
              <a:t>7</a:t>
            </a:fld>
            <a:endParaRPr lang="fr-FR"/>
          </a:p>
        </p:txBody>
      </p:sp>
    </p:spTree>
    <p:extLst>
      <p:ext uri="{BB962C8B-B14F-4D97-AF65-F5344CB8AC3E}">
        <p14:creationId xmlns:p14="http://schemas.microsoft.com/office/powerpoint/2010/main" val="386339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02772-2AB9-D119-8AD8-D328459C6B1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FE5A663-112E-89CC-632E-70A149F2DFE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15530E9-D5A3-7FD0-27A9-F8B6C6DCB3FC}"/>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8FDAE18F-C9E6-1CD1-4CCB-26D184527F8F}"/>
              </a:ext>
            </a:extLst>
          </p:cNvPr>
          <p:cNvSpPr>
            <a:spLocks noGrp="1"/>
          </p:cNvSpPr>
          <p:nvPr>
            <p:ph type="sldNum" sz="quarter" idx="5"/>
          </p:nvPr>
        </p:nvSpPr>
        <p:spPr/>
        <p:txBody>
          <a:bodyPr/>
          <a:lstStyle/>
          <a:p>
            <a:fld id="{FD698A5D-05D0-43BC-B7C4-FA1F8A5E7328}" type="slidenum">
              <a:rPr lang="fr-FR" smtClean="0"/>
              <a:t>8</a:t>
            </a:fld>
            <a:endParaRPr lang="fr-FR"/>
          </a:p>
        </p:txBody>
      </p:sp>
    </p:spTree>
    <p:extLst>
      <p:ext uri="{BB962C8B-B14F-4D97-AF65-F5344CB8AC3E}">
        <p14:creationId xmlns:p14="http://schemas.microsoft.com/office/powerpoint/2010/main" val="3539902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4EC85-FEBE-BD48-7516-FAF3CED8B90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B19D0C6-E83B-135A-9492-6BC6B457406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BF3543F-8B21-20F7-E9CC-CB54AE57109C}"/>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6B251D30-AA38-7A61-5FDF-B55EE74C0D4C}"/>
              </a:ext>
            </a:extLst>
          </p:cNvPr>
          <p:cNvSpPr>
            <a:spLocks noGrp="1"/>
          </p:cNvSpPr>
          <p:nvPr>
            <p:ph type="sldNum" sz="quarter" idx="5"/>
          </p:nvPr>
        </p:nvSpPr>
        <p:spPr/>
        <p:txBody>
          <a:bodyPr/>
          <a:lstStyle/>
          <a:p>
            <a:fld id="{FD698A5D-05D0-43BC-B7C4-FA1F8A5E7328}" type="slidenum">
              <a:rPr lang="fr-FR" smtClean="0"/>
              <a:t>9</a:t>
            </a:fld>
            <a:endParaRPr lang="fr-FR"/>
          </a:p>
        </p:txBody>
      </p:sp>
    </p:spTree>
    <p:extLst>
      <p:ext uri="{BB962C8B-B14F-4D97-AF65-F5344CB8AC3E}">
        <p14:creationId xmlns:p14="http://schemas.microsoft.com/office/powerpoint/2010/main" val="185253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DB518-C10B-42DF-14FF-F79AD4981F2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5C09CF0-BD2E-422A-4362-EDBF8304188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40C9723-50ED-D095-A035-6ED6FCB5A2DC}"/>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CFC8407C-EEC3-C67E-7CAF-3F272CE0BEA0}"/>
              </a:ext>
            </a:extLst>
          </p:cNvPr>
          <p:cNvSpPr>
            <a:spLocks noGrp="1"/>
          </p:cNvSpPr>
          <p:nvPr>
            <p:ph type="sldNum" sz="quarter" idx="5"/>
          </p:nvPr>
        </p:nvSpPr>
        <p:spPr/>
        <p:txBody>
          <a:bodyPr/>
          <a:lstStyle/>
          <a:p>
            <a:fld id="{FD698A5D-05D0-43BC-B7C4-FA1F8A5E7328}" type="slidenum">
              <a:rPr lang="fr-FR" smtClean="0"/>
              <a:t>10</a:t>
            </a:fld>
            <a:endParaRPr lang="fr-FR"/>
          </a:p>
        </p:txBody>
      </p:sp>
    </p:spTree>
    <p:extLst>
      <p:ext uri="{BB962C8B-B14F-4D97-AF65-F5344CB8AC3E}">
        <p14:creationId xmlns:p14="http://schemas.microsoft.com/office/powerpoint/2010/main" val="333726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3B3F2-87A1-A822-0637-55C2A8E1F2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A61C378-ABDF-A9D9-E32F-25E52BFFC73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437050B-03C5-0C42-9FF5-F97B56A541C5}"/>
              </a:ext>
            </a:extLst>
          </p:cNvPr>
          <p:cNvSpPr>
            <a:spLocks noGrp="1"/>
          </p:cNvSpPr>
          <p:nvPr>
            <p:ph type="body" idx="1"/>
          </p:nvPr>
        </p:nvSpPr>
        <p:spPr/>
        <p:txBody>
          <a:bodyPr/>
          <a:lstStyle/>
          <a:p>
            <a:endParaRPr lang="fr-FR" sz="1200" kern="1200" dirty="0">
              <a:solidFill>
                <a:schemeClr val="tx1"/>
              </a:solidFill>
              <a:effectLst/>
              <a:latin typeface="+mn-lt"/>
              <a:ea typeface="+mn-ea"/>
              <a:cs typeface="+mn-cs"/>
            </a:endParaRPr>
          </a:p>
        </p:txBody>
      </p:sp>
      <p:sp>
        <p:nvSpPr>
          <p:cNvPr id="4" name="Espace réservé du numéro de diapositive 3">
            <a:extLst>
              <a:ext uri="{FF2B5EF4-FFF2-40B4-BE49-F238E27FC236}">
                <a16:creationId xmlns:a16="http://schemas.microsoft.com/office/drawing/2014/main" id="{263EF68A-01C0-3A8B-3B0E-82E607AF324C}"/>
              </a:ext>
            </a:extLst>
          </p:cNvPr>
          <p:cNvSpPr>
            <a:spLocks noGrp="1"/>
          </p:cNvSpPr>
          <p:nvPr>
            <p:ph type="sldNum" sz="quarter" idx="5"/>
          </p:nvPr>
        </p:nvSpPr>
        <p:spPr/>
        <p:txBody>
          <a:bodyPr/>
          <a:lstStyle/>
          <a:p>
            <a:fld id="{FD698A5D-05D0-43BC-B7C4-FA1F8A5E7328}" type="slidenum">
              <a:rPr lang="fr-FR" smtClean="0"/>
              <a:t>11</a:t>
            </a:fld>
            <a:endParaRPr lang="fr-FR"/>
          </a:p>
        </p:txBody>
      </p:sp>
    </p:spTree>
    <p:extLst>
      <p:ext uri="{BB962C8B-B14F-4D97-AF65-F5344CB8AC3E}">
        <p14:creationId xmlns:p14="http://schemas.microsoft.com/office/powerpoint/2010/main" val="3509121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C81D1DF-77A0-42E6-9759-C08F27CFF73F}"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59ABC6-019A-4466-A462-12D7F4BA8193}"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B3B434-CCFE-43E0-9B9B-6C7E88CB9E3D}"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6F9F276-1E97-4615-A0EA-34B5FCBB3EC7}" type="datetime1">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DFBE0F4-B701-42EC-AD04-AD82F0FF7EBE}" type="datetime1">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C654E71-D2BB-4CB0-A398-54EA0F43CFC1}" type="datetime1">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CDC4D8-A9EF-406C-A21B-94272D27C9A6}" type="datetime1">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A51899-8CB2-4D7D-97BB-6AB13E152F32}" type="datetime1">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C47EBF-DC1A-4719-BB7E-EB0C9496F6A8}" type="datetime1">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3F436D-9F6F-4F0A-AC22-C624AE66F91E}"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EC6A4DD-1E76-4365-9E8D-89130CD1448E}" type="datetime1">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E1B11B-5926-4BF7-9E20-2BEB43F60B44}" type="datetime1">
              <a:rPr lang="en-US" smtClean="0"/>
              <a:t>1/28/2026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14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371600"/>
            <a:ext cx="7658956" cy="830997"/>
          </a:xfrm>
          <a:prstGeom prst="rect">
            <a:avLst/>
          </a:prstGeom>
          <a:noFill/>
        </p:spPr>
        <p:txBody>
          <a:bodyPr wrap="none">
            <a:spAutoFit/>
          </a:bodyPr>
          <a:lstStyle/>
          <a:p>
            <a:pPr>
              <a:defRPr sz="4800" b="1">
                <a:solidFill>
                  <a:srgbClr val="FAF8F5"/>
                </a:solidFill>
              </a:defRPr>
            </a:pPr>
            <a:r>
              <a:rPr lang="fr-FR" sz="4800" b="1" dirty="0"/>
              <a:t>Qu'est-ce qu'un Benchmark ?</a:t>
            </a:r>
            <a:endParaRPr dirty="0"/>
          </a:p>
        </p:txBody>
      </p:sp>
      <p:sp>
        <p:nvSpPr>
          <p:cNvPr id="5" name="Rectangle 4"/>
          <p:cNvSpPr/>
          <p:nvPr/>
        </p:nvSpPr>
        <p:spPr>
          <a:xfrm>
            <a:off x="0" y="2194560"/>
            <a:ext cx="50292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468880"/>
            <a:ext cx="7863840" cy="3910301"/>
          </a:xfrm>
          <a:prstGeom prst="rect">
            <a:avLst/>
          </a:prstGeom>
          <a:noFill/>
        </p:spPr>
        <p:txBody>
          <a:bodyPr wrap="square">
            <a:spAutoFit/>
          </a:bodyPr>
          <a:lstStyle/>
          <a:p>
            <a:pPr>
              <a:lnSpc>
                <a:spcPct val="140000"/>
              </a:lnSpc>
              <a:defRPr sz="1800">
                <a:solidFill>
                  <a:srgbClr val="FAF8F5"/>
                </a:solidFill>
              </a:defRPr>
            </a:pPr>
            <a:r>
              <a:rPr lang="fr-FR" sz="3000" dirty="0"/>
              <a:t>Un </a:t>
            </a:r>
            <a:r>
              <a:rPr lang="fr-FR" sz="3000" b="1" dirty="0"/>
              <a:t>benchmark</a:t>
            </a:r>
            <a:r>
              <a:rPr lang="fr-FR" sz="3000" dirty="0"/>
              <a:t> est un test standardisé ou un problème de référence utilisé pour évaluer et comparer les performances d'un système informatique. C'est une mesure qui sert de base pour situer les capacités d'une machine par rapport à d'autres.</a:t>
            </a:r>
            <a:endParaRPr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428292"/>
            <a:ext cx="8089843" cy="738664"/>
          </a:xfrm>
          <a:prstGeom prst="rect">
            <a:avLst/>
          </a:prstGeom>
          <a:noFill/>
        </p:spPr>
        <p:txBody>
          <a:bodyPr wrap="none">
            <a:spAutoFit/>
          </a:bodyPr>
          <a:lstStyle/>
          <a:p>
            <a:pPr>
              <a:defRPr sz="4200" b="1">
                <a:solidFill>
                  <a:srgbClr val="143440"/>
                </a:solidFill>
              </a:defRPr>
            </a:pPr>
            <a:r>
              <a:rPr lang="fr-FR" sz="4200" b="1" dirty="0"/>
              <a:t>Les Propriétés d'un Bon Benchmark</a:t>
            </a:r>
            <a:endParaRPr dirty="0"/>
          </a:p>
        </p:txBody>
      </p:sp>
      <p:sp>
        <p:nvSpPr>
          <p:cNvPr id="5" name="Rectangle 4"/>
          <p:cNvSpPr/>
          <p:nvPr/>
        </p:nvSpPr>
        <p:spPr>
          <a:xfrm>
            <a:off x="0" y="1097280"/>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64130" y="2236609"/>
            <a:ext cx="4031168" cy="553998"/>
          </a:xfrm>
          <a:prstGeom prst="rect">
            <a:avLst/>
          </a:prstGeom>
          <a:noFill/>
        </p:spPr>
        <p:txBody>
          <a:bodyPr wrap="none">
            <a:spAutoFit/>
          </a:bodyPr>
          <a:lstStyle/>
          <a:p>
            <a:pPr>
              <a:defRPr sz="4400" b="1">
                <a:solidFill>
                  <a:srgbClr val="FF6B35"/>
                </a:solidFill>
              </a:defRPr>
            </a:pPr>
            <a:r>
              <a:rPr lang="fr-FR" sz="3000" b="1" dirty="0"/>
              <a:t>Pertinence et Spécificité</a:t>
            </a:r>
            <a:endParaRPr sz="3000" dirty="0"/>
          </a:p>
        </p:txBody>
      </p:sp>
      <p:sp>
        <p:nvSpPr>
          <p:cNvPr id="7" name="TextBox 6"/>
          <p:cNvSpPr txBox="1"/>
          <p:nvPr/>
        </p:nvSpPr>
        <p:spPr>
          <a:xfrm>
            <a:off x="1094898" y="2843094"/>
            <a:ext cx="3200400" cy="316369"/>
          </a:xfrm>
          <a:prstGeom prst="rect">
            <a:avLst/>
          </a:prstGeom>
          <a:noFill/>
        </p:spPr>
        <p:txBody>
          <a:bodyPr wrap="square">
            <a:spAutoFit/>
          </a:bodyPr>
          <a:lstStyle/>
          <a:p>
            <a:pPr>
              <a:lnSpc>
                <a:spcPct val="120000"/>
              </a:lnSpc>
              <a:defRPr sz="1300">
                <a:solidFill>
                  <a:srgbClr val="282828"/>
                </a:solidFill>
              </a:defRPr>
            </a:pPr>
            <a:r>
              <a:rPr lang="fr-FR" sz="1300" dirty="0"/>
              <a:t>doit être lié à un domaine précis</a:t>
            </a:r>
            <a:endParaRPr dirty="0"/>
          </a:p>
        </p:txBody>
      </p:sp>
      <p:sp>
        <p:nvSpPr>
          <p:cNvPr id="8" name="TextBox 7"/>
          <p:cNvSpPr txBox="1"/>
          <p:nvPr/>
        </p:nvSpPr>
        <p:spPr>
          <a:xfrm>
            <a:off x="4668695" y="2047903"/>
            <a:ext cx="4523226" cy="769441"/>
          </a:xfrm>
          <a:prstGeom prst="rect">
            <a:avLst/>
          </a:prstGeom>
          <a:noFill/>
        </p:spPr>
        <p:txBody>
          <a:bodyPr wrap="none">
            <a:spAutoFit/>
          </a:bodyPr>
          <a:lstStyle/>
          <a:p>
            <a:pPr>
              <a:defRPr sz="4400" b="1">
                <a:solidFill>
                  <a:srgbClr val="FF6B35"/>
                </a:solidFill>
              </a:defRPr>
            </a:pPr>
            <a:r>
              <a:rPr lang="fr-FR" sz="3000" b="1" dirty="0">
                <a:solidFill>
                  <a:srgbClr val="FF6B35"/>
                </a:solidFill>
              </a:rPr>
              <a:t>Représentativité</a:t>
            </a:r>
            <a:r>
              <a:rPr lang="fr-FR" sz="4400" b="1" dirty="0"/>
              <a:t> </a:t>
            </a:r>
            <a:r>
              <a:rPr lang="fr-FR" sz="3000" b="1" dirty="0">
                <a:solidFill>
                  <a:srgbClr val="FF6B35"/>
                </a:solidFill>
              </a:rPr>
              <a:t>du</a:t>
            </a:r>
            <a:r>
              <a:rPr lang="fr-FR" sz="4400" b="1" dirty="0"/>
              <a:t> </a:t>
            </a:r>
            <a:r>
              <a:rPr lang="fr-FR" sz="3000" b="1" dirty="0">
                <a:solidFill>
                  <a:srgbClr val="FF6B35"/>
                </a:solidFill>
              </a:rPr>
              <a:t>Travail</a:t>
            </a:r>
            <a:endParaRPr sz="3000" b="1" dirty="0">
              <a:solidFill>
                <a:srgbClr val="FF6B35"/>
              </a:solidFill>
            </a:endParaRPr>
          </a:p>
        </p:txBody>
      </p:sp>
      <p:sp>
        <p:nvSpPr>
          <p:cNvPr id="9" name="TextBox 8"/>
          <p:cNvSpPr txBox="1"/>
          <p:nvPr/>
        </p:nvSpPr>
        <p:spPr>
          <a:xfrm>
            <a:off x="5192948" y="2843093"/>
            <a:ext cx="3474720" cy="316369"/>
          </a:xfrm>
          <a:prstGeom prst="rect">
            <a:avLst/>
          </a:prstGeom>
          <a:noFill/>
        </p:spPr>
        <p:txBody>
          <a:bodyPr wrap="square">
            <a:spAutoFit/>
          </a:bodyPr>
          <a:lstStyle/>
          <a:p>
            <a:pPr>
              <a:lnSpc>
                <a:spcPct val="120000"/>
              </a:lnSpc>
              <a:defRPr sz="1300">
                <a:solidFill>
                  <a:srgbClr val="282828"/>
                </a:solidFill>
              </a:defRPr>
            </a:pPr>
            <a:r>
              <a:rPr lang="fr-FR" sz="1300" dirty="0"/>
              <a:t>doit être significatif dans son domaine cible</a:t>
            </a:r>
            <a:endParaRPr dirty="0"/>
          </a:p>
        </p:txBody>
      </p:sp>
      <p:sp>
        <p:nvSpPr>
          <p:cNvPr id="11" name="TextBox 10"/>
          <p:cNvSpPr txBox="1"/>
          <p:nvPr/>
        </p:nvSpPr>
        <p:spPr>
          <a:xfrm>
            <a:off x="361976" y="4679304"/>
            <a:ext cx="4017895" cy="556434"/>
          </a:xfrm>
          <a:prstGeom prst="rect">
            <a:avLst/>
          </a:prstGeom>
          <a:noFill/>
        </p:spPr>
        <p:txBody>
          <a:bodyPr wrap="square">
            <a:spAutoFit/>
          </a:bodyPr>
          <a:lstStyle/>
          <a:p>
            <a:pPr>
              <a:lnSpc>
                <a:spcPct val="120000"/>
              </a:lnSpc>
              <a:defRPr sz="1300">
                <a:solidFill>
                  <a:srgbClr val="282828"/>
                </a:solidFill>
              </a:defRPr>
            </a:pPr>
            <a:r>
              <a:rPr lang="fr-FR" sz="1300" dirty="0"/>
              <a:t>permet une évaluation comparative entre différents matériels ou architectures</a:t>
            </a:r>
            <a:endParaRPr dirty="0"/>
          </a:p>
        </p:txBody>
      </p:sp>
      <p:sp>
        <p:nvSpPr>
          <p:cNvPr id="13" name="TextBox 12"/>
          <p:cNvSpPr txBox="1"/>
          <p:nvPr/>
        </p:nvSpPr>
        <p:spPr>
          <a:xfrm>
            <a:off x="5065044" y="4653178"/>
            <a:ext cx="4017894" cy="316369"/>
          </a:xfrm>
          <a:prstGeom prst="rect">
            <a:avLst/>
          </a:prstGeom>
          <a:noFill/>
        </p:spPr>
        <p:txBody>
          <a:bodyPr wrap="square">
            <a:spAutoFit/>
          </a:bodyPr>
          <a:lstStyle/>
          <a:p>
            <a:pPr>
              <a:lnSpc>
                <a:spcPct val="120000"/>
              </a:lnSpc>
              <a:defRPr sz="1300">
                <a:solidFill>
                  <a:srgbClr val="282828"/>
                </a:solidFill>
              </a:defRPr>
            </a:pPr>
            <a:r>
              <a:rPr lang="fr-FR" sz="1300" dirty="0"/>
              <a:t>doit pouvoir s'appliquer à un large spectre de puissances</a:t>
            </a:r>
            <a:endParaRPr dirty="0"/>
          </a:p>
        </p:txBody>
      </p:sp>
      <p:sp>
        <p:nvSpPr>
          <p:cNvPr id="14" name="TextBox 5">
            <a:extLst>
              <a:ext uri="{FF2B5EF4-FFF2-40B4-BE49-F238E27FC236}">
                <a16:creationId xmlns:a16="http://schemas.microsoft.com/office/drawing/2014/main" id="{F905A755-6368-18B9-AF1C-8C00A3F792DF}"/>
              </a:ext>
            </a:extLst>
          </p:cNvPr>
          <p:cNvSpPr txBox="1"/>
          <p:nvPr/>
        </p:nvSpPr>
        <p:spPr>
          <a:xfrm>
            <a:off x="277403" y="3909863"/>
            <a:ext cx="4017895" cy="769441"/>
          </a:xfrm>
          <a:prstGeom prst="rect">
            <a:avLst/>
          </a:prstGeom>
          <a:noFill/>
        </p:spPr>
        <p:txBody>
          <a:bodyPr wrap="none">
            <a:spAutoFit/>
          </a:bodyPr>
          <a:lstStyle/>
          <a:p>
            <a:pPr>
              <a:defRPr sz="4400" b="1">
                <a:solidFill>
                  <a:srgbClr val="FF6B35"/>
                </a:solidFill>
              </a:defRPr>
            </a:pPr>
            <a:r>
              <a:rPr lang="fr-FR" sz="3000" b="1" dirty="0">
                <a:solidFill>
                  <a:srgbClr val="FF6B35"/>
                </a:solidFill>
              </a:rPr>
              <a:t>Évaluation</a:t>
            </a:r>
            <a:r>
              <a:rPr lang="fr-FR" sz="4400" b="1" dirty="0"/>
              <a:t> </a:t>
            </a:r>
            <a:r>
              <a:rPr lang="fr-FR" sz="3000" b="1" dirty="0">
                <a:solidFill>
                  <a:srgbClr val="FF6B35"/>
                </a:solidFill>
              </a:rPr>
              <a:t>Comparative</a:t>
            </a:r>
            <a:endParaRPr sz="3000" b="1" dirty="0">
              <a:solidFill>
                <a:srgbClr val="FF6B35"/>
              </a:solidFill>
            </a:endParaRPr>
          </a:p>
        </p:txBody>
      </p:sp>
      <p:sp>
        <p:nvSpPr>
          <p:cNvPr id="15" name="TextBox 5">
            <a:extLst>
              <a:ext uri="{FF2B5EF4-FFF2-40B4-BE49-F238E27FC236}">
                <a16:creationId xmlns:a16="http://schemas.microsoft.com/office/drawing/2014/main" id="{DB9784C5-41AA-1F9D-DEB7-7CB86601C538}"/>
              </a:ext>
            </a:extLst>
          </p:cNvPr>
          <p:cNvSpPr txBox="1"/>
          <p:nvPr/>
        </p:nvSpPr>
        <p:spPr>
          <a:xfrm>
            <a:off x="5358841" y="4117896"/>
            <a:ext cx="1809598" cy="553998"/>
          </a:xfrm>
          <a:prstGeom prst="rect">
            <a:avLst/>
          </a:prstGeom>
          <a:noFill/>
        </p:spPr>
        <p:txBody>
          <a:bodyPr wrap="none">
            <a:spAutoFit/>
          </a:bodyPr>
          <a:lstStyle/>
          <a:p>
            <a:pPr>
              <a:defRPr sz="4400" b="1">
                <a:solidFill>
                  <a:srgbClr val="FF6B35"/>
                </a:solidFill>
              </a:defRPr>
            </a:pPr>
            <a:r>
              <a:rPr lang="fr-FR" sz="3000" b="1" dirty="0"/>
              <a:t>Scalabilité</a:t>
            </a:r>
            <a:endParaRPr sz="3000" dirty="0"/>
          </a:p>
        </p:txBody>
      </p:sp>
      <p:sp>
        <p:nvSpPr>
          <p:cNvPr id="16" name="Rounded Rectangle 7">
            <a:extLst>
              <a:ext uri="{FF2B5EF4-FFF2-40B4-BE49-F238E27FC236}">
                <a16:creationId xmlns:a16="http://schemas.microsoft.com/office/drawing/2014/main" id="{BA87C1EA-4D75-690A-38B5-ED1D49DFC790}"/>
              </a:ext>
            </a:extLst>
          </p:cNvPr>
          <p:cNvSpPr/>
          <p:nvPr/>
        </p:nvSpPr>
        <p:spPr>
          <a:xfrm>
            <a:off x="143686" y="2468880"/>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7">
            <a:extLst>
              <a:ext uri="{FF2B5EF4-FFF2-40B4-BE49-F238E27FC236}">
                <a16:creationId xmlns:a16="http://schemas.microsoft.com/office/drawing/2014/main" id="{02A4D43D-07F4-A8D1-4578-EC47E59D2891}"/>
              </a:ext>
            </a:extLst>
          </p:cNvPr>
          <p:cNvSpPr/>
          <p:nvPr/>
        </p:nvSpPr>
        <p:spPr>
          <a:xfrm>
            <a:off x="4558967" y="2468880"/>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7">
            <a:extLst>
              <a:ext uri="{FF2B5EF4-FFF2-40B4-BE49-F238E27FC236}">
                <a16:creationId xmlns:a16="http://schemas.microsoft.com/office/drawing/2014/main" id="{26FDA635-F4DF-3555-5141-0B53B4E6ED04}"/>
              </a:ext>
            </a:extLst>
          </p:cNvPr>
          <p:cNvSpPr/>
          <p:nvPr/>
        </p:nvSpPr>
        <p:spPr>
          <a:xfrm>
            <a:off x="5249113" y="4355525"/>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7">
            <a:extLst>
              <a:ext uri="{FF2B5EF4-FFF2-40B4-BE49-F238E27FC236}">
                <a16:creationId xmlns:a16="http://schemas.microsoft.com/office/drawing/2014/main" id="{21F61F80-F746-94A0-5B28-0D65D79E984C}"/>
              </a:ext>
            </a:extLst>
          </p:cNvPr>
          <p:cNvSpPr/>
          <p:nvPr/>
        </p:nvSpPr>
        <p:spPr>
          <a:xfrm>
            <a:off x="198550" y="4320587"/>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490272"/>
            <a:ext cx="7251537" cy="738664"/>
          </a:xfrm>
          <a:prstGeom prst="rect">
            <a:avLst/>
          </a:prstGeom>
          <a:noFill/>
        </p:spPr>
        <p:txBody>
          <a:bodyPr wrap="none">
            <a:spAutoFit/>
          </a:bodyPr>
          <a:lstStyle/>
          <a:p>
            <a:pPr>
              <a:defRPr sz="4200" b="1">
                <a:solidFill>
                  <a:srgbClr val="143440"/>
                </a:solidFill>
              </a:defRPr>
            </a:pPr>
            <a:r>
              <a:rPr lang="fr-FR" sz="4200" b="1" dirty="0"/>
              <a:t>HPL : High Performance </a:t>
            </a:r>
            <a:r>
              <a:rPr lang="fr-FR" sz="4200" b="1" dirty="0" err="1"/>
              <a:t>Linpack</a:t>
            </a:r>
            <a:endParaRPr dirty="0"/>
          </a:p>
        </p:txBody>
      </p:sp>
      <p:sp>
        <p:nvSpPr>
          <p:cNvPr id="5" name="Rectangle 4"/>
          <p:cNvSpPr/>
          <p:nvPr/>
        </p:nvSpPr>
        <p:spPr>
          <a:xfrm>
            <a:off x="0" y="1097280"/>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45920"/>
            <a:ext cx="8046720" cy="2079102"/>
          </a:xfrm>
          <a:prstGeom prst="rect">
            <a:avLst/>
          </a:prstGeom>
          <a:solidFill>
            <a:srgbClr val="1434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7315200" cy="1660455"/>
          </a:xfrm>
          <a:prstGeom prst="rect">
            <a:avLst/>
          </a:prstGeom>
          <a:noFill/>
        </p:spPr>
        <p:txBody>
          <a:bodyPr wrap="square">
            <a:spAutoFit/>
          </a:bodyPr>
          <a:lstStyle/>
          <a:p>
            <a:pPr>
              <a:lnSpc>
                <a:spcPct val="130000"/>
              </a:lnSpc>
              <a:defRPr sz="2000">
                <a:solidFill>
                  <a:srgbClr val="FAF8F5"/>
                </a:solidFill>
              </a:defRPr>
            </a:pPr>
            <a:r>
              <a:rPr lang="fr-FR" sz="2000" dirty="0"/>
              <a:t>HPL est un logiciel de référence qui résout un système d'équations linéaires dense </a:t>
            </a:r>
            <a:r>
              <a:rPr lang="fr-FR" sz="2000" i="1" dirty="0"/>
              <a:t>(Ax = b)</a:t>
            </a:r>
            <a:r>
              <a:rPr lang="fr-FR" sz="2000" dirty="0"/>
              <a:t> pour mesurer la puissance de calcul brute d'un ordinateur. Il est le standard utilisé pour classer les supercalculateurs du </a:t>
            </a:r>
            <a:r>
              <a:rPr lang="fr-FR" sz="2000" b="1" dirty="0"/>
              <a:t>TOP500</a:t>
            </a:r>
            <a:r>
              <a:rPr lang="fr-FR" sz="2000" dirty="0"/>
              <a:t>.</a:t>
            </a:r>
            <a:endParaRPr dirty="0"/>
          </a:p>
        </p:txBody>
      </p:sp>
      <p:sp>
        <p:nvSpPr>
          <p:cNvPr id="8" name="Rounded Rectangle 7"/>
          <p:cNvSpPr/>
          <p:nvPr/>
        </p:nvSpPr>
        <p:spPr>
          <a:xfrm>
            <a:off x="786384" y="4136502"/>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2467" y="3914207"/>
            <a:ext cx="7087133" cy="584775"/>
          </a:xfrm>
          <a:prstGeom prst="rect">
            <a:avLst/>
          </a:prstGeom>
          <a:noFill/>
        </p:spPr>
        <p:txBody>
          <a:bodyPr wrap="square">
            <a:spAutoFit/>
          </a:bodyPr>
          <a:lstStyle/>
          <a:p>
            <a:pPr>
              <a:defRPr sz="1600" b="1">
                <a:solidFill>
                  <a:srgbClr val="282828"/>
                </a:solidFill>
              </a:defRPr>
            </a:pPr>
            <a:r>
              <a:rPr lang="fr-FR" sz="1600" b="1" dirty="0"/>
              <a:t>créé par Jack </a:t>
            </a:r>
            <a:r>
              <a:rPr lang="fr-FR" sz="1600" b="1" dirty="0" err="1"/>
              <a:t>Dongarra</a:t>
            </a:r>
            <a:r>
              <a:rPr lang="fr-FR" sz="1600" b="1" dirty="0"/>
              <a:t>, il repose sur la bibliothèque de calcul linéaire LINPACK, aujourd'hui évoluée vers LAPACK.</a:t>
            </a:r>
            <a:endParaRPr dirty="0"/>
          </a:p>
        </p:txBody>
      </p:sp>
      <p:sp>
        <p:nvSpPr>
          <p:cNvPr id="11" name="Rounded Rectangle 10"/>
          <p:cNvSpPr/>
          <p:nvPr/>
        </p:nvSpPr>
        <p:spPr>
          <a:xfrm>
            <a:off x="778546" y="4836018"/>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42467" y="4592001"/>
            <a:ext cx="7315200" cy="584775"/>
          </a:xfrm>
          <a:prstGeom prst="rect">
            <a:avLst/>
          </a:prstGeom>
          <a:noFill/>
        </p:spPr>
        <p:txBody>
          <a:bodyPr wrap="square">
            <a:spAutoFit/>
          </a:bodyPr>
          <a:lstStyle/>
          <a:p>
            <a:pPr>
              <a:defRPr sz="1600" b="1">
                <a:solidFill>
                  <a:srgbClr val="282828"/>
                </a:solidFill>
              </a:defRPr>
            </a:pPr>
            <a:r>
              <a:rPr lang="fr-FR" sz="1600" b="1" dirty="0"/>
              <a:t>utilise la décomposition LU avec </a:t>
            </a:r>
            <a:r>
              <a:rPr lang="fr-FR" sz="1600" b="1" dirty="0" err="1"/>
              <a:t>pivotage</a:t>
            </a:r>
            <a:r>
              <a:rPr lang="fr-FR" sz="1600" b="1" dirty="0"/>
              <a:t> partiel sur des matrices générées de manière pseudo-aléatoire.</a:t>
            </a:r>
            <a:endParaRPr dirty="0"/>
          </a:p>
        </p:txBody>
      </p:sp>
      <p:sp>
        <p:nvSpPr>
          <p:cNvPr id="14" name="Rounded Rectangle 13"/>
          <p:cNvSpPr/>
          <p:nvPr/>
        </p:nvSpPr>
        <p:spPr>
          <a:xfrm>
            <a:off x="786384" y="5569121"/>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42467" y="5386462"/>
            <a:ext cx="6702897" cy="584775"/>
          </a:xfrm>
          <a:prstGeom prst="rect">
            <a:avLst/>
          </a:prstGeom>
          <a:noFill/>
        </p:spPr>
        <p:txBody>
          <a:bodyPr wrap="square">
            <a:spAutoFit/>
          </a:bodyPr>
          <a:lstStyle/>
          <a:p>
            <a:pPr>
              <a:defRPr sz="1600" b="1">
                <a:solidFill>
                  <a:srgbClr val="282828"/>
                </a:solidFill>
              </a:defRPr>
            </a:pPr>
            <a:r>
              <a:rPr lang="fr-FR" sz="1600" b="1" dirty="0"/>
              <a:t>fournit une estimation précise de la performance réelle en virgule flottante (FLOPS) du système.</a:t>
            </a:r>
            <a:endParaRPr dirty="0"/>
          </a:p>
        </p:txBody>
      </p:sp>
      <p:sp>
        <p:nvSpPr>
          <p:cNvPr id="17" name="Rounded Rectangle 16"/>
          <p:cNvSpPr/>
          <p:nvPr/>
        </p:nvSpPr>
        <p:spPr>
          <a:xfrm>
            <a:off x="786384" y="6315287"/>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42467" y="6132627"/>
            <a:ext cx="6902414" cy="584775"/>
          </a:xfrm>
          <a:prstGeom prst="rect">
            <a:avLst/>
          </a:prstGeom>
          <a:noFill/>
        </p:spPr>
        <p:txBody>
          <a:bodyPr wrap="square">
            <a:spAutoFit/>
          </a:bodyPr>
          <a:lstStyle/>
          <a:p>
            <a:pPr>
              <a:defRPr sz="1600" b="1">
                <a:solidFill>
                  <a:srgbClr val="282828"/>
                </a:solidFill>
              </a:defRPr>
            </a:pPr>
            <a:r>
              <a:rPr lang="fr-FR" sz="1600" b="1" dirty="0"/>
              <a:t>mesure l'efficacité du processeur et de la mémoire sans refléter la performance globale sur toutes les applications.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BDBEC-D2A8-A1B4-7080-EF097C3D829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9DB879D-916A-9042-3208-CF338E74701A}"/>
              </a:ext>
            </a:extLst>
          </p:cNvPr>
          <p:cNvSpPr/>
          <p:nvPr/>
        </p:nvSpPr>
        <p:spPr>
          <a:xfrm>
            <a:off x="0" y="0"/>
            <a:ext cx="9144000"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a:extLst>
              <a:ext uri="{FF2B5EF4-FFF2-40B4-BE49-F238E27FC236}">
                <a16:creationId xmlns:a16="http://schemas.microsoft.com/office/drawing/2014/main" id="{BA9561AD-7110-0D05-5DDA-A63E8AA4D64F}"/>
              </a:ext>
            </a:extLst>
          </p:cNvPr>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FDBF8503-1D1A-B5F3-B5A9-02CCE57176BA}"/>
              </a:ext>
            </a:extLst>
          </p:cNvPr>
          <p:cNvSpPr txBox="1"/>
          <p:nvPr/>
        </p:nvSpPr>
        <p:spPr>
          <a:xfrm>
            <a:off x="548640" y="114781"/>
            <a:ext cx="4033284" cy="738664"/>
          </a:xfrm>
          <a:prstGeom prst="rect">
            <a:avLst/>
          </a:prstGeom>
          <a:noFill/>
        </p:spPr>
        <p:txBody>
          <a:bodyPr wrap="none">
            <a:spAutoFit/>
          </a:bodyPr>
          <a:lstStyle/>
          <a:p>
            <a:pPr>
              <a:defRPr sz="4200" b="1">
                <a:solidFill>
                  <a:srgbClr val="143440"/>
                </a:solidFill>
              </a:defRPr>
            </a:pPr>
            <a:r>
              <a:rPr lang="fr-FR" sz="4200" b="1" dirty="0"/>
              <a:t>Les Piliers de HPL</a:t>
            </a:r>
            <a:endParaRPr dirty="0"/>
          </a:p>
        </p:txBody>
      </p:sp>
      <p:sp>
        <p:nvSpPr>
          <p:cNvPr id="5" name="Rectangle 4">
            <a:extLst>
              <a:ext uri="{FF2B5EF4-FFF2-40B4-BE49-F238E27FC236}">
                <a16:creationId xmlns:a16="http://schemas.microsoft.com/office/drawing/2014/main" id="{2746FFB1-FA31-52E9-45D4-5C09F9B9B411}"/>
              </a:ext>
            </a:extLst>
          </p:cNvPr>
          <p:cNvSpPr/>
          <p:nvPr/>
        </p:nvSpPr>
        <p:spPr>
          <a:xfrm>
            <a:off x="0" y="836020"/>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6917560-B1C3-FA48-1BE0-6B69EF18DDD7}"/>
              </a:ext>
            </a:extLst>
          </p:cNvPr>
          <p:cNvSpPr txBox="1"/>
          <p:nvPr/>
        </p:nvSpPr>
        <p:spPr>
          <a:xfrm>
            <a:off x="568389" y="826194"/>
            <a:ext cx="6900094" cy="769441"/>
          </a:xfrm>
          <a:prstGeom prst="rect">
            <a:avLst/>
          </a:prstGeom>
          <a:noFill/>
        </p:spPr>
        <p:txBody>
          <a:bodyPr wrap="none">
            <a:spAutoFit/>
          </a:bodyPr>
          <a:lstStyle/>
          <a:p>
            <a:pPr>
              <a:defRPr sz="4400" b="1">
                <a:solidFill>
                  <a:srgbClr val="FF6B35"/>
                </a:solidFill>
              </a:defRPr>
            </a:pPr>
            <a:r>
              <a:rPr lang="fr-FR" sz="3000" b="1" dirty="0">
                <a:solidFill>
                  <a:srgbClr val="FF6B35"/>
                </a:solidFill>
              </a:rPr>
              <a:t>Distribution</a:t>
            </a:r>
            <a:r>
              <a:rPr lang="fr-FR" sz="4400" b="1" dirty="0"/>
              <a:t> </a:t>
            </a:r>
            <a:r>
              <a:rPr lang="fr-FR" sz="3000" b="1" dirty="0">
                <a:solidFill>
                  <a:srgbClr val="FF6B35"/>
                </a:solidFill>
              </a:rPr>
              <a:t>de Données : 2-D Block-</a:t>
            </a:r>
            <a:r>
              <a:rPr lang="fr-FR" sz="3000" b="1" dirty="0" err="1">
                <a:solidFill>
                  <a:srgbClr val="FF6B35"/>
                </a:solidFill>
              </a:rPr>
              <a:t>Cyclic</a:t>
            </a:r>
            <a:endParaRPr sz="3000" b="1" dirty="0">
              <a:solidFill>
                <a:srgbClr val="FF6B35"/>
              </a:solidFill>
            </a:endParaRPr>
          </a:p>
        </p:txBody>
      </p:sp>
      <p:sp>
        <p:nvSpPr>
          <p:cNvPr id="7" name="TextBox 6">
            <a:extLst>
              <a:ext uri="{FF2B5EF4-FFF2-40B4-BE49-F238E27FC236}">
                <a16:creationId xmlns:a16="http://schemas.microsoft.com/office/drawing/2014/main" id="{5F1166A5-F930-936E-18CE-CBA9634C369D}"/>
              </a:ext>
            </a:extLst>
          </p:cNvPr>
          <p:cNvSpPr txBox="1"/>
          <p:nvPr/>
        </p:nvSpPr>
        <p:spPr>
          <a:xfrm>
            <a:off x="596282" y="1430076"/>
            <a:ext cx="7567178" cy="806375"/>
          </a:xfrm>
          <a:prstGeom prst="rect">
            <a:avLst/>
          </a:prstGeom>
          <a:noFill/>
        </p:spPr>
        <p:txBody>
          <a:bodyPr wrap="square">
            <a:spAutoFit/>
          </a:bodyPr>
          <a:lstStyle/>
          <a:p>
            <a:pPr>
              <a:lnSpc>
                <a:spcPct val="120000"/>
              </a:lnSpc>
              <a:defRPr sz="1300">
                <a:solidFill>
                  <a:srgbClr val="282828"/>
                </a:solidFill>
              </a:defRPr>
            </a:pPr>
            <a:r>
              <a:rPr lang="fr-FR" sz="2000" dirty="0"/>
              <a:t>La matrice est découpée en blocs et répartie de façon cyclique sur une grille de processus </a:t>
            </a:r>
            <a:r>
              <a:rPr lang="fr-FR" sz="2000" i="1" dirty="0"/>
              <a:t>P x Q</a:t>
            </a:r>
            <a:r>
              <a:rPr lang="fr-FR" sz="2000" dirty="0"/>
              <a:t> pour équilibrer la charge de travail.</a:t>
            </a:r>
            <a:endParaRPr sz="2000" dirty="0"/>
          </a:p>
        </p:txBody>
      </p:sp>
      <p:sp>
        <p:nvSpPr>
          <p:cNvPr id="8" name="TextBox 7">
            <a:extLst>
              <a:ext uri="{FF2B5EF4-FFF2-40B4-BE49-F238E27FC236}">
                <a16:creationId xmlns:a16="http://schemas.microsoft.com/office/drawing/2014/main" id="{5C3F3A2A-2CF0-4465-5999-77B37D0E8E0A}"/>
              </a:ext>
            </a:extLst>
          </p:cNvPr>
          <p:cNvSpPr txBox="1"/>
          <p:nvPr/>
        </p:nvSpPr>
        <p:spPr>
          <a:xfrm>
            <a:off x="596282" y="2306954"/>
            <a:ext cx="5352363" cy="553998"/>
          </a:xfrm>
          <a:prstGeom prst="rect">
            <a:avLst/>
          </a:prstGeom>
          <a:noFill/>
        </p:spPr>
        <p:txBody>
          <a:bodyPr wrap="none">
            <a:spAutoFit/>
          </a:bodyPr>
          <a:lstStyle/>
          <a:p>
            <a:pPr>
              <a:defRPr sz="4400" b="1">
                <a:solidFill>
                  <a:srgbClr val="FF6B35"/>
                </a:solidFill>
              </a:defRPr>
            </a:pPr>
            <a:r>
              <a:rPr lang="fr-FR" sz="3000" b="1" dirty="0">
                <a:solidFill>
                  <a:srgbClr val="FF6B35"/>
                </a:solidFill>
              </a:rPr>
              <a:t>Factorisation LU "Right-</a:t>
            </a:r>
            <a:r>
              <a:rPr lang="fr-FR" sz="3000" b="1" dirty="0" err="1">
                <a:solidFill>
                  <a:srgbClr val="FF6B35"/>
                </a:solidFill>
              </a:rPr>
              <a:t>Looking</a:t>
            </a:r>
            <a:r>
              <a:rPr lang="fr-FR" sz="3000" b="1" dirty="0">
                <a:solidFill>
                  <a:srgbClr val="FF6B35"/>
                </a:solidFill>
              </a:rPr>
              <a:t>"</a:t>
            </a:r>
            <a:endParaRPr sz="3000" b="1" dirty="0">
              <a:solidFill>
                <a:srgbClr val="FF6B35"/>
              </a:solidFill>
            </a:endParaRPr>
          </a:p>
        </p:txBody>
      </p:sp>
      <p:sp>
        <p:nvSpPr>
          <p:cNvPr id="9" name="TextBox 8">
            <a:extLst>
              <a:ext uri="{FF2B5EF4-FFF2-40B4-BE49-F238E27FC236}">
                <a16:creationId xmlns:a16="http://schemas.microsoft.com/office/drawing/2014/main" id="{FD1CF5CB-A5C0-DEBD-B772-A2913F38AB16}"/>
              </a:ext>
            </a:extLst>
          </p:cNvPr>
          <p:cNvSpPr txBox="1"/>
          <p:nvPr/>
        </p:nvSpPr>
        <p:spPr>
          <a:xfrm>
            <a:off x="596282" y="2803860"/>
            <a:ext cx="8099279" cy="806375"/>
          </a:xfrm>
          <a:prstGeom prst="rect">
            <a:avLst/>
          </a:prstGeom>
          <a:noFill/>
        </p:spPr>
        <p:txBody>
          <a:bodyPr wrap="square">
            <a:spAutoFit/>
          </a:bodyPr>
          <a:lstStyle/>
          <a:p>
            <a:pPr>
              <a:lnSpc>
                <a:spcPct val="120000"/>
              </a:lnSpc>
              <a:defRPr sz="1300">
                <a:solidFill>
                  <a:srgbClr val="282828"/>
                </a:solidFill>
              </a:defRPr>
            </a:pPr>
            <a:r>
              <a:rPr lang="fr-FR" sz="2000" dirty="0">
                <a:solidFill>
                  <a:srgbClr val="282828"/>
                </a:solidFill>
              </a:rPr>
              <a:t>Utilise un variant qui privilégie les mises à jour à droite de la matrice avec un </a:t>
            </a:r>
            <a:r>
              <a:rPr lang="fr-FR" sz="2000" dirty="0" err="1">
                <a:solidFill>
                  <a:srgbClr val="282828"/>
                </a:solidFill>
              </a:rPr>
              <a:t>pivotage</a:t>
            </a:r>
            <a:r>
              <a:rPr lang="fr-FR" sz="2000" dirty="0">
                <a:solidFill>
                  <a:srgbClr val="282828"/>
                </a:solidFill>
              </a:rPr>
              <a:t> partiel par ligne pour assurer la stabilité numérique.</a:t>
            </a:r>
            <a:endParaRPr sz="2000" dirty="0">
              <a:solidFill>
                <a:srgbClr val="282828"/>
              </a:solidFill>
            </a:endParaRPr>
          </a:p>
        </p:txBody>
      </p:sp>
      <p:sp>
        <p:nvSpPr>
          <p:cNvPr id="11" name="TextBox 10">
            <a:extLst>
              <a:ext uri="{FF2B5EF4-FFF2-40B4-BE49-F238E27FC236}">
                <a16:creationId xmlns:a16="http://schemas.microsoft.com/office/drawing/2014/main" id="{CBA5F239-727D-1586-58C5-DF671E020067}"/>
              </a:ext>
            </a:extLst>
          </p:cNvPr>
          <p:cNvSpPr txBox="1"/>
          <p:nvPr/>
        </p:nvSpPr>
        <p:spPr>
          <a:xfrm>
            <a:off x="596282" y="4284214"/>
            <a:ext cx="8256649" cy="1175706"/>
          </a:xfrm>
          <a:prstGeom prst="rect">
            <a:avLst/>
          </a:prstGeom>
          <a:noFill/>
        </p:spPr>
        <p:txBody>
          <a:bodyPr wrap="square">
            <a:spAutoFit/>
          </a:bodyPr>
          <a:lstStyle/>
          <a:p>
            <a:pPr>
              <a:lnSpc>
                <a:spcPct val="120000"/>
              </a:lnSpc>
              <a:defRPr sz="1300">
                <a:solidFill>
                  <a:srgbClr val="282828"/>
                </a:solidFill>
              </a:defRPr>
            </a:pPr>
            <a:r>
              <a:rPr lang="fr-FR" sz="2000" dirty="0">
                <a:solidFill>
                  <a:srgbClr val="282828"/>
                </a:solidFill>
              </a:rPr>
              <a:t>Intègre des techniques de "look-</a:t>
            </a:r>
            <a:r>
              <a:rPr lang="fr-FR" sz="2000" dirty="0" err="1">
                <a:solidFill>
                  <a:srgbClr val="282828"/>
                </a:solidFill>
              </a:rPr>
              <a:t>ahead</a:t>
            </a:r>
            <a:r>
              <a:rPr lang="fr-FR" sz="2000" dirty="0">
                <a:solidFill>
                  <a:srgbClr val="282828"/>
                </a:solidFill>
              </a:rPr>
              <a:t>" (anticipation) et différents types de topologies de diffusion (broadcast) pour masquer les temps de transfert entre processeurs</a:t>
            </a:r>
            <a:r>
              <a:rPr lang="fr-FR" sz="1300" dirty="0"/>
              <a:t>.</a:t>
            </a:r>
            <a:endParaRPr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DF20D8B-7F79-722D-DA2E-F71618B9D4A1}"/>
                  </a:ext>
                </a:extLst>
              </p:cNvPr>
              <p:cNvSpPr txBox="1"/>
              <p:nvPr/>
            </p:nvSpPr>
            <p:spPr>
              <a:xfrm>
                <a:off x="596402" y="5920228"/>
                <a:ext cx="6824317" cy="973023"/>
              </a:xfrm>
              <a:prstGeom prst="rect">
                <a:avLst/>
              </a:prstGeom>
              <a:noFill/>
            </p:spPr>
            <p:txBody>
              <a:bodyPr wrap="square">
                <a:spAutoFit/>
              </a:bodyPr>
              <a:lstStyle/>
              <a:p>
                <a:pPr>
                  <a:lnSpc>
                    <a:spcPct val="120000"/>
                  </a:lnSpc>
                  <a:defRPr sz="1300">
                    <a:solidFill>
                      <a:srgbClr val="282828"/>
                    </a:solidFill>
                  </a:defRPr>
                </a:pPr>
                <a:r>
                  <a:rPr lang="fr-FR" sz="2000" dirty="0">
                    <a:solidFill>
                      <a:srgbClr val="282828"/>
                    </a:solidFill>
                  </a:rPr>
                  <a:t>Le nombre d'opérations en virgule flottante est défini par la formule </a:t>
                </a:r>
                <a14:m>
                  <m:oMath xmlns:m="http://schemas.openxmlformats.org/officeDocument/2006/math">
                    <m:f>
                      <m:fPr>
                        <m:ctrlPr>
                          <a:rPr lang="fr-FR" sz="2000" i="1">
                            <a:solidFill>
                              <a:srgbClr val="282828"/>
                            </a:solidFill>
                            <a:latin typeface="Cambria Math" panose="02040503050406030204" pitchFamily="18" charset="0"/>
                          </a:rPr>
                        </m:ctrlPr>
                      </m:fPr>
                      <m:num>
                        <m:r>
                          <a:rPr lang="fr-FR" sz="2000">
                            <a:solidFill>
                              <a:srgbClr val="282828"/>
                            </a:solidFill>
                            <a:latin typeface="Cambria Math" panose="02040503050406030204" pitchFamily="18" charset="0"/>
                          </a:rPr>
                          <m:t>2</m:t>
                        </m:r>
                      </m:num>
                      <m:den>
                        <m:r>
                          <a:rPr lang="fr-FR" sz="2000">
                            <a:solidFill>
                              <a:srgbClr val="282828"/>
                            </a:solidFill>
                            <a:latin typeface="Cambria Math" panose="02040503050406030204" pitchFamily="18" charset="0"/>
                          </a:rPr>
                          <m:t>3</m:t>
                        </m:r>
                      </m:den>
                    </m:f>
                    <m:r>
                      <a:rPr lang="fr-FR" sz="2000">
                        <a:solidFill>
                          <a:srgbClr val="282828"/>
                        </a:solidFill>
                        <a:latin typeface="Cambria Math" panose="02040503050406030204" pitchFamily="18" charset="0"/>
                      </a:rPr>
                      <m:t>×</m:t>
                    </m:r>
                    <m:sSup>
                      <m:sSupPr>
                        <m:ctrlPr>
                          <a:rPr lang="fr-FR" sz="2000" i="1">
                            <a:solidFill>
                              <a:srgbClr val="282828"/>
                            </a:solidFill>
                            <a:latin typeface="Cambria Math" panose="02040503050406030204" pitchFamily="18" charset="0"/>
                          </a:rPr>
                        </m:ctrlPr>
                      </m:sSupPr>
                      <m:e>
                        <m:r>
                          <a:rPr lang="fr-FR" sz="2000">
                            <a:solidFill>
                              <a:srgbClr val="282828"/>
                            </a:solidFill>
                            <a:latin typeface="Cambria Math" panose="02040503050406030204" pitchFamily="18" charset="0"/>
                          </a:rPr>
                          <m:t>𝑛</m:t>
                        </m:r>
                      </m:e>
                      <m:sup>
                        <m:r>
                          <a:rPr lang="fr-FR" sz="2000">
                            <a:solidFill>
                              <a:srgbClr val="282828"/>
                            </a:solidFill>
                            <a:latin typeface="Cambria Math" panose="02040503050406030204" pitchFamily="18" charset="0"/>
                          </a:rPr>
                          <m:t>3</m:t>
                        </m:r>
                      </m:sup>
                    </m:sSup>
                  </m:oMath>
                </a14:m>
                <a:r>
                  <a:rPr lang="fr-FR" sz="2000" dirty="0">
                    <a:solidFill>
                      <a:srgbClr val="282828"/>
                    </a:solidFill>
                  </a:rPr>
                  <a:t> + </a:t>
                </a:r>
                <a14:m>
                  <m:oMath xmlns:m="http://schemas.openxmlformats.org/officeDocument/2006/math">
                    <m:sSup>
                      <m:sSupPr>
                        <m:ctrlPr>
                          <a:rPr lang="fr-FR" sz="2000" i="1">
                            <a:solidFill>
                              <a:srgbClr val="282828"/>
                            </a:solidFill>
                            <a:latin typeface="Cambria Math" panose="02040503050406030204" pitchFamily="18" charset="0"/>
                          </a:rPr>
                        </m:ctrlPr>
                      </m:sSupPr>
                      <m:e>
                        <m:r>
                          <a:rPr lang="fr-FR" sz="2000">
                            <a:solidFill>
                              <a:srgbClr val="282828"/>
                            </a:solidFill>
                            <a:latin typeface="Cambria Math" panose="02040503050406030204" pitchFamily="18" charset="0"/>
                          </a:rPr>
                          <m:t>𝑛</m:t>
                        </m:r>
                      </m:e>
                      <m:sup>
                        <m:r>
                          <a:rPr lang="fr-FR" sz="2000">
                            <a:solidFill>
                              <a:srgbClr val="282828"/>
                            </a:solidFill>
                            <a:latin typeface="Cambria Math" panose="02040503050406030204" pitchFamily="18" charset="0"/>
                          </a:rPr>
                          <m:t>2</m:t>
                        </m:r>
                      </m:sup>
                    </m:sSup>
                  </m:oMath>
                </a14:m>
                <a:endParaRPr sz="2000" dirty="0">
                  <a:solidFill>
                    <a:srgbClr val="282828"/>
                  </a:solidFill>
                </a:endParaRPr>
              </a:p>
            </p:txBody>
          </p:sp>
        </mc:Choice>
        <mc:Fallback xmlns="">
          <p:sp>
            <p:nvSpPr>
              <p:cNvPr id="13" name="TextBox 12">
                <a:extLst>
                  <a:ext uri="{FF2B5EF4-FFF2-40B4-BE49-F238E27FC236}">
                    <a16:creationId xmlns:a16="http://schemas.microsoft.com/office/drawing/2014/main" id="{3DF20D8B-7F79-722D-DA2E-F71618B9D4A1}"/>
                  </a:ext>
                </a:extLst>
              </p:cNvPr>
              <p:cNvSpPr txBox="1">
                <a:spLocks noRot="1" noChangeAspect="1" noMove="1" noResize="1" noEditPoints="1" noAdjustHandles="1" noChangeArrowheads="1" noChangeShapeType="1" noTextEdit="1"/>
              </p:cNvSpPr>
              <p:nvPr/>
            </p:nvSpPr>
            <p:spPr>
              <a:xfrm>
                <a:off x="596402" y="5920228"/>
                <a:ext cx="6824317" cy="973023"/>
              </a:xfrm>
              <a:prstGeom prst="rect">
                <a:avLst/>
              </a:prstGeom>
              <a:blipFill>
                <a:blip r:embed="rId3"/>
                <a:stretch>
                  <a:fillRect l="-983" b="-2500"/>
                </a:stretch>
              </a:blipFill>
            </p:spPr>
            <p:txBody>
              <a:bodyPr/>
              <a:lstStyle/>
              <a:p>
                <a:r>
                  <a:rPr lang="fr-FR">
                    <a:noFill/>
                  </a:rPr>
                  <a:t> </a:t>
                </a:r>
              </a:p>
            </p:txBody>
          </p:sp>
        </mc:Fallback>
      </mc:AlternateContent>
      <p:sp>
        <p:nvSpPr>
          <p:cNvPr id="14" name="TextBox 5">
            <a:extLst>
              <a:ext uri="{FF2B5EF4-FFF2-40B4-BE49-F238E27FC236}">
                <a16:creationId xmlns:a16="http://schemas.microsoft.com/office/drawing/2014/main" id="{31786B4C-3BD4-524B-BD88-33AAB5DE0320}"/>
              </a:ext>
            </a:extLst>
          </p:cNvPr>
          <p:cNvSpPr txBox="1"/>
          <p:nvPr/>
        </p:nvSpPr>
        <p:spPr>
          <a:xfrm>
            <a:off x="547381" y="3534931"/>
            <a:ext cx="5779467" cy="769441"/>
          </a:xfrm>
          <a:prstGeom prst="rect">
            <a:avLst/>
          </a:prstGeom>
          <a:noFill/>
        </p:spPr>
        <p:txBody>
          <a:bodyPr wrap="none">
            <a:spAutoFit/>
          </a:bodyPr>
          <a:lstStyle/>
          <a:p>
            <a:pPr>
              <a:defRPr sz="4400" b="1">
                <a:solidFill>
                  <a:srgbClr val="FF6B35"/>
                </a:solidFill>
              </a:defRPr>
            </a:pPr>
            <a:r>
              <a:rPr lang="fr-FR" sz="3000" b="1" dirty="0">
                <a:solidFill>
                  <a:srgbClr val="FF6B35"/>
                </a:solidFill>
              </a:rPr>
              <a:t>Optimisation</a:t>
            </a:r>
            <a:r>
              <a:rPr lang="fr-FR" sz="4400" b="1" dirty="0"/>
              <a:t> </a:t>
            </a:r>
            <a:r>
              <a:rPr lang="fr-FR" sz="3000" b="1" dirty="0">
                <a:solidFill>
                  <a:srgbClr val="FF6B35"/>
                </a:solidFill>
              </a:rPr>
              <a:t>de la Communication</a:t>
            </a:r>
            <a:endParaRPr sz="3000" b="1" dirty="0">
              <a:solidFill>
                <a:srgbClr val="FF6B35"/>
              </a:solidFill>
            </a:endParaRPr>
          </a:p>
        </p:txBody>
      </p:sp>
      <p:sp>
        <p:nvSpPr>
          <p:cNvPr id="15" name="TextBox 5">
            <a:extLst>
              <a:ext uri="{FF2B5EF4-FFF2-40B4-BE49-F238E27FC236}">
                <a16:creationId xmlns:a16="http://schemas.microsoft.com/office/drawing/2014/main" id="{4791440D-9554-4F42-0DD8-8A10BDDE5326}"/>
              </a:ext>
            </a:extLst>
          </p:cNvPr>
          <p:cNvSpPr txBox="1"/>
          <p:nvPr/>
        </p:nvSpPr>
        <p:spPr>
          <a:xfrm>
            <a:off x="547499" y="5474045"/>
            <a:ext cx="4538678" cy="553998"/>
          </a:xfrm>
          <a:prstGeom prst="rect">
            <a:avLst/>
          </a:prstGeom>
          <a:noFill/>
        </p:spPr>
        <p:txBody>
          <a:bodyPr wrap="none">
            <a:spAutoFit/>
          </a:bodyPr>
          <a:lstStyle/>
          <a:p>
            <a:pPr>
              <a:defRPr sz="4400" b="1">
                <a:solidFill>
                  <a:srgbClr val="FF6B35"/>
                </a:solidFill>
              </a:defRPr>
            </a:pPr>
            <a:r>
              <a:rPr lang="fr-FR" sz="3000" b="1" dirty="0">
                <a:solidFill>
                  <a:srgbClr val="FF6B35"/>
                </a:solidFill>
              </a:rPr>
              <a:t>Complexité et Performance</a:t>
            </a:r>
            <a:endParaRPr sz="3000" b="1" dirty="0">
              <a:solidFill>
                <a:srgbClr val="FF6B35"/>
              </a:solidFill>
            </a:endParaRPr>
          </a:p>
        </p:txBody>
      </p:sp>
      <p:sp>
        <p:nvSpPr>
          <p:cNvPr id="16" name="Rounded Rectangle 7">
            <a:extLst>
              <a:ext uri="{FF2B5EF4-FFF2-40B4-BE49-F238E27FC236}">
                <a16:creationId xmlns:a16="http://schemas.microsoft.com/office/drawing/2014/main" id="{F0D72D18-D78C-A84A-0C8A-8AB07DF86320}"/>
              </a:ext>
            </a:extLst>
          </p:cNvPr>
          <p:cNvSpPr/>
          <p:nvPr/>
        </p:nvSpPr>
        <p:spPr>
          <a:xfrm>
            <a:off x="441519" y="1238214"/>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7">
            <a:extLst>
              <a:ext uri="{FF2B5EF4-FFF2-40B4-BE49-F238E27FC236}">
                <a16:creationId xmlns:a16="http://schemas.microsoft.com/office/drawing/2014/main" id="{4FDCBF4E-392A-B4D6-476A-53FB6C722FF5}"/>
              </a:ext>
            </a:extLst>
          </p:cNvPr>
          <p:cNvSpPr/>
          <p:nvPr/>
        </p:nvSpPr>
        <p:spPr>
          <a:xfrm>
            <a:off x="437771" y="2542152"/>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7">
            <a:extLst>
              <a:ext uri="{FF2B5EF4-FFF2-40B4-BE49-F238E27FC236}">
                <a16:creationId xmlns:a16="http://schemas.microsoft.com/office/drawing/2014/main" id="{3BD4476E-6EC6-863B-4C51-9F36512248D4}"/>
              </a:ext>
            </a:extLst>
          </p:cNvPr>
          <p:cNvSpPr/>
          <p:nvPr/>
        </p:nvSpPr>
        <p:spPr>
          <a:xfrm>
            <a:off x="441519" y="5704765"/>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7">
            <a:extLst>
              <a:ext uri="{FF2B5EF4-FFF2-40B4-BE49-F238E27FC236}">
                <a16:creationId xmlns:a16="http://schemas.microsoft.com/office/drawing/2014/main" id="{B46F8587-D24B-55AE-D771-C8EB6382F376}"/>
              </a:ext>
            </a:extLst>
          </p:cNvPr>
          <p:cNvSpPr/>
          <p:nvPr/>
        </p:nvSpPr>
        <p:spPr>
          <a:xfrm>
            <a:off x="437653" y="3932715"/>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580410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1DF01-6DC6-EA97-D6F2-25157A195D4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8F0E499-0941-C585-8E64-26BA7DFF66E2}"/>
              </a:ext>
            </a:extLst>
          </p:cNvPr>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4D42303-19A7-E7F5-0213-BCCFD3B901D3}"/>
              </a:ext>
            </a:extLst>
          </p:cNvPr>
          <p:cNvSpPr txBox="1"/>
          <p:nvPr/>
        </p:nvSpPr>
        <p:spPr>
          <a:xfrm>
            <a:off x="548640" y="114781"/>
            <a:ext cx="5238229" cy="738664"/>
          </a:xfrm>
          <a:prstGeom prst="rect">
            <a:avLst/>
          </a:prstGeom>
          <a:noFill/>
        </p:spPr>
        <p:txBody>
          <a:bodyPr wrap="none">
            <a:spAutoFit/>
          </a:bodyPr>
          <a:lstStyle/>
          <a:p>
            <a:pPr>
              <a:defRPr sz="4200" b="1">
                <a:solidFill>
                  <a:srgbClr val="143440"/>
                </a:solidFill>
              </a:defRPr>
            </a:pPr>
            <a:r>
              <a:rPr lang="fr-FR" sz="4200" b="1" dirty="0"/>
              <a:t>Les paramètres de HPL</a:t>
            </a:r>
            <a:endParaRPr dirty="0"/>
          </a:p>
        </p:txBody>
      </p:sp>
      <p:sp>
        <p:nvSpPr>
          <p:cNvPr id="5" name="Rectangle 4">
            <a:extLst>
              <a:ext uri="{FF2B5EF4-FFF2-40B4-BE49-F238E27FC236}">
                <a16:creationId xmlns:a16="http://schemas.microsoft.com/office/drawing/2014/main" id="{D3F6B7BF-3F00-69D7-D38F-899EB41EDE32}"/>
              </a:ext>
            </a:extLst>
          </p:cNvPr>
          <p:cNvSpPr/>
          <p:nvPr/>
        </p:nvSpPr>
        <p:spPr>
          <a:xfrm>
            <a:off x="0" y="836020"/>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Image 22" descr="Une image contenant texte, capture d’écran, diagramme&#10;&#10;Le contenu généré par l’IA peut être incorrect.">
            <a:extLst>
              <a:ext uri="{FF2B5EF4-FFF2-40B4-BE49-F238E27FC236}">
                <a16:creationId xmlns:a16="http://schemas.microsoft.com/office/drawing/2014/main" id="{EB9D303A-EB10-DFEA-C65E-F083CAEE5269}"/>
              </a:ext>
            </a:extLst>
          </p:cNvPr>
          <p:cNvPicPr>
            <a:picLocks noChangeAspect="1"/>
          </p:cNvPicPr>
          <p:nvPr/>
        </p:nvPicPr>
        <p:blipFill>
          <a:blip r:embed="rId3"/>
          <a:stretch>
            <a:fillRect/>
          </a:stretch>
        </p:blipFill>
        <p:spPr>
          <a:xfrm>
            <a:off x="73153" y="1734132"/>
            <a:ext cx="9070848" cy="4123445"/>
          </a:xfrm>
          <a:prstGeom prst="rect">
            <a:avLst/>
          </a:prstGeom>
        </p:spPr>
      </p:pic>
    </p:spTree>
    <p:extLst>
      <p:ext uri="{BB962C8B-B14F-4D97-AF65-F5344CB8AC3E}">
        <p14:creationId xmlns:p14="http://schemas.microsoft.com/office/powerpoint/2010/main" val="1261973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F472D-1602-BEE5-7ED4-A2A333A366C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367BA30-9A2B-251D-7162-4837C999DD0A}"/>
              </a:ext>
            </a:extLst>
          </p:cNvPr>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FF1AA5E-DD5F-BB54-0898-84D7280743BF}"/>
              </a:ext>
            </a:extLst>
          </p:cNvPr>
          <p:cNvSpPr txBox="1"/>
          <p:nvPr/>
        </p:nvSpPr>
        <p:spPr>
          <a:xfrm>
            <a:off x="261254" y="127679"/>
            <a:ext cx="6859314" cy="738664"/>
          </a:xfrm>
          <a:prstGeom prst="rect">
            <a:avLst/>
          </a:prstGeom>
          <a:noFill/>
        </p:spPr>
        <p:txBody>
          <a:bodyPr wrap="none">
            <a:spAutoFit/>
          </a:bodyPr>
          <a:lstStyle/>
          <a:p>
            <a:pPr>
              <a:defRPr sz="4200" b="1">
                <a:solidFill>
                  <a:srgbClr val="143440"/>
                </a:solidFill>
              </a:defRPr>
            </a:pPr>
            <a:r>
              <a:rPr lang="fr-FR" dirty="0"/>
              <a:t>Les étapes d’exécution de HPL</a:t>
            </a:r>
            <a:endParaRPr dirty="0"/>
          </a:p>
        </p:txBody>
      </p:sp>
      <p:sp>
        <p:nvSpPr>
          <p:cNvPr id="5" name="Rectangle 4">
            <a:extLst>
              <a:ext uri="{FF2B5EF4-FFF2-40B4-BE49-F238E27FC236}">
                <a16:creationId xmlns:a16="http://schemas.microsoft.com/office/drawing/2014/main" id="{F47ABC6C-99F7-6123-9727-616DD80BB877}"/>
              </a:ext>
            </a:extLst>
          </p:cNvPr>
          <p:cNvSpPr/>
          <p:nvPr/>
        </p:nvSpPr>
        <p:spPr>
          <a:xfrm>
            <a:off x="0" y="836020"/>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Image 13" descr="Une image contenant diagramme, croquis, dessin, texte&#10;&#10;Le contenu généré par l’IA peut être incorrect.">
            <a:extLst>
              <a:ext uri="{FF2B5EF4-FFF2-40B4-BE49-F238E27FC236}">
                <a16:creationId xmlns:a16="http://schemas.microsoft.com/office/drawing/2014/main" id="{7E252540-21DE-6D5B-6414-B446F7285063}"/>
              </a:ext>
            </a:extLst>
          </p:cNvPr>
          <p:cNvPicPr>
            <a:picLocks noChangeAspect="1"/>
          </p:cNvPicPr>
          <p:nvPr/>
        </p:nvPicPr>
        <p:blipFill>
          <a:blip r:embed="rId3"/>
          <a:stretch>
            <a:fillRect/>
          </a:stretch>
        </p:blipFill>
        <p:spPr>
          <a:xfrm>
            <a:off x="146304" y="1254035"/>
            <a:ext cx="8997696" cy="4767946"/>
          </a:xfrm>
          <a:prstGeom prst="rect">
            <a:avLst/>
          </a:prstGeom>
        </p:spPr>
      </p:pic>
    </p:spTree>
    <p:extLst>
      <p:ext uri="{BB962C8B-B14F-4D97-AF65-F5344CB8AC3E}">
        <p14:creationId xmlns:p14="http://schemas.microsoft.com/office/powerpoint/2010/main" val="3240957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A575B-9CD8-4F2E-E07B-5C72C80ABAE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CEF1412-D69F-B570-0B7B-5E1DE64BB2FA}"/>
              </a:ext>
            </a:extLst>
          </p:cNvPr>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2875959-7913-BEC2-93E1-51B5010EF993}"/>
              </a:ext>
            </a:extLst>
          </p:cNvPr>
          <p:cNvSpPr txBox="1"/>
          <p:nvPr/>
        </p:nvSpPr>
        <p:spPr>
          <a:xfrm>
            <a:off x="261254" y="127679"/>
            <a:ext cx="2204065" cy="738664"/>
          </a:xfrm>
          <a:prstGeom prst="rect">
            <a:avLst/>
          </a:prstGeom>
          <a:noFill/>
        </p:spPr>
        <p:txBody>
          <a:bodyPr wrap="none">
            <a:spAutoFit/>
          </a:bodyPr>
          <a:lstStyle/>
          <a:p>
            <a:pPr>
              <a:defRPr sz="4200" b="1">
                <a:solidFill>
                  <a:srgbClr val="143440"/>
                </a:solidFill>
              </a:defRPr>
            </a:pPr>
            <a:r>
              <a:rPr lang="fr-FR" dirty="0"/>
              <a:t>Example </a:t>
            </a:r>
            <a:endParaRPr dirty="0"/>
          </a:p>
        </p:txBody>
      </p:sp>
      <p:sp>
        <p:nvSpPr>
          <p:cNvPr id="5" name="Rectangle 4">
            <a:extLst>
              <a:ext uri="{FF2B5EF4-FFF2-40B4-BE49-F238E27FC236}">
                <a16:creationId xmlns:a16="http://schemas.microsoft.com/office/drawing/2014/main" id="{58506F49-F8BA-B667-1CEF-4537161C6AB2}"/>
              </a:ext>
            </a:extLst>
          </p:cNvPr>
          <p:cNvSpPr/>
          <p:nvPr/>
        </p:nvSpPr>
        <p:spPr>
          <a:xfrm>
            <a:off x="0" y="836020"/>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Image 7" descr="Une image contenant texte, Police, blanc, ligne&#10;&#10;Le contenu généré par l’IA peut être incorrect.">
            <a:extLst>
              <a:ext uri="{FF2B5EF4-FFF2-40B4-BE49-F238E27FC236}">
                <a16:creationId xmlns:a16="http://schemas.microsoft.com/office/drawing/2014/main" id="{4A2E57F1-E735-D527-D558-BEA61A151787}"/>
              </a:ext>
            </a:extLst>
          </p:cNvPr>
          <p:cNvPicPr>
            <a:picLocks noChangeAspect="1"/>
          </p:cNvPicPr>
          <p:nvPr/>
        </p:nvPicPr>
        <p:blipFill>
          <a:blip r:embed="rId3"/>
          <a:stretch>
            <a:fillRect/>
          </a:stretch>
        </p:blipFill>
        <p:spPr>
          <a:xfrm>
            <a:off x="583267" y="1268910"/>
            <a:ext cx="7977465" cy="1944871"/>
          </a:xfrm>
          <a:prstGeom prst="rect">
            <a:avLst/>
          </a:prstGeom>
        </p:spPr>
      </p:pic>
      <p:pic>
        <p:nvPicPr>
          <p:cNvPr id="10" name="Image 9" descr="Une image contenant texte, Police, capture d’écran, blanc&#10;&#10;Le contenu généré par l’IA peut être incorrect.">
            <a:extLst>
              <a:ext uri="{FF2B5EF4-FFF2-40B4-BE49-F238E27FC236}">
                <a16:creationId xmlns:a16="http://schemas.microsoft.com/office/drawing/2014/main" id="{C1F270F1-BC15-1506-CDA0-7EADE7984774}"/>
              </a:ext>
            </a:extLst>
          </p:cNvPr>
          <p:cNvPicPr>
            <a:picLocks noChangeAspect="1"/>
          </p:cNvPicPr>
          <p:nvPr/>
        </p:nvPicPr>
        <p:blipFill>
          <a:blip r:embed="rId4"/>
          <a:stretch>
            <a:fillRect/>
          </a:stretch>
        </p:blipFill>
        <p:spPr>
          <a:xfrm>
            <a:off x="979993" y="3723185"/>
            <a:ext cx="7184014" cy="2592980"/>
          </a:xfrm>
          <a:prstGeom prst="rect">
            <a:avLst/>
          </a:prstGeom>
        </p:spPr>
      </p:pic>
    </p:spTree>
    <p:extLst>
      <p:ext uri="{BB962C8B-B14F-4D97-AF65-F5344CB8AC3E}">
        <p14:creationId xmlns:p14="http://schemas.microsoft.com/office/powerpoint/2010/main" val="324404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B788B-4936-4490-C02E-F74E9823A6A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2834AAB-4E86-E7A3-F16F-B05F948C6912}"/>
              </a:ext>
            </a:extLst>
          </p:cNvPr>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CCFD637-ED6E-0A19-AB32-D1C165D7FCBD}"/>
              </a:ext>
            </a:extLst>
          </p:cNvPr>
          <p:cNvSpPr txBox="1"/>
          <p:nvPr/>
        </p:nvSpPr>
        <p:spPr>
          <a:xfrm>
            <a:off x="261254" y="127679"/>
            <a:ext cx="2204065" cy="738664"/>
          </a:xfrm>
          <a:prstGeom prst="rect">
            <a:avLst/>
          </a:prstGeom>
          <a:noFill/>
        </p:spPr>
        <p:txBody>
          <a:bodyPr wrap="none">
            <a:spAutoFit/>
          </a:bodyPr>
          <a:lstStyle/>
          <a:p>
            <a:pPr>
              <a:defRPr sz="4200" b="1">
                <a:solidFill>
                  <a:srgbClr val="143440"/>
                </a:solidFill>
              </a:defRPr>
            </a:pPr>
            <a:r>
              <a:rPr lang="fr-FR" dirty="0"/>
              <a:t>Example </a:t>
            </a:r>
            <a:endParaRPr dirty="0"/>
          </a:p>
        </p:txBody>
      </p:sp>
      <p:sp>
        <p:nvSpPr>
          <p:cNvPr id="5" name="Rectangle 4">
            <a:extLst>
              <a:ext uri="{FF2B5EF4-FFF2-40B4-BE49-F238E27FC236}">
                <a16:creationId xmlns:a16="http://schemas.microsoft.com/office/drawing/2014/main" id="{4EC79A94-D703-77E1-9A2C-EDB1B9A155E2}"/>
              </a:ext>
            </a:extLst>
          </p:cNvPr>
          <p:cNvSpPr/>
          <p:nvPr/>
        </p:nvSpPr>
        <p:spPr>
          <a:xfrm>
            <a:off x="0" y="836020"/>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mage 5" descr="Une image contenant texte, capture d’écran, Police, nombre&#10;&#10;Le contenu généré par l’IA peut être incorrect.">
            <a:extLst>
              <a:ext uri="{FF2B5EF4-FFF2-40B4-BE49-F238E27FC236}">
                <a16:creationId xmlns:a16="http://schemas.microsoft.com/office/drawing/2014/main" id="{2F049A97-D5C3-9D50-566A-D9C9D805891D}"/>
              </a:ext>
            </a:extLst>
          </p:cNvPr>
          <p:cNvPicPr>
            <a:picLocks noChangeAspect="1"/>
          </p:cNvPicPr>
          <p:nvPr/>
        </p:nvPicPr>
        <p:blipFill>
          <a:blip r:embed="rId3"/>
          <a:stretch>
            <a:fillRect/>
          </a:stretch>
        </p:blipFill>
        <p:spPr>
          <a:xfrm>
            <a:off x="486844" y="1286691"/>
            <a:ext cx="8170311" cy="4469403"/>
          </a:xfrm>
          <a:prstGeom prst="rect">
            <a:avLst/>
          </a:prstGeom>
        </p:spPr>
      </p:pic>
    </p:spTree>
    <p:extLst>
      <p:ext uri="{BB962C8B-B14F-4D97-AF65-F5344CB8AC3E}">
        <p14:creationId xmlns:p14="http://schemas.microsoft.com/office/powerpoint/2010/main" val="2164992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1DDCC-1DBB-FC1D-A2C7-79C9C3F7ADA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1CE9C01-02CE-F836-0ED3-758ECB1B4583}"/>
              </a:ext>
            </a:extLst>
          </p:cNvPr>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6E87A23-11B9-06AE-6640-2D669783C505}"/>
              </a:ext>
            </a:extLst>
          </p:cNvPr>
          <p:cNvSpPr txBox="1"/>
          <p:nvPr/>
        </p:nvSpPr>
        <p:spPr>
          <a:xfrm>
            <a:off x="261254" y="127679"/>
            <a:ext cx="2204065" cy="738664"/>
          </a:xfrm>
          <a:prstGeom prst="rect">
            <a:avLst/>
          </a:prstGeom>
          <a:noFill/>
        </p:spPr>
        <p:txBody>
          <a:bodyPr wrap="none">
            <a:spAutoFit/>
          </a:bodyPr>
          <a:lstStyle/>
          <a:p>
            <a:pPr>
              <a:defRPr sz="4200" b="1">
                <a:solidFill>
                  <a:srgbClr val="143440"/>
                </a:solidFill>
              </a:defRPr>
            </a:pPr>
            <a:r>
              <a:rPr lang="fr-FR" dirty="0"/>
              <a:t>Example </a:t>
            </a:r>
            <a:endParaRPr dirty="0"/>
          </a:p>
        </p:txBody>
      </p:sp>
      <p:sp>
        <p:nvSpPr>
          <p:cNvPr id="5" name="Rectangle 4">
            <a:extLst>
              <a:ext uri="{FF2B5EF4-FFF2-40B4-BE49-F238E27FC236}">
                <a16:creationId xmlns:a16="http://schemas.microsoft.com/office/drawing/2014/main" id="{D049BB72-8ABF-4053-F93B-36105BFC8BFD}"/>
              </a:ext>
            </a:extLst>
          </p:cNvPr>
          <p:cNvSpPr/>
          <p:nvPr/>
        </p:nvSpPr>
        <p:spPr>
          <a:xfrm>
            <a:off x="0" y="836020"/>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Image 6" descr="Une image contenant texte, capture d’écran, Police, algèbre&#10;&#10;Le contenu généré par l’IA peut être incorrect.">
            <a:extLst>
              <a:ext uri="{FF2B5EF4-FFF2-40B4-BE49-F238E27FC236}">
                <a16:creationId xmlns:a16="http://schemas.microsoft.com/office/drawing/2014/main" id="{66A03070-9E61-6BF1-B432-3018ED20A947}"/>
              </a:ext>
            </a:extLst>
          </p:cNvPr>
          <p:cNvPicPr>
            <a:picLocks noChangeAspect="1"/>
          </p:cNvPicPr>
          <p:nvPr/>
        </p:nvPicPr>
        <p:blipFill>
          <a:blip r:embed="rId3"/>
          <a:stretch>
            <a:fillRect/>
          </a:stretch>
        </p:blipFill>
        <p:spPr>
          <a:xfrm>
            <a:off x="975735" y="1456510"/>
            <a:ext cx="6974592" cy="4009888"/>
          </a:xfrm>
          <a:prstGeom prst="rect">
            <a:avLst/>
          </a:prstGeom>
        </p:spPr>
      </p:pic>
    </p:spTree>
    <p:extLst>
      <p:ext uri="{BB962C8B-B14F-4D97-AF65-F5344CB8AC3E}">
        <p14:creationId xmlns:p14="http://schemas.microsoft.com/office/powerpoint/2010/main" val="382771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35471-4294-DECB-1410-D02C25D6DDA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EC1BC74-8558-B634-F6CE-F1B26328B6F6}"/>
              </a:ext>
            </a:extLst>
          </p:cNvPr>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26DA53CC-30A4-0497-0151-1EAE62D8EF11}"/>
              </a:ext>
            </a:extLst>
          </p:cNvPr>
          <p:cNvSpPr txBox="1"/>
          <p:nvPr/>
        </p:nvSpPr>
        <p:spPr>
          <a:xfrm>
            <a:off x="261254" y="127679"/>
            <a:ext cx="2204065" cy="738664"/>
          </a:xfrm>
          <a:prstGeom prst="rect">
            <a:avLst/>
          </a:prstGeom>
          <a:noFill/>
        </p:spPr>
        <p:txBody>
          <a:bodyPr wrap="none">
            <a:spAutoFit/>
          </a:bodyPr>
          <a:lstStyle/>
          <a:p>
            <a:pPr>
              <a:defRPr sz="4200" b="1">
                <a:solidFill>
                  <a:srgbClr val="143440"/>
                </a:solidFill>
              </a:defRPr>
            </a:pPr>
            <a:r>
              <a:rPr lang="fr-FR" dirty="0"/>
              <a:t>Example </a:t>
            </a:r>
            <a:endParaRPr dirty="0"/>
          </a:p>
        </p:txBody>
      </p:sp>
      <p:sp>
        <p:nvSpPr>
          <p:cNvPr id="5" name="Rectangle 4">
            <a:extLst>
              <a:ext uri="{FF2B5EF4-FFF2-40B4-BE49-F238E27FC236}">
                <a16:creationId xmlns:a16="http://schemas.microsoft.com/office/drawing/2014/main" id="{55518D21-F74E-2A5C-70B6-2A23F3D2DDF6}"/>
              </a:ext>
            </a:extLst>
          </p:cNvPr>
          <p:cNvSpPr/>
          <p:nvPr/>
        </p:nvSpPr>
        <p:spPr>
          <a:xfrm>
            <a:off x="0" y="836020"/>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Image 5" descr="Une image contenant texte, Police, capture d’écran, algèbre&#10;&#10;Le contenu généré par l’IA peut être incorrect.">
            <a:extLst>
              <a:ext uri="{FF2B5EF4-FFF2-40B4-BE49-F238E27FC236}">
                <a16:creationId xmlns:a16="http://schemas.microsoft.com/office/drawing/2014/main" id="{1D4C4211-C319-65CD-8165-82372D32FE96}"/>
              </a:ext>
            </a:extLst>
          </p:cNvPr>
          <p:cNvPicPr>
            <a:picLocks noChangeAspect="1"/>
          </p:cNvPicPr>
          <p:nvPr/>
        </p:nvPicPr>
        <p:blipFill>
          <a:blip r:embed="rId3"/>
          <a:stretch>
            <a:fillRect/>
          </a:stretch>
        </p:blipFill>
        <p:spPr>
          <a:xfrm>
            <a:off x="1143000" y="1161234"/>
            <a:ext cx="6353175" cy="2352675"/>
          </a:xfrm>
          <a:prstGeom prst="rect">
            <a:avLst/>
          </a:prstGeom>
        </p:spPr>
      </p:pic>
      <p:pic>
        <p:nvPicPr>
          <p:cNvPr id="9" name="Image 8" descr="Une image contenant texte, Police, blanc, capture d’écran&#10;&#10;Le contenu généré par l’IA peut être incorrect.">
            <a:extLst>
              <a:ext uri="{FF2B5EF4-FFF2-40B4-BE49-F238E27FC236}">
                <a16:creationId xmlns:a16="http://schemas.microsoft.com/office/drawing/2014/main" id="{7FB7661F-AA31-637C-C671-3D7735FF7DC5}"/>
              </a:ext>
            </a:extLst>
          </p:cNvPr>
          <p:cNvPicPr>
            <a:picLocks noChangeAspect="1"/>
          </p:cNvPicPr>
          <p:nvPr/>
        </p:nvPicPr>
        <p:blipFill>
          <a:blip r:embed="rId4"/>
          <a:stretch>
            <a:fillRect/>
          </a:stretch>
        </p:blipFill>
        <p:spPr>
          <a:xfrm>
            <a:off x="1143000" y="3754215"/>
            <a:ext cx="5762625" cy="1000125"/>
          </a:xfrm>
          <a:prstGeom prst="rect">
            <a:avLst/>
          </a:prstGeom>
        </p:spPr>
      </p:pic>
      <p:pic>
        <p:nvPicPr>
          <p:cNvPr id="11" name="Image 10" descr="Une image contenant texte, Police, capture d’écran, blanc&#10;&#10;Le contenu généré par l’IA peut être incorrect.">
            <a:extLst>
              <a:ext uri="{FF2B5EF4-FFF2-40B4-BE49-F238E27FC236}">
                <a16:creationId xmlns:a16="http://schemas.microsoft.com/office/drawing/2014/main" id="{A3A08B11-205D-F2A6-073A-5E7AF2DD93B6}"/>
              </a:ext>
            </a:extLst>
          </p:cNvPr>
          <p:cNvPicPr>
            <a:picLocks noChangeAspect="1"/>
          </p:cNvPicPr>
          <p:nvPr/>
        </p:nvPicPr>
        <p:blipFill>
          <a:blip r:embed="rId5"/>
          <a:stretch>
            <a:fillRect/>
          </a:stretch>
        </p:blipFill>
        <p:spPr>
          <a:xfrm>
            <a:off x="1143000" y="5130028"/>
            <a:ext cx="5210175" cy="1133475"/>
          </a:xfrm>
          <a:prstGeom prst="rect">
            <a:avLst/>
          </a:prstGeom>
        </p:spPr>
      </p:pic>
    </p:spTree>
    <p:extLst>
      <p:ext uri="{BB962C8B-B14F-4D97-AF65-F5344CB8AC3E}">
        <p14:creationId xmlns:p14="http://schemas.microsoft.com/office/powerpoint/2010/main" val="2769097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CE930-A88A-AA0F-14E3-9F45985853A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5EB6BA-DE54-BDE8-EE5B-CC674B73BB33}"/>
              </a:ext>
            </a:extLst>
          </p:cNvPr>
          <p:cNvSpPr/>
          <p:nvPr/>
        </p:nvSpPr>
        <p:spPr>
          <a:xfrm>
            <a:off x="0" y="0"/>
            <a:ext cx="9144000"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a:extLst>
              <a:ext uri="{FF2B5EF4-FFF2-40B4-BE49-F238E27FC236}">
                <a16:creationId xmlns:a16="http://schemas.microsoft.com/office/drawing/2014/main" id="{DC101DBA-7B26-4DA0-8F63-9FB582252D47}"/>
              </a:ext>
            </a:extLst>
          </p:cNvPr>
          <p:cNvSpPr/>
          <p:nvPr/>
        </p:nvSpPr>
        <p:spPr>
          <a:xfrm>
            <a:off x="0" y="0"/>
            <a:ext cx="73152" cy="68580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CD564FF-C953-C568-FEC7-E5A14AF45320}"/>
              </a:ext>
            </a:extLst>
          </p:cNvPr>
          <p:cNvSpPr txBox="1"/>
          <p:nvPr/>
        </p:nvSpPr>
        <p:spPr>
          <a:xfrm>
            <a:off x="548640" y="49466"/>
            <a:ext cx="8189230" cy="738664"/>
          </a:xfrm>
          <a:prstGeom prst="rect">
            <a:avLst/>
          </a:prstGeom>
          <a:noFill/>
        </p:spPr>
        <p:txBody>
          <a:bodyPr wrap="none">
            <a:spAutoFit/>
          </a:bodyPr>
          <a:lstStyle/>
          <a:p>
            <a:pPr>
              <a:defRPr sz="4200" b="1">
                <a:solidFill>
                  <a:srgbClr val="143440"/>
                </a:solidFill>
              </a:defRPr>
            </a:pPr>
            <a:r>
              <a:rPr lang="fr-FR" sz="4200" b="1" dirty="0"/>
              <a:t>Optimisation des performances HPL</a:t>
            </a:r>
            <a:endParaRPr dirty="0"/>
          </a:p>
        </p:txBody>
      </p:sp>
      <p:sp>
        <p:nvSpPr>
          <p:cNvPr id="5" name="Rectangle 4">
            <a:extLst>
              <a:ext uri="{FF2B5EF4-FFF2-40B4-BE49-F238E27FC236}">
                <a16:creationId xmlns:a16="http://schemas.microsoft.com/office/drawing/2014/main" id="{DCAEF4D2-1E2A-3E30-0945-EE2021EF2AEF}"/>
              </a:ext>
            </a:extLst>
          </p:cNvPr>
          <p:cNvSpPr/>
          <p:nvPr/>
        </p:nvSpPr>
        <p:spPr>
          <a:xfrm>
            <a:off x="0" y="770705"/>
            <a:ext cx="2286000"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22A88B8-D033-81EC-AD15-E4977B49BF8C}"/>
              </a:ext>
            </a:extLst>
          </p:cNvPr>
          <p:cNvSpPr txBox="1"/>
          <p:nvPr/>
        </p:nvSpPr>
        <p:spPr>
          <a:xfrm>
            <a:off x="568389" y="982950"/>
            <a:ext cx="3065006" cy="553998"/>
          </a:xfrm>
          <a:prstGeom prst="rect">
            <a:avLst/>
          </a:prstGeom>
          <a:noFill/>
        </p:spPr>
        <p:txBody>
          <a:bodyPr wrap="none">
            <a:spAutoFit/>
          </a:bodyPr>
          <a:lstStyle/>
          <a:p>
            <a:pPr>
              <a:defRPr sz="4400" b="1">
                <a:solidFill>
                  <a:srgbClr val="FF6B35"/>
                </a:solidFill>
              </a:defRPr>
            </a:pPr>
            <a:r>
              <a:rPr lang="fr-FR" sz="3000" b="1" dirty="0">
                <a:solidFill>
                  <a:srgbClr val="FF6B35"/>
                </a:solidFill>
              </a:rPr>
              <a:t>Taille du bloc (NB)</a:t>
            </a:r>
            <a:endParaRPr sz="3000" b="1" dirty="0">
              <a:solidFill>
                <a:srgbClr val="FF6B35"/>
              </a:solidFill>
            </a:endParaRPr>
          </a:p>
        </p:txBody>
      </p:sp>
      <p:sp>
        <p:nvSpPr>
          <p:cNvPr id="7" name="TextBox 6">
            <a:extLst>
              <a:ext uri="{FF2B5EF4-FFF2-40B4-BE49-F238E27FC236}">
                <a16:creationId xmlns:a16="http://schemas.microsoft.com/office/drawing/2014/main" id="{3A5F9193-C606-9DE8-3BEC-8A48F829FF0E}"/>
              </a:ext>
            </a:extLst>
          </p:cNvPr>
          <p:cNvSpPr txBox="1"/>
          <p:nvPr/>
        </p:nvSpPr>
        <p:spPr>
          <a:xfrm>
            <a:off x="596282" y="1430076"/>
            <a:ext cx="7567178" cy="1545038"/>
          </a:xfrm>
          <a:prstGeom prst="rect">
            <a:avLst/>
          </a:prstGeom>
          <a:noFill/>
        </p:spPr>
        <p:txBody>
          <a:bodyPr wrap="square">
            <a:spAutoFit/>
          </a:bodyPr>
          <a:lstStyle/>
          <a:p>
            <a:pPr marL="285750" indent="-285750">
              <a:lnSpc>
                <a:spcPct val="120000"/>
              </a:lnSpc>
              <a:buFont typeface="Arial" panose="020B0604020202020204" pitchFamily="34" charset="0"/>
              <a:buChar char="•"/>
              <a:defRPr sz="1300">
                <a:solidFill>
                  <a:srgbClr val="282828"/>
                </a:solidFill>
              </a:defRPr>
            </a:pPr>
            <a:r>
              <a:rPr lang="fr-FR" sz="2000" dirty="0"/>
              <a:t>Dépend de l’architecture CPU (</a:t>
            </a:r>
            <a:r>
              <a:rPr lang="fr-FR" sz="2000" dirty="0" err="1"/>
              <a:t>Broadwell</a:t>
            </a:r>
            <a:r>
              <a:rPr lang="fr-FR" sz="2000" dirty="0"/>
              <a:t>, </a:t>
            </a:r>
            <a:r>
              <a:rPr lang="fr-FR" sz="2000" dirty="0" err="1"/>
              <a:t>Skylake</a:t>
            </a:r>
            <a:r>
              <a:rPr lang="fr-FR" sz="2000" dirty="0"/>
              <a:t>…).</a:t>
            </a:r>
          </a:p>
          <a:p>
            <a:pPr marL="285750" indent="-285750">
              <a:lnSpc>
                <a:spcPct val="120000"/>
              </a:lnSpc>
              <a:buFont typeface="Arial" panose="020B0604020202020204" pitchFamily="34" charset="0"/>
              <a:buChar char="•"/>
              <a:defRPr sz="1300">
                <a:solidFill>
                  <a:srgbClr val="282828"/>
                </a:solidFill>
              </a:defRPr>
            </a:pPr>
            <a:r>
              <a:rPr lang="en-US" sz="2000" dirty="0"/>
              <a:t>NB = 192 pour Broadwell, NB = 384 pour Skylake.</a:t>
            </a:r>
          </a:p>
          <a:p>
            <a:pPr marL="285750" indent="-285750">
              <a:lnSpc>
                <a:spcPct val="120000"/>
              </a:lnSpc>
              <a:buFont typeface="Arial" panose="020B0604020202020204" pitchFamily="34" charset="0"/>
              <a:buChar char="•"/>
              <a:defRPr sz="1300">
                <a:solidFill>
                  <a:srgbClr val="282828"/>
                </a:solidFill>
              </a:defRPr>
            </a:pPr>
            <a:r>
              <a:rPr lang="fr-FR" sz="2000" dirty="0"/>
              <a:t>Le bloc NB détermine comment la matrice est découpée pour le calcul local et les communications.</a:t>
            </a:r>
          </a:p>
        </p:txBody>
      </p:sp>
      <p:sp>
        <p:nvSpPr>
          <p:cNvPr id="8" name="TextBox 7">
            <a:extLst>
              <a:ext uri="{FF2B5EF4-FFF2-40B4-BE49-F238E27FC236}">
                <a16:creationId xmlns:a16="http://schemas.microsoft.com/office/drawing/2014/main" id="{89AABE84-05F8-9CC9-A71F-EA6F0228BEEF}"/>
              </a:ext>
            </a:extLst>
          </p:cNvPr>
          <p:cNvSpPr txBox="1"/>
          <p:nvPr/>
        </p:nvSpPr>
        <p:spPr>
          <a:xfrm>
            <a:off x="596282" y="2950498"/>
            <a:ext cx="4353436" cy="553998"/>
          </a:xfrm>
          <a:prstGeom prst="rect">
            <a:avLst/>
          </a:prstGeom>
          <a:noFill/>
        </p:spPr>
        <p:txBody>
          <a:bodyPr wrap="none">
            <a:spAutoFit/>
          </a:bodyPr>
          <a:lstStyle/>
          <a:p>
            <a:pPr>
              <a:defRPr sz="4400" b="1">
                <a:solidFill>
                  <a:srgbClr val="FF6B35"/>
                </a:solidFill>
              </a:defRPr>
            </a:pPr>
            <a:r>
              <a:rPr lang="fr-FR" sz="3000" b="1" dirty="0">
                <a:solidFill>
                  <a:srgbClr val="FF6B35"/>
                </a:solidFill>
              </a:rPr>
              <a:t>Grille de processus (P × Q)</a:t>
            </a:r>
            <a:endParaRPr sz="3000" b="1" dirty="0">
              <a:solidFill>
                <a:srgbClr val="FF6B35"/>
              </a:solidFill>
            </a:endParaRPr>
          </a:p>
        </p:txBody>
      </p:sp>
      <p:sp>
        <p:nvSpPr>
          <p:cNvPr id="9" name="TextBox 8">
            <a:extLst>
              <a:ext uri="{FF2B5EF4-FFF2-40B4-BE49-F238E27FC236}">
                <a16:creationId xmlns:a16="http://schemas.microsoft.com/office/drawing/2014/main" id="{CF10925C-CC61-7368-A0F6-76720792DB26}"/>
              </a:ext>
            </a:extLst>
          </p:cNvPr>
          <p:cNvSpPr txBox="1"/>
          <p:nvPr/>
        </p:nvSpPr>
        <p:spPr>
          <a:xfrm>
            <a:off x="605350" y="3422240"/>
            <a:ext cx="8099279" cy="1175706"/>
          </a:xfrm>
          <a:prstGeom prst="rect">
            <a:avLst/>
          </a:prstGeom>
          <a:noFill/>
        </p:spPr>
        <p:txBody>
          <a:bodyPr wrap="square">
            <a:spAutoFit/>
          </a:bodyPr>
          <a:lstStyle/>
          <a:p>
            <a:pPr marL="342900" indent="-342900">
              <a:lnSpc>
                <a:spcPct val="120000"/>
              </a:lnSpc>
              <a:buFont typeface="Arial" panose="020B0604020202020204" pitchFamily="34" charset="0"/>
              <a:buChar char="•"/>
              <a:defRPr sz="1300">
                <a:solidFill>
                  <a:srgbClr val="282828"/>
                </a:solidFill>
              </a:defRPr>
            </a:pPr>
            <a:r>
              <a:rPr lang="fr-FR" sz="2000" dirty="0">
                <a:solidFill>
                  <a:srgbClr val="282828"/>
                </a:solidFill>
              </a:rPr>
              <a:t>Le produit P × Q = nombre de processus MPI.</a:t>
            </a:r>
          </a:p>
          <a:p>
            <a:pPr marL="342900" indent="-342900">
              <a:lnSpc>
                <a:spcPct val="120000"/>
              </a:lnSpc>
              <a:buFont typeface="Arial" panose="020B0604020202020204" pitchFamily="34" charset="0"/>
              <a:buChar char="•"/>
              <a:defRPr sz="1300">
                <a:solidFill>
                  <a:srgbClr val="282828"/>
                </a:solidFill>
              </a:defRPr>
            </a:pPr>
            <a:r>
              <a:rPr lang="fr-FR" sz="2000" dirty="0">
                <a:solidFill>
                  <a:srgbClr val="282828"/>
                </a:solidFill>
              </a:rPr>
              <a:t>Les processus sont disposés en grille pour répartir les blocs de la matrice.</a:t>
            </a:r>
          </a:p>
          <a:p>
            <a:pPr marL="342900" indent="-342900">
              <a:lnSpc>
                <a:spcPct val="120000"/>
              </a:lnSpc>
              <a:buFont typeface="Arial" panose="020B0604020202020204" pitchFamily="34" charset="0"/>
              <a:buChar char="•"/>
              <a:defRPr sz="1300">
                <a:solidFill>
                  <a:srgbClr val="282828"/>
                </a:solidFill>
              </a:defRPr>
            </a:pPr>
            <a:r>
              <a:rPr lang="fr-FR" sz="2000" dirty="0">
                <a:solidFill>
                  <a:srgbClr val="282828"/>
                </a:solidFill>
              </a:rPr>
              <a:t>Permet un équilibrage de charge optimal et réduit la communication.</a:t>
            </a:r>
            <a:endParaRPr sz="2000" dirty="0">
              <a:solidFill>
                <a:srgbClr val="282828"/>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3A4A8B7-2C4F-649A-769B-EC51FD4D7ADC}"/>
                  </a:ext>
                </a:extLst>
              </p:cNvPr>
              <p:cNvSpPr txBox="1"/>
              <p:nvPr/>
            </p:nvSpPr>
            <p:spPr>
              <a:xfrm>
                <a:off x="442140" y="5200195"/>
                <a:ext cx="8939604" cy="1677832"/>
              </a:xfrm>
              <a:prstGeom prst="rect">
                <a:avLst/>
              </a:prstGeom>
              <a:noFill/>
            </p:spPr>
            <p:txBody>
              <a:bodyPr wrap="square">
                <a:spAutoFit/>
              </a:bodyPr>
              <a:lstStyle/>
              <a:p>
                <a:pPr marL="342900" indent="-342900">
                  <a:lnSpc>
                    <a:spcPct val="120000"/>
                  </a:lnSpc>
                  <a:buFont typeface="Arial" panose="020B0604020202020204" pitchFamily="34" charset="0"/>
                  <a:buChar char="•"/>
                  <a:defRPr sz="1300">
                    <a:solidFill>
                      <a:srgbClr val="282828"/>
                    </a:solidFill>
                  </a:defRPr>
                </a:pPr>
                <a:r>
                  <a:rPr lang="fr-FR" sz="2000" dirty="0">
                    <a:solidFill>
                      <a:srgbClr val="282828"/>
                    </a:solidFill>
                  </a:rPr>
                  <a:t>Dépend de la mémoire disponible : chaque élément double </a:t>
                </a:r>
                <a:r>
                  <a:rPr lang="fr-FR" sz="2000" dirty="0" err="1">
                    <a:solidFill>
                      <a:srgbClr val="282828"/>
                    </a:solidFill>
                  </a:rPr>
                  <a:t>precision</a:t>
                </a:r>
                <a:r>
                  <a:rPr lang="fr-FR" sz="2000" dirty="0">
                    <a:solidFill>
                      <a:srgbClr val="282828"/>
                    </a:solidFill>
                  </a:rPr>
                  <a:t> = 8 bytes.</a:t>
                </a:r>
              </a:p>
              <a:p>
                <a:pPr marL="342900" indent="-342900">
                  <a:lnSpc>
                    <a:spcPct val="120000"/>
                  </a:lnSpc>
                  <a:buFont typeface="Arial" panose="020B0604020202020204" pitchFamily="34" charset="0"/>
                  <a:buChar char="•"/>
                  <a:defRPr sz="1300">
                    <a:solidFill>
                      <a:srgbClr val="282828"/>
                    </a:solidFill>
                  </a:defRPr>
                </a:pPr>
                <a:r>
                  <a:rPr lang="fr-FR" sz="2000" dirty="0">
                    <a:solidFill>
                      <a:srgbClr val="282828"/>
                    </a:solidFill>
                  </a:rPr>
                  <a:t>Mémoire totale ≈ N² × 8 × α, avec α ≈ 0.8–0.92 pour utiliser 80–92% de la mémoire. Donc la formule de </a:t>
                </a:r>
                <a14:m>
                  <m:oMath xmlns:m="http://schemas.openxmlformats.org/officeDocument/2006/math">
                    <m:r>
                      <a:rPr lang="fr-FR" i="1">
                        <a:latin typeface="Cambria Math" panose="02040503050406030204" pitchFamily="18" charset="0"/>
                      </a:rPr>
                      <m:t>𝑁</m:t>
                    </m:r>
                    <m:r>
                      <a:rPr lang="fr-FR">
                        <a:latin typeface="Cambria Math" panose="02040503050406030204" pitchFamily="18" charset="0"/>
                      </a:rPr>
                      <m:t>=</m:t>
                    </m:r>
                    <m:rad>
                      <m:radPr>
                        <m:degHide m:val="on"/>
                        <m:ctrlPr>
                          <a:rPr lang="ar-TN" i="1">
                            <a:latin typeface="Cambria Math" panose="02040503050406030204" pitchFamily="18" charset="0"/>
                          </a:rPr>
                        </m:ctrlPr>
                      </m:radPr>
                      <m:deg/>
                      <m:e>
                        <m:f>
                          <m:fPr>
                            <m:ctrlPr>
                              <a:rPr lang="ar-TN" i="1">
                                <a:latin typeface="Cambria Math" panose="02040503050406030204" pitchFamily="18" charset="0"/>
                              </a:rPr>
                            </m:ctrlPr>
                          </m:fPr>
                          <m:num>
                            <m:r>
                              <a:rPr lang="ar-TN" i="1">
                                <a:latin typeface="Cambria Math" panose="02040503050406030204" pitchFamily="18" charset="0"/>
                              </a:rPr>
                              <m:t>𝛼</m:t>
                            </m:r>
                            <m:r>
                              <a:rPr lang="ar-TN">
                                <a:latin typeface="Cambria Math" panose="02040503050406030204" pitchFamily="18" charset="0"/>
                              </a:rPr>
                              <m:t>⋅#</m:t>
                            </m:r>
                            <m:r>
                              <m:rPr>
                                <m:nor/>
                              </m:rPr>
                              <a:rPr lang="fr-FR" i="1"/>
                              <m:t>Nodes</m:t>
                            </m:r>
                            <m:r>
                              <a:rPr lang="fr-FR">
                                <a:latin typeface="Cambria Math" panose="02040503050406030204" pitchFamily="18" charset="0"/>
                              </a:rPr>
                              <m:t>⋅</m:t>
                            </m:r>
                            <m:r>
                              <m:rPr>
                                <m:nor/>
                              </m:rPr>
                              <a:rPr lang="fr-FR" i="1"/>
                              <m:t>RAMsize</m:t>
                            </m:r>
                            <m:r>
                              <m:rPr>
                                <m:nor/>
                              </m:rPr>
                              <a:rPr lang="fr-FR" i="1"/>
                              <m:t> (</m:t>
                            </m:r>
                            <m:r>
                              <m:rPr>
                                <m:nor/>
                              </m:rPr>
                              <a:rPr lang="fr-FR" i="1"/>
                              <m:t>GiB</m:t>
                            </m:r>
                            <m:r>
                              <m:rPr>
                                <m:nor/>
                              </m:rPr>
                              <a:rPr lang="fr-FR" i="1"/>
                              <m:t>)</m:t>
                            </m:r>
                            <m:r>
                              <a:rPr lang="fr-FR">
                                <a:latin typeface="Cambria Math" panose="02040503050406030204" pitchFamily="18" charset="0"/>
                              </a:rPr>
                              <m:t>⋅</m:t>
                            </m:r>
                            <m:sSup>
                              <m:sSupPr>
                                <m:ctrlPr>
                                  <a:rPr lang="ar-TN" i="1">
                                    <a:latin typeface="Cambria Math" panose="02040503050406030204" pitchFamily="18" charset="0"/>
                                  </a:rPr>
                                </m:ctrlPr>
                              </m:sSupPr>
                              <m:e>
                                <m:r>
                                  <a:rPr lang="ar-TN">
                                    <a:latin typeface="Cambria Math" panose="02040503050406030204" pitchFamily="18" charset="0"/>
                                  </a:rPr>
                                  <m:t>1024</m:t>
                                </m:r>
                              </m:e>
                              <m:sup>
                                <m:r>
                                  <a:rPr lang="ar-TN">
                                    <a:latin typeface="Cambria Math" panose="02040503050406030204" pitchFamily="18" charset="0"/>
                                  </a:rPr>
                                  <m:t>3</m:t>
                                </m:r>
                              </m:sup>
                            </m:sSup>
                          </m:num>
                          <m:den>
                            <m:r>
                              <a:rPr lang="ar-TN">
                                <a:latin typeface="Cambria Math" panose="02040503050406030204" pitchFamily="18" charset="0"/>
                              </a:rPr>
                              <m:t>8</m:t>
                            </m:r>
                          </m:den>
                        </m:f>
                      </m:e>
                    </m:rad>
                  </m:oMath>
                </a14:m>
                <a:endParaRPr lang="ar-TN" sz="2000" b="0" dirty="0"/>
              </a:p>
              <a:p>
                <a:pPr>
                  <a:lnSpc>
                    <a:spcPct val="120000"/>
                  </a:lnSpc>
                  <a:defRPr sz="1300">
                    <a:solidFill>
                      <a:srgbClr val="282828"/>
                    </a:solidFill>
                  </a:defRPr>
                </a:pPr>
                <a:r>
                  <a:rPr lang="fr-FR" sz="2000" dirty="0">
                    <a:solidFill>
                      <a:srgbClr val="282828"/>
                    </a:solidFill>
                  </a:rPr>
                  <a:t> </a:t>
                </a:r>
              </a:p>
            </p:txBody>
          </p:sp>
        </mc:Choice>
        <mc:Fallback xmlns="">
          <p:sp>
            <p:nvSpPr>
              <p:cNvPr id="11" name="TextBox 10">
                <a:extLst>
                  <a:ext uri="{FF2B5EF4-FFF2-40B4-BE49-F238E27FC236}">
                    <a16:creationId xmlns:a16="http://schemas.microsoft.com/office/drawing/2014/main" id="{73A4A8B7-2C4F-649A-769B-EC51FD4D7ADC}"/>
                  </a:ext>
                </a:extLst>
              </p:cNvPr>
              <p:cNvSpPr txBox="1">
                <a:spLocks noRot="1" noChangeAspect="1" noMove="1" noResize="1" noEditPoints="1" noAdjustHandles="1" noChangeArrowheads="1" noChangeShapeType="1" noTextEdit="1"/>
              </p:cNvSpPr>
              <p:nvPr/>
            </p:nvSpPr>
            <p:spPr>
              <a:xfrm>
                <a:off x="442140" y="5200195"/>
                <a:ext cx="8939604" cy="1677832"/>
              </a:xfrm>
              <a:prstGeom prst="rect">
                <a:avLst/>
              </a:prstGeom>
              <a:blipFill>
                <a:blip r:embed="rId3"/>
                <a:stretch>
                  <a:fillRect l="-614"/>
                </a:stretch>
              </a:blipFill>
            </p:spPr>
            <p:txBody>
              <a:bodyPr/>
              <a:lstStyle/>
              <a:p>
                <a:r>
                  <a:rPr lang="fr-FR">
                    <a:noFill/>
                  </a:rPr>
                  <a:t> </a:t>
                </a:r>
              </a:p>
            </p:txBody>
          </p:sp>
        </mc:Fallback>
      </mc:AlternateContent>
      <p:sp>
        <p:nvSpPr>
          <p:cNvPr id="14" name="TextBox 5">
            <a:extLst>
              <a:ext uri="{FF2B5EF4-FFF2-40B4-BE49-F238E27FC236}">
                <a16:creationId xmlns:a16="http://schemas.microsoft.com/office/drawing/2014/main" id="{47037F43-3CB8-261C-DA17-0531E44BB4EA}"/>
              </a:ext>
            </a:extLst>
          </p:cNvPr>
          <p:cNvSpPr txBox="1"/>
          <p:nvPr/>
        </p:nvSpPr>
        <p:spPr>
          <a:xfrm>
            <a:off x="596282" y="4617973"/>
            <a:ext cx="3727174" cy="553998"/>
          </a:xfrm>
          <a:prstGeom prst="rect">
            <a:avLst/>
          </a:prstGeom>
          <a:noFill/>
        </p:spPr>
        <p:txBody>
          <a:bodyPr wrap="none">
            <a:spAutoFit/>
          </a:bodyPr>
          <a:lstStyle/>
          <a:p>
            <a:pPr>
              <a:defRPr sz="4400" b="1">
                <a:solidFill>
                  <a:srgbClr val="FF6B35"/>
                </a:solidFill>
              </a:defRPr>
            </a:pPr>
            <a:r>
              <a:rPr lang="fr-FR" sz="3000" b="1" dirty="0">
                <a:solidFill>
                  <a:srgbClr val="FF6B35"/>
                </a:solidFill>
              </a:rPr>
              <a:t>Taille du problème (N)</a:t>
            </a:r>
            <a:endParaRPr sz="3000" b="1" dirty="0">
              <a:solidFill>
                <a:srgbClr val="FF6B35"/>
              </a:solidFill>
            </a:endParaRPr>
          </a:p>
        </p:txBody>
      </p:sp>
      <p:sp>
        <p:nvSpPr>
          <p:cNvPr id="16" name="Rounded Rectangle 7">
            <a:extLst>
              <a:ext uri="{FF2B5EF4-FFF2-40B4-BE49-F238E27FC236}">
                <a16:creationId xmlns:a16="http://schemas.microsoft.com/office/drawing/2014/main" id="{060F04A8-421F-5344-DE46-37BFAFE0DC01}"/>
              </a:ext>
            </a:extLst>
          </p:cNvPr>
          <p:cNvSpPr/>
          <p:nvPr/>
        </p:nvSpPr>
        <p:spPr>
          <a:xfrm>
            <a:off x="441519" y="1238214"/>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7">
            <a:extLst>
              <a:ext uri="{FF2B5EF4-FFF2-40B4-BE49-F238E27FC236}">
                <a16:creationId xmlns:a16="http://schemas.microsoft.com/office/drawing/2014/main" id="{FF3BF411-B815-ACAE-66C9-92DD1DF7363B}"/>
              </a:ext>
            </a:extLst>
          </p:cNvPr>
          <p:cNvSpPr/>
          <p:nvPr/>
        </p:nvSpPr>
        <p:spPr>
          <a:xfrm>
            <a:off x="437771" y="3172633"/>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7">
            <a:extLst>
              <a:ext uri="{FF2B5EF4-FFF2-40B4-BE49-F238E27FC236}">
                <a16:creationId xmlns:a16="http://schemas.microsoft.com/office/drawing/2014/main" id="{A36FB509-EB93-24AA-678B-4148CE96BE3F}"/>
              </a:ext>
            </a:extLst>
          </p:cNvPr>
          <p:cNvSpPr/>
          <p:nvPr/>
        </p:nvSpPr>
        <p:spPr>
          <a:xfrm>
            <a:off x="432546" y="4840108"/>
            <a:ext cx="109728" cy="109728"/>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179658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243</TotalTime>
  <Words>704</Words>
  <Application>Microsoft Office PowerPoint</Application>
  <PresentationFormat>Affichage à l'écran (4:3)</PresentationFormat>
  <Paragraphs>67</Paragraphs>
  <Slides>11</Slides>
  <Notes>10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11</vt:i4>
      </vt:variant>
    </vt:vector>
  </HeadingPairs>
  <TitlesOfParts>
    <vt:vector size="16" baseType="lpstr">
      <vt:lpstr>Aptos</vt:lpstr>
      <vt:lpstr>Arial</vt:lpstr>
      <vt:lpstr>Calibri</vt:lpstr>
      <vt:lpstr>Cambria Math</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Achraf Benmalk</dc:creator>
  <cp:keywords/>
  <dc:description>generated using python-pptx</dc:description>
  <cp:lastModifiedBy>mohamedkarim.bezine</cp:lastModifiedBy>
  <cp:revision>12</cp:revision>
  <dcterms:created xsi:type="dcterms:W3CDTF">2013-01-27T09:14:16Z</dcterms:created>
  <dcterms:modified xsi:type="dcterms:W3CDTF">2026-01-27T23:50:31Z</dcterms:modified>
  <cp:category/>
</cp:coreProperties>
</file>