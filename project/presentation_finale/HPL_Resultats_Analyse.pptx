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822960"/>
            <a:ext cx="54864" cy="164592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315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Georgia"/>
              </a:rPr>
              <a:t>HPL Benchmark
Implémentation et résultats GPU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0D4D4"/>
                </a:solidFill>
                <a:latin typeface="Calibri"/>
              </a:rPr>
              <a:t>Analyse comparative A100 (Ampere) vs H100 (Hopper)
Partie 2 : Exécution, Résultats, Analyse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566160"/>
            <a:ext cx="9144000" cy="27432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4A843"/>
                </a:solidFill>
                <a:latin typeface="Calibri"/>
              </a:rPr>
              <a:t>BENMALK Achraf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77639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FB8B8"/>
                </a:solidFill>
                <a:latin typeface="Calibri"/>
              </a:rPr>
              <a:t>Projet MPNA — Méthodes et Programmation Numérique Avancée —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0D4F4F"/>
                </a:solidFill>
                <a:latin typeface="Georgia"/>
              </a:rPr>
              <a:t>Plateforme d'exécution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77724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i="1">
                <a:solidFill>
                  <a:srgbClr val="8A8A9A"/>
                </a:solidFill>
                <a:latin typeface="Calibri"/>
              </a:rPr>
              <a:t>Cluster HPC avec GPUs NVIDIA — Conteneur HPC-Benchmarks 23.10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84048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3840480" cy="4572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C7B"/>
                </a:solidFill>
                <a:latin typeface="Calibri"/>
              </a:rPr>
              <a:t>Environnement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0020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4A4A5A"/>
                </a:solidFill>
                <a:latin typeface="Calibri"/>
              </a:rPr>
              <a:t>Conteneur NVIDIA HPC-Benchmarks 23.10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A4A5A"/>
                </a:solidFill>
                <a:latin typeface="Calibri"/>
              </a:rPr>
              <a:t>Déploiement via Singularity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A4A5A"/>
                </a:solidFill>
                <a:latin typeface="Calibri"/>
              </a:rPr>
              <a:t>Bibliothèques : cuBLAS + NCCL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A4A5A"/>
                </a:solidFill>
                <a:latin typeface="Calibri"/>
              </a:rPr>
              <a:t>Ordonnanceur : Slurm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4A4A5A"/>
                </a:solidFill>
                <a:latin typeface="Calibri"/>
              </a:rPr>
              <a:t>Tensor Cores FP64 pour DGEMM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097280"/>
            <a:ext cx="457200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097280"/>
            <a:ext cx="4572000" cy="4572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2344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4A843"/>
                </a:solidFill>
                <a:latin typeface="Calibri"/>
              </a:rPr>
              <a:t>GPUs testés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480560" y="1645920"/>
          <a:ext cx="4389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</a:tblGrid>
              <a:tr h="365760">
                <a:tc>
                  <a:txBody>
                    <a:bodyPr/>
                    <a:lstStyle/>
                    <a:p>
                      <a:pPr algn="ctr"/>
                    </a:p>
                  </a:txBody>
                  <a:tcPr>
                    <a:solidFill>
                      <a:srgbClr val="0D4F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A100 (Ampere)</a:t>
                      </a:r>
                    </a:p>
                  </a:txBody>
                  <a:tcPr>
                    <a:solidFill>
                      <a:srgbClr val="0D4F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H100 (Hopper)</a:t>
                      </a:r>
                    </a:p>
                  </a:txBody>
                  <a:tcPr>
                    <a:solidFill>
                      <a:srgbClr val="0D4F4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Partition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gpu_h100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Mémoire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80 Go HBM2e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80 Go HBM3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Cœurs CUDA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6 912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16 896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Peak FP64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19,5 TFLOPS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54 TFLOPS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365760" y="3886200"/>
            <a:ext cx="8412480" cy="502920"/>
          </a:xfrm>
          <a:prstGeom prst="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8862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4F4F"/>
                </a:solidFill>
                <a:latin typeface="Calibri"/>
              </a:rPr>
              <a:t>Configuration HPL : NB = 576 (blocs larges pour GPU)  |  P × Q = 2 × 1  |  BCAST =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0D4F4F"/>
                </a:solidFill>
                <a:latin typeface="Georgia"/>
              </a:rPr>
              <a:t>Étapes d'exécution sur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77724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i="1">
                <a:solidFill>
                  <a:srgbClr val="8A8A9A"/>
                </a:solidFill>
                <a:latin typeface="Calibri"/>
              </a:rPr>
              <a:t>Du fichier de configuration au lancement du benchmark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51560"/>
            <a:ext cx="41148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4114800" cy="4572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365760" cy="36576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1887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C7B"/>
                </a:solidFill>
                <a:latin typeface="Calibri"/>
              </a:rPr>
              <a:t>HPL.dat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Calibri"/>
              </a:rPr>
              <a:t>Création du fichier de configuration
(N, NB, P×Q, BCAST)</a:t>
            </a:r>
          </a:p>
        </p:txBody>
      </p:sp>
      <p:pic>
        <p:nvPicPr>
          <p:cNvPr id="10" name="Picture 9" descr="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188720"/>
            <a:ext cx="1600200" cy="65323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663440" y="1051560"/>
            <a:ext cx="41148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63440" y="1051560"/>
            <a:ext cx="4114800" cy="4572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800600" y="1234440"/>
            <a:ext cx="365760" cy="36576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800" y="11887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C7B"/>
                </a:solidFill>
                <a:latin typeface="Calibri"/>
              </a:rPr>
              <a:t>Singularity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150876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Calibri"/>
              </a:rPr>
              <a:t>Lancement du conteneur NVIDIA
avec bind du répertoire de travail</a:t>
            </a:r>
          </a:p>
        </p:txBody>
      </p:sp>
      <p:pic>
        <p:nvPicPr>
          <p:cNvPr id="16" name="Picture 15" descr="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188720"/>
            <a:ext cx="1600200" cy="200979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365760" y="2834640"/>
            <a:ext cx="41148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2834640"/>
            <a:ext cx="4114800" cy="4572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017520"/>
            <a:ext cx="365760" cy="36576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2971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C7B"/>
                </a:solidFill>
                <a:latin typeface="Calibri"/>
              </a:rPr>
              <a:t>Slurm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29184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Calibri"/>
              </a:rPr>
              <a:t>Allocation GPU via salloc
(--gres=gpu:1 ou gpu:2)</a:t>
            </a:r>
          </a:p>
        </p:txBody>
      </p:sp>
      <p:pic>
        <p:nvPicPr>
          <p:cNvPr id="22" name="Picture 21" descr="Ste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0" y="2971800"/>
            <a:ext cx="1600200" cy="226929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4663440" y="2834640"/>
            <a:ext cx="41148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63440" y="2834640"/>
            <a:ext cx="4114800" cy="45720"/>
          </a:xfrm>
          <a:prstGeom prst="rect">
            <a:avLst/>
          </a:prstGeom>
          <a:solidFill>
            <a:srgbClr val="E0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00600" y="3017520"/>
            <a:ext cx="365760" cy="365760"/>
          </a:xfrm>
          <a:prstGeom prst="rect">
            <a:avLst/>
          </a:prstGeom>
          <a:solidFill>
            <a:srgbClr val="E0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800" y="2971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07A5F"/>
                </a:solidFill>
                <a:latin typeface="Calibri"/>
              </a:rPr>
              <a:t>Exécution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57800" y="329184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Calibri"/>
              </a:rPr>
              <a:t>mpirun -np &lt;X&gt; ./hpl.sh
--dat /mnt/HPL.dat</a:t>
            </a:r>
          </a:p>
        </p:txBody>
      </p:sp>
      <p:pic>
        <p:nvPicPr>
          <p:cNvPr id="28" name="Picture 27" descr="Step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0" y="2971800"/>
            <a:ext cx="1600200" cy="23767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0D4F4F"/>
                </a:solidFill>
                <a:latin typeface="Georgia"/>
              </a:rPr>
              <a:t>Résultats : GPU A100 (Ampere)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77724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i="1">
                <a:solidFill>
                  <a:srgbClr val="8A8A9A"/>
                </a:solidFill>
                <a:latin typeface="Calibri"/>
              </a:rPr>
              <a:t>Peak théorique : 19,5 TFLOPS  |  Configuration : NB=576, P×Q=2×1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005840"/>
          <a:ext cx="3657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14400"/>
                <a:gridCol w="914400"/>
                <a:gridCol w="91440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>
                    <a:solidFill>
                      <a:srgbClr val="0D4F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 GPU</a:t>
                      </a:r>
                    </a:p>
                  </a:txBody>
                  <a:tcPr>
                    <a:solidFill>
                      <a:srgbClr val="0D4F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 GPUs</a:t>
                      </a:r>
                    </a:p>
                  </a:txBody>
                  <a:tcPr>
                    <a:solidFill>
                      <a:srgbClr val="0D4F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Speedup</a:t>
                      </a:r>
                    </a:p>
                  </a:txBody>
                  <a:tcPr>
                    <a:solidFill>
                      <a:srgbClr val="0D4F4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20 000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9 731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9 106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0,94x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40 000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15 890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25 230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1,59x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60 000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17 150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31 430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1,83x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80 000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17 600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33 560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1,91x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100 000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17 860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34 720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1,95x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6" name="Picture 5" descr="hpl-a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005840"/>
            <a:ext cx="4754880" cy="290547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520440"/>
            <a:ext cx="393192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3520440"/>
            <a:ext cx="3931920" cy="4572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E7C7B"/>
                </a:solidFill>
                <a:latin typeface="Calibri"/>
              </a:rPr>
              <a:t>Efficacité : 17 860 / 19 487 = 91,7%
Speedup 2 GPUs : 1,95x → eff. parallèle 97%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3520440"/>
            <a:ext cx="448056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80560" y="3520440"/>
            <a:ext cx="4480560" cy="45720"/>
          </a:xfrm>
          <a:prstGeom prst="rect">
            <a:avLst/>
          </a:prstGeom>
          <a:solidFill>
            <a:srgbClr val="E0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361188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07A5F"/>
                </a:solidFill>
                <a:latin typeface="Calibri"/>
              </a:rPr>
              <a:t>Anomalie N=20K : 2 GPUs plus lents (-6,4%)
Tous les tests : résidu PASSED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0D4F4F"/>
                </a:solidFill>
                <a:latin typeface="Georgia"/>
              </a:rPr>
              <a:t>Résultats : GPU H100 (Hopper)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77724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i="1">
                <a:solidFill>
                  <a:srgbClr val="8A8A9A"/>
                </a:solidFill>
                <a:latin typeface="Calibri"/>
              </a:rPr>
              <a:t>Peak théorique : 54 TFLOPS  |  Configuration : NB=576, P×Q=2×1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005840"/>
          <a:ext cx="3657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14400"/>
                <a:gridCol w="914400"/>
                <a:gridCol w="91440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>
                    <a:solidFill>
                      <a:srgbClr val="0D4F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 GPU</a:t>
                      </a:r>
                    </a:p>
                  </a:txBody>
                  <a:tcPr>
                    <a:solidFill>
                      <a:srgbClr val="0D4F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 GPUs</a:t>
                      </a:r>
                    </a:p>
                  </a:txBody>
                  <a:tcPr>
                    <a:solidFill>
                      <a:srgbClr val="0D4F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Speedup</a:t>
                      </a:r>
                    </a:p>
                  </a:txBody>
                  <a:tcPr>
                    <a:solidFill>
                      <a:srgbClr val="0D4F4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20 000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16 130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11 510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0,71x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40 000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35 760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41 460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1,16x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60 000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41 760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64 700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1,55x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80 000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44 130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76 730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1,74x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100 000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45 110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81 970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1,82x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6" name="Picture 5" descr="hpl-h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005840"/>
            <a:ext cx="4754880" cy="2918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520440"/>
            <a:ext cx="393192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3520440"/>
            <a:ext cx="3931920" cy="4572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E7C7B"/>
                </a:solidFill>
                <a:latin typeface="Calibri"/>
              </a:rPr>
              <a:t>Efficacité : 45 110 / 54 067 = 83,4%
Speedup 2 GPUs : 1,82x → eff. parallèle 91%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3520440"/>
            <a:ext cx="448056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80560" y="3520440"/>
            <a:ext cx="4480560" cy="457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361188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392B"/>
                </a:solidFill>
                <a:latin typeface="Calibri"/>
              </a:rPr>
              <a:t>Anomalie N=20K : 2 GPUs 28,6% PLUS LENTS !
Tous les tests : résidu PASSED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0D4F4F"/>
                </a:solidFill>
                <a:latin typeface="Georgia"/>
              </a:rPr>
              <a:t>Anomalie : 2 GPUs plus lents qu'un seul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77724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i="1">
                <a:solidFill>
                  <a:srgbClr val="8A8A9A"/>
                </a:solidFill>
                <a:latin typeface="Calibri"/>
              </a:rPr>
              <a:t>Dégradation de performance observée à N = 20 000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005840"/>
          <a:ext cx="384048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20"/>
                <a:gridCol w="960120"/>
                <a:gridCol w="960120"/>
                <a:gridCol w="960120"/>
              </a:tblGrid>
              <a:tr h="3048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GPU</a:t>
                      </a:r>
                    </a:p>
                  </a:txBody>
                  <a:tcPr>
                    <a:solidFill>
                      <a:srgbClr val="0D4F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 GPU</a:t>
                      </a:r>
                    </a:p>
                  </a:txBody>
                  <a:tcPr>
                    <a:solidFill>
                      <a:srgbClr val="0D4F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 GPUs</a:t>
                      </a:r>
                    </a:p>
                  </a:txBody>
                  <a:tcPr>
                    <a:solidFill>
                      <a:srgbClr val="0D4F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Dégradation</a:t>
                      </a:r>
                    </a:p>
                  </a:txBody>
                  <a:tcPr>
                    <a:solidFill>
                      <a:srgbClr val="0D4F4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A100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9 731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9 106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-6,4%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H100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16 130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11 510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-28,6%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2103120"/>
            <a:ext cx="365760" cy="36576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Problème trop petit — chaque GPU reçoit une portion insuffisante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39"/>
            <a:ext cx="365760" cy="36576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06039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Coût de communication inter-GPU &gt; gain de calcul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108960"/>
            <a:ext cx="365760" cy="36576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0896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Plus prononcé sur H100 : 16 896 vs 6 912 cœurs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611880"/>
            <a:ext cx="365760" cy="365760"/>
          </a:xfrm>
          <a:prstGeom prst="rect">
            <a:avLst/>
          </a:prstGeom>
          <a:solidFill>
            <a:srgbClr val="E0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1188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Seuil de rentabilité : entre N = 20K et 40K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005840"/>
            <a:ext cx="4572000" cy="3017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005840"/>
            <a:ext cx="4572000" cy="4572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114300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4A843"/>
                </a:solidFill>
                <a:latin typeface="Calibri"/>
              </a:rPr>
              <a:t>Pourquoi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1508760"/>
            <a:ext cx="4389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1">
                <a:solidFill>
                  <a:srgbClr val="0D4F4F"/>
                </a:solidFill>
                <a:latin typeface="Calibri"/>
              </a:rPr>
              <a:t>Le calcul croît en O(N³)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4A4A5A"/>
                </a:solidFill>
                <a:latin typeface="Calibri"/>
              </a:rPr>
              <a:t>Volume de travail augmente cubiquement avec N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4A4A5A"/>
                </a:solidFill>
                <a:latin typeface="Calibri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E07A5F"/>
                </a:solidFill>
                <a:latin typeface="Calibri"/>
              </a:rPr>
              <a:t>La communication croît en O(N²)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4A4A5A"/>
                </a:solidFill>
                <a:latin typeface="Calibri"/>
              </a:rPr>
              <a:t>Échanges inter-GPU augmentent quadratiquement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4A4A5A"/>
                </a:solidFill>
                <a:latin typeface="Calibri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0D4F4F"/>
                </a:solidFill>
                <a:latin typeface="Calibri"/>
              </a:rPr>
              <a:t>Pour les grands N, le calcul domine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4A4A5A"/>
                </a:solidFill>
                <a:latin typeface="Calibri"/>
              </a:rPr>
              <a:t>Les GPUs passent plus de temps à calculer qu'à communiquer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4A4A5A"/>
                </a:solidFill>
                <a:latin typeface="Calibri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E07A5F"/>
                </a:solidFill>
                <a:latin typeface="Calibri"/>
              </a:rPr>
              <a:t>Pour les petits N, la communication domine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4A4A5A"/>
                </a:solidFill>
                <a:latin typeface="Calibri"/>
              </a:rPr>
              <a:t>Le surcoût de synchronisation dépasse le bénéfice du parallélisme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0D4F4F"/>
                </a:solidFill>
                <a:latin typeface="Georgia"/>
              </a:rPr>
              <a:t>Comparaison architecturale : A100 vs H100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77724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i="1">
                <a:solidFill>
                  <a:srgbClr val="8A8A9A"/>
                </a:solidFill>
                <a:latin typeface="Calibri"/>
              </a:rPr>
              <a:t>Facteur d'accélération en fonction de la taille du problème</a:t>
            </a:r>
          </a:p>
        </p:txBody>
      </p:sp>
      <p:pic>
        <p:nvPicPr>
          <p:cNvPr id="5" name="Picture 4" descr="a100-h100-h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4389120" cy="2548745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846320" y="960120"/>
          <a:ext cx="4114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8700"/>
                <a:gridCol w="1028700"/>
                <a:gridCol w="1028700"/>
                <a:gridCol w="102870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>
                    <a:solidFill>
                      <a:srgbClr val="0D4F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A100</a:t>
                      </a:r>
                    </a:p>
                  </a:txBody>
                  <a:tcPr>
                    <a:solidFill>
                      <a:srgbClr val="0D4F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H100</a:t>
                      </a:r>
                    </a:p>
                  </a:txBody>
                  <a:tcPr>
                    <a:solidFill>
                      <a:srgbClr val="0D4F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0D4F4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20K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9 731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16 130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1,66x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40K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15 890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35 760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2,25x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60K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17 150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41 760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2,43x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80K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17 600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44 130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2,51x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100K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17 860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45 110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2,53x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846320" y="3383280"/>
            <a:ext cx="411480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46320" y="3383280"/>
            <a:ext cx="4114800" cy="4572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3474720"/>
            <a:ext cx="3931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E7C7B"/>
                </a:solidFill>
                <a:latin typeface="Calibri"/>
              </a:rPr>
              <a:t>Ratio théorique : 54 / 19,5 = 2,77x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D4F4F"/>
                </a:solidFill>
                <a:latin typeface="Calibri"/>
              </a:rPr>
              <a:t>Ratio mesuré (N=100K) : 2,53x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4A4A5A"/>
                </a:solidFill>
                <a:latin typeface="Calibri"/>
              </a:rPr>
              <a:t>Écart ~9% — dû à la différence d'efficacité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4A4A5A"/>
                </a:solidFill>
                <a:latin typeface="Calibri"/>
              </a:rPr>
              <a:t>H100 : 83,4%  vs  A100 : 91,7%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0D4F4F"/>
                </a:solidFill>
                <a:latin typeface="Georgia"/>
              </a:rPr>
              <a:t>Synthèse de l'efficacité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77724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i="1">
                <a:solidFill>
                  <a:srgbClr val="8A8A9A"/>
                </a:solidFill>
                <a:latin typeface="Calibri"/>
              </a:rPr>
              <a:t>Efficacité = GFLOPS mesurés / Pic théorique × 100%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960120"/>
          <a:ext cx="84124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Configuration</a:t>
                      </a:r>
                    </a:p>
                  </a:txBody>
                  <a:tcPr>
                    <a:solidFill>
                      <a:srgbClr val="0D4F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Peak (TFLOPS)</a:t>
                      </a:r>
                    </a:p>
                  </a:txBody>
                  <a:tcPr>
                    <a:solidFill>
                      <a:srgbClr val="0D4F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Meilleur (GFLOPS)</a:t>
                      </a:r>
                    </a:p>
                  </a:txBody>
                  <a:tcPr>
                    <a:solidFill>
                      <a:srgbClr val="0D4F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Efficacité</a:t>
                      </a:r>
                    </a:p>
                  </a:txBody>
                  <a:tcPr>
                    <a:solidFill>
                      <a:srgbClr val="0D4F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Eff. parallèle</a:t>
                      </a:r>
                    </a:p>
                  </a:txBody>
                  <a:tcPr>
                    <a:solidFill>
                      <a:srgbClr val="0D4F4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A100 (1 GPU)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19,5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17 860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91,7%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H100 (1 GPU)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54,0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45 110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83,4%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A100 (2 GPUs)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39,0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34 720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89,0%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97%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H100 (2 GPUs)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108,0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81 970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75,8%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  <a:latin typeface="Calibri"/>
                        </a:rPr>
                        <a:t>91%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3200400"/>
            <a:ext cx="402336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3200400"/>
            <a:ext cx="4023360" cy="4572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29184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1">
                <a:solidFill>
                  <a:srgbClr val="0E7C7B"/>
                </a:solidFill>
                <a:latin typeface="Calibri"/>
              </a:rPr>
              <a:t>HPL est compute-bound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4A4A5A"/>
                </a:solidFill>
                <a:latin typeface="Calibri"/>
              </a:rPr>
              <a:t>Le calcul (DGEMM) domine le temps d'exécution.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4A4A5A"/>
                </a:solidFill>
                <a:latin typeface="Calibri"/>
              </a:rPr>
              <a:t>L'A100 est plus facile à saturer → meilleure efficacité.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3200400"/>
            <a:ext cx="4389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3200400"/>
            <a:ext cx="4389120" cy="45720"/>
          </a:xfrm>
          <a:prstGeom prst="rect">
            <a:avLst/>
          </a:prstGeom>
          <a:solidFill>
            <a:srgbClr val="E0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3291840"/>
            <a:ext cx="4206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1">
                <a:solidFill>
                  <a:srgbClr val="E07A5F"/>
                </a:solidFill>
                <a:latin typeface="Calibri"/>
              </a:rPr>
              <a:t>Plus de puissance = plus difficile à exploiter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4A4A5A"/>
                </a:solidFill>
                <a:latin typeface="Calibri"/>
              </a:rPr>
              <a:t>L'efficacité diminue de 91,7% (A100 1 GPU)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4A4A5A"/>
                </a:solidFill>
                <a:latin typeface="Calibri"/>
              </a:rPr>
              <a:t>à 75,8% (H100 2 GPUs).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0D4F4F"/>
                </a:solidFill>
                <a:latin typeface="Georgia"/>
              </a:rPr>
              <a:t>Conclusion et enseignements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77724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i="1">
                <a:solidFill>
                  <a:srgbClr val="8A8A9A"/>
                </a:solidFill>
                <a:latin typeface="Calibri"/>
              </a:rPr>
              <a:t>5 résultats clés de notre analyse HPL sur GPU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84124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8412480" cy="4572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069848"/>
            <a:ext cx="365760" cy="36576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0058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E7C7B"/>
                </a:solidFill>
                <a:latin typeface="Calibri"/>
              </a:rPr>
              <a:t>HPL est compute-bound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261872"/>
            <a:ext cx="7589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Calibri"/>
              </a:rPr>
              <a:t>Efficacités de 83 à 92% — le calcul domine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45920"/>
            <a:ext cx="84124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645920"/>
            <a:ext cx="8412480" cy="4572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365760" cy="36576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16916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E7C7B"/>
                </a:solidFill>
                <a:latin typeface="Calibri"/>
              </a:rPr>
              <a:t>La taille du problème est déterminante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1947672"/>
            <a:ext cx="7589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Calibri"/>
              </a:rPr>
              <a:t>O(N³) calcul vs O(N²) communication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331720"/>
            <a:ext cx="84124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331720"/>
            <a:ext cx="8412480" cy="4572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2441448"/>
            <a:ext cx="365760" cy="36576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3774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E7C7B"/>
                </a:solidFill>
                <a:latin typeface="Calibri"/>
              </a:rPr>
              <a:t>Le multi-GPU a un seuil de rentabilité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633472"/>
            <a:ext cx="7589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Calibri"/>
              </a:rPr>
              <a:t>N entre 20K et 40K — en dessous, contre-productif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017520"/>
            <a:ext cx="84124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3017520"/>
            <a:ext cx="8412480" cy="45720"/>
          </a:xfrm>
          <a:prstGeom prst="rect">
            <a:avLst/>
          </a:prstGeom>
          <a:solidFill>
            <a:srgbClr val="E0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127248"/>
            <a:ext cx="365760" cy="365760"/>
          </a:xfrm>
          <a:prstGeom prst="rect">
            <a:avLst/>
          </a:prstGeom>
          <a:solidFill>
            <a:srgbClr val="E0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063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7A5F"/>
                </a:solidFill>
                <a:latin typeface="Calibri"/>
              </a:rPr>
              <a:t>Le H100 offre ≈2,5x l'A100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319272"/>
            <a:ext cx="7589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Calibri"/>
              </a:rPr>
              <a:t>Ratio mesuré 2,53x vs théorique 2,77x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703320"/>
            <a:ext cx="84124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3703320"/>
            <a:ext cx="8412480" cy="45720"/>
          </a:xfrm>
          <a:prstGeom prst="rect">
            <a:avLst/>
          </a:prstGeom>
          <a:solidFill>
            <a:srgbClr val="E0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3813048"/>
            <a:ext cx="365760" cy="365760"/>
          </a:xfrm>
          <a:prstGeom prst="rect">
            <a:avLst/>
          </a:prstGeom>
          <a:solidFill>
            <a:srgbClr val="E0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749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7A5F"/>
                </a:solidFill>
                <a:latin typeface="Calibri"/>
              </a:rPr>
              <a:t>L'efficacité diminue avec la puissance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4005072"/>
            <a:ext cx="7589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Calibri"/>
              </a:rPr>
              <a:t>97% (A100) vs 91% (H100) en parallèle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526280"/>
            <a:ext cx="8412480" cy="502920"/>
          </a:xfrm>
          <a:prstGeom prst="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45262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4F4F"/>
                </a:solidFill>
                <a:latin typeface="Calibri"/>
              </a:rPr>
              <a:t>Puissance brute, passage à l'échelle et dimensionnement du problème sont étroitement liés.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