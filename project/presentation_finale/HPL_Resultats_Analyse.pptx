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3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</a:defRPr>
            </a:pPr>
            <a:r>
              <a:t>HPL Benchmark : Résultats GPU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50292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0">
                <a:solidFill>
                  <a:srgbClr val="FFFFFF"/>
                </a:solidFill>
              </a:defRPr>
            </a:pPr>
            <a:r>
              <a:t>Analyse comparative A100 vs H100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CCCCC"/>
                </a:solidFill>
              </a:defRPr>
            </a:pPr>
            <a:r>
              <a:t>Partie 2 : Exécution, Résultats, Analyse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99999"/>
                </a:solidFill>
              </a:defRPr>
            </a:pPr>
            <a:r>
              <a:t>BENMALK Achraf  |  Projet MPNA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43440"/>
                </a:solidFill>
              </a:defRPr>
            </a:pPr>
            <a:r>
              <a:t>Plateforme d'exécution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22860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B35"/>
                </a:solidFill>
              </a:defRPr>
            </a:pPr>
            <a:r>
              <a:t>Environnement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</a:defRPr>
            </a:pPr>
            <a:r>
              <a:t>Cluster HPC avec nœuds GPU NVIDIA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202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</a:defRPr>
            </a:pPr>
            <a:r>
              <a:t>Conteneur NVIDIA HPC-Benchmarks 23.10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</a:defRPr>
            </a:pPr>
            <a:r>
              <a:t>Déploiement via Singularity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06039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560319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</a:defRPr>
            </a:pPr>
            <a:r>
              <a:t>Ordonnanceur Slurm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B35"/>
                </a:solidFill>
              </a:defRPr>
            </a:pPr>
            <a:r>
              <a:t>GPUs testés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846320" y="1600200"/>
          <a:ext cx="39319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/>
                <a:gridCol w="1310640"/>
                <a:gridCol w="131064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43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A100</a:t>
                      </a:r>
                    </a:p>
                  </a:txBody>
                  <a:tcPr>
                    <a:solidFill>
                      <a:srgbClr val="143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H100</a:t>
                      </a:r>
                    </a:p>
                  </a:txBody>
                  <a:tcPr>
                    <a:solidFill>
                      <a:srgbClr val="14344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Ampere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Hopper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Partition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gpu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gpu_h100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Mémoire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80 Go HBM2e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80 Go HBM3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Cœurs CUDA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6 912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16 896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Peak FP64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19,5 TFLOPS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54 TFLOPS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48640" y="42519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B35"/>
                </a:solidFill>
              </a:defRPr>
            </a:pPr>
            <a:r>
              <a:t>Configuration HPL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754880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709160"/>
            <a:ext cx="7543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</a:defRPr>
            </a:pPr>
            <a:r>
              <a:t>NB = 576 (blocs larges pour saturer les cœurs GPU)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074920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029200"/>
            <a:ext cx="7543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</a:defRPr>
            </a:pPr>
            <a:r>
              <a:t>P × Q = 2 × 1 (1 processus MPI par GPU)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394960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349240"/>
            <a:ext cx="7543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</a:defRPr>
            </a:pPr>
            <a:r>
              <a:t>BCAST = 6 (broadcast MPI)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43440"/>
                </a:solidFill>
              </a:defRPr>
            </a:pPr>
            <a:r>
              <a:t>Étapes d'exécution sur GPU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22860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4023360" cy="2560320"/>
          </a:xfrm>
          <a:prstGeom prst="roundRect">
            <a:avLst/>
          </a:prstGeom>
          <a:solidFill>
            <a:srgbClr val="F0EEEB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43440"/>
                </a:solidFill>
              </a:defRPr>
            </a:pPr>
            <a:r>
              <a:t>1. HPL.dat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82828"/>
                </a:solidFill>
              </a:defRPr>
            </a:pPr>
            <a:r>
              <a:t>Création du fichier de configuration</a:t>
            </a:r>
            <a:br/>
            <a:r>
              <a:t>(N, NB, P×Q)</a:t>
            </a:r>
          </a:p>
        </p:txBody>
      </p:sp>
      <p:pic>
        <p:nvPicPr>
          <p:cNvPr id="9" name="Picture 8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325880"/>
            <a:ext cx="1828800" cy="7465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480560" y="1188720"/>
            <a:ext cx="4023360" cy="2560320"/>
          </a:xfrm>
          <a:prstGeom prst="roundRect">
            <a:avLst/>
          </a:prstGeom>
          <a:solidFill>
            <a:srgbClr val="F0EEEB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280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43440"/>
                </a:solidFill>
              </a:defRPr>
            </a:pPr>
            <a:r>
              <a:t>2. Singularity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6459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82828"/>
                </a:solidFill>
              </a:defRPr>
            </a:pPr>
            <a:r>
              <a:t>Lancement du conteneur avec</a:t>
            </a:r>
            <a:br/>
            <a:r>
              <a:t>bind du répertoire</a:t>
            </a:r>
          </a:p>
        </p:txBody>
      </p:sp>
      <p:pic>
        <p:nvPicPr>
          <p:cNvPr id="13" name="Picture 12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325880"/>
            <a:ext cx="1828800" cy="22969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65760" y="3931920"/>
            <a:ext cx="4023360" cy="2560320"/>
          </a:xfrm>
          <a:prstGeom prst="roundRect">
            <a:avLst/>
          </a:prstGeom>
          <a:solidFill>
            <a:srgbClr val="F0EEEB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43440"/>
                </a:solidFill>
              </a:defRPr>
            </a:pPr>
            <a:r>
              <a:t>3. Slurm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3891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82828"/>
                </a:solidFill>
              </a:defRPr>
            </a:pPr>
            <a:r>
              <a:t>Allocation GPU via salloc</a:t>
            </a:r>
            <a:br/>
            <a:r>
              <a:t>(--gres=gpu:1 ou gpu:2)</a:t>
            </a:r>
          </a:p>
        </p:txBody>
      </p:sp>
      <p:pic>
        <p:nvPicPr>
          <p:cNvPr id="17" name="Picture 16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4069080"/>
            <a:ext cx="1828800" cy="259347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4480560" y="3931920"/>
            <a:ext cx="4023360" cy="2560320"/>
          </a:xfrm>
          <a:prstGeom prst="roundRect">
            <a:avLst/>
          </a:prstGeom>
          <a:solidFill>
            <a:srgbClr val="F0EEEB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4023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43440"/>
                </a:solidFill>
              </a:defRPr>
            </a:pPr>
            <a:r>
              <a:t>4. Exécution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3891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82828"/>
                </a:solidFill>
              </a:defRPr>
            </a:pPr>
            <a:r>
              <a:t>mpirun -np &lt;X&gt; ./hpl.sh</a:t>
            </a:r>
            <a:br/>
            <a:r>
              <a:t>--dat /mnt/HPL.dat</a:t>
            </a:r>
          </a:p>
        </p:txBody>
      </p:sp>
      <p:pic>
        <p:nvPicPr>
          <p:cNvPr id="21" name="Picture 20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069080"/>
            <a:ext cx="1828800" cy="27163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43440"/>
                </a:solidFill>
              </a:defRPr>
            </a:pPr>
            <a:r>
              <a:t>Résultats : GPU A100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22860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4114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8700"/>
                <a:gridCol w="1028700"/>
                <a:gridCol w="1028700"/>
                <a:gridCol w="1028700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43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1 GPU (GFLOPS)</a:t>
                      </a:r>
                    </a:p>
                  </a:txBody>
                  <a:tcPr>
                    <a:solidFill>
                      <a:srgbClr val="143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2 GPUs (GFLOPS)</a:t>
                      </a:r>
                    </a:p>
                  </a:txBody>
                  <a:tcPr>
                    <a:solidFill>
                      <a:srgbClr val="143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14344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20 000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9 731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9 106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0,94x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40 000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15 890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25 230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1,59x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60 000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17 150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31 430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1,83x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80 000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17 600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33 560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1,91x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100 000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17 860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34 720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1,95x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hpl-a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43000"/>
            <a:ext cx="4206240" cy="257022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393192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B35"/>
                </a:solidFill>
              </a:defRPr>
            </a:pPr>
            <a:r>
              <a:t>Métriques clés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80560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434840"/>
            <a:ext cx="7543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</a:defRPr>
            </a:pPr>
            <a:r>
              <a:t>Peak théorique : 19,5 TFLOPS  →  Efficacité : 91,7%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28032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782312"/>
            <a:ext cx="7543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</a:defRPr>
            </a:pPr>
            <a:r>
              <a:t>Speedup 2 GPUs : 1,95x  →  Efficacité parallèle : 97%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75504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129784"/>
            <a:ext cx="7543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</a:defRPr>
            </a:pPr>
            <a:r>
              <a:t>Anomalie à N=20K : 2 GPUs légèrement plus lents que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22976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77256"/>
            <a:ext cx="7543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</a:defRPr>
            </a:pPr>
            <a:r>
              <a:t>Tous les tests : résidu PASSED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43440"/>
                </a:solidFill>
              </a:defRPr>
            </a:pPr>
            <a:r>
              <a:t>Résultats : GPU H100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22860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4114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8700"/>
                <a:gridCol w="1028700"/>
                <a:gridCol w="1028700"/>
                <a:gridCol w="1028700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43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1 GPU (GFLOPS)</a:t>
                      </a:r>
                    </a:p>
                  </a:txBody>
                  <a:tcPr>
                    <a:solidFill>
                      <a:srgbClr val="143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2 GPUs (GFLOPS)</a:t>
                      </a:r>
                    </a:p>
                  </a:txBody>
                  <a:tcPr>
                    <a:solidFill>
                      <a:srgbClr val="143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14344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20 000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16 130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11 510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0,71x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40 000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35 760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41 460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1,16x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60 000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41 760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64 700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1,55x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80 000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44 130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76 730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1,74x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100 000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45 110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81 970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1,82x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hpl-h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43000"/>
            <a:ext cx="4206240" cy="25814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393192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B35"/>
                </a:solidFill>
              </a:defRPr>
            </a:pPr>
            <a:r>
              <a:t>Métriques clés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80560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434840"/>
            <a:ext cx="7543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</a:defRPr>
            </a:pPr>
            <a:r>
              <a:t>Peak théorique : 54 TFLOPS  →  Efficacité : 83,4%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28032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782312"/>
            <a:ext cx="7543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</a:defRPr>
            </a:pPr>
            <a:r>
              <a:t>Speedup 2 GPUs : 1,82x  →  Efficacité parallèle : 91%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75504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129784"/>
            <a:ext cx="7543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</a:defRPr>
            </a:pPr>
            <a:r>
              <a:t>Anomalie à N=20K : 2 GPUs 28,6% PLUS LENTS que 1 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22976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77256"/>
            <a:ext cx="7543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</a:defRPr>
            </a:pPr>
            <a:r>
              <a:t>Tous les tests : résidu PASSED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43440"/>
                </a:solidFill>
              </a:defRPr>
            </a:pPr>
            <a:r>
              <a:t>Anomalie multi-GPU (N = 20 000)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22860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234440"/>
          <a:ext cx="45720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143000"/>
                <a:gridCol w="1143000"/>
                <a:gridCol w="114300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GPU</a:t>
                      </a:r>
                    </a:p>
                  </a:txBody>
                  <a:tcPr>
                    <a:solidFill>
                      <a:srgbClr val="143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1 GPU (GFLOPS)</a:t>
                      </a:r>
                    </a:p>
                  </a:txBody>
                  <a:tcPr>
                    <a:solidFill>
                      <a:srgbClr val="143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2 GPUs (GFLOPS)</a:t>
                      </a:r>
                    </a:p>
                  </a:txBody>
                  <a:tcPr>
                    <a:solidFill>
                      <a:srgbClr val="143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Dégradation</a:t>
                      </a:r>
                    </a:p>
                  </a:txBody>
                  <a:tcPr>
                    <a:solidFill>
                      <a:srgbClr val="143440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A100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9 731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9 106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-6,4%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H100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16 130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11 510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-28,6%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26517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B35"/>
                </a:solidFill>
              </a:defRPr>
            </a:pPr>
            <a:r>
              <a:t>Pourquoi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54680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108960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82828"/>
                </a:solidFill>
              </a:defRPr>
            </a:pPr>
            <a:r>
              <a:t>N = 20 000 est trop petit pour 2 GPUs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74720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429000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82828"/>
                </a:solidFill>
              </a:defRPr>
            </a:pPr>
            <a:r>
              <a:t>Portion de matrice insuffisante par GPU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94760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49040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82828"/>
                </a:solidFill>
              </a:defRPr>
            </a:pPr>
            <a:r>
              <a:t>Coût de communication &gt; gain de calcul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14799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69079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82828"/>
                </a:solidFill>
              </a:defRPr>
            </a:pPr>
            <a:r>
              <a:t>Plus prononcé sur H100 : plus de cœurs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434840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389120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82828"/>
                </a:solidFill>
              </a:defRPr>
            </a:pPr>
            <a:r>
              <a:t>Seuil de rentabilité : N entre 20K et 40K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20640" y="1234440"/>
            <a:ext cx="3749039" cy="3931920"/>
          </a:xfrm>
          <a:prstGeom prst="roundRect">
            <a:avLst/>
          </a:prstGeom>
          <a:solidFill>
            <a:srgbClr val="F0EEEB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13716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43440"/>
                </a:solidFill>
              </a:defRPr>
            </a:pPr>
            <a:r>
              <a:t>Explication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182880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82828"/>
                </a:solidFill>
              </a:defRPr>
            </a:pPr>
            <a:r>
              <a:t>Petit problème (N=20K) :</a:t>
            </a:r>
            <a:br/>
            <a:r>
              <a:t>  2 cuisiniers pour 1 petit plat</a:t>
            </a:r>
            <a:br/>
            <a:r>
              <a:t>  = coordination &gt; cuisine</a:t>
            </a:r>
            <a:br/>
            <a:br/>
            <a:r>
              <a:t>Grand problème (N=100K) :</a:t>
            </a:r>
            <a:br/>
            <a:r>
              <a:t>  2 cuisiniers pour un banquet</a:t>
            </a:r>
            <a:br/>
            <a:r>
              <a:t>  = coordination négligeable</a:t>
            </a:r>
            <a:br/>
            <a:br/>
            <a:r>
              <a:t>Calcul : O(N³)</a:t>
            </a:r>
            <a:br/>
            <a:r>
              <a:t>Communication : O(N²)</a:t>
            </a:r>
            <a:br/>
            <a:r>
              <a:t>Grand N → calcul domine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43440"/>
                </a:solidFill>
              </a:defRPr>
            </a:pPr>
            <a:r>
              <a:t>Comparaison A100 vs H100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22860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100-h100-h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4754880" cy="2761141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120640" y="1143000"/>
          <a:ext cx="374903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59"/>
                <a:gridCol w="937259"/>
                <a:gridCol w="937259"/>
                <a:gridCol w="937262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43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A100</a:t>
                      </a:r>
                    </a:p>
                  </a:txBody>
                  <a:tcPr>
                    <a:solidFill>
                      <a:srgbClr val="143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H100</a:t>
                      </a:r>
                    </a:p>
                  </a:txBody>
                  <a:tcPr>
                    <a:solidFill>
                      <a:srgbClr val="143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14344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20K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9 731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16 130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1,66x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40K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15 890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35 760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2,25x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60K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17 150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41 760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2,43x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80K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17 600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44 130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2,51x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100K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17 860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45 110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2,53x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120640" y="3931920"/>
            <a:ext cx="3749039" cy="2286000"/>
          </a:xfrm>
          <a:prstGeom prst="roundRect">
            <a:avLst/>
          </a:prstGeom>
          <a:solidFill>
            <a:srgbClr val="F0EEEB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4069080"/>
            <a:ext cx="3383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43440"/>
                </a:solidFill>
              </a:defRPr>
            </a:pPr>
            <a:r>
              <a:t>Ratio théorique :</a:t>
            </a:r>
            <a:br/>
            <a:r>
              <a:t>  54 / 19,5 = 2,77x</a:t>
            </a:r>
            <a:br/>
            <a:br/>
            <a:r>
              <a:t>Ratio mesuré (N=100K) :</a:t>
            </a:r>
            <a:br/>
            <a:r>
              <a:t>  2,53x</a:t>
            </a:r>
            <a:br/>
            <a:br/>
            <a:r>
              <a:t>Écart ~9% → dû à la différence</a:t>
            </a:r>
            <a:br/>
            <a:r>
              <a:t>d'efficacité (83% vs 92%)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43440"/>
                </a:solidFill>
              </a:defRPr>
            </a:pPr>
            <a:r>
              <a:t>Synthèse de l'efficacité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22860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8412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143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Peak (TFLOPS)</a:t>
                      </a:r>
                    </a:p>
                  </a:txBody>
                  <a:tcPr>
                    <a:solidFill>
                      <a:srgbClr val="143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Meilleur (GFLOPS)</a:t>
                      </a:r>
                    </a:p>
                  </a:txBody>
                  <a:tcPr>
                    <a:solidFill>
                      <a:srgbClr val="143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Efficacité</a:t>
                      </a:r>
                    </a:p>
                  </a:txBody>
                  <a:tcPr>
                    <a:solidFill>
                      <a:srgbClr val="1434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A100 (1 GPU)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19,5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17 860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91,7%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H100 (1 GPU)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54,0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45 110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83,4%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A100 (2 GPUs)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39,0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34 720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89,0%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H100 (2 GPUs)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108,0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81 970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82828"/>
                          </a:solidFill>
                        </a:defRPr>
                      </a:pPr>
                      <a:r>
                        <a:t>75,8%</a:t>
                      </a:r>
                    </a:p>
                  </a:txBody>
                  <a:tcPr>
                    <a:solidFill>
                      <a:srgbClr val="F0EE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6576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B35"/>
                </a:solidFill>
              </a:defRPr>
            </a:pPr>
            <a:r>
              <a:t>Observations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06240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7543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</a:defRPr>
            </a:pPr>
            <a:r>
              <a:t>L'efficacité diminue avec la puissance de la configuration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53712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507992"/>
            <a:ext cx="7543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</a:defRPr>
            </a:pPr>
            <a:r>
              <a:t>HPL est compute-bound : le calcul (DGEMM) domine le temps d'exécution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01184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855464"/>
            <a:ext cx="7543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</a:defRPr>
            </a:pPr>
            <a:r>
              <a:t>A100 : plus facile à saturer → meilleure efficacité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248656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202936"/>
            <a:ext cx="7543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</a:defRPr>
            </a:pPr>
            <a:r>
              <a:t>H100 : performance brute supérieure mais utilisation plus difficile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5760720"/>
            <a:ext cx="9144000" cy="822960"/>
          </a:xfrm>
          <a:prstGeom prst="rect">
            <a:avLst/>
          </a:prstGeom>
          <a:solidFill>
            <a:srgbClr val="143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8521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Plus un GPU est puissant, plus il est difficile d'exploiter 100% de sa capacité.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43440"/>
                </a:solidFill>
              </a:defRPr>
            </a:pPr>
            <a: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22860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35024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82828"/>
                </a:solidFill>
              </a:defRPr>
            </a:pPr>
            <a:r>
              <a:t>HPL est compute-bound — efficacités de 83 à 92%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95144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82828"/>
                </a:solidFill>
              </a:defRPr>
            </a:pPr>
            <a:r>
              <a:t>La taille du problème est déterminante — O(N³) calcul vs O(N²) communication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55264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20040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82828"/>
                </a:solidFill>
              </a:defRPr>
            </a:pPr>
            <a:r>
              <a:t>Le multi-GPU a un seuil de rentabilité — N entre 20K et 40K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15384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16052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82828"/>
                </a:solidFill>
              </a:defRPr>
            </a:pPr>
            <a:r>
              <a:t>H100 offre un gain de ≈2,5x sur l'A100 — ratio mesuré 2,53x vs théorique 2,77x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175504"/>
            <a:ext cx="109728" cy="109728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1206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82828"/>
                </a:solidFill>
              </a:defRPr>
            </a:pPr>
            <a:r>
              <a:t>L'efficacité parallèle diminue avec la puissance — 97% A100 vs 91% H100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43440"/>
                </a:solidFill>
              </a:defRPr>
            </a:pPr>
            <a:r>
              <a:t>Puissance brute, passage à l'échelle et dimensionnement du problème sont étroitement liés.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