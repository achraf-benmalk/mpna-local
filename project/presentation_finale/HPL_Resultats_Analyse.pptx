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HPL Benchmark : Implémentation GPU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ED6F1"/>
                </a:solidFill>
              </a:defRPr>
            </a:pPr>
            <a:r>
              <a:t>Résultats et Analyse Comparative A100 vs H100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D5DBDB"/>
                </a:solidFill>
              </a:defRPr>
            </a:pPr>
            <a:r>
              <a:t>Partie 2 : Exécution, Résultats, Analyse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5929E"/>
                </a:solidFill>
              </a:defRPr>
            </a:pPr>
            <a:r>
              <a:t>BENMALK Achraf  |  Projet MPNA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Plateforme d'exécution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Environnement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Cluster HPC avec nœuds GPU NVIDIA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Conteneur : NVIDIA HPC-Benchmarks 23.10 (Singularity)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Bibliothèques : cuBLAS + NCCL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Ordonnanceur : Slurm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HPL utilise les Tensor Cores FP64 pour DGEMM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GPUs testés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0116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A100 (Ampere)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H100 (Hopper)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Partition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gpu_h100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Variante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SXM / 80 Go HBM2e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PCIe / 80 Go HBM3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Cœurs CUDA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6 912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16 896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Peak FP64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19,5 TFLOPS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54 TFLOPS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4754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Configuration HPL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NB = 576 (blocs larges pour saturer les cœurs GPU — vs NB = 128-256 sur CPU)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P × Q = 2 × 1  (1 processus MPI par GPU)   |   BCAST = 6 (broadcast MPI)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Étapes d'exécution sur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560320" cy="4754880"/>
          </a:xfrm>
          <a:prstGeom prst="roundRect">
            <a:avLst/>
          </a:prstGeom>
          <a:solidFill>
            <a:srgbClr val="F2F3F4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</a:defRPr>
            </a:pPr>
            <a:r>
              <a:t>1. HPL.dat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Création du fichier de</a:t>
            </a:r>
            <a:br/>
            <a:r>
              <a:t>configuration (N, NB, P×Q)</a:t>
            </a:r>
          </a:p>
        </p:txBody>
      </p:sp>
      <p:pic>
        <p:nvPicPr>
          <p:cNvPr id="6" name="Picture 5" descr="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108960"/>
            <a:ext cx="2286000" cy="93318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3383280" y="1463040"/>
            <a:ext cx="2560320" cy="4754880"/>
          </a:xfrm>
          <a:prstGeom prst="roundRect">
            <a:avLst/>
          </a:prstGeom>
          <a:solidFill>
            <a:srgbClr val="F2F3F4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</a:defRPr>
            </a:pPr>
            <a:r>
              <a:t>2. Singularity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Lancement du conteneur</a:t>
            </a:r>
            <a:br/>
            <a:r>
              <a:t>avec bind du répertoire</a:t>
            </a:r>
          </a:p>
        </p:txBody>
      </p:sp>
      <p:pic>
        <p:nvPicPr>
          <p:cNvPr id="10" name="Picture 9" descr="Ste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3108960"/>
            <a:ext cx="2286000" cy="28711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309360" y="1463040"/>
            <a:ext cx="2560320" cy="4754880"/>
          </a:xfrm>
          <a:prstGeom prst="roundRect">
            <a:avLst/>
          </a:prstGeom>
          <a:solidFill>
            <a:srgbClr val="F2F3F4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</a:defRPr>
            </a:pPr>
            <a:r>
              <a:t>3. Slurm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Allocation GPU via salloc</a:t>
            </a:r>
            <a:br/>
            <a:r>
              <a:t>(--gres=gpu:1 ou gpu:2)</a:t>
            </a:r>
          </a:p>
        </p:txBody>
      </p:sp>
      <p:pic>
        <p:nvPicPr>
          <p:cNvPr id="14" name="Picture 13" descr="Step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108960"/>
            <a:ext cx="2286000" cy="32418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235440" y="1463040"/>
            <a:ext cx="2560320" cy="4754880"/>
          </a:xfrm>
          <a:prstGeom prst="roundRect">
            <a:avLst/>
          </a:prstGeom>
          <a:solidFill>
            <a:srgbClr val="F2F3F4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1554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</a:defRPr>
            </a:pPr>
            <a:r>
              <a:t>4. Exécution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0312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mpirun -np &lt;X&gt; ./hpl.sh</a:t>
            </a:r>
            <a:br/>
            <a:r>
              <a:t>--dat /mnt/HPL.dat</a:t>
            </a:r>
          </a:p>
        </p:txBody>
      </p:sp>
      <p:pic>
        <p:nvPicPr>
          <p:cNvPr id="18" name="Picture 17" descr="Ste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0" y="3108960"/>
            <a:ext cx="2286000" cy="3395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Résultats : GPU A100 (Ampere)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 GPU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 GPUs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9 731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9 106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0,94x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40 000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15 890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25 230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1,59x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31 430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1,83x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80 000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17 600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33 560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1,91x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34 720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1,94x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hpl-a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35247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10972800" cy="13716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</a:defRPr>
            </a:pPr>
            <a:r>
              <a:t>Peak théorique : 19,5 TFLOPS (FP64)  |  Meilleur résultat : 17 860 GFLOPS  |  Efficacité : 91,7%</a:t>
            </a:r>
          </a:p>
          <a:p>
            <a:pPr>
              <a:defRPr sz="1600">
                <a:solidFill>
                  <a:srgbClr val="27AE60"/>
                </a:solidFill>
              </a:defRPr>
            </a:pPr>
            <a:r>
              <a:t>Speedup 2 GPUs : 1,95x (efficacité parallèle 97%)  |  Tous les tests : PASSED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Résultats : GPU H100 (Hopper)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5486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 GPU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 GPUs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Speedup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11 510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0,71x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40 000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35 760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41 460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1,16x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41 760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64 700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1,55x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80 000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44 130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76 730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1,74x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81 970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1,82x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hpl-h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63040"/>
            <a:ext cx="5486400" cy="3367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57200" y="5029200"/>
            <a:ext cx="10972800" cy="1371600"/>
          </a:xfrm>
          <a:prstGeom prst="roundRect">
            <a:avLst/>
          </a:prstGeom>
          <a:solidFill>
            <a:srgbClr val="FDEDE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B3A5C"/>
                </a:solidFill>
              </a:defRPr>
            </a:pPr>
            <a:r>
              <a:t>Peak théorique : 54 TFLOPS (FP64)  |  Meilleur résultat : 45 110 GFLOPS  |  Efficacité : 83,4%</a:t>
            </a:r>
          </a:p>
          <a:p>
            <a:pPr>
              <a:defRPr sz="1600">
                <a:solidFill>
                  <a:srgbClr val="E74C3C"/>
                </a:solidFill>
              </a:defRPr>
            </a:pPr>
            <a:r>
              <a:t>Speedup 2 GPUs : 1,82x (efficacité parallèle 91%)  |  Anomalie N=20K : 2 GPUs 28,6% plus lents que 1 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Anomalie : 2 GPUs plus lents qu'un seul (N = 20 000)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645920"/>
          <a:ext cx="5029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GPU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1 GPU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2 GPUs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Dégradation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9 731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9 106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-6,4%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H100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16 130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11 510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-28,6%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291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74C3C"/>
                </a:solidFill>
              </a:defRPr>
            </a:pPr>
            <a:r>
              <a:t>Pourquoi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N = 20 000 est trop petit pour 2 GPUs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Chaque GPU reçoit une portion de matrice insuffisante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Le coût de communication inter-GPU &gt; le gain de calcul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Plus prononcé sur H100 (-28,6%) : plus de cœurs à alimenter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Seuil de rentabilité : entre N = 20K et N = 40K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303520" cy="4572000"/>
          </a:xfrm>
          <a:prstGeom prst="roundRect">
            <a:avLst/>
          </a:prstGeom>
          <a:solidFill>
            <a:srgbClr val="F2F3F4"/>
          </a:solidFill>
          <a:ln>
            <a:solidFill>
              <a:srgbClr val="1B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B3A5C"/>
                </a:solidFill>
              </a:defRPr>
            </a:pPr>
            <a:r>
              <a:t>Analogie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23774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Petit problème (N=20K) :</a:t>
            </a:r>
            <a:br/>
            <a:r>
              <a:t>  2 cuisiniers pour 1 petit plat</a:t>
            </a:r>
            <a:br/>
            <a:r>
              <a:t>  = plus de temps à se coordonner</a:t>
            </a:r>
            <a:br/>
            <a:r>
              <a:t>    qu'à cuisiner</a:t>
            </a:r>
            <a:br/>
            <a:br/>
            <a:r>
              <a:t>Grand problème (N=100K) :</a:t>
            </a:r>
            <a:br/>
            <a:r>
              <a:t>  2 cuisiniers pour un banquet</a:t>
            </a:r>
            <a:br/>
            <a:r>
              <a:t>  = chacun est occupé à cuisiner,</a:t>
            </a:r>
            <a:br/>
            <a:r>
              <a:t>    la coordination est négligeable</a:t>
            </a:r>
            <a:br/>
            <a:br/>
            <a:r>
              <a:t>Calcul : O(N³)    Communication : O(N²)</a:t>
            </a:r>
            <a:br/>
            <a:r>
              <a:t>Grand N → calcul domine → meilleure efficacité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Comparaison architecturale : A100 vs H100</a:t>
            </a:r>
          </a:p>
        </p:txBody>
      </p:sp>
      <p:pic>
        <p:nvPicPr>
          <p:cNvPr id="3" name="Picture 2" descr="a100-h100-hp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5943600" cy="3451426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0" y="1371600"/>
          <a:ext cx="53035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25880"/>
                <a:gridCol w="1325880"/>
                <a:gridCol w="13258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A100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H100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9 731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16 130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1,66x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40K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15 890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35 760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2,25x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60K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41 760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2,43x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80K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17 600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44 130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2,51x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2,53x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4572000"/>
            <a:ext cx="5303520" cy="1828800"/>
          </a:xfrm>
          <a:prstGeom prst="roundRect">
            <a:avLst/>
          </a:prstGeom>
          <a:solidFill>
            <a:srgbClr val="EBF5FB"/>
          </a:solidFill>
          <a:ln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466344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B3A5C"/>
                </a:solidFill>
              </a:defRPr>
            </a:pPr>
            <a:r>
              <a:t>Ratio théorique : Peak H100 / Peak A100</a:t>
            </a:r>
            <a:br/>
            <a:r>
              <a:t>= 54 / 19,5 = 2,77x</a:t>
            </a:r>
            <a:br/>
            <a:br/>
            <a:r>
              <a:t>Ratio mesuré (N=100K) : 2,53x</a:t>
            </a:r>
            <a:br/>
            <a:r>
              <a:t>Écart : ~9% → lié à la différence d'efficacité (83% vs 92%)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Synthèse de l'efficacité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4630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Peak TC (TFLOPS)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Meilleur (GFLOPS)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Efficacité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A100 (1 GPU)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19,5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17 860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91,7%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H100 (1 GPU)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54,0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45 110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83,4%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A100 (2 GPUs)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39,0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34 720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89,0%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H100 (2 GPUs)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108,0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81 970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/>
                      </a:pPr>
                      <a:r>
                        <a:t>75,8%</a:t>
                      </a:r>
                    </a:p>
                  </a:txBody>
                  <a:tcPr>
                    <a:solidFill>
                      <a:srgbClr val="F2F3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46304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3A5C"/>
                </a:solidFill>
              </a:defRPr>
            </a:pPr>
            <a:r>
              <a:t>Observations clés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2103120"/>
            <a:ext cx="4389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Toutes les configs &gt; 80% d'efficacité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HPL est compute-bound : le calcul domine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L'efficacité diminue avec la puissance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A100 : meilleure efficacité (plus facile à saturer)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H100 : performance brute supérieure</a:t>
            </a:r>
          </a:p>
          <a:p>
            <a:pPr>
              <a:spcAft>
                <a:spcPts val="800"/>
              </a:spcAft>
              <a:defRPr sz="1700">
                <a:solidFill>
                  <a:srgbClr val="2C3E50"/>
                </a:solidFill>
              </a:defRPr>
            </a:pPr>
            <a:r>
              <a:t>Compromis puissance vs. efficacité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754880"/>
            <a:ext cx="10972800" cy="1645920"/>
          </a:xfrm>
          <a:prstGeom prst="round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Conclusion : Plus un GPU est puissant, plus il est difficile d'exploiter 100% de sa capacité.</a:t>
            </a:r>
            <a:br/>
            <a:r>
              <a:t>La taille du problème (N) et les paramètres de tuning (NB, P×Q) sont déterminants.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Conclusion et enseignements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10972800" cy="86868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3A5C"/>
                </a:solidFill>
              </a:defRPr>
            </a:pPr>
            <a:r>
              <a:t>HPL est compute-bound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202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Efficacités de 83-92% confirment que le calcul (DGEMM) domine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468880"/>
            <a:ext cx="10972800" cy="86868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606040"/>
            <a:ext cx="594360" cy="5943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514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3A5C"/>
                </a:solidFill>
              </a:defRPr>
            </a:pPr>
            <a:r>
              <a:t>La taille du problème est clé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926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GFLOPS augmente avec N  (O(N³) calcul vs O(N²) communication)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474720"/>
            <a:ext cx="10972800" cy="86868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3611880"/>
            <a:ext cx="594360" cy="5943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52044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3A5C"/>
                </a:solidFill>
              </a:defRPr>
            </a:pPr>
            <a:r>
              <a:t>Le multi-GPU a un seuil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931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En dessous de N ≈ 20-40K, 2 GPUs sont contre-productifs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480560"/>
            <a:ext cx="10972800" cy="86868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4617720"/>
            <a:ext cx="594360" cy="59436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5262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3A5C"/>
                </a:solidFill>
              </a:defRPr>
            </a:pPr>
            <a:r>
              <a:t>H100 ≈ 2,5x l'A100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937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Ratio mesuré (2,53x) vs ratio théorique (2,77x) — écart dû à l'efficacité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486400"/>
            <a:ext cx="10972800" cy="868680"/>
          </a:xfrm>
          <a:prstGeom prst="roundRect">
            <a:avLst/>
          </a:prstGeom>
          <a:solidFill>
            <a:srgbClr val="F2F3F4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5623560"/>
            <a:ext cx="594360" cy="5943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55321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1B3A5C"/>
                </a:solidFill>
              </a:defRPr>
            </a:pPr>
            <a:r>
              <a:t>Efficacité vs puissance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943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C3E50"/>
                </a:solidFill>
              </a:defRPr>
            </a:pPr>
            <a:r>
              <a:t>A100 : 97% eff. parallèle / H100 : 91% — communication plus coûteuse sur GPU rapide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