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6" r:id="rId5"/>
    <p:sldId id="264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137" autoAdjust="0"/>
  </p:normalViewPr>
  <p:slideViewPr>
    <p:cSldViewPr snapToGrid="0" snapToObjects="1">
      <p:cViewPr varScale="1">
        <p:scale>
          <a:sx n="68" d="100"/>
          <a:sy n="68" d="100"/>
        </p:scale>
        <p:origin x="1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28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Bonjour. Je vous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l'article de Nguyen et al., publie en 2014 dans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Computational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Biology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C'est un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mathematique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l'impact des antibiotiques sur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bacterienne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intestinale.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problème est résume en 6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etapes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ce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administre des antibiotiques massivement en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elevage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arrivent dans le colon.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eliminent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bacteries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sensibles — mais pas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colonisent les niches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ecologiques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liberees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Elles sont excrétées </a:t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massivement.</a:t>
            </a:r>
          </a:p>
          <a:p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Contamination 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l'environnement, puis transmission a l'homme.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molecule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etudiee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la ciprofloxacine, une fluoroquinolone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classee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critiquement importante par l'OMS. Sa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augmente 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maniere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constante.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question de l'article : peut-on quantifier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mathematiquement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relation entre exposition colique,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duree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traitement, et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excretees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ca, les auteurs proposent un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mecaniste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base d'EDO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calibre sur 29 porcelets repartis en 3 groupes — placebo, dose faible, dose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therapeutique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suivis pendant 27 jours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trois composantes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gauche,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pharmacocinetique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Un compartiment,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elimination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premier ordre. La ciprofloxacine s'accumule jusqu'a un plateau pendant le traitement, puis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decroit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l'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arret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Simple et classique.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 centre,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cinetique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bacterienne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c'est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Deux populations : sensibles S et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R, en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competition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logistique pour une capacite d'accueil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Nmax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Chaque population a une source externe par ingestion, une perte naturelle par transit, et pour les sensibles uniquement, un terme de destruction par l'antibiotique — un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Emax.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 Point crucial :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cipro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n'a aucun effet sur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C'est confirme par comparaison 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le BIC. »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droite,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Une fois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calibre, on simule 1000 sujets en Monte-Carlo en variant dose et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duree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mecanisme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central est en bas : le traitement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elimine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sensibles, les niches 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liberent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proliferent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3C68C-F852-44FE-A637-5942AB28F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6EC37-5E64-9F40-C4A6-95A7A624E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5EE4E-CCBE-43F6-3440-60631DDC6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donnees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le fit du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Les lignes grises sont les porcelets individuels, la courbe rouge est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haut, le placebo — populations stables,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capture bien l'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equilibre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 milieu, dose faible. Les sensibles chutent,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montent, puis retour a l'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equilibre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2 semaines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arret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traitement.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bas, dose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therapeutique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Les sensibles perdent 3 ordres de grandeur en 24 heures.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explosent a 10 puissance 7 et persistent plus de 3 semaines.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mecanisme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competition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ecologique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le traitement vide la niche des sensibles,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remplissent. Et les sensibles dominent normalement parce que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ont un cout de fitness — elles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proliferent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fois moins vite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66978-1D81-1F5E-3B77-B2E50AC0E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46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voici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plus frappant.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gauche, l'impact de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duree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Passer de 5 jours a 1 seul jour de traitement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98 pour cent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excretee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Spectaculaire.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droite, l'impact de la concentration.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Reduire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concentration de 80% ne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resistance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de 33%. Il faut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reduire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90% — diviser par 10 — pour atteindre seulement 50% 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Donc le message principal : réduire la durée de traitement est bien plus efficace que réduire la dose. Même 1 jour de traitement, ça fait déjà fois 20 en résistance par rapport au placebo.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Après, le modèle a ses limites — peu de points de mesure, une PK simplifiée, et c'est sur des porcelets donc la transposabilité à l'homme reste ouverte. Mais le résultat tient.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Voilà pour l'article. Pour la suite du projet, l'idée c'est 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reimplémenter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 modèle en R, reproduire les résultats, et aller plus loin avec une analyse de sensibilité et de l'estimation de paramètres. Merci, des questions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54864" cy="20116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Modélisation mathématique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cinétique bactérienne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l'impact de l'exposition colique aux antibiotiques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 la durée de traitement sur l'excrétion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bactéries résistantes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Nguyen, Guedj, Chachaty, de Gunzburg, Andremont &amp; Mentré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931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Computational Biology · Vol. 10 · Septembre 2014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434840"/>
            <a:ext cx="9144000" cy="22860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 Achraf Benmalk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IMSVS — Introduction à la Modélisation en Sciences du Vivant et en Santé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: résistance aux antibiotiques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L'une des plus grandes menaces pour la santé publique mondiale (OMS, 2014)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Antibiotiques massivement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utilisés en élevage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828800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8328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520440" y="150876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5204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77640" y="1508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Résidus atteignent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côlon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2880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1792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355080" y="150876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63550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812280" y="1508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Bactéries sensibles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éliminées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0632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6858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143000" y="3200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Bactéries résistantes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colonisent les niches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520440"/>
            <a:ext cx="201168" cy="2011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383280" y="30632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3520440" y="3200400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/>
          <p:nvPr/>
        </p:nvSpPr>
        <p:spPr>
          <a:xfrm>
            <a:off x="35204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977640" y="3200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Excrétion massive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fèces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520440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217920" y="30632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6355080" y="3200400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6355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812280" y="3200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→ homme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772400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3" name="Shape 27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90288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97280" y="45445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Fluoroquinolones (ciprofloxacine) : classées « critiquement importantes » par l'OMS, résistance en hausse constante</a:t>
            </a:r>
            <a:endParaRPr lang="en-US" sz="1200" dirty="0"/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955DE725-A85C-4289-3B03-E6ED4E5E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3520440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modèle : vue d'ensemble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composantes couplées par des EDO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Pharmacocinétique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fécale C(t)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640080" y="228600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300" b="1" i="1" dirty="0" smtClean="0">
                              <a:solidFill>
                                <a:srgbClr val="0D4F4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b="1" i="1" dirty="0">
                              <a:solidFill>
                                <a:srgbClr val="0D4F4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𝒅𝑪</m:t>
                          </m:r>
                        </m:num>
                        <m:den>
                          <m:r>
                            <a:rPr lang="en-US" sz="1300" b="1" i="1" dirty="0">
                              <a:solidFill>
                                <a:srgbClr val="0D4F4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𝒅𝒕</m:t>
                          </m:r>
                        </m:den>
                      </m:f>
                      <m:r>
                        <a:rPr lang="en-US" sz="1300" b="1" i="1" dirty="0" smtClean="0">
                          <a:solidFill>
                            <a:srgbClr val="0D4F4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= </m:t>
                      </m:r>
                      <m:r>
                        <a:rPr lang="en-US" sz="1300" b="1" i="1" dirty="0" smtClean="0">
                          <a:solidFill>
                            <a:srgbClr val="0D4F4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𝒆</m:t>
                      </m:r>
                      <m:r>
                        <a:rPr lang="en-US" sz="1300" b="1" i="1" dirty="0" smtClean="0">
                          <a:solidFill>
                            <a:srgbClr val="0D4F4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r>
                        <a:rPr lang="en-US" sz="1300" b="1" i="1" dirty="0" smtClean="0">
                          <a:solidFill>
                            <a:srgbClr val="0D4F4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𝒕</m:t>
                      </m:r>
                      <m:r>
                        <a:rPr lang="en-US" sz="1300" b="1" i="1" dirty="0" smtClean="0">
                          <a:solidFill>
                            <a:srgbClr val="0D4F4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 − </m:t>
                      </m:r>
                      <m:r>
                        <a:rPr lang="en-US" sz="1300" b="1" i="1" dirty="0" smtClean="0">
                          <a:solidFill>
                            <a:srgbClr val="0D4F4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𝒌</m:t>
                      </m:r>
                      <m:r>
                        <a:rPr lang="en-US" sz="1300" b="1" i="1" dirty="0" smtClean="0">
                          <a:solidFill>
                            <a:srgbClr val="0D4F4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ₑ·</m:t>
                      </m:r>
                      <m:r>
                        <a:rPr lang="en-US" sz="1300" b="1" i="1" dirty="0" smtClean="0">
                          <a:solidFill>
                            <a:srgbClr val="0D4F4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𝑪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286000"/>
                <a:ext cx="2194560" cy="365760"/>
              </a:xfrm>
              <a:prstGeom prst="rect">
                <a:avLst/>
              </a:prstGeom>
              <a:blipFill>
                <a:blip r:embed="rId3"/>
                <a:stretch>
                  <a:fillRect t="-5000" b="-18333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64008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compartiment, élimination 1er ordre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constante pendant traitement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Css ∝ dose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kₑ = 1.97/j (t½ ≈ 8h)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65176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56616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74904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Cinétique bactérienne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4904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S(t) sensibles · R(t) résistantes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49040" y="22860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logistique (saturation Nmax)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externe (ingestion gS, gR)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naturelle (transit, kT)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antibiotique Emax sur S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65176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675120" y="1371600"/>
            <a:ext cx="21031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6675120" y="1371600"/>
            <a:ext cx="21031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6858000" y="1554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Prédictions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858000" y="20116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(1000 sujets)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Varier dose &amp; durée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résistance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excrétée sur 150 j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central : le traitement élimine les S → niches libérées → R prolifère → excrétion massive de résistance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F64E7-171D-B553-17F3-8FB5E7D05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58D7F9-399D-88E2-D03F-3FA30AD03681}"/>
              </a:ext>
            </a:extLst>
          </p:cNvPr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: le modèle décrit bien les données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D55A46-9659-1E9C-CB53-ECB86F382B7E}"/>
              </a:ext>
            </a:extLst>
          </p:cNvPr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médianes prédites (rouge) vs données individuelles (gris) pour les 3 groupes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25022E-7D60-D13A-97F2-1C73DD605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87" y="1362456"/>
            <a:ext cx="8554426" cy="353263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32FCA6B-3CB3-951E-3A04-B267FD361F17}"/>
              </a:ext>
            </a:extLst>
          </p:cNvPr>
          <p:cNvSpPr txBox="1"/>
          <p:nvPr/>
        </p:nvSpPr>
        <p:spPr>
          <a:xfrm>
            <a:off x="470925" y="932688"/>
            <a:ext cx="9199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placebo, B) </a:t>
            </a:r>
            <a:r>
              <a:rPr lang="fr-FR" sz="1200" i="1" dirty="0" err="1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ciprofloxacin</a:t>
            </a:r>
            <a:r>
              <a:rPr lang="fr-FR" sz="12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1.5 mg/kg/</a:t>
            </a:r>
            <a:r>
              <a:rPr lang="fr-FR" sz="1200" i="1" dirty="0" err="1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r>
              <a:rPr lang="fr-FR" sz="12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C) </a:t>
            </a:r>
            <a:r>
              <a:rPr lang="fr-FR" sz="1200" i="1" dirty="0" err="1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ciprofloxacin</a:t>
            </a:r>
            <a:r>
              <a:rPr lang="fr-FR" sz="12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 mg/kg/</a:t>
            </a:r>
            <a:r>
              <a:rPr lang="fr-FR" sz="1200" i="1" dirty="0" err="1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r>
              <a:rPr lang="fr-FR" sz="12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3214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Prédictions : durée vs dose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/>
              <p:nvPr/>
            </p:nvSpPr>
            <p:spPr>
              <a:xfrm>
                <a:off x="548640" y="777240"/>
                <a:ext cx="82296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8A8A9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Simulations Monte-Carlo 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1000 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𝑝𝑜𝑟𝑐𝑒𝑙𝑒𝑡𝑠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150 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𝑗𝑜𝑢𝑟𝑠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𝑑𝑒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𝑣𝑖𝑒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~100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𝑔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𝑓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è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𝑐𝑒𝑠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/</m:t>
                    </m:r>
                    <m:r>
                      <a:rPr lang="en-US" sz="1200" i="1" dirty="0" smtClean="0">
                        <a:solidFill>
                          <a:srgbClr val="8A8A9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𝑗𝑜𝑢𝑟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777240"/>
                <a:ext cx="8229600" cy="274320"/>
              </a:xfrm>
              <a:prstGeom prst="rect">
                <a:avLst/>
              </a:prstGeom>
              <a:blipFill>
                <a:blip r:embed="rId3"/>
                <a:stretch>
                  <a:fillRect l="-1111" t="-2222" b="-15556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365760" y="123444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la durée (Css = 87 μg/g)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3840480" cy="149047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Durée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 (log₁₀ CFU)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Réduction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 jour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98%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jours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5 jours (réf.)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9.2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 jours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↑ 260%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5"/>
              <p:cNvSpPr/>
              <p:nvPr/>
            </p:nvSpPr>
            <p:spPr>
              <a:xfrm>
                <a:off x="548640" y="3383280"/>
                <a:ext cx="37490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C039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 → 1 jour =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C0392B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</m:t>
                    </m:r>
                    <m:r>
                      <a:rPr lang="en-US" sz="1200" b="1" i="1" dirty="0" smtClean="0">
                        <a:solidFill>
                          <a:srgbClr val="C0392B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𝟗𝟖</m:t>
                    </m:r>
                    <m:r>
                      <a:rPr lang="en-US" sz="1200" b="1" i="1" dirty="0" smtClean="0">
                        <a:solidFill>
                          <a:srgbClr val="C0392B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% </m:t>
                    </m:r>
                  </m:oMath>
                </a14:m>
                <a:r>
                  <a:rPr lang="en-US" sz="1200" b="1" dirty="0">
                    <a:solidFill>
                      <a:srgbClr val="C039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 résistance !</a:t>
                </a:r>
                <a:endParaRPr lang="en-US" sz="1200" dirty="0"/>
              </a:p>
            </p:txBody>
          </p:sp>
        </mc:Choice>
        <mc:Fallback xmlns=""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383280"/>
                <a:ext cx="3749040" cy="274320"/>
              </a:xfrm>
              <a:prstGeom prst="rect">
                <a:avLst/>
              </a:prstGeom>
              <a:blipFill>
                <a:blip r:embed="rId4"/>
                <a:stretch>
                  <a:fillRect b="-17778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6"/>
          <p:cNvSpPr/>
          <p:nvPr/>
        </p:nvSpPr>
        <p:spPr>
          <a:xfrm>
            <a:off x="4663440" y="123444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7"/>
          <p:cNvSpPr/>
          <p:nvPr/>
        </p:nvSpPr>
        <p:spPr>
          <a:xfrm>
            <a:off x="4663440" y="1234440"/>
            <a:ext cx="41148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la concentration (5 jours)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737360"/>
          <a:ext cx="3840480" cy="1691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Réduction Css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Réduction résistance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×1.5 (33%)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×3 (67%)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×5 (80%)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×10 (90%)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</a:rPr>
                        <a:t>57.5%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×30 (97%)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96.3%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9"/>
              <p:cNvSpPr/>
              <p:nvPr/>
            </p:nvSpPr>
            <p:spPr>
              <a:xfrm>
                <a:off x="4846320" y="3383280"/>
                <a:ext cx="37490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0E7C7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Pour −50% : réduire Css de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E7C7B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~</m:t>
                    </m:r>
                    <m:r>
                      <a:rPr lang="en-US" sz="1200" b="1" i="1" dirty="0" smtClean="0">
                        <a:solidFill>
                          <a:srgbClr val="0E7C7B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𝟗𝟎</m:t>
                    </m:r>
                    <m:r>
                      <a:rPr lang="en-US" sz="1200" b="1" i="1" dirty="0" smtClean="0">
                        <a:solidFill>
                          <a:srgbClr val="0E7C7B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% </m:t>
                    </m:r>
                  </m:oMath>
                </a14:m>
                <a:r>
                  <a:rPr lang="en-US" sz="1200" b="1" dirty="0">
                    <a:solidFill>
                      <a:srgbClr val="0E7C7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!</a:t>
                </a:r>
                <a:endParaRPr lang="en-US" sz="1200" dirty="0"/>
              </a:p>
            </p:txBody>
          </p:sp>
        </mc:Choice>
        <mc:Fallback xmlns="">
          <p:sp>
            <p:nvSpPr>
              <p:cNvPr id="13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3383280"/>
                <a:ext cx="3749040" cy="274320"/>
              </a:xfrm>
              <a:prstGeom prst="rect">
                <a:avLst/>
              </a:prstGeom>
              <a:blipFill>
                <a:blip r:embed="rId5"/>
                <a:stretch>
                  <a:fillRect b="-17778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0"/>
          <p:cNvSpPr/>
          <p:nvPr/>
        </p:nvSpPr>
        <p:spPr>
          <a:xfrm>
            <a:off x="365760" y="4160520"/>
            <a:ext cx="8412480" cy="9144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976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2062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meilleur levier est la réduction de la durée de traitement. La réduction de concentration colique (adsorbants) aide, mais nécessite &gt;90% de réduction pour un impact significatif.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1175</Words>
  <Application>Microsoft Office PowerPoint</Application>
  <PresentationFormat>On-screen Show (16:9)</PresentationFormat>
  <Paragraphs>121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Nguyen et al. 2014 - Modelisation cinetique bacterienne</dc:title>
  <dc:subject>PptxGenJS Presentation</dc:subject>
  <dc:creator>Achraf Benmalk</dc:creator>
  <cp:lastModifiedBy>BENMALK Achraf</cp:lastModifiedBy>
  <cp:revision>3</cp:revision>
  <dcterms:created xsi:type="dcterms:W3CDTF">2026-02-09T15:08:39Z</dcterms:created>
  <dcterms:modified xsi:type="dcterms:W3CDTF">2026-02-17T13:25:14Z</dcterms:modified>
</cp:coreProperties>
</file>