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8176" autoAdjust="0"/>
  </p:normalViewPr>
  <p:slideViewPr>
    <p:cSldViewPr snapToGrid="0" snapToObjects="1">
      <p:cViewPr>
        <p:scale>
          <a:sx n="75" d="100"/>
          <a:sy n="75" d="100"/>
        </p:scale>
        <p:origin x="102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2D7A17-63C7-4214-912D-68F354BF1966}" type="datetimeFigureOut">
              <a:rPr lang="fr-FR" smtClean="0"/>
              <a:t>18/02/2026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082819-F0C1-4E0C-9BCD-8671F24E31E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3941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vais maintenant vous présenter les résultats de notre implémentation HPL sur GPU, avec une comparaison entre les architectures A100 et H100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82819-F0C1-4E0C-9BCD-8671F24E31EA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19103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"Nous avons exécuté HPL sur un cluster HPC équipé de deux types de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NVIDIA."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"Le premier est l'A100, architecture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Ampere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avec 6 912 cœurs CUDA et un pic théorique de 19,5 TFLOPS en FP64."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"Le second est le H100, architecture Hopper, avec 16 896 cœurs CUDA et un pic de 54 TFLOPS — soit environ 2,8 fois plus puissant."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"HPL a été déployé via le conteneur NVIDIA HPC-Benchmarks 23.10, avec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Singularity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Ce conteneur fournit une version optimisée de HPL pour GPU."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"Pour la configuration HPL, nous avons utilisé NB = 576. C'est nettement plus grand que les valeurs CPU typiques de 128 à 256, car les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ont besoin de grands blocs pour alimenter leurs milliers de cœurs."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82819-F0C1-4E0C-9BCD-8671F24E31EA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0322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"L'exécution se déroule en 4 étapes."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"D'abord, on crée le fichier HPL.dat avec les paramètres : taille N, taille de bloc NB, grille de processus."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"Ensuite, on lance le conteneur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Singularity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bindant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notre répertoire de travail."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"Puis on alloue les ressources GPU via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Slurm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avec la commande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salloc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"Enfin, on lance le benchmark avec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mpirun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Pour 1 GPU, on utilise -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1. Pour 2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-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2."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82819-F0C1-4E0C-9BCD-8671F24E31EA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34820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"Voici les résultats sur A100. On voit que les GFLOPS augmentent avec N, passant de 9 700 à 17 860 GFLOPS pour 1 GPU."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"Le pic théorique est de 19 500 GFLOPS. À N = 100 000, on atteint 17 860, soit une efficacité de 91,7%. C'est excellent."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"Avec 2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on obtient 34 720 GFLOPS, soit un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speedup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1,95x. L'efficacité parallèle est de 97%, ce qui est quasi-linéaire."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"On remarque toutefois qu'à N = 20 000, les 2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sont légèrement plus lents que 1 seul. On y reviendra."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82819-F0C1-4E0C-9BCD-8671F24E31EA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3191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"Sur H100, les performances sont nettement supérieures. 1 GPU atteint 45 110 GFLOPS à N = 100 000, soit une efficacité de 83,4% par rapport au pic de 54 TFLOPS."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"Avec 2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on monte à 81 970 GFLOPS, un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speedup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1,82x — soit 91% d'efficacité parallèle."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"Mais l'anomalie à N = 20 000 est beaucoup plus marquée ici : 2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H100 sont 28,6% PLUS LENTS qu'un seul."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82819-F0C1-4E0C-9BCD-8671F24E31EA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84712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"Pourquoi 2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peuvent être plus lents qu'un seul ?"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"À N = 20 000, le problème est trop petit. Chaque GPU reçoit une portion de matrice insuffisante pour saturer ses cœurs."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"Le coût de communication entre les 2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dépasse le gain de calcul supplémentaire."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"C'est plus prononcé sur H100 car il a plus de cœurs à alimenter : 16 896 contre 6 912 pour l'A100."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"Il existe donc un seuil de rentabilité : entre N = 20 000 et 40 000. En dessous, ajouter un GPU est contre-productif."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"Fondamentalement, c'est parce que le calcul croît en N cube, mais la communication en N carré. Pour les grands N, le calcul domine."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82819-F0C1-4E0C-9BCD-8671F24E31EA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76676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"Si on compare les deux architectures, le H100 surpasse l'A100 sur toutes les tailles de problème."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"Le ratio d'accélération varie : 1,66x à N = 20 000, et converge vers 2,53x à N = 100 000."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"Le ratio théorique entre les pics est 54 divisé par 19,5, soit 2,77x."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"Le ratio mesuré de 2,53x est proche, avec un écart d'environ 9%. Cet écart s'explique par la différence d'efficacité : le H100 est plus difficile à saturer que l'A100."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"À N = 20 000, le ratio est seulement de 1,66x car les deux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sont sous-utilisés."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82819-F0C1-4E0C-9BCD-8671F24E31EA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72621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"Ce tableau résume l'efficacité de chaque configuration."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"On observe une tendance claire : plus la configuration est puissante, plus l'efficacité baisse. De 91,7% pour l'A100 1 GPU jusqu'à 75,8% pour le H100 2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"Toutes les configurations atteignent des efficacités élevées, ce qui confirme la nature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compute-bound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HPL."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"La conclusion : plus un GPU est puissant, plus il est difficile d'exploiter 100% de sa capacité. Le dimensionnement du problème et le tuning des paramètres restent essentiels."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82819-F0C1-4E0C-9BCD-8671F24E31EA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81044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"Pour résumer nos 5 enseignements principaux :"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"Un : HPL est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compute-bound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les efficacités de 83 à 92% le confirment."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"Deux : la taille du problème est déterminante — N cube versus N carré."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"Trois : le multi-GPU a un seuil de rentabilité autour de N = 20 à 40 000."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"Quatre : le H100 offre un gain de 2,5x sur l'A100, cohérent avec les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"Cinq : l'efficacité parallèle diminue avec la puissance — 97% sur A100 contre 91% sur H100."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"Merci, des questions ?"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82819-F0C1-4E0C-9BCD-8671F24E31EA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0816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54864" cy="16459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HPL Benchmark
Implémentation et résultats GPU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D4D4"/>
                </a:solidFill>
                <a:latin typeface="Calibri"/>
              </a:rPr>
              <a:t>Analyse comparative A100 (Ampere) vs H100 (Hopper)
Partie 2 : Exécution, Résultats, Analyse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566160"/>
            <a:ext cx="914400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D4A843"/>
                </a:solidFill>
                <a:latin typeface="Calibri"/>
              </a:rPr>
              <a:t>BENMALK Achraf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B8B8"/>
                </a:solidFill>
                <a:latin typeface="Calibri"/>
              </a:rPr>
              <a:t>Projet MPNA — Méthodes et Programmation Numérique Avancée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D4F4F"/>
                </a:solidFill>
                <a:latin typeface="Georgia"/>
              </a:rPr>
              <a:t>Plateforme d'exécution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7772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i="1">
                <a:solidFill>
                  <a:srgbClr val="8A8A9A"/>
                </a:solidFill>
                <a:latin typeface="Calibri"/>
              </a:rPr>
              <a:t>Cluster HPC avec GPUs NVIDIA — Conteneur HPC-Benchmarks 23.10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8404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3840480" cy="4572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Calibri"/>
              </a:rPr>
              <a:t>Environnement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4A4A5A"/>
                </a:solidFill>
                <a:latin typeface="Calibri"/>
              </a:rPr>
              <a:t>Conteneur NVIDIA HPC-Benchmarks 23.10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A4A5A"/>
                </a:solidFill>
                <a:latin typeface="Calibri"/>
              </a:rPr>
              <a:t>Déploiement via Singularity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A4A5A"/>
                </a:solidFill>
                <a:latin typeface="Calibri"/>
              </a:rPr>
              <a:t>Bibliothèques : cuBLAS + NCCL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A4A5A"/>
                </a:solidFill>
                <a:latin typeface="Calibri"/>
              </a:rPr>
              <a:t>Ordonnanceur : Slurm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A4A5A"/>
                </a:solidFill>
                <a:latin typeface="Calibri"/>
              </a:rPr>
              <a:t>Tensor Cores FP64 pour DGEMM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97280"/>
            <a:ext cx="45720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097280"/>
            <a:ext cx="4572000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12344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GPUs testés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480560" y="1645920"/>
          <a:ext cx="4389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4F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A100 (Ampere)</a:t>
                      </a:r>
                    </a:p>
                  </a:txBody>
                  <a:tcPr>
                    <a:solidFill>
                      <a:srgbClr val="0D4F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H100 (Hopper)</a:t>
                      </a:r>
                    </a:p>
                  </a:txBody>
                  <a:tcPr>
                    <a:solidFill>
                      <a:srgbClr val="0D4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Partition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gpu_h100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Mémoire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80 Go HBM2e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80 Go HBM3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Cœurs CUDA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6 912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16 896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Peak FP64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19,5 TFLOPS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54 TFLOPS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365760" y="3886200"/>
            <a:ext cx="8412480" cy="50292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3886200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0D4F4F"/>
                </a:solidFill>
                <a:latin typeface="Calibri"/>
              </a:rPr>
              <a:t>Configuration HPL : NB = 576 (blocs larges pour GPU)  |  P × Q = 2 × 1  |  BCAST =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D4F4F"/>
                </a:solidFill>
                <a:latin typeface="Georgia"/>
              </a:rPr>
              <a:t>Étapes d'exécution sur GPU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7772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i="1">
                <a:solidFill>
                  <a:srgbClr val="8A8A9A"/>
                </a:solidFill>
                <a:latin typeface="Calibri"/>
              </a:rPr>
              <a:t>Du fichier de configuration au lancement du benchmark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41148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4114800" cy="4572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365760" cy="36576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Calibri"/>
              </a:rPr>
              <a:t>HPL.dat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Calibri"/>
              </a:rPr>
              <a:t>Création du fichier de configuration
(N, NB, P×Q, BCAST)</a:t>
            </a:r>
          </a:p>
        </p:txBody>
      </p:sp>
      <p:pic>
        <p:nvPicPr>
          <p:cNvPr id="10" name="Picture 9" descr="Ste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865" y="1371600"/>
            <a:ext cx="2239975" cy="9144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663440" y="1051560"/>
            <a:ext cx="41148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663440" y="1051560"/>
            <a:ext cx="4114800" cy="4572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800600" y="1234440"/>
            <a:ext cx="365760" cy="36576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11887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Calibri"/>
              </a:rPr>
              <a:t>Singularity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1508760"/>
            <a:ext cx="33009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4A4A5A"/>
                </a:solidFill>
                <a:latin typeface="Calibri"/>
              </a:rPr>
              <a:t>Lancement</a:t>
            </a:r>
            <a:r>
              <a:rPr sz="1000" b="0" i="0" dirty="0">
                <a:solidFill>
                  <a:srgbClr val="4A4A5A"/>
                </a:solidFill>
                <a:latin typeface="Calibri"/>
              </a:rPr>
              <a:t> du </a:t>
            </a:r>
            <a:r>
              <a:rPr sz="1000" b="0" i="0" dirty="0" err="1">
                <a:solidFill>
                  <a:srgbClr val="4A4A5A"/>
                </a:solidFill>
                <a:latin typeface="Calibri"/>
              </a:rPr>
              <a:t>conteneur</a:t>
            </a:r>
            <a:r>
              <a:rPr sz="1000" b="0" i="0" dirty="0">
                <a:solidFill>
                  <a:srgbClr val="4A4A5A"/>
                </a:solidFill>
                <a:latin typeface="Calibri"/>
              </a:rPr>
              <a:t> NVIDIA
avec bind du </a:t>
            </a:r>
            <a:r>
              <a:rPr sz="1000" b="0" i="0" dirty="0" err="1">
                <a:solidFill>
                  <a:srgbClr val="4A4A5A"/>
                </a:solidFill>
                <a:latin typeface="Calibri"/>
              </a:rPr>
              <a:t>répertoire</a:t>
            </a:r>
            <a:r>
              <a:rPr sz="1000" b="0" i="0" dirty="0">
                <a:solidFill>
                  <a:srgbClr val="4A4A5A"/>
                </a:solidFill>
                <a:latin typeface="Calibri"/>
              </a:rPr>
              <a:t> de travail</a:t>
            </a:r>
          </a:p>
        </p:txBody>
      </p:sp>
      <p:pic>
        <p:nvPicPr>
          <p:cNvPr id="16" name="Picture 15" descr="Ste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940810"/>
            <a:ext cx="3840480" cy="48235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365760" y="2834640"/>
            <a:ext cx="41148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2834640"/>
            <a:ext cx="4114800" cy="4572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3017520"/>
            <a:ext cx="365760" cy="36576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971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Calibri"/>
              </a:rPr>
              <a:t>Slurm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2918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4A4A5A"/>
                </a:solidFill>
                <a:latin typeface="Calibri"/>
              </a:rPr>
              <a:t>Allocation GPU via </a:t>
            </a:r>
            <a:r>
              <a:rPr sz="1000" b="0" i="0" dirty="0" err="1">
                <a:solidFill>
                  <a:srgbClr val="4A4A5A"/>
                </a:solidFill>
                <a:latin typeface="Calibri"/>
              </a:rPr>
              <a:t>salloc</a:t>
            </a:r>
            <a:r>
              <a:rPr sz="1000" b="0" i="0" dirty="0">
                <a:solidFill>
                  <a:srgbClr val="4A4A5A"/>
                </a:solidFill>
                <a:latin typeface="Calibri"/>
              </a:rPr>
              <a:t>
(--</a:t>
            </a:r>
            <a:r>
              <a:rPr sz="1000" b="0" i="0" dirty="0" err="1">
                <a:solidFill>
                  <a:srgbClr val="4A4A5A"/>
                </a:solidFill>
                <a:latin typeface="Calibri"/>
              </a:rPr>
              <a:t>gres</a:t>
            </a:r>
            <a:r>
              <a:rPr sz="1000" b="0" i="0" dirty="0">
                <a:solidFill>
                  <a:srgbClr val="4A4A5A"/>
                </a:solidFill>
                <a:latin typeface="Calibri"/>
              </a:rPr>
              <a:t>=gpu:1 </a:t>
            </a:r>
            <a:r>
              <a:rPr sz="1000" b="0" i="0" dirty="0" err="1">
                <a:solidFill>
                  <a:srgbClr val="4A4A5A"/>
                </a:solidFill>
                <a:latin typeface="Calibri"/>
              </a:rPr>
              <a:t>ou</a:t>
            </a:r>
            <a:r>
              <a:rPr sz="1000" b="0" i="0" dirty="0">
                <a:solidFill>
                  <a:srgbClr val="4A4A5A"/>
                </a:solidFill>
                <a:latin typeface="Calibri"/>
              </a:rPr>
              <a:t> gpu:2)</a:t>
            </a:r>
          </a:p>
        </p:txBody>
      </p:sp>
      <p:pic>
        <p:nvPicPr>
          <p:cNvPr id="22" name="Picture 21" descr="Step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" y="3749040"/>
            <a:ext cx="3977640" cy="564081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663440" y="2834640"/>
            <a:ext cx="41148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663440" y="2834640"/>
            <a:ext cx="4114800" cy="4572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800600" y="3017520"/>
            <a:ext cx="365760" cy="36576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2971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7A5F"/>
                </a:solidFill>
                <a:latin typeface="Calibri"/>
              </a:rPr>
              <a:t>Exécution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32918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Calibri"/>
              </a:rPr>
              <a:t>mpirun -np &lt;X&gt; ./hpl.sh
--dat /mnt/HPL.dat</a:t>
            </a:r>
          </a:p>
        </p:txBody>
      </p:sp>
      <p:pic>
        <p:nvPicPr>
          <p:cNvPr id="28" name="Picture 27" descr="Step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19" y="3749040"/>
            <a:ext cx="3797769" cy="5640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D4F4F"/>
                </a:solidFill>
                <a:latin typeface="Georgia"/>
              </a:rPr>
              <a:t>Résultats : GPU A100 (Ampere)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7772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i="1">
                <a:solidFill>
                  <a:srgbClr val="8A8A9A"/>
                </a:solidFill>
                <a:latin typeface="Calibri"/>
              </a:rPr>
              <a:t>Peak théorique : 19,5 TFLOPS  |  Configuration : NB=576, P×Q=2×1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05840"/>
          <a:ext cx="3657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>
                    <a:solidFill>
                      <a:srgbClr val="0D4F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1 GPU</a:t>
                      </a:r>
                    </a:p>
                  </a:txBody>
                  <a:tcPr>
                    <a:solidFill>
                      <a:srgbClr val="0D4F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2 GPUs</a:t>
                      </a:r>
                    </a:p>
                  </a:txBody>
                  <a:tcPr>
                    <a:solidFill>
                      <a:srgbClr val="0D4F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Speedup</a:t>
                      </a:r>
                    </a:p>
                  </a:txBody>
                  <a:tcPr>
                    <a:solidFill>
                      <a:srgbClr val="0D4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20 000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9 731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9 106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0,94x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40 000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15 890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25 230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1,59x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60 000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17 150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31 430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1,83x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80 000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17 600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33 560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1,91x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100 000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17 860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34 720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1,95x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Picture 5" descr="hpl-a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005840"/>
            <a:ext cx="4754880" cy="290547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5760" y="4096173"/>
            <a:ext cx="39319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4096173"/>
            <a:ext cx="3931920" cy="4572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87613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7C7B"/>
                </a:solidFill>
                <a:latin typeface="Calibri"/>
              </a:rPr>
              <a:t>Efficacité : 17 860 / 19 487 = 91,7%
Speedup 2 GPUs : 1,95x → eff. parallèle 97%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4096173"/>
            <a:ext cx="44805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60" y="4096173"/>
            <a:ext cx="4480560" cy="4572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4187613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7A5F"/>
                </a:solidFill>
                <a:latin typeface="Calibri"/>
              </a:rPr>
              <a:t>Anomalie N=20K : 2 GPUs plus lents (-6,4%)
Tous les tests : résidu PASSED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D4F4F"/>
                </a:solidFill>
                <a:latin typeface="Georgia"/>
              </a:rPr>
              <a:t>Résultats : GPU H100 (Hopper)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7772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i="1">
                <a:solidFill>
                  <a:srgbClr val="8A8A9A"/>
                </a:solidFill>
                <a:latin typeface="Calibri"/>
              </a:rPr>
              <a:t>Peak théorique : 54 TFLOPS  |  Configuration : NB=576, P×Q=2×1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05840"/>
          <a:ext cx="3657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>
                    <a:solidFill>
                      <a:srgbClr val="0D4F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1 GPU</a:t>
                      </a:r>
                    </a:p>
                  </a:txBody>
                  <a:tcPr>
                    <a:solidFill>
                      <a:srgbClr val="0D4F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2 GPUs</a:t>
                      </a:r>
                    </a:p>
                  </a:txBody>
                  <a:tcPr>
                    <a:solidFill>
                      <a:srgbClr val="0D4F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Speedup</a:t>
                      </a:r>
                    </a:p>
                  </a:txBody>
                  <a:tcPr>
                    <a:solidFill>
                      <a:srgbClr val="0D4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20 000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16 130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11 510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0,71x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40 000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35 760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41 460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1,16x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60 000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41 760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64 700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1,55x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80 000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44 130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76 730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1,74x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100 000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45 110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81 970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1,82x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Picture 5" descr="hpl-h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005840"/>
            <a:ext cx="4754880" cy="2918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5760" y="4104641"/>
            <a:ext cx="39319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4104641"/>
            <a:ext cx="3931920" cy="4572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96081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7C7B"/>
                </a:solidFill>
                <a:latin typeface="Calibri"/>
              </a:rPr>
              <a:t>Efficacité : 45 110 / 54 067 = 83,4%
Speedup 2 GPUs : 1,82x → eff. parallèle 91%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4104641"/>
            <a:ext cx="44805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60" y="4104641"/>
            <a:ext cx="4480560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4196081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alibri"/>
              </a:rPr>
              <a:t>Anomalie N=20K : 2 GPUs 28,6% PLUS LENTS !
Tous les tests : résidu PASSED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D4F4F"/>
                </a:solidFill>
                <a:latin typeface="Georgia"/>
              </a:rPr>
              <a:t>Anomalie : 2 GPUs plus lents qu'un seul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7772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i="1">
                <a:solidFill>
                  <a:srgbClr val="8A8A9A"/>
                </a:solidFill>
                <a:latin typeface="Calibri"/>
              </a:rPr>
              <a:t>Dégradation de performance observée à N = 20 000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657946"/>
              </p:ext>
            </p:extLst>
          </p:nvPr>
        </p:nvGraphicFramePr>
        <p:xfrm>
          <a:off x="365760" y="1276772"/>
          <a:ext cx="384048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GPU</a:t>
                      </a:r>
                    </a:p>
                  </a:txBody>
                  <a:tcPr>
                    <a:solidFill>
                      <a:srgbClr val="0D4F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1 GPU</a:t>
                      </a:r>
                    </a:p>
                  </a:txBody>
                  <a:tcPr>
                    <a:solidFill>
                      <a:srgbClr val="0D4F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2 GPUs</a:t>
                      </a:r>
                    </a:p>
                  </a:txBody>
                  <a:tcPr>
                    <a:solidFill>
                      <a:srgbClr val="0D4F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Dégradation</a:t>
                      </a:r>
                    </a:p>
                  </a:txBody>
                  <a:tcPr>
                    <a:solidFill>
                      <a:srgbClr val="0D4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A100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9 731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9 106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-6,4%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H100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16 130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11 510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-28,6%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2374052"/>
            <a:ext cx="365760" cy="36576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405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Problème trop petit — chaque GPU reçoit une portion insuffisante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76971"/>
            <a:ext cx="365760" cy="36576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76971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Coût de communication inter-GPU &gt; gain de calcul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79892"/>
            <a:ext cx="365760" cy="36576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7989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Plus prononcé sur H100 : 16 896 vs 6 912 cœurs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82812"/>
            <a:ext cx="365760" cy="36576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8281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1A1A2E"/>
                </a:solidFill>
                <a:latin typeface="Calibri"/>
              </a:rPr>
              <a:t>Seuil</a:t>
            </a:r>
            <a:r>
              <a:rPr sz="1100" b="0" i="0" dirty="0">
                <a:solidFill>
                  <a:srgbClr val="1A1A2E"/>
                </a:solidFill>
                <a:latin typeface="Calibri"/>
              </a:rPr>
              <a:t> de </a:t>
            </a:r>
            <a:r>
              <a:rPr sz="1100" b="0" i="0" dirty="0" err="1">
                <a:solidFill>
                  <a:srgbClr val="1A1A2E"/>
                </a:solidFill>
                <a:latin typeface="Calibri"/>
              </a:rPr>
              <a:t>rentabilité</a:t>
            </a:r>
            <a:r>
              <a:rPr sz="1100" b="0" i="0" dirty="0">
                <a:solidFill>
                  <a:srgbClr val="1A1A2E"/>
                </a:solidFill>
                <a:latin typeface="Calibri"/>
              </a:rPr>
              <a:t> : entre N = 20K et 40K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276772"/>
            <a:ext cx="457200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0" y="1276772"/>
            <a:ext cx="4572000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60" y="141393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Pourquoi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779692"/>
            <a:ext cx="4389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0D4F4F"/>
                </a:solidFill>
                <a:latin typeface="Calibri"/>
              </a:rPr>
              <a:t>Le calcul croît en O(N³)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4A4A5A"/>
                </a:solidFill>
                <a:latin typeface="Calibri"/>
              </a:rPr>
              <a:t>Volume de travail augmente cubiquement avec N</a:t>
            </a:r>
          </a:p>
          <a:p>
            <a:pPr>
              <a:spcAft>
                <a:spcPts val="200"/>
              </a:spcAft>
            </a:pPr>
            <a:endParaRPr sz="1000" b="0">
              <a:solidFill>
                <a:srgbClr val="4A4A5A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E07A5F"/>
                </a:solidFill>
                <a:latin typeface="Calibri"/>
              </a:rPr>
              <a:t>La communication croît en O(N²)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4A4A5A"/>
                </a:solidFill>
                <a:latin typeface="Calibri"/>
              </a:rPr>
              <a:t>Échanges inter-GPU augmentent quadratiquement</a:t>
            </a:r>
          </a:p>
          <a:p>
            <a:pPr>
              <a:spcAft>
                <a:spcPts val="200"/>
              </a:spcAft>
            </a:pPr>
            <a:endParaRPr sz="1000" b="0">
              <a:solidFill>
                <a:srgbClr val="4A4A5A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D4F4F"/>
                </a:solidFill>
                <a:latin typeface="Calibri"/>
              </a:rPr>
              <a:t>Pour les grands N, le calcul domine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4A4A5A"/>
                </a:solidFill>
                <a:latin typeface="Calibri"/>
              </a:rPr>
              <a:t>Les GPUs passent plus de temps à calculer qu'à communiquer</a:t>
            </a:r>
          </a:p>
          <a:p>
            <a:pPr>
              <a:spcAft>
                <a:spcPts val="200"/>
              </a:spcAft>
            </a:pPr>
            <a:endParaRPr sz="1000" b="0">
              <a:solidFill>
                <a:srgbClr val="4A4A5A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E07A5F"/>
                </a:solidFill>
                <a:latin typeface="Calibri"/>
              </a:rPr>
              <a:t>Pour les petits N, la communication domine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4A4A5A"/>
                </a:solidFill>
                <a:latin typeface="Calibri"/>
              </a:rPr>
              <a:t>Le surcoût de synchronisation dépasse le bénéfice du parallélisme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D4F4F"/>
                </a:solidFill>
                <a:latin typeface="Georgia"/>
              </a:rPr>
              <a:t>Comparaison architecturale : A100 vs H100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7772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i="1">
                <a:solidFill>
                  <a:srgbClr val="8A8A9A"/>
                </a:solidFill>
                <a:latin typeface="Calibri"/>
              </a:rPr>
              <a:t>Facteur d'accélération en fonction de la taille du problème</a:t>
            </a:r>
          </a:p>
        </p:txBody>
      </p:sp>
      <p:pic>
        <p:nvPicPr>
          <p:cNvPr id="5" name="Picture 4" descr="a100-h100-hp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97187"/>
            <a:ext cx="4389120" cy="2548745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8570192"/>
              </p:ext>
            </p:extLst>
          </p:nvPr>
        </p:nvGraphicFramePr>
        <p:xfrm>
          <a:off x="4846320" y="1197187"/>
          <a:ext cx="4114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>
                    <a:solidFill>
                      <a:srgbClr val="0D4F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A100</a:t>
                      </a:r>
                    </a:p>
                  </a:txBody>
                  <a:tcPr>
                    <a:solidFill>
                      <a:srgbClr val="0D4F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H100</a:t>
                      </a:r>
                    </a:p>
                  </a:txBody>
                  <a:tcPr>
                    <a:solidFill>
                      <a:srgbClr val="0D4F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Ratio</a:t>
                      </a:r>
                    </a:p>
                  </a:txBody>
                  <a:tcPr>
                    <a:solidFill>
                      <a:srgbClr val="0D4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20K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9 731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16 130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1,66x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40K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15 890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35 760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2,25x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60K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17 150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41 760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2,43x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80K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17 600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44 130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2,51x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100K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17 860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45 110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2,53x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846320" y="3620347"/>
            <a:ext cx="41148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846320" y="3620347"/>
            <a:ext cx="4114800" cy="4572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37760" y="3711787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E7C7B"/>
                </a:solidFill>
                <a:latin typeface="Calibri"/>
              </a:rPr>
              <a:t>Ratio théorique : 54 / 19,5 = 2,77x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D4F4F"/>
                </a:solidFill>
                <a:latin typeface="Calibri"/>
              </a:rPr>
              <a:t>Ratio mesuré (N=100K) : 2,53x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4A4A5A"/>
                </a:solidFill>
                <a:latin typeface="Calibri"/>
              </a:rPr>
              <a:t>Écart ~9% — dû à la différence d'efficacité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4A4A5A"/>
                </a:solidFill>
                <a:latin typeface="Calibri"/>
              </a:rPr>
              <a:t>H100 : 83,4%  vs  A100 : 91,7%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D4F4F"/>
                </a:solidFill>
                <a:latin typeface="Georgia"/>
              </a:rPr>
              <a:t>Synthèse de l'efficacité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7772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i="1">
                <a:solidFill>
                  <a:srgbClr val="8A8A9A"/>
                </a:solidFill>
                <a:latin typeface="Calibri"/>
              </a:rPr>
              <a:t>Efficacité = GFLOPS mesurés / Pic théorique × 100%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162757"/>
              </p:ext>
            </p:extLst>
          </p:nvPr>
        </p:nvGraphicFramePr>
        <p:xfrm>
          <a:off x="365760" y="1188723"/>
          <a:ext cx="8412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>
                    <a:solidFill>
                      <a:srgbClr val="0D4F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Peak (TFLOPS)</a:t>
                      </a:r>
                    </a:p>
                  </a:txBody>
                  <a:tcPr>
                    <a:solidFill>
                      <a:srgbClr val="0D4F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Meilleur (GFLOPS)</a:t>
                      </a:r>
                    </a:p>
                  </a:txBody>
                  <a:tcPr>
                    <a:solidFill>
                      <a:srgbClr val="0D4F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Efficacité</a:t>
                      </a:r>
                    </a:p>
                  </a:txBody>
                  <a:tcPr>
                    <a:solidFill>
                      <a:srgbClr val="0D4F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Eff. parallèle</a:t>
                      </a:r>
                    </a:p>
                  </a:txBody>
                  <a:tcPr>
                    <a:solidFill>
                      <a:srgbClr val="0D4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A100 (1 GPU)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19,5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17 860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91,7%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2E"/>
                          </a:solidFill>
                          <a:latin typeface="Calibri"/>
                        </a:rPr>
                        <a:t>H100 (1 GPU)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54,0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45 110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83,4%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2E"/>
                          </a:solidFill>
                          <a:latin typeface="Calibri"/>
                        </a:rPr>
                        <a:t>A100 (2 GPUs)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39,0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34 720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89,0%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97%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H100 (2 GPUs)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108,0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81 970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  <a:latin typeface="Calibri"/>
                        </a:rPr>
                        <a:t>75,8%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2E"/>
                          </a:solidFill>
                          <a:latin typeface="Calibri"/>
                        </a:rPr>
                        <a:t>91%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3429003"/>
            <a:ext cx="40233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3429003"/>
            <a:ext cx="4023360" cy="4572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3520443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0E7C7B"/>
                </a:solidFill>
                <a:latin typeface="Calibri"/>
              </a:rPr>
              <a:t>HPL est compute-bound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4A4A5A"/>
                </a:solidFill>
                <a:latin typeface="Calibri"/>
              </a:rPr>
              <a:t>Le calcul (DGEMM) domine le temps d'exécution.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4A4A5A"/>
                </a:solidFill>
                <a:latin typeface="Calibri"/>
              </a:rPr>
              <a:t>L'A100 est plus facile à saturer → meilleure efficacité.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3429003"/>
            <a:ext cx="4389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0" y="3429003"/>
            <a:ext cx="4389120" cy="4572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3520443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E07A5F"/>
                </a:solidFill>
                <a:latin typeface="Calibri"/>
              </a:rPr>
              <a:t>Plus de puissance = plus difficile à exploiter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4A4A5A"/>
                </a:solidFill>
                <a:latin typeface="Calibri"/>
              </a:rPr>
              <a:t>L'efficacité diminue de 91,7% (A100 1 GPU)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4A4A5A"/>
                </a:solidFill>
                <a:latin typeface="Calibri"/>
              </a:rPr>
              <a:t>à 75,8% (H100 2 GPUs).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D4F4F"/>
                </a:solidFill>
                <a:latin typeface="Georgia"/>
              </a:rPr>
              <a:t>Conclusion et enseignements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7772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i="1">
                <a:solidFill>
                  <a:srgbClr val="8A8A9A"/>
                </a:solidFill>
                <a:latin typeface="Calibri"/>
              </a:rPr>
              <a:t>5 résultats clés de notre analyse HPL sur GPU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84124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8412480" cy="4572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365760" cy="36576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7B"/>
                </a:solidFill>
                <a:latin typeface="Calibri"/>
              </a:rPr>
              <a:t>HPL est compute-bound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61872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Calibri"/>
              </a:rPr>
              <a:t>Efficacités de 83 à 92% — le calcul domine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45920"/>
            <a:ext cx="84124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645920"/>
            <a:ext cx="8412480" cy="4572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1755648"/>
            <a:ext cx="365760" cy="36576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691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7B"/>
                </a:solidFill>
                <a:latin typeface="Calibri"/>
              </a:rPr>
              <a:t>La taille du problème est déterminante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1947672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Calibri"/>
              </a:rPr>
              <a:t>O(N³) calcul vs O(N²) communication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331720"/>
            <a:ext cx="84124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2331720"/>
            <a:ext cx="8412480" cy="4572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2441448"/>
            <a:ext cx="365760" cy="36576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377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7B"/>
                </a:solidFill>
                <a:latin typeface="Calibri"/>
              </a:rPr>
              <a:t>Le multi-GPU a un seuil de rentabilité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633472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Calibri"/>
              </a:rPr>
              <a:t>N entre 20K et 40K — en dessous, contre-productif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017520"/>
            <a:ext cx="84124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3017520"/>
            <a:ext cx="8412480" cy="4572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3127248"/>
            <a:ext cx="365760" cy="36576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063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7A5F"/>
                </a:solidFill>
                <a:latin typeface="Calibri"/>
              </a:rPr>
              <a:t>Le H100 offre ≈2,5x l'A100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319272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Calibri"/>
              </a:rPr>
              <a:t>Ratio mesuré 2,53x vs théorique 2,77x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703320"/>
            <a:ext cx="84124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3703320"/>
            <a:ext cx="8412480" cy="4572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2920" y="3813048"/>
            <a:ext cx="365760" cy="36576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749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7A5F"/>
                </a:solidFill>
                <a:latin typeface="Calibri"/>
              </a:rPr>
              <a:t>L'efficacité diminue avec la puissance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005072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Calibri"/>
              </a:rPr>
              <a:t>97% (A100) vs 91% (H100) en parallèle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526280"/>
            <a:ext cx="8412480" cy="50292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45262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F4F"/>
                </a:solidFill>
                <a:latin typeface="Calibri"/>
              </a:rPr>
              <a:t>Puissance brute, passage à l'échelle et dimensionnement du problème sont étroitement liés.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1782</Words>
  <Application>Microsoft Office PowerPoint</Application>
  <PresentationFormat>On-screen Show (16:9)</PresentationFormat>
  <Paragraphs>262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BENMALK Achraf</cp:lastModifiedBy>
  <cp:revision>2</cp:revision>
  <dcterms:created xsi:type="dcterms:W3CDTF">2013-01-27T09:14:16Z</dcterms:created>
  <dcterms:modified xsi:type="dcterms:W3CDTF">2026-02-18T00:33:30Z</dcterms:modified>
  <cp:category/>
</cp:coreProperties>
</file>