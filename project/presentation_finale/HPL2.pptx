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7" r:id="rId2"/>
    <p:sldId id="267" r:id="rId3"/>
    <p:sldId id="268" r:id="rId4"/>
    <p:sldId id="270" r:id="rId5"/>
    <p:sldId id="272" r:id="rId6"/>
    <p:sldId id="273" r:id="rId7"/>
    <p:sldId id="274" r:id="rId8"/>
    <p:sldId id="275" r:id="rId9"/>
    <p:sldId id="276" r:id="rId10"/>
    <p:sldId id="27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28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4C0D-164A-2E1D-7A30-3A80DD0E8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C3C9A-95A3-B2C6-D112-91D7BD3C1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FD787-D11F-CFBA-BA80-1EDC723DC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539E9-B1FB-5480-D5AA-480355055D7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770847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AC13-F9EF-C215-B831-6791C1C24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16E85-7ED6-5C94-C1D3-9535273B4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ED84C-D570-A811-33FC-D70618D26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BB55A-55C1-4E9A-6EBD-14CD1635365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68637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F474D-0458-8B88-A838-31F73A7A8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E4825-59EF-AF1B-3D19-5287E3AAE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038EF-8B05-9E80-68DC-342C4A9B09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8C218-3D63-6319-8AA7-A807B11436E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67246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7830-6F1F-1B54-C38C-7412D8F2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1F169-32DE-570E-56A3-807DCD621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D8A64-D061-A304-5524-B2B6F698DC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841FB2-6F2E-14D7-247B-EEE09553538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07890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00DA-219C-FCEA-E4F8-2D43A1838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7C76B-CBBE-6B55-BD0E-A976BB3B4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E86D6-19C4-B54B-9927-9EE0B0AEA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84CCB-6D0F-5E0D-381F-D654DEEA7EB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55161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B5AA0-DA63-3B19-BD0C-8F5E0159F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18324-9897-A020-CC42-8B5338663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CBB3F-7E95-69B1-2434-EF9B5A8F94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D5532C-B857-1B2F-F60A-FF43A24F56C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28139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3189A-FF37-D3E4-EE2C-A22923514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D1BD5-6E40-B7D0-9264-0F283330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D2707-579E-C067-EE5D-5252A7944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C882C-7685-537C-7E55-CD512EBBC34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03841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CF72-A51E-7F35-0EDC-C59F3A640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5781-FE54-593F-B325-D84DA24A3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8A83E-8B58-82F1-78CC-001EF5005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0DF97-35FD-0EAE-4F98-56659D271A4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00253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9181-A27B-ED17-3E81-7A85A1425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1E176-5D5E-3048-4D6F-AA76F1C62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4D6B7-35FF-334A-4A67-FB24AD6D6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8721B1-111A-0DAD-3959-84D30416AD9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20837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AF8F0"/>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4" name="Shape 2"/>
          <p:cNvSpPr/>
          <p:nvPr/>
        </p:nvSpPr>
        <p:spPr>
          <a:xfrm>
            <a:off x="54864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5" name="Shape 3"/>
          <p:cNvSpPr/>
          <p:nvPr/>
        </p:nvSpPr>
        <p:spPr>
          <a:xfrm>
            <a:off x="685800" y="1508760"/>
            <a:ext cx="365760" cy="365760"/>
          </a:xfrm>
          <a:prstGeom prst="ellipse">
            <a:avLst/>
          </a:prstGeom>
          <a:solidFill>
            <a:srgbClr val="0E7C7B"/>
          </a:solidFill>
          <a:ln/>
        </p:spPr>
        <p:txBody>
          <a:bodyPr/>
          <a:lstStyle/>
          <a:p>
            <a:endParaRPr lang="fr-FR"/>
          </a:p>
        </p:txBody>
      </p:sp>
      <p:sp>
        <p:nvSpPr>
          <p:cNvPr id="6" name="Text 4"/>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p:cNvPicPr>
            <a:picLocks noChangeAspect="1"/>
          </p:cNvPicPr>
          <p:nvPr/>
        </p:nvPicPr>
        <p:blipFill>
          <a:blip r:embed="rId3"/>
          <a:stretch>
            <a:fillRect/>
          </a:stretch>
        </p:blipFill>
        <p:spPr>
          <a:xfrm>
            <a:off x="3154680" y="1828800"/>
            <a:ext cx="201168" cy="201168"/>
          </a:xfrm>
          <a:prstGeom prst="rect">
            <a:avLst/>
          </a:prstGeom>
        </p:spPr>
      </p:pic>
      <p:sp>
        <p:nvSpPr>
          <p:cNvPr id="9" name="Shape 6"/>
          <p:cNvSpPr/>
          <p:nvPr/>
        </p:nvSpPr>
        <p:spPr>
          <a:xfrm>
            <a:off x="338328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7"/>
          <p:cNvSpPr/>
          <p:nvPr/>
        </p:nvSpPr>
        <p:spPr>
          <a:xfrm>
            <a:off x="3520440" y="1508760"/>
            <a:ext cx="365760" cy="365760"/>
          </a:xfrm>
          <a:prstGeom prst="ellipse">
            <a:avLst/>
          </a:prstGeom>
          <a:solidFill>
            <a:srgbClr val="0E7C7B"/>
          </a:solidFill>
          <a:ln/>
        </p:spPr>
        <p:txBody>
          <a:bodyPr/>
          <a:lstStyle/>
          <a:p>
            <a:endParaRPr lang="fr-FR"/>
          </a:p>
        </p:txBody>
      </p:sp>
      <p:sp>
        <p:nvSpPr>
          <p:cNvPr id="11" name="Text 8"/>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p:cNvPicPr>
            <a:picLocks noChangeAspect="1"/>
          </p:cNvPicPr>
          <p:nvPr/>
        </p:nvPicPr>
        <p:blipFill>
          <a:blip r:embed="rId3"/>
          <a:stretch>
            <a:fillRect/>
          </a:stretch>
        </p:blipFill>
        <p:spPr>
          <a:xfrm>
            <a:off x="5989320" y="1828800"/>
            <a:ext cx="201168" cy="201168"/>
          </a:xfrm>
          <a:prstGeom prst="rect">
            <a:avLst/>
          </a:prstGeom>
        </p:spPr>
      </p:pic>
      <p:sp>
        <p:nvSpPr>
          <p:cNvPr id="14" name="Shape 10"/>
          <p:cNvSpPr/>
          <p:nvPr/>
        </p:nvSpPr>
        <p:spPr>
          <a:xfrm>
            <a:off x="621792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5" name="Shape 11"/>
          <p:cNvSpPr/>
          <p:nvPr/>
        </p:nvSpPr>
        <p:spPr>
          <a:xfrm>
            <a:off x="6355080" y="1508760"/>
            <a:ext cx="365760" cy="365760"/>
          </a:xfrm>
          <a:prstGeom prst="ellipse">
            <a:avLst/>
          </a:prstGeom>
          <a:solidFill>
            <a:srgbClr val="0E7C7B"/>
          </a:solidFill>
          <a:ln/>
        </p:spPr>
        <p:txBody>
          <a:bodyPr/>
          <a:lstStyle/>
          <a:p>
            <a:endParaRPr lang="fr-FR"/>
          </a:p>
        </p:txBody>
      </p:sp>
      <p:sp>
        <p:nvSpPr>
          <p:cNvPr id="16" name="Text 12"/>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8" name="Shape 14"/>
          <p:cNvSpPr/>
          <p:nvPr/>
        </p:nvSpPr>
        <p:spPr>
          <a:xfrm>
            <a:off x="54864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9" name="Shape 15"/>
          <p:cNvSpPr/>
          <p:nvPr/>
        </p:nvSpPr>
        <p:spPr>
          <a:xfrm>
            <a:off x="685800" y="3200400"/>
            <a:ext cx="365760" cy="365760"/>
          </a:xfrm>
          <a:prstGeom prst="ellipse">
            <a:avLst/>
          </a:prstGeom>
          <a:solidFill>
            <a:srgbClr val="E07A5F"/>
          </a:solidFill>
          <a:ln/>
        </p:spPr>
        <p:txBody>
          <a:bodyPr/>
          <a:lstStyle/>
          <a:p>
            <a:endParaRPr lang="fr-FR"/>
          </a:p>
        </p:txBody>
      </p:sp>
      <p:sp>
        <p:nvSpPr>
          <p:cNvPr id="20" name="Text 16"/>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p:cNvPicPr>
            <a:picLocks noChangeAspect="1"/>
          </p:cNvPicPr>
          <p:nvPr/>
        </p:nvPicPr>
        <p:blipFill>
          <a:blip r:embed="rId3"/>
          <a:stretch>
            <a:fillRect/>
          </a:stretch>
        </p:blipFill>
        <p:spPr>
          <a:xfrm>
            <a:off x="3154680" y="3520440"/>
            <a:ext cx="201168" cy="201168"/>
          </a:xfrm>
          <a:prstGeom prst="rect">
            <a:avLst/>
          </a:prstGeom>
        </p:spPr>
      </p:pic>
      <p:sp>
        <p:nvSpPr>
          <p:cNvPr id="23" name="Shape 18"/>
          <p:cNvSpPr/>
          <p:nvPr/>
        </p:nvSpPr>
        <p:spPr>
          <a:xfrm>
            <a:off x="338328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4" name="Shape 19"/>
          <p:cNvSpPr/>
          <p:nvPr/>
        </p:nvSpPr>
        <p:spPr>
          <a:xfrm>
            <a:off x="3520440" y="3200400"/>
            <a:ext cx="365760" cy="365760"/>
          </a:xfrm>
          <a:prstGeom prst="ellipse">
            <a:avLst/>
          </a:prstGeom>
          <a:solidFill>
            <a:srgbClr val="E07A5F"/>
          </a:solidFill>
          <a:ln/>
        </p:spPr>
        <p:txBody>
          <a:bodyPr/>
          <a:lstStyle/>
          <a:p>
            <a:endParaRPr lang="fr-FR"/>
          </a:p>
        </p:txBody>
      </p:sp>
      <p:sp>
        <p:nvSpPr>
          <p:cNvPr id="25" name="Text 20"/>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p:cNvPicPr>
            <a:picLocks noChangeAspect="1"/>
          </p:cNvPicPr>
          <p:nvPr/>
        </p:nvPicPr>
        <p:blipFill>
          <a:blip r:embed="rId3"/>
          <a:stretch>
            <a:fillRect/>
          </a:stretch>
        </p:blipFill>
        <p:spPr>
          <a:xfrm>
            <a:off x="5989320" y="3520440"/>
            <a:ext cx="201168" cy="201168"/>
          </a:xfrm>
          <a:prstGeom prst="rect">
            <a:avLst/>
          </a:prstGeom>
        </p:spPr>
      </p:pic>
      <p:sp>
        <p:nvSpPr>
          <p:cNvPr id="28" name="Shape 22"/>
          <p:cNvSpPr/>
          <p:nvPr/>
        </p:nvSpPr>
        <p:spPr>
          <a:xfrm>
            <a:off x="621792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9" name="Shape 23"/>
          <p:cNvSpPr/>
          <p:nvPr/>
        </p:nvSpPr>
        <p:spPr>
          <a:xfrm>
            <a:off x="6355080" y="3200400"/>
            <a:ext cx="365760" cy="365760"/>
          </a:xfrm>
          <a:prstGeom prst="ellipse">
            <a:avLst/>
          </a:prstGeom>
          <a:solidFill>
            <a:srgbClr val="E07A5F"/>
          </a:solidFill>
          <a:ln/>
        </p:spPr>
        <p:txBody>
          <a:bodyPr/>
          <a:lstStyle/>
          <a:p>
            <a:endParaRPr lang="fr-FR"/>
          </a:p>
        </p:txBody>
      </p:sp>
      <p:sp>
        <p:nvSpPr>
          <p:cNvPr id="30" name="Text 24"/>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12135B9-7A35-095D-D5B9-373FE7BFB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1E649D24-C90D-FD32-D2DE-97D7BD2F55B7}"/>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Elimination de Gauss</a:t>
            </a:r>
          </a:p>
        </p:txBody>
      </p:sp>
      <p:sp>
        <p:nvSpPr>
          <p:cNvPr id="38" name="Text 1">
            <a:extLst>
              <a:ext uri="{FF2B5EF4-FFF2-40B4-BE49-F238E27FC236}">
                <a16:creationId xmlns:a16="http://schemas.microsoft.com/office/drawing/2014/main" id="{6FB1A5CA-0DD8-3C08-1D29-040DB379DD63}"/>
              </a:ext>
            </a:extLst>
          </p:cNvPr>
          <p:cNvSpPr/>
          <p:nvPr/>
        </p:nvSpPr>
        <p:spPr>
          <a:xfrm>
            <a:off x="479160" y="1388535"/>
            <a:ext cx="8182233" cy="414495"/>
          </a:xfrm>
          <a:prstGeom prst="rect">
            <a:avLst/>
          </a:prstGeom>
        </p:spPr>
        <p:txBody>
          <a:bodyPr vert="horz" lIns="91440" tIns="45720" rIns="91440" bIns="45720" rtlCol="0" anchor="ctr">
            <a:normAutofit/>
          </a:bodyPr>
          <a:lstStyle/>
          <a:p>
            <a:pPr algn="ctr">
              <a:lnSpc>
                <a:spcPct val="90000"/>
              </a:lnSpc>
              <a:spcBef>
                <a:spcPts val="1000"/>
              </a:spcBef>
            </a:pPr>
            <a:r>
              <a:rPr lang="en-US" sz="2200" i="1" dirty="0"/>
              <a:t>On </a:t>
            </a:r>
            <a:r>
              <a:rPr lang="en-US" sz="2200" i="1" dirty="0" err="1"/>
              <a:t>résout</a:t>
            </a:r>
            <a:r>
              <a:rPr lang="en-US" sz="2200" i="1" dirty="0"/>
              <a:t> Ax = b </a:t>
            </a:r>
            <a:r>
              <a:rPr lang="en-US" sz="2200" i="1" dirty="0" err="1"/>
              <a:t>en</a:t>
            </a:r>
            <a:r>
              <a:rPr lang="en-US" sz="2200" i="1" dirty="0"/>
              <a:t> </a:t>
            </a:r>
            <a:r>
              <a:rPr lang="en-US" sz="2200" i="1" dirty="0" err="1"/>
              <a:t>travaillant</a:t>
            </a:r>
            <a:r>
              <a:rPr lang="en-US" sz="2200" i="1" dirty="0"/>
              <a:t> sur[A | b].</a:t>
            </a:r>
            <a:endParaRPr lang="en-US" sz="2200" dirty="0"/>
          </a:p>
        </p:txBody>
      </p:sp>
      <p:sp>
        <p:nvSpPr>
          <p:cNvPr id="39" name="sketch line">
            <a:extLst>
              <a:ext uri="{FF2B5EF4-FFF2-40B4-BE49-F238E27FC236}">
                <a16:creationId xmlns:a16="http://schemas.microsoft.com/office/drawing/2014/main" id="{4CE56D1D-3467-8294-9E8D-DCB6662E7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Image 39" descr="Une image contenant texte, Police, capture d’écran, écriture manuscrite&#10;&#10;Le contenu généré par l’IA peut être incorrect.">
            <a:extLst>
              <a:ext uri="{FF2B5EF4-FFF2-40B4-BE49-F238E27FC236}">
                <a16:creationId xmlns:a16="http://schemas.microsoft.com/office/drawing/2014/main" id="{5752FA87-8509-D46D-ED87-4310EB76AD12}"/>
              </a:ext>
            </a:extLst>
          </p:cNvPr>
          <p:cNvPicPr>
            <a:picLocks noChangeAspect="1"/>
          </p:cNvPicPr>
          <p:nvPr/>
        </p:nvPicPr>
        <p:blipFill>
          <a:blip r:embed="rId5"/>
          <a:stretch>
            <a:fillRect/>
          </a:stretch>
        </p:blipFill>
        <p:spPr>
          <a:xfrm>
            <a:off x="779799" y="2231723"/>
            <a:ext cx="3353761" cy="2326561"/>
          </a:xfrm>
          <a:prstGeom prst="rect">
            <a:avLst/>
          </a:prstGeom>
        </p:spPr>
      </p:pic>
      <p:pic>
        <p:nvPicPr>
          <p:cNvPr id="44" name="Image 43" descr="Une image contenant texte, Police, capture d’écran, nombre&#10;&#10;Le contenu généré par l’IA peut être incorrect.">
            <a:extLst>
              <a:ext uri="{FF2B5EF4-FFF2-40B4-BE49-F238E27FC236}">
                <a16:creationId xmlns:a16="http://schemas.microsoft.com/office/drawing/2014/main" id="{9D14A73D-3153-AF8F-4336-E9560768201A}"/>
              </a:ext>
            </a:extLst>
          </p:cNvPr>
          <p:cNvPicPr>
            <a:picLocks noChangeAspect="1"/>
          </p:cNvPicPr>
          <p:nvPr/>
        </p:nvPicPr>
        <p:blipFill>
          <a:blip r:embed="rId6"/>
          <a:stretch>
            <a:fillRect/>
          </a:stretch>
        </p:blipFill>
        <p:spPr>
          <a:xfrm>
            <a:off x="5696712" y="2790209"/>
            <a:ext cx="2761488" cy="1114201"/>
          </a:xfrm>
          <a:prstGeom prst="rect">
            <a:avLst/>
          </a:prstGeom>
        </p:spPr>
      </p:pic>
      <p:pic>
        <p:nvPicPr>
          <p:cNvPr id="45" name="Image 0" descr="preencoded.png">
            <a:extLst>
              <a:ext uri="{FF2B5EF4-FFF2-40B4-BE49-F238E27FC236}">
                <a16:creationId xmlns:a16="http://schemas.microsoft.com/office/drawing/2014/main" id="{A720A4BD-1403-3E6E-6AF7-1AD3C8F06858}"/>
              </a:ext>
            </a:extLst>
          </p:cNvPr>
          <p:cNvPicPr>
            <a:picLocks noChangeAspect="1"/>
          </p:cNvPicPr>
          <p:nvPr/>
        </p:nvPicPr>
        <p:blipFill>
          <a:blip r:embed="rId3"/>
          <a:stretch>
            <a:fillRect/>
          </a:stretch>
        </p:blipFill>
        <p:spPr>
          <a:xfrm>
            <a:off x="4754880" y="3210149"/>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3C93B89-9A80-A232-89F7-2A37EE8D0B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15CE14-4A4F-7CE0-AB01-0D73062654E2}"/>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954599C-8603-274D-A5EB-034FA6D82265}"/>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B540DE2-8A10-77F1-D655-9C630957C97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AAF7AB79-DDEE-2BDF-F589-85464E68A3D9}"/>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3516B590-0538-7A51-62AF-DED608224FE1}"/>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4F9922F8-41E5-73FD-9A5F-AE73646FB44E}"/>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61DED5F8-12DD-C7CC-15FE-5273E4A1138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200BE633-2CBC-CEC8-2D6C-779B1423E3A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F509FA21-7533-FD7B-8DCE-9D6F951D2FE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911294E4-24EB-10BD-C7D7-BF74C8E4BE7F}"/>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6BB1A144-A5F3-AB05-B605-C2DCB5948E07}"/>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15DFAD6-CD76-E230-EC7A-EE60E080170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9F3E1344-0BBF-4D05-4172-7DCD0BD57592}"/>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7D4DFD6-F9DE-B101-5951-75174860C95D}"/>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9C1F5131-D96C-4CDF-B2C0-D8063307A20D}"/>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60F4A73-276B-3539-7C82-B6048C7C96D0}"/>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03BD8C93-922D-040F-DB53-77DDD60B871C}"/>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120EB05-837F-B999-5623-F6B48AB6074B}"/>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4959FED-D093-F090-F413-FA62E1A8671D}"/>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2537C80-B424-4D68-3523-0665C4BDBA6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651942F6-9D4F-BC79-92C5-92BCF2AF652F}"/>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C366C6B-22EC-FBC2-AE11-5CFCD3BA11EE}"/>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C113618-D4EC-9A01-26A6-E1B843936D22}"/>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5A5D2C5-0561-1513-B9C1-3AAA677EFBD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A385D489-9A28-319E-CF99-A0F1A7BF2DE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a:extLst>
              <a:ext uri="{FF2B5EF4-FFF2-40B4-BE49-F238E27FC236}">
                <a16:creationId xmlns:a16="http://schemas.microsoft.com/office/drawing/2014/main" id="{C074AE8A-71CA-D434-0D6F-4BF526975A81}"/>
              </a:ext>
            </a:extLst>
          </p:cNvPr>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a:extLst>
              <a:ext uri="{FF2B5EF4-FFF2-40B4-BE49-F238E27FC236}">
                <a16:creationId xmlns:a16="http://schemas.microsoft.com/office/drawing/2014/main" id="{7E414D07-F873-18D3-29FA-59A5000B96EC}"/>
              </a:ext>
            </a:extLst>
          </p:cNvPr>
          <p:cNvPicPr>
            <a:picLocks noChangeAspect="1"/>
          </p:cNvPicPr>
          <p:nvPr/>
        </p:nvPicPr>
        <p:blipFill>
          <a:blip r:embed="rId4"/>
          <a:stretch>
            <a:fillRect/>
          </a:stretch>
        </p:blipFill>
        <p:spPr>
          <a:xfrm>
            <a:off x="685800" y="4590288"/>
            <a:ext cx="320040" cy="320040"/>
          </a:xfrm>
          <a:prstGeom prst="rect">
            <a:avLst/>
          </a:prstGeom>
        </p:spPr>
      </p:pic>
      <p:sp>
        <p:nvSpPr>
          <p:cNvPr id="35" name="Text 28">
            <a:extLst>
              <a:ext uri="{FF2B5EF4-FFF2-40B4-BE49-F238E27FC236}">
                <a16:creationId xmlns:a16="http://schemas.microsoft.com/office/drawing/2014/main" id="{75194A53-9EE8-7C0A-4C9E-9EA95AD5F542}"/>
              </a:ext>
            </a:extLst>
          </p:cNvPr>
          <p:cNvSpPr/>
          <p:nvPr/>
        </p:nvSpPr>
        <p:spPr>
          <a:xfrm>
            <a:off x="1097280" y="4544568"/>
            <a:ext cx="7315200" cy="457200"/>
          </a:xfrm>
          <a:prstGeom prst="rect">
            <a:avLst/>
          </a:prstGeom>
          <a:noFill/>
          <a:ln/>
        </p:spPr>
        <p:txBody>
          <a:bodyPr wrap="square" rtlCol="0" anchor="ctr"/>
          <a:lstStyle/>
          <a:p>
            <a:pPr marL="0" indent="0">
              <a:buNone/>
            </a:pPr>
            <a:r>
              <a:rPr lang="en-US" sz="1200" b="1" dirty="0">
                <a:solidFill>
                  <a:srgbClr val="E07A5F"/>
                </a:solidFill>
                <a:latin typeface="Calibri" pitchFamily="34" charset="0"/>
                <a:ea typeface="Calibri" pitchFamily="34" charset="-122"/>
                <a:cs typeface="Calibri" pitchFamily="34" charset="-120"/>
              </a:rPr>
              <a:t>Fluoroquinolones (ciprofloxacine) : classées « critiquement importantes » par l'OMS, résistance en hausse constante</a:t>
            </a:r>
            <a:endParaRPr lang="en-US" sz="1200" dirty="0"/>
          </a:p>
        </p:txBody>
      </p:sp>
      <p:sp useBgFill="1">
        <p:nvSpPr>
          <p:cNvPr id="36" name="Rectangle 35">
            <a:extLst>
              <a:ext uri="{FF2B5EF4-FFF2-40B4-BE49-F238E27FC236}">
                <a16:creationId xmlns:a16="http://schemas.microsoft.com/office/drawing/2014/main" id="{39E33267-646A-B6E8-5E39-35A6E8C5D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A8A9EDB8-9607-2C8F-283F-76C59BA68E4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Pivotage</a:t>
            </a:r>
            <a:r>
              <a:rPr lang="en-US" sz="2800" b="1" dirty="0">
                <a:solidFill>
                  <a:srgbClr val="0D4F4F"/>
                </a:solidFill>
                <a:latin typeface="Georgia" pitchFamily="34" charset="0"/>
              </a:rPr>
              <a:t> </a:t>
            </a:r>
            <a:r>
              <a:rPr lang="en-US" sz="2800" b="1" dirty="0" err="1">
                <a:solidFill>
                  <a:srgbClr val="0D4F4F"/>
                </a:solidFill>
                <a:latin typeface="Georgia" pitchFamily="34" charset="0"/>
              </a:rPr>
              <a:t>partiel</a:t>
            </a:r>
            <a:endParaRPr lang="en-US" sz="2800" b="1" dirty="0">
              <a:solidFill>
                <a:srgbClr val="0D4F4F"/>
              </a:solidFill>
              <a:latin typeface="Georgia" pitchFamily="34" charset="0"/>
            </a:endParaRPr>
          </a:p>
        </p:txBody>
      </p:sp>
      <p:sp>
        <p:nvSpPr>
          <p:cNvPr id="38" name="Text 1">
            <a:extLst>
              <a:ext uri="{FF2B5EF4-FFF2-40B4-BE49-F238E27FC236}">
                <a16:creationId xmlns:a16="http://schemas.microsoft.com/office/drawing/2014/main" id="{F1BD4F0E-DE3D-E4CB-91CB-199B3573D745}"/>
              </a:ext>
            </a:extLst>
          </p:cNvPr>
          <p:cNvSpPr/>
          <p:nvPr/>
        </p:nvSpPr>
        <p:spPr>
          <a:xfrm>
            <a:off x="479160" y="1533315"/>
            <a:ext cx="8182233" cy="414495"/>
          </a:xfrm>
          <a:prstGeom prst="rect">
            <a:avLst/>
          </a:prstGeom>
        </p:spPr>
        <p:txBody>
          <a:bodyPr vert="horz" lIns="91440" tIns="45720" rIns="91440" bIns="45720" rtlCol="0" anchor="ctr">
            <a:normAutofit fontScale="62500" lnSpcReduction="20000"/>
          </a:bodyPr>
          <a:lstStyle/>
          <a:p>
            <a:pPr algn="ctr">
              <a:lnSpc>
                <a:spcPct val="90000"/>
              </a:lnSpc>
              <a:spcBef>
                <a:spcPts val="1000"/>
              </a:spcBef>
            </a:pPr>
            <a:r>
              <a:rPr lang="fr-FR" sz="2200" i="1" dirty="0"/>
              <a:t>consiste à échanger la ligne courante avec celle ayant le plus grand coefficient en valeur absolue dans la colonne, afin d’éviter les divisions par des pivots quasi nuls et garantir la stabilité numérique.</a:t>
            </a:r>
            <a:endParaRPr lang="en-US" sz="2200" i="1" dirty="0"/>
          </a:p>
        </p:txBody>
      </p:sp>
      <p:sp>
        <p:nvSpPr>
          <p:cNvPr id="39" name="sketch line">
            <a:extLst>
              <a:ext uri="{FF2B5EF4-FFF2-40B4-BE49-F238E27FC236}">
                <a16:creationId xmlns:a16="http://schemas.microsoft.com/office/drawing/2014/main" id="{8D6BB4B6-E960-B6B7-0F69-91B362761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Image 0" descr="preencoded.png">
            <a:extLst>
              <a:ext uri="{FF2B5EF4-FFF2-40B4-BE49-F238E27FC236}">
                <a16:creationId xmlns:a16="http://schemas.microsoft.com/office/drawing/2014/main" id="{D12F1243-B0BB-D3D6-24C5-6F4392B92A71}"/>
              </a:ext>
            </a:extLst>
          </p:cNvPr>
          <p:cNvPicPr>
            <a:picLocks noChangeAspect="1"/>
          </p:cNvPicPr>
          <p:nvPr/>
        </p:nvPicPr>
        <p:blipFill>
          <a:blip r:embed="rId3"/>
          <a:stretch>
            <a:fillRect/>
          </a:stretch>
        </p:blipFill>
        <p:spPr>
          <a:xfrm>
            <a:off x="548640" y="4693158"/>
            <a:ext cx="274320" cy="274320"/>
          </a:xfrm>
          <a:prstGeom prst="rect">
            <a:avLst/>
          </a:prstGeom>
        </p:spPr>
      </p:pic>
      <p:sp>
        <p:nvSpPr>
          <p:cNvPr id="43" name="Text 1">
            <a:extLst>
              <a:ext uri="{FF2B5EF4-FFF2-40B4-BE49-F238E27FC236}">
                <a16:creationId xmlns:a16="http://schemas.microsoft.com/office/drawing/2014/main" id="{1B653658-FAB3-908E-93CC-668EC54CECAA}"/>
              </a:ext>
            </a:extLst>
          </p:cNvPr>
          <p:cNvSpPr/>
          <p:nvPr/>
        </p:nvSpPr>
        <p:spPr>
          <a:xfrm>
            <a:off x="596007" y="4628678"/>
            <a:ext cx="8182233" cy="414495"/>
          </a:xfrm>
          <a:prstGeom prst="rect">
            <a:avLst/>
          </a:prstGeom>
        </p:spPr>
        <p:txBody>
          <a:bodyPr vert="horz" lIns="91440" tIns="45720" rIns="91440" bIns="45720" rtlCol="0" anchor="ctr">
            <a:normAutofit fontScale="55000" lnSpcReduction="20000"/>
          </a:bodyPr>
          <a:lstStyle/>
          <a:p>
            <a:pPr algn="ctr">
              <a:lnSpc>
                <a:spcPct val="90000"/>
              </a:lnSpc>
              <a:spcBef>
                <a:spcPts val="1000"/>
              </a:spcBef>
            </a:pPr>
            <a:r>
              <a:rPr lang="fr-FR" sz="2400" dirty="0"/>
              <a:t>Amélioration de  la stabilité numérique en choisissant le plus grand pivot en valeur absolue avant l’élimination.</a:t>
            </a:r>
            <a:endParaRPr lang="en-US" sz="2200" i="1" dirty="0"/>
          </a:p>
        </p:txBody>
      </p:sp>
      <p:pic>
        <p:nvPicPr>
          <p:cNvPr id="46" name="Image 45" descr="Une image contenant texte, Police, capture d’écran, blanc&#10;&#10;Le contenu généré par l’IA peut être incorrect.">
            <a:extLst>
              <a:ext uri="{FF2B5EF4-FFF2-40B4-BE49-F238E27FC236}">
                <a16:creationId xmlns:a16="http://schemas.microsoft.com/office/drawing/2014/main" id="{5D5E4B16-C080-3FBB-6173-70D51DF0B8C4}"/>
              </a:ext>
            </a:extLst>
          </p:cNvPr>
          <p:cNvPicPr>
            <a:picLocks noChangeAspect="1"/>
          </p:cNvPicPr>
          <p:nvPr/>
        </p:nvPicPr>
        <p:blipFill>
          <a:blip r:embed="rId5"/>
          <a:stretch>
            <a:fillRect/>
          </a:stretch>
        </p:blipFill>
        <p:spPr>
          <a:xfrm>
            <a:off x="868680" y="2605972"/>
            <a:ext cx="3756660" cy="927277"/>
          </a:xfrm>
          <a:prstGeom prst="rect">
            <a:avLst/>
          </a:prstGeom>
        </p:spPr>
      </p:pic>
      <p:pic>
        <p:nvPicPr>
          <p:cNvPr id="48" name="Image 47" descr="Une image contenant texte, Police, capture d’écran, nombre&#10;&#10;Le contenu généré par l’IA peut être incorrect.">
            <a:extLst>
              <a:ext uri="{FF2B5EF4-FFF2-40B4-BE49-F238E27FC236}">
                <a16:creationId xmlns:a16="http://schemas.microsoft.com/office/drawing/2014/main" id="{0ACFCEAE-80DF-86C0-B2D6-473932DFE425}"/>
              </a:ext>
            </a:extLst>
          </p:cNvPr>
          <p:cNvPicPr>
            <a:picLocks noChangeAspect="1"/>
          </p:cNvPicPr>
          <p:nvPr/>
        </p:nvPicPr>
        <p:blipFill>
          <a:blip r:embed="rId6"/>
          <a:stretch>
            <a:fillRect/>
          </a:stretch>
        </p:blipFill>
        <p:spPr>
          <a:xfrm>
            <a:off x="5118354" y="2231319"/>
            <a:ext cx="3057525" cy="1628775"/>
          </a:xfrm>
          <a:prstGeom prst="rect">
            <a:avLst/>
          </a:prstGeom>
        </p:spPr>
      </p:pic>
    </p:spTree>
    <p:extLst>
      <p:ext uri="{BB962C8B-B14F-4D97-AF65-F5344CB8AC3E}">
        <p14:creationId xmlns:p14="http://schemas.microsoft.com/office/powerpoint/2010/main" val="3436903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D625B73-15CF-6EA4-861F-2E8DD4DA6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A8851F-72A9-26C0-9BD2-49173B167D55}"/>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D60960-3EA4-DBFF-8AC5-5A2490C02610}"/>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EB74472-67BA-9D69-9BB4-BE61A114A40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B06D7C95-AEBE-4723-6908-F7389DA02806}"/>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5BC0A2EF-053C-26DA-9FF3-E956D1C6375F}"/>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24576E1-540C-A96E-F547-FF2D4597434A}"/>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97F72C87-DFE8-E34F-CBC2-56DA3CCE06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C7C02C3F-7C10-5D13-8298-ABE3E727B1B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22E749F8-42B2-A67E-8E41-A3BDECD683B3}"/>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5E10284-F796-75F2-3A0F-3F033454EAAB}"/>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2F286A7C-BF3E-132C-FD57-E235B954F2E4}"/>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D6AAF1F-20B4-578E-3010-14D201BA1E0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56C57602-4D2B-8AAA-6E01-64EB7B16A955}"/>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8E47570-9A54-DCB0-BF90-17F843E96FB0}"/>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39ECCAF-E4D4-2C2E-E14D-7ED387AA4951}"/>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BB0A1A8-B133-4443-AA7B-763E773931EE}"/>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7A75938-643D-D18C-F61E-CE9A1DDA0CE5}"/>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05F567E4-5486-229E-8410-FF7F82A515C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1FE82EE-D1F2-2544-F2E2-D5640F19E664}"/>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BBF7D123-B2A8-3C7F-A7F6-8B0FEEE363A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C743145C-F551-B586-3789-1B1AA791775B}"/>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A51AC18A-BD74-80F8-D7C1-D6648FE1B9D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A20C73B1-8A9A-17BB-E197-501FDAEE468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D57FEB6-36A6-4AD5-DE5C-874ED990333F}"/>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C254F2F-31F6-64FE-9C66-96FAE6B43102}"/>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D6B25B33-5E0B-561F-6BBB-71A6FD96EB0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D0B3C8DA-DC4D-F3D3-E5E1-174CECE7E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CBCCBA6F-1F2C-0025-1C8F-865CAB39A12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Tournage</a:t>
            </a:r>
            <a:r>
              <a:rPr lang="en-US" sz="2800" b="1" dirty="0">
                <a:solidFill>
                  <a:srgbClr val="0D4F4F"/>
                </a:solidFill>
                <a:latin typeface="Georgia" pitchFamily="34" charset="0"/>
              </a:rPr>
              <a:t> à la main</a:t>
            </a:r>
          </a:p>
        </p:txBody>
      </p:sp>
      <p:sp>
        <p:nvSpPr>
          <p:cNvPr id="39" name="sketch line">
            <a:extLst>
              <a:ext uri="{FF2B5EF4-FFF2-40B4-BE49-F238E27FC236}">
                <a16:creationId xmlns:a16="http://schemas.microsoft.com/office/drawing/2014/main" id="{9385BAB0-7202-75E5-DF9B-76DAF9FE6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descr="Une image contenant texte, Police, diagramme, écriture manuscrite&#10;&#10;Le contenu généré par l’IA peut être incorrect.">
            <a:extLst>
              <a:ext uri="{FF2B5EF4-FFF2-40B4-BE49-F238E27FC236}">
                <a16:creationId xmlns:a16="http://schemas.microsoft.com/office/drawing/2014/main" id="{C7D5C86B-19B8-AD76-56EB-72ABE22685EE}"/>
              </a:ext>
            </a:extLst>
          </p:cNvPr>
          <p:cNvPicPr>
            <a:picLocks noChangeAspect="1"/>
          </p:cNvPicPr>
          <p:nvPr/>
        </p:nvPicPr>
        <p:blipFill>
          <a:blip r:embed="rId5"/>
          <a:stretch>
            <a:fillRect/>
          </a:stretch>
        </p:blipFill>
        <p:spPr>
          <a:xfrm>
            <a:off x="936089" y="1427147"/>
            <a:ext cx="7268372" cy="3483181"/>
          </a:xfrm>
          <a:prstGeom prst="rect">
            <a:avLst/>
          </a:prstGeom>
        </p:spPr>
      </p:pic>
    </p:spTree>
    <p:extLst>
      <p:ext uri="{BB962C8B-B14F-4D97-AF65-F5344CB8AC3E}">
        <p14:creationId xmlns:p14="http://schemas.microsoft.com/office/powerpoint/2010/main" val="233389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431EB6A5-5237-1A22-850D-8A0310F4E2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13DFD1-1425-78A2-A803-384740C8CAA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0541CA2-DB38-55B4-C892-7BB54782AB9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E516E339-9CFF-0132-31B8-E9FF789297CD}"/>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16EBA406-9FC3-8FF5-FD52-3A0D6567CA88}"/>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44335F60-0D19-492B-28E7-C099117EFD7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B90A668-5B83-810C-2632-E1BCA3B5FDD1}"/>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57AE143-25E4-A080-B036-C9375790A5FD}"/>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5FC3EF3-E88E-D48D-558D-67311A4782BD}"/>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6F1852FD-AC5F-2621-4B1D-8E3C05F19D7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F3A4D24-F8B8-7567-427F-CDC1D05BDEC4}"/>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86B848D6-7B5B-61C8-FAFC-F010F02339E5}"/>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C2EBA3DD-791C-0DD3-24AE-1422CEA0EE1C}"/>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4CE93889-9A82-2EBB-B95F-0836A09CB738}"/>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098F12D-55D3-09AA-A02E-84243A382D5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774C6D34-AC82-1977-8259-DBFAC89F8737}"/>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19499554-0347-0CFD-E5D8-5EE8176BD4A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A2A6791-CAB1-B74A-E651-383A4E0D61F7}"/>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375AA570-9489-2885-B0F1-8F146A8EE1D1}"/>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3AEE1F49-CCBF-6F6E-6690-A677248071F6}"/>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CEB76657-95EB-4B1D-8342-A5AB2AE54D78}"/>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CE79250-E274-4FF4-089E-A30941A3380B}"/>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906E5E0B-5C91-A48E-FC46-ADE35410BFD5}"/>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C2D6AD38-B34D-196B-0816-8B1FABDD07E8}"/>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5A78684-BA39-6472-47DB-2F1077EACA40}"/>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1718C121-37C4-4FFA-A2EB-0D1A79765F0B}"/>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5DA65F00-EA12-46FF-F6AF-AD60FAC09433}"/>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9505BAA-3379-D482-9F27-877FB07C8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61334ED4-E447-1F02-2941-9BBC6EA935E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Communications MPI </a:t>
            </a:r>
          </a:p>
        </p:txBody>
      </p:sp>
      <p:sp>
        <p:nvSpPr>
          <p:cNvPr id="39" name="sketch line">
            <a:extLst>
              <a:ext uri="{FF2B5EF4-FFF2-40B4-BE49-F238E27FC236}">
                <a16:creationId xmlns:a16="http://schemas.microsoft.com/office/drawing/2014/main" id="{C9FB0B79-0E1E-363B-3266-7D1BE147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descr="Une image contenant texte, capture d’écran, Police, nombre&#10;&#10;Le contenu généré par l’IA peut être incorrect.">
            <a:extLst>
              <a:ext uri="{FF2B5EF4-FFF2-40B4-BE49-F238E27FC236}">
                <a16:creationId xmlns:a16="http://schemas.microsoft.com/office/drawing/2014/main" id="{935F4D20-CC50-598C-EF30-F67164BF0FC8}"/>
              </a:ext>
            </a:extLst>
          </p:cNvPr>
          <p:cNvPicPr>
            <a:picLocks noChangeAspect="1"/>
          </p:cNvPicPr>
          <p:nvPr/>
        </p:nvPicPr>
        <p:blipFill>
          <a:blip r:embed="rId5"/>
          <a:stretch>
            <a:fillRect/>
          </a:stretch>
        </p:blipFill>
        <p:spPr>
          <a:xfrm>
            <a:off x="1576282" y="1720926"/>
            <a:ext cx="5987986" cy="2120535"/>
          </a:xfrm>
          <a:prstGeom prst="rect">
            <a:avLst/>
          </a:prstGeom>
        </p:spPr>
      </p:pic>
      <p:sp>
        <p:nvSpPr>
          <p:cNvPr id="18" name="Shape 10">
            <a:extLst>
              <a:ext uri="{FF2B5EF4-FFF2-40B4-BE49-F238E27FC236}">
                <a16:creationId xmlns:a16="http://schemas.microsoft.com/office/drawing/2014/main" id="{2A5079E5-801B-BB48-3BE9-0BE65417A399}"/>
              </a:ext>
            </a:extLst>
          </p:cNvPr>
          <p:cNvSpPr/>
          <p:nvPr/>
        </p:nvSpPr>
        <p:spPr>
          <a:xfrm>
            <a:off x="365760" y="4160520"/>
            <a:ext cx="8412480" cy="914400"/>
          </a:xfrm>
          <a:prstGeom prst="rect">
            <a:avLst/>
          </a:prstGeom>
          <a:solidFill>
            <a:srgbClr val="FFF3E0"/>
          </a:solidFill>
          <a:ln/>
        </p:spPr>
        <p:txBody>
          <a:bodyPr/>
          <a:lstStyle/>
          <a:p>
            <a:endParaRPr lang="fr-FR"/>
          </a:p>
        </p:txBody>
      </p:sp>
      <p:pic>
        <p:nvPicPr>
          <p:cNvPr id="23" name="Image 0" descr="preencoded.png">
            <a:extLst>
              <a:ext uri="{FF2B5EF4-FFF2-40B4-BE49-F238E27FC236}">
                <a16:creationId xmlns:a16="http://schemas.microsoft.com/office/drawing/2014/main" id="{C9B0AA1C-4707-E46A-2FA2-EE677DFE4C79}"/>
              </a:ext>
            </a:extLst>
          </p:cNvPr>
          <p:cNvPicPr>
            <a:picLocks noChangeAspect="1"/>
          </p:cNvPicPr>
          <p:nvPr/>
        </p:nvPicPr>
        <p:blipFill>
          <a:blip r:embed="rId6"/>
          <a:stretch>
            <a:fillRect/>
          </a:stretch>
        </p:blipFill>
        <p:spPr>
          <a:xfrm>
            <a:off x="548640" y="4297680"/>
            <a:ext cx="320040" cy="320040"/>
          </a:xfrm>
          <a:prstGeom prst="rect">
            <a:avLst/>
          </a:prstGeom>
        </p:spPr>
      </p:pic>
      <mc:AlternateContent xmlns:mc="http://schemas.openxmlformats.org/markup-compatibility/2006">
        <mc:Choice xmlns:a14="http://schemas.microsoft.com/office/drawing/2010/main" Requires="a14">
          <p:sp>
            <p:nvSpPr>
              <p:cNvPr id="28" name="Text 11">
                <a:extLst>
                  <a:ext uri="{FF2B5EF4-FFF2-40B4-BE49-F238E27FC236}">
                    <a16:creationId xmlns:a16="http://schemas.microsoft.com/office/drawing/2014/main" id="{C4ACCF94-3414-142E-EECA-D07578887595}"/>
                  </a:ext>
                </a:extLst>
              </p:cNvPr>
              <p:cNvSpPr/>
              <p:nvPr/>
            </p:nvSpPr>
            <p:spPr>
              <a:xfrm>
                <a:off x="1005840" y="4206240"/>
                <a:ext cx="7589520" cy="822960"/>
              </a:xfrm>
              <a:prstGeom prst="rect">
                <a:avLst/>
              </a:prstGeom>
              <a:noFill/>
              <a:ln/>
            </p:spPr>
            <p:txBody>
              <a:bodyPr wrap="square" rtlCol="0" anchor="ctr"/>
              <a:lstStyle/>
              <a:p>
                <a:r>
                  <a:rPr lang="fr-FR" sz="1500" dirty="0"/>
                  <a:t>Le coût dominant provient des </a:t>
                </a:r>
                <a14:m>
                  <m:oMath xmlns:m="http://schemas.openxmlformats.org/officeDocument/2006/math">
                    <m:r>
                      <a:rPr lang="fr-FR" sz="1500" i="1"/>
                      <m:t>𝑁</m:t>
                    </m:r>
                  </m:oMath>
                </a14:m>
                <a:r>
                  <a:rPr lang="fr-FR" sz="1500" dirty="0"/>
                  <a:t> diffusions (</a:t>
                </a:r>
                <a:r>
                  <a:rPr lang="fr-FR" sz="1500" dirty="0" err="1"/>
                  <a:t>Bcast</a:t>
                </a:r>
                <a:r>
                  <a:rPr lang="fr-FR" sz="1500" dirty="0"/>
                  <a:t>) de taille </a:t>
                </a:r>
                <a14:m>
                  <m:oMath xmlns:m="http://schemas.openxmlformats.org/officeDocument/2006/math">
                    <m:r>
                      <a:rPr lang="fr-FR" sz="1500" i="1"/>
                      <m:t>𝑁</m:t>
                    </m:r>
                    <m:r>
                      <a:rPr lang="fr-FR" sz="1500"/>
                      <m:t>+</m:t>
                    </m:r>
                    <m:r>
                      <a:rPr lang="fr-FR" sz="1500"/>
                      <m:t>1</m:t>
                    </m:r>
                  </m:oMath>
                </a14:m>
                <a:r>
                  <a:rPr lang="fr-FR" sz="1500" dirty="0"/>
                  <a:t>, soit </a:t>
                </a:r>
                <a14:m>
                  <m:oMath xmlns:m="http://schemas.openxmlformats.org/officeDocument/2006/math">
                    <m:r>
                      <a:rPr lang="fr-FR" sz="1500" i="1"/>
                      <m:t>𝑂</m:t>
                    </m:r>
                    <m:d>
                      <m:dPr>
                        <m:ctrlPr>
                          <a:rPr lang="ar-TN" sz="1500" i="1"/>
                        </m:ctrlPr>
                      </m:dPr>
                      <m:e>
                        <m:sSup>
                          <m:sSupPr>
                            <m:ctrlPr>
                              <a:rPr lang="ar-TN" sz="1500" i="1"/>
                            </m:ctrlPr>
                          </m:sSupPr>
                          <m:e>
                            <m:r>
                              <a:rPr lang="ar-TN" sz="1500" i="1"/>
                              <m:t>𝑁</m:t>
                            </m:r>
                          </m:e>
                          <m:sup>
                            <m:r>
                              <a:rPr lang="ar-TN" sz="1500"/>
                              <m:t>2</m:t>
                            </m:r>
                          </m:sup>
                        </m:sSup>
                      </m:e>
                    </m:d>
                  </m:oMath>
                </a14:m>
                <a:r>
                  <a:rPr lang="fr-FR" sz="1500" dirty="0"/>
                  <a:t> données échangées, mais comme le calcul nécessite </a:t>
                </a:r>
                <a14:m>
                  <m:oMath xmlns:m="http://schemas.openxmlformats.org/officeDocument/2006/math">
                    <m:r>
                      <a:rPr lang="fr-FR" sz="1500" i="1"/>
                      <m:t>𝑂</m:t>
                    </m:r>
                    <m:d>
                      <m:dPr>
                        <m:ctrlPr>
                          <a:rPr lang="ar-TN" sz="1500" i="1"/>
                        </m:ctrlPr>
                      </m:dPr>
                      <m:e>
                        <m:sSup>
                          <m:sSupPr>
                            <m:ctrlPr>
                              <a:rPr lang="ar-TN" sz="1500" i="1"/>
                            </m:ctrlPr>
                          </m:sSupPr>
                          <m:e>
                            <m:r>
                              <a:rPr lang="ar-TN" sz="1500" i="1"/>
                              <m:t>𝑁</m:t>
                            </m:r>
                          </m:e>
                          <m:sup>
                            <m:r>
                              <a:rPr lang="ar-TN" sz="1500"/>
                              <m:t>3</m:t>
                            </m:r>
                          </m:sup>
                        </m:sSup>
                      </m:e>
                    </m:d>
                  </m:oMath>
                </a14:m>
                <a:r>
                  <a:rPr lang="fr-FR" sz="1500" dirty="0"/>
                  <a:t> opérations, le calcul reste dominant.</a:t>
                </a:r>
                <a:endParaRPr lang="en-US" sz="1500" dirty="0"/>
              </a:p>
            </p:txBody>
          </p:sp>
        </mc:Choice>
        <mc:Fallback>
          <p:sp>
            <p:nvSpPr>
              <p:cNvPr id="28" name="Text 11">
                <a:extLst>
                  <a:ext uri="{FF2B5EF4-FFF2-40B4-BE49-F238E27FC236}">
                    <a16:creationId xmlns:a16="http://schemas.microsoft.com/office/drawing/2014/main" id="{C4ACCF94-3414-142E-EECA-D07578887595}"/>
                  </a:ext>
                </a:extLst>
              </p:cNvPr>
              <p:cNvSpPr>
                <a:spLocks noRot="1" noChangeAspect="1" noMove="1" noResize="1" noEditPoints="1" noAdjustHandles="1" noChangeArrowheads="1" noChangeShapeType="1" noTextEdit="1"/>
              </p:cNvSpPr>
              <p:nvPr/>
            </p:nvSpPr>
            <p:spPr>
              <a:xfrm>
                <a:off x="1005840" y="4206240"/>
                <a:ext cx="7589520" cy="822960"/>
              </a:xfrm>
              <a:prstGeom prst="rect">
                <a:avLst/>
              </a:prstGeom>
              <a:blipFill>
                <a:blip r:embed="rId7"/>
                <a:stretch>
                  <a:fillRect l="-321"/>
                </a:stretch>
              </a:blipFill>
              <a:ln/>
            </p:spPr>
            <p:txBody>
              <a:bodyPr/>
              <a:lstStyle/>
              <a:p>
                <a:r>
                  <a:rPr lang="fr-FR">
                    <a:noFill/>
                  </a:rPr>
                  <a:t> </a:t>
                </a:r>
              </a:p>
            </p:txBody>
          </p:sp>
        </mc:Fallback>
      </mc:AlternateContent>
    </p:spTree>
    <p:extLst>
      <p:ext uri="{BB962C8B-B14F-4D97-AF65-F5344CB8AC3E}">
        <p14:creationId xmlns:p14="http://schemas.microsoft.com/office/powerpoint/2010/main" val="385426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3EA4BDCC-D292-39B3-8814-4AA79EED75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629FF2-1516-65D2-0BFA-DD07C96C520A}"/>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3D9708DE-85A5-2421-18F4-86828D6306FC}"/>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AC3C6868-C6C4-BA82-F029-54296DA4EC5C}"/>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C1593E6A-0E13-EABC-AA1A-FAF8FAFBD063}"/>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7ABBB01-1CEA-C934-E1BA-6787ECF27BD4}"/>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F5816F77-8EAA-84ED-BA16-4B69ACCD0676}"/>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D0BCB4B-0173-B129-E306-08468CA055FF}"/>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1CDCBD75-79B5-E683-D327-00814087BD0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5BDF214-7B61-7DDB-662F-57F504E8F03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3219A60-6035-229D-FCAD-0FAE4A59696D}"/>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BF689937-1E30-4684-14B9-A5CD59D7311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80D4AED-04D2-AB20-11E4-135CC853BFD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A5EA2A8-512C-A875-9ECF-8120686DE46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36E01B8D-711B-1C14-3E32-CD9AAA859FD2}"/>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8A96BB1-D385-D788-D80D-84D50DB8849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47CB9CD-E610-4AA5-9D94-E68B58D3D74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4792778-2D50-5353-75AA-6A651DACA72A}"/>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80399B8-F562-4C14-20EE-0D0AAA2BA777}"/>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CB2B147B-C68D-2564-B9F8-7E35E163E97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24D2CDE4-2767-61B0-9431-B490278CD8FE}"/>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1BDCE16D-9535-3ED2-5ED6-FE1D18ABB0E1}"/>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46F19140-E8A5-338F-CBE4-262D10FC377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050211E8-9B61-F71F-8545-76CFFB5909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49A049EA-2D45-C270-F29E-8972E99DB9A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EF7CF687-4FF9-7474-ACA6-FB67D7951525}"/>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CAE5D8DF-A912-6110-437D-A8C654E4E72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94896DD-8B2A-299E-FA1B-743FD47DB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89957D71-515F-559F-9C77-907D1F60A57E}"/>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Recherche du pivot </a:t>
            </a:r>
          </a:p>
        </p:txBody>
      </p:sp>
      <p:sp>
        <p:nvSpPr>
          <p:cNvPr id="39" name="sketch line">
            <a:extLst>
              <a:ext uri="{FF2B5EF4-FFF2-40B4-BE49-F238E27FC236}">
                <a16:creationId xmlns:a16="http://schemas.microsoft.com/office/drawing/2014/main" id="{D2051D7A-4136-DFB6-8D79-9119107C27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674FDB7-BAF8-312B-24ED-65DB9625C13D}"/>
              </a:ext>
            </a:extLst>
          </p:cNvPr>
          <p:cNvSpPr/>
          <p:nvPr/>
        </p:nvSpPr>
        <p:spPr>
          <a:xfrm>
            <a:off x="342900"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err="1"/>
              <a:t>struct</a:t>
            </a:r>
            <a:r>
              <a:rPr lang="fr-FR" sz="1000" b="1" i="1" dirty="0"/>
              <a:t> { double val; </a:t>
            </a:r>
            <a:r>
              <a:rPr lang="fr-FR" sz="1000" b="1" i="1" dirty="0" err="1"/>
              <a:t>int</a:t>
            </a:r>
            <a:r>
              <a:rPr lang="fr-FR" sz="1000" b="1" i="1" dirty="0"/>
              <a:t> </a:t>
            </a:r>
            <a:r>
              <a:rPr lang="fr-FR" sz="1000" b="1" i="1" dirty="0" err="1"/>
              <a:t>idx</a:t>
            </a:r>
            <a:r>
              <a:rPr lang="fr-FR" sz="1000" b="1" i="1" dirty="0"/>
              <a:t>; } </a:t>
            </a:r>
            <a:r>
              <a:rPr lang="fr-FR" sz="1000" b="1" i="1" dirty="0" err="1"/>
              <a:t>local_cand</a:t>
            </a:r>
            <a:r>
              <a:rPr lang="fr-FR" sz="1000" b="1" i="1" dirty="0"/>
              <a:t>, </a:t>
            </a:r>
            <a:r>
              <a:rPr lang="fr-FR" sz="1000" b="1" i="1" dirty="0" err="1"/>
              <a:t>global_cand</a:t>
            </a:r>
            <a:r>
              <a:rPr lang="fr-FR" sz="1000" b="1" i="1" dirty="0"/>
              <a:t>;</a:t>
            </a:r>
          </a:p>
          <a:p>
            <a:endParaRPr lang="fr-FR" sz="1000" b="1" i="1" dirty="0"/>
          </a:p>
          <a:p>
            <a:r>
              <a:rPr lang="fr-FR" sz="1000" b="1" i="1" dirty="0" err="1"/>
              <a:t>local_cand.val</a:t>
            </a:r>
            <a:r>
              <a:rPr lang="fr-FR" sz="1000" b="1" i="1" dirty="0"/>
              <a:t> = 0.0;</a:t>
            </a:r>
          </a:p>
          <a:p>
            <a:r>
              <a:rPr lang="fr-FR" sz="1000" b="1" i="1" dirty="0" err="1"/>
              <a:t>local_cand.idx</a:t>
            </a:r>
            <a:r>
              <a:rPr lang="fr-FR" sz="1000" b="1" i="1" dirty="0"/>
              <a:t> = -1;</a:t>
            </a:r>
          </a:p>
          <a:p>
            <a:endParaRPr lang="fr-FR" sz="1000" b="1" i="1" dirty="0"/>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 ligne globale gi</a:t>
            </a:r>
          </a:p>
          <a:p>
            <a:r>
              <a:rPr lang="fr-FR" sz="1000" b="1" i="1" dirty="0"/>
              <a:t>    if (gi &lt; k) continue;</a:t>
            </a:r>
          </a:p>
          <a:p>
            <a:endParaRPr lang="fr-FR" sz="1000" b="1" i="1" dirty="0"/>
          </a:p>
          <a:p>
            <a:r>
              <a:rPr lang="fr-FR" sz="1000" b="1" i="1" dirty="0"/>
              <a:t>    double v = </a:t>
            </a:r>
            <a:r>
              <a:rPr lang="fr-FR" sz="1000" b="1" i="1" dirty="0" err="1"/>
              <a:t>fabs</a:t>
            </a:r>
            <a:r>
              <a:rPr lang="fr-FR" sz="1000" b="1" i="1" dirty="0"/>
              <a:t>(A[IDX(li, k, N)]);</a:t>
            </a:r>
          </a:p>
          <a:p>
            <a:r>
              <a:rPr lang="fr-FR" sz="1000" b="1" i="1" dirty="0"/>
              <a:t>    if (v &gt; </a:t>
            </a:r>
            <a:r>
              <a:rPr lang="fr-FR" sz="1000" b="1" i="1" dirty="0" err="1"/>
              <a:t>local_cand.val</a:t>
            </a:r>
            <a:r>
              <a:rPr lang="fr-FR" sz="1000" b="1" i="1" dirty="0"/>
              <a:t>) {</a:t>
            </a:r>
          </a:p>
          <a:p>
            <a:r>
              <a:rPr lang="fr-FR" sz="1000" b="1" i="1" dirty="0"/>
              <a:t>        </a:t>
            </a:r>
            <a:r>
              <a:rPr lang="fr-FR" sz="1000" b="1" i="1" dirty="0" err="1"/>
              <a:t>local_cand.val</a:t>
            </a:r>
            <a:r>
              <a:rPr lang="fr-FR" sz="1000" b="1" i="1" dirty="0"/>
              <a:t> = v;</a:t>
            </a:r>
          </a:p>
          <a:p>
            <a:r>
              <a:rPr lang="fr-FR" sz="1000" b="1" i="1" dirty="0"/>
              <a:t>        </a:t>
            </a:r>
            <a:r>
              <a:rPr lang="fr-FR" sz="1000" b="1" i="1" dirty="0" err="1"/>
              <a:t>local_cand.idx</a:t>
            </a:r>
            <a:r>
              <a:rPr lang="fr-FR" sz="1000" b="1" i="1" dirty="0"/>
              <a:t> = gi;   // indice global</a:t>
            </a:r>
          </a:p>
          <a:p>
            <a:r>
              <a:rPr lang="fr-FR" sz="1000" b="1" i="1" dirty="0"/>
              <a:t>    }</a:t>
            </a:r>
          </a:p>
          <a:p>
            <a:r>
              <a:rPr lang="fr-FR" sz="1000" b="1" i="1" dirty="0"/>
              <a:t>}</a:t>
            </a:r>
          </a:p>
          <a:p>
            <a:endParaRPr lang="fr-FR" sz="1000" b="1" i="1" dirty="0"/>
          </a:p>
          <a:p>
            <a:r>
              <a:rPr lang="fr-FR" sz="1000" b="1" i="1" dirty="0" err="1"/>
              <a:t>MPI_Allreduce</a:t>
            </a:r>
            <a:r>
              <a:rPr lang="fr-FR" sz="1000" b="1" i="1" dirty="0"/>
              <a:t>(&amp;</a:t>
            </a:r>
            <a:r>
              <a:rPr lang="fr-FR" sz="1000" b="1" i="1" dirty="0" err="1"/>
              <a:t>local_cand</a:t>
            </a:r>
            <a:r>
              <a:rPr lang="fr-FR" sz="1000" b="1" i="1" dirty="0"/>
              <a:t>,</a:t>
            </a:r>
          </a:p>
          <a:p>
            <a:r>
              <a:rPr lang="fr-FR" sz="1000" b="1" i="1" dirty="0"/>
              <a:t>              &amp;</a:t>
            </a:r>
            <a:r>
              <a:rPr lang="fr-FR" sz="1000" b="1" i="1" dirty="0" err="1"/>
              <a:t>global_cand</a:t>
            </a:r>
            <a:r>
              <a:rPr lang="fr-FR" sz="1000" b="1" i="1" dirty="0"/>
              <a:t>,</a:t>
            </a:r>
          </a:p>
          <a:p>
            <a:r>
              <a:rPr lang="fr-FR" sz="1000" b="1" i="1" dirty="0"/>
              <a:t>              1,</a:t>
            </a:r>
          </a:p>
          <a:p>
            <a:r>
              <a:rPr lang="fr-FR" sz="1000" b="1" i="1" dirty="0"/>
              <a:t>              MPI_DOUBLE_INT,   // paire {double, </a:t>
            </a:r>
            <a:r>
              <a:rPr lang="fr-FR" sz="1000" b="1" i="1" dirty="0" err="1"/>
              <a:t>int</a:t>
            </a:r>
            <a:r>
              <a:rPr lang="fr-FR" sz="1000" b="1" i="1" dirty="0"/>
              <a:t>}</a:t>
            </a:r>
          </a:p>
          <a:p>
            <a:r>
              <a:rPr lang="fr-FR" sz="1000" b="1" i="1" dirty="0"/>
              <a:t>              MPI_MAXLOC,       // max + position</a:t>
            </a:r>
          </a:p>
          <a:p>
            <a:r>
              <a:rPr lang="fr-FR" sz="1000" b="1" i="1" dirty="0"/>
              <a:t>              MPI_COMM_WORLD);</a:t>
            </a:r>
          </a:p>
          <a:p>
            <a:endParaRPr lang="fr-FR" sz="1000" b="1" i="1" dirty="0"/>
          </a:p>
          <a:p>
            <a:r>
              <a:rPr lang="fr-FR" sz="1000" b="1" i="1" dirty="0" err="1"/>
              <a:t>int</a:t>
            </a:r>
            <a:r>
              <a:rPr lang="fr-FR" sz="1000" b="1" i="1" dirty="0"/>
              <a:t> </a:t>
            </a:r>
            <a:r>
              <a:rPr lang="fr-FR" sz="1000" b="1" i="1" dirty="0" err="1"/>
              <a:t>pivot_gi</a:t>
            </a:r>
            <a:r>
              <a:rPr lang="fr-FR" sz="1000" b="1" i="1" dirty="0"/>
              <a:t> = </a:t>
            </a:r>
            <a:r>
              <a:rPr lang="fr-FR" sz="1000" b="1" i="1" dirty="0" err="1"/>
              <a:t>global_cand.idx</a:t>
            </a:r>
            <a:r>
              <a:rPr lang="fr-FR" sz="1000" b="1" i="1" dirty="0"/>
              <a:t>;</a:t>
            </a:r>
          </a:p>
        </p:txBody>
      </p:sp>
      <p:pic>
        <p:nvPicPr>
          <p:cNvPr id="40" name="Image 0" descr="preencoded.png">
            <a:extLst>
              <a:ext uri="{FF2B5EF4-FFF2-40B4-BE49-F238E27FC236}">
                <a16:creationId xmlns:a16="http://schemas.microsoft.com/office/drawing/2014/main" id="{B122B4AD-236A-CE3D-A0EC-7939DDCBBDB4}"/>
              </a:ext>
            </a:extLst>
          </p:cNvPr>
          <p:cNvPicPr>
            <a:picLocks noChangeAspect="1"/>
          </p:cNvPicPr>
          <p:nvPr/>
        </p:nvPicPr>
        <p:blipFill>
          <a:blip r:embed="rId3"/>
          <a:stretch>
            <a:fillRect/>
          </a:stretch>
        </p:blipFill>
        <p:spPr>
          <a:xfrm>
            <a:off x="4144517" y="3085610"/>
            <a:ext cx="274320" cy="274320"/>
          </a:xfrm>
          <a:prstGeom prst="rect">
            <a:avLst/>
          </a:prstGeom>
        </p:spPr>
      </p:pic>
      <p:sp>
        <p:nvSpPr>
          <p:cNvPr id="45" name="Rectangle 44">
            <a:extLst>
              <a:ext uri="{FF2B5EF4-FFF2-40B4-BE49-F238E27FC236}">
                <a16:creationId xmlns:a16="http://schemas.microsoft.com/office/drawing/2014/main" id="{7C7F88A9-7EBE-1D2D-A353-62156ACBA20C}"/>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6" name="TextBox 15">
            <a:extLst>
              <a:ext uri="{FF2B5EF4-FFF2-40B4-BE49-F238E27FC236}">
                <a16:creationId xmlns:a16="http://schemas.microsoft.com/office/drawing/2014/main" id="{A4343F29-A33E-F4D3-217B-F629AE93B70E}"/>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47" name="TextBox 16">
                <a:extLst>
                  <a:ext uri="{FF2B5EF4-FFF2-40B4-BE49-F238E27FC236}">
                    <a16:creationId xmlns:a16="http://schemas.microsoft.com/office/drawing/2014/main" id="{2D57363E-BC84-0FAD-36C4-52D10FBEC98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a:t>
                </a:r>
                <a:r>
                  <a:rPr lang="fr-FR" sz="1000" dirty="0"/>
                  <a:t> </a:t>
                </a:r>
                <a:r>
                  <a:rPr lang="fr-FR" sz="1000" b="1" dirty="0">
                    <a:solidFill>
                      <a:srgbClr val="0D4F4F"/>
                    </a:solidFill>
                  </a:rPr>
                  <a:t>cherche</a:t>
                </a:r>
                <a:r>
                  <a:rPr lang="fr-FR" sz="1000" dirty="0"/>
                  <a:t> </a:t>
                </a:r>
                <a:r>
                  <a:rPr lang="fr-FR" sz="1000" b="1" dirty="0">
                    <a:solidFill>
                      <a:srgbClr val="0D4F4F"/>
                    </a:solidFill>
                  </a:rPr>
                  <a:t>son</a:t>
                </a:r>
                <a:r>
                  <a:rPr lang="fr-FR" sz="1000" dirty="0"/>
                  <a:t> </a:t>
                </a:r>
                <a:r>
                  <a:rPr lang="fr-FR" sz="1000" b="1" dirty="0">
                    <a:solidFill>
                      <a:srgbClr val="0D4F4F"/>
                    </a:solidFill>
                  </a:rPr>
                  <a:t>pivot</a:t>
                </a:r>
                <a:r>
                  <a:rPr lang="fr-FR" sz="1000" dirty="0"/>
                  <a:t> </a:t>
                </a:r>
                <a:r>
                  <a:rPr lang="fr-FR" sz="1000" b="1" dirty="0" err="1">
                    <a:solidFill>
                      <a:srgbClr val="0D4F4F"/>
                    </a:solidFill>
                  </a:rPr>
                  <a:t>local.</a:t>
                </a:r>
                <a:endParaRPr sz="1000" b="1" dirty="0">
                  <a:solidFill>
                    <a:srgbClr val="0D4F4F"/>
                  </a:solidFill>
                </a:endParaRPr>
              </a:p>
              <a:p>
                <a:pPr>
                  <a:spcAft>
                    <a:spcPts val="200"/>
                  </a:spcAft>
                </a:pPr>
                <a:r>
                  <a:rPr lang="fr-FR" sz="1000" dirty="0">
                    <a:solidFill>
                      <a:srgbClr val="4A4A5A"/>
                    </a:solidFill>
                    <a:latin typeface="Calibri"/>
                  </a:rPr>
                  <a:t>Il parcourt ses lignes et garde la plus grande valeur absolue dans la colonne </a:t>
                </a:r>
                <a14:m>
                  <m:oMath xmlns:m="http://schemas.openxmlformats.org/officeDocument/2006/math">
                    <m:r>
                      <a:rPr lang="fr-FR" sz="1000">
                        <a:solidFill>
                          <a:srgbClr val="4A4A5A"/>
                        </a:solidFill>
                        <a:latin typeface="Calibri"/>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L’indice global de la ligne est sauvegardé.</a:t>
                </a:r>
                <a:endParaRPr sz="1000" b="1" dirty="0">
                  <a:solidFill>
                    <a:srgbClr val="E07A5F"/>
                  </a:solidFill>
                  <a:latin typeface="Calibri"/>
                </a:endParaRPr>
              </a:p>
              <a:p>
                <a:pPr>
                  <a:spcAft>
                    <a:spcPts val="200"/>
                  </a:spcAft>
                </a:pPr>
                <a:r>
                  <a:rPr lang="fr-FR" sz="1000" dirty="0">
                    <a:solidFill>
                      <a:srgbClr val="4A4A5A"/>
                    </a:solidFill>
                    <a:latin typeface="Calibri"/>
                  </a:rPr>
                  <a:t>Cela permet d’identifier correctement la ligne pivot</a:t>
                </a: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a:t>
                </a:r>
                <a:endParaRPr sz="1000" b="1" dirty="0">
                  <a:solidFill>
                    <a:srgbClr val="0D4F4F"/>
                  </a:solidFill>
                  <a:latin typeface="Calibri"/>
                </a:endParaRPr>
              </a:p>
              <a:p>
                <a:pPr>
                  <a:spcAft>
                    <a:spcPts val="200"/>
                  </a:spcAft>
                </a:pPr>
                <a:r>
                  <a:rPr lang="fr-FR" sz="1000" dirty="0" err="1">
                    <a:solidFill>
                      <a:srgbClr val="4A4A5A"/>
                    </a:solidFill>
                    <a:latin typeface="Calibri"/>
                  </a:rPr>
                  <a:t>MPI_Allreduce</a:t>
                </a:r>
                <a:r>
                  <a:rPr lang="fr-FR" sz="1000" dirty="0">
                    <a:solidFill>
                      <a:srgbClr val="4A4A5A"/>
                    </a:solidFill>
                    <a:latin typeface="Calibri"/>
                  </a:rPr>
                  <a:t> avec MPI_MAXLOC retourne la plus grande valeur et sa position.</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Tous les processus connaissent la ligne pivot.</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L’indice global du pivot est disponible partout pour la suite de l’algorithme.</a:t>
                </a:r>
                <a:endParaRPr sz="1000" dirty="0">
                  <a:solidFill>
                    <a:srgbClr val="4A4A5A"/>
                  </a:solidFill>
                  <a:latin typeface="Calibri"/>
                </a:endParaRPr>
              </a:p>
            </p:txBody>
          </p:sp>
        </mc:Choice>
        <mc:Fallback>
          <p:sp>
            <p:nvSpPr>
              <p:cNvPr id="47" name="TextBox 16">
                <a:extLst>
                  <a:ext uri="{FF2B5EF4-FFF2-40B4-BE49-F238E27FC236}">
                    <a16:creationId xmlns:a16="http://schemas.microsoft.com/office/drawing/2014/main" id="{2D57363E-BC84-0FAD-36C4-52D10FBEC98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5"/>
                <a:stretch>
                  <a:fillRect b="-597"/>
                </a:stretch>
              </a:blipFill>
            </p:spPr>
            <p:txBody>
              <a:bodyPr/>
              <a:lstStyle/>
              <a:p>
                <a:r>
                  <a:rPr lang="fr-FR">
                    <a:noFill/>
                  </a:rPr>
                  <a:t> </a:t>
                </a:r>
              </a:p>
            </p:txBody>
          </p:sp>
        </mc:Fallback>
      </mc:AlternateContent>
    </p:spTree>
    <p:extLst>
      <p:ext uri="{BB962C8B-B14F-4D97-AF65-F5344CB8AC3E}">
        <p14:creationId xmlns:p14="http://schemas.microsoft.com/office/powerpoint/2010/main" val="1244534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69FBA8F7-84A5-5284-18F5-40662211F0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5C7386-AE44-082F-50FA-E7C0C3479BF4}"/>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660A8E8-89EF-5C7B-D16E-4326348E316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E169F45-08A1-8FE5-9DE7-D4A8B509A58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8E3C32B-D249-E466-3A8D-B64432C77AF2}"/>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D99C93DE-EB34-33B4-6892-733D458B3840}"/>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94C231C2-C5A5-FB87-5305-3EC4E9C62FFC}"/>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4B8CA7-316B-A8A9-C49B-8EC5486668D6}"/>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40A70606-2614-79C2-C5E7-09E86F9858C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9214AB9-A4F1-FAFB-666E-DBB9006B39A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6D8A38C1-4BBA-C737-3702-ADF1D4A6CA79}"/>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136EC29D-0A08-ACFD-B689-20811799DF09}"/>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75FDCD9-76AE-72B6-9F06-FEB26D13BD3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22AEFA0-212A-A9AF-1C88-2996C541460A}"/>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05D7B2CF-C1A1-0726-5F13-38FF1A9C3E8C}"/>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A545AF4-5452-2D29-5FCA-F5283EF177F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98263FB-3ACC-BEA9-991B-A6E66F956545}"/>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D4B60DCD-5652-2C67-369A-D5B1CB0ECA6D}"/>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DFF6EAA-C41D-85FC-FBF3-0A0512B7D87F}"/>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A066BDE-8004-0466-FB1B-F9BADB4F75A8}"/>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8D9E9E43-7F03-DEC4-6E0A-C1AE8F7DDF6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F4F71FD-847F-EB86-7C9B-704706BC939E}"/>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08BF1A00-FE15-1152-4739-89EDCAC7CFC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E008E1E7-7969-569C-B541-84E208EE84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0E5C245F-7A0A-9BF1-4A9E-C24ED723D00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6DC10978-49D8-1791-42C0-605A31D78F18}"/>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5D7128-FD79-65E8-5060-CDA81A67F16C}"/>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509AEC25-014A-742F-C9AC-E0BE6B018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26B91196-EDD5-9852-EA29-8F9C024596B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Echange de </a:t>
            </a:r>
            <a:r>
              <a:rPr lang="en-US" sz="2800" b="1" dirty="0" err="1">
                <a:solidFill>
                  <a:srgbClr val="0D4F4F"/>
                </a:solidFill>
                <a:latin typeface="Georgia" pitchFamily="34" charset="0"/>
              </a:rPr>
              <a:t>lignes</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7F9CA60E-1C07-7A17-3815-FAA3D0BED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29A1502C-6161-AAAA-178E-2E0D100FAAA2}"/>
              </a:ext>
            </a:extLst>
          </p:cNvPr>
          <p:cNvSpPr/>
          <p:nvPr/>
        </p:nvSpPr>
        <p:spPr>
          <a:xfrm>
            <a:off x="290322"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if (</a:t>
            </a:r>
            <a:r>
              <a:rPr lang="fr-FR" sz="1000" b="1" i="1" dirty="0" err="1"/>
              <a:t>pivot_gi</a:t>
            </a:r>
            <a:r>
              <a:rPr lang="fr-FR" sz="1000" b="1" i="1" dirty="0"/>
              <a:t> != k) {</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&amp;&amp; </a:t>
            </a:r>
            <a:r>
              <a:rPr lang="fr-FR" sz="1000" b="1" i="1" dirty="0" err="1"/>
              <a:t>rank</a:t>
            </a:r>
            <a:r>
              <a:rPr lang="fr-FR" sz="1000" b="1" i="1" dirty="0"/>
              <a:t> == </a:t>
            </a:r>
            <a:r>
              <a:rPr lang="fr-FR" sz="1000" b="1" i="1" dirty="0" err="1"/>
              <a:t>pivot_owner</a:t>
            </a:r>
            <a:r>
              <a:rPr lang="fr-FR" sz="1000" b="1" i="1" dirty="0"/>
              <a:t>) {</a:t>
            </a:r>
          </a:p>
          <a:p>
            <a:r>
              <a:rPr lang="fr-FR" sz="1000" b="1" i="1" dirty="0"/>
              <a:t>        // Même processus : swap local</a:t>
            </a:r>
          </a:p>
          <a:p>
            <a:r>
              <a:rPr lang="fr-FR" sz="1000" b="1" i="1" dirty="0"/>
              <a:t>        for (</a:t>
            </a:r>
            <a:r>
              <a:rPr lang="fr-FR" sz="1000" b="1" i="1" dirty="0" err="1"/>
              <a:t>int</a:t>
            </a:r>
            <a:r>
              <a:rPr lang="fr-FR" sz="1000" b="1" i="1" dirty="0"/>
              <a:t> j = 0; j &lt; N; j++) {</a:t>
            </a:r>
          </a:p>
          <a:p>
            <a:r>
              <a:rPr lang="fr-FR" sz="1000" b="1" i="1" dirty="0"/>
              <a:t>            double </a:t>
            </a:r>
            <a:r>
              <a:rPr lang="fr-FR" sz="1000" b="1" i="1" dirty="0" err="1"/>
              <a:t>tmp</a:t>
            </a:r>
            <a:r>
              <a:rPr lang="fr-FR" sz="1000" b="1" i="1" dirty="0"/>
              <a:t> = A[IDX(</a:t>
            </a:r>
            <a:r>
              <a:rPr lang="fr-FR" sz="1000" b="1" i="1" dirty="0" err="1"/>
              <a:t>k_li</a:t>
            </a:r>
            <a:r>
              <a:rPr lang="fr-FR" sz="1000" b="1" i="1" dirty="0"/>
              <a:t>, j, N)];</a:t>
            </a:r>
          </a:p>
          <a:p>
            <a:r>
              <a:rPr lang="fr-FR" sz="1000" b="1" i="1" dirty="0"/>
              <a:t>            A[IDX(</a:t>
            </a:r>
            <a:r>
              <a:rPr lang="fr-FR" sz="1000" b="1" i="1" dirty="0" err="1"/>
              <a:t>k_li</a:t>
            </a:r>
            <a:r>
              <a:rPr lang="fr-FR" sz="1000" b="1" i="1" dirty="0"/>
              <a:t>, j, N)] = A[IDX(</a:t>
            </a:r>
            <a:r>
              <a:rPr lang="fr-FR" sz="1000" b="1" i="1" dirty="0" err="1"/>
              <a:t>pivot_li</a:t>
            </a:r>
            <a:r>
              <a:rPr lang="fr-FR" sz="1000" b="1" i="1" dirty="0"/>
              <a:t>, j, N)];</a:t>
            </a:r>
          </a:p>
          <a:p>
            <a:r>
              <a:rPr lang="fr-FR" sz="1000" b="1" i="1" dirty="0"/>
              <a:t>            A[IDX(</a:t>
            </a:r>
            <a:r>
              <a:rPr lang="fr-FR" sz="1000" b="1" i="1" dirty="0" err="1"/>
              <a:t>pivot_li</a:t>
            </a:r>
            <a:r>
              <a:rPr lang="fr-FR" sz="1000" b="1" i="1" dirty="0"/>
              <a:t>, j, N)] = </a:t>
            </a:r>
            <a:r>
              <a:rPr lang="fr-FR" sz="1000" b="1" i="1" dirty="0" err="1"/>
              <a:t>tmp</a:t>
            </a:r>
            <a:r>
              <a:rPr lang="fr-FR" sz="1000" b="1" i="1" dirty="0"/>
              <a:t>;</a:t>
            </a:r>
          </a:p>
          <a:p>
            <a:r>
              <a:rPr lang="fr-FR" sz="1000" b="1" i="1" dirty="0"/>
              <a:t>        }</a:t>
            </a:r>
          </a:p>
          <a:p>
            <a:endParaRPr lang="fr-FR" sz="1000" b="1" i="1" dirty="0"/>
          </a:p>
          <a:p>
            <a:r>
              <a:rPr lang="fr-FR" sz="1000" b="1" i="1" dirty="0"/>
              <a:t>    } </a:t>
            </a:r>
            <a:r>
              <a:rPr lang="fr-FR" sz="1000" b="1" i="1" dirty="0" err="1"/>
              <a:t>else</a:t>
            </a:r>
            <a:r>
              <a:rPr lang="fr-FR" sz="1000" b="1" i="1" dirty="0"/>
              <a:t> if (</a:t>
            </a:r>
            <a:r>
              <a:rPr lang="fr-FR" sz="1000" b="1" i="1" dirty="0" err="1"/>
              <a:t>rank</a:t>
            </a:r>
            <a:r>
              <a:rPr lang="fr-FR" sz="1000" b="1" i="1" dirty="0"/>
              <a:t> == </a:t>
            </a:r>
            <a:r>
              <a:rPr lang="fr-FR" sz="1000" b="1" i="1" dirty="0" err="1"/>
              <a:t>k_owner</a:t>
            </a:r>
            <a:r>
              <a:rPr lang="fr-FR" sz="1000" b="1" i="1" dirty="0"/>
              <a:t>) {</a:t>
            </a:r>
          </a:p>
          <a:p>
            <a:endParaRPr lang="fr-FR" sz="1000" b="1" i="1" dirty="0"/>
          </a:p>
          <a:p>
            <a:r>
              <a:rPr lang="fr-FR" sz="1000" b="1" i="1" dirty="0"/>
              <a:t>        </a:t>
            </a:r>
            <a:r>
              <a:rPr lang="fr-FR" sz="1000" b="1" i="1" dirty="0" err="1"/>
              <a:t>memcpy</a:t>
            </a:r>
            <a:r>
              <a:rPr lang="fr-FR" sz="1000" b="1" i="1" dirty="0"/>
              <a:t>(</a:t>
            </a:r>
            <a:r>
              <a:rPr lang="fr-FR" sz="1000" b="1" i="1" dirty="0" err="1"/>
              <a:t>tmp_row</a:t>
            </a:r>
            <a:r>
              <a:rPr lang="fr-FR" sz="1000" b="1" i="1" dirty="0"/>
              <a:t>, &amp;A[IDX(</a:t>
            </a:r>
            <a:r>
              <a:rPr lang="fr-FR" sz="1000" b="1" i="1" dirty="0" err="1"/>
              <a:t>k_li</a:t>
            </a:r>
            <a:r>
              <a:rPr lang="fr-FR" sz="1000" b="1" i="1" dirty="0"/>
              <a:t>, 0, N)], N * </a:t>
            </a:r>
            <a:r>
              <a:rPr lang="fr-FR" sz="1000" b="1" i="1" dirty="0" err="1"/>
              <a:t>sizeof</a:t>
            </a:r>
            <a:r>
              <a:rPr lang="fr-FR" sz="1000" b="1" i="1" dirty="0"/>
              <a:t>(double));</a:t>
            </a:r>
          </a:p>
          <a:p>
            <a:r>
              <a:rPr lang="fr-FR" sz="1000" b="1" i="1" dirty="0"/>
              <a:t>        </a:t>
            </a:r>
            <a:r>
              <a:rPr lang="fr-FR" sz="1000" b="1" i="1" dirty="0" err="1"/>
              <a:t>tmp_row</a:t>
            </a:r>
            <a:r>
              <a:rPr lang="fr-FR" sz="1000" b="1" i="1" dirty="0"/>
              <a:t>[N] = </a:t>
            </a:r>
            <a:r>
              <a:rPr lang="fr-FR" sz="1000" b="1" i="1" dirty="0" err="1"/>
              <a:t>b_vec</a:t>
            </a:r>
            <a:r>
              <a:rPr lang="fr-FR" sz="1000" b="1" i="1" dirty="0"/>
              <a:t>[</a:t>
            </a:r>
            <a:r>
              <a:rPr lang="fr-FR" sz="1000" b="1" i="1" dirty="0" err="1"/>
              <a:t>k_li</a:t>
            </a:r>
            <a:r>
              <a:rPr lang="fr-FR" sz="1000" b="1" i="1" dirty="0"/>
              <a:t>];   // b embarqué !</a:t>
            </a:r>
          </a:p>
          <a:p>
            <a:endParaRPr lang="fr-FR" sz="1000" b="1" i="1" dirty="0"/>
          </a:p>
          <a:p>
            <a:r>
              <a:rPr lang="fr-FR" sz="1000" b="1" i="1" dirty="0"/>
              <a:t>        </a:t>
            </a:r>
            <a:r>
              <a:rPr lang="fr-FR" sz="1000" b="1" i="1" dirty="0" err="1"/>
              <a:t>MPI_Sendrecv</a:t>
            </a:r>
            <a:r>
              <a:rPr lang="fr-FR" sz="1000" b="1" i="1" dirty="0"/>
              <a:t>(</a:t>
            </a:r>
            <a:r>
              <a:rPr lang="fr-FR" sz="1000" b="1" i="1" dirty="0" err="1"/>
              <a:t>tmp_row</a:t>
            </a:r>
            <a:r>
              <a:rPr lang="fr-FR" sz="1000" b="1" i="1" dirty="0"/>
              <a:t>,   N+1, MPI_DOUBLE, </a:t>
            </a:r>
            <a:r>
              <a:rPr lang="fr-FR" sz="1000" b="1" i="1" dirty="0" err="1"/>
              <a:t>pivot_owner</a:t>
            </a:r>
            <a:r>
              <a:rPr lang="fr-FR" sz="1000" b="1" i="1" dirty="0"/>
              <a:t>, 0,</a:t>
            </a:r>
          </a:p>
          <a:p>
            <a:r>
              <a:rPr lang="fr-FR" sz="1000" b="1" i="1" dirty="0"/>
              <a:t>                     </a:t>
            </a:r>
            <a:r>
              <a:rPr lang="fr-FR" sz="1000" b="1" i="1" dirty="0" err="1"/>
              <a:t>pivot_row</a:t>
            </a:r>
            <a:r>
              <a:rPr lang="fr-FR" sz="1000" b="1" i="1" dirty="0"/>
              <a:t>, N+1, MPI_DOUBLE, </a:t>
            </a:r>
            <a:r>
              <a:rPr lang="fr-FR" sz="1000" b="1" i="1" dirty="0" err="1"/>
              <a:t>pivot_owner</a:t>
            </a:r>
            <a:r>
              <a:rPr lang="fr-FR" sz="1000" b="1" i="1" dirty="0"/>
              <a:t>, 0,</a:t>
            </a:r>
          </a:p>
          <a:p>
            <a:r>
              <a:rPr lang="fr-FR" sz="1000" b="1" i="1" dirty="0"/>
              <a:t>                     MPI_COMM_WORLD, MPI_STATUS_IGNORE);</a:t>
            </a:r>
          </a:p>
          <a:p>
            <a:endParaRPr lang="fr-FR" sz="1000" b="1" i="1" dirty="0"/>
          </a:p>
          <a:p>
            <a:r>
              <a:rPr lang="fr-FR" sz="1000" b="1" i="1" dirty="0"/>
              <a:t>        </a:t>
            </a:r>
            <a:r>
              <a:rPr lang="fr-FR" sz="1000" b="1" i="1" dirty="0" err="1"/>
              <a:t>memcpy</a:t>
            </a:r>
            <a:r>
              <a:rPr lang="fr-FR" sz="1000" b="1" i="1" dirty="0"/>
              <a:t>(&amp;A[IDX(</a:t>
            </a:r>
            <a:r>
              <a:rPr lang="fr-FR" sz="1000" b="1" i="1" dirty="0" err="1"/>
              <a:t>k_li</a:t>
            </a:r>
            <a:r>
              <a:rPr lang="fr-FR" sz="1000" b="1" i="1" dirty="0"/>
              <a:t>, 0, N)], </a:t>
            </a:r>
            <a:r>
              <a:rPr lang="fr-FR" sz="1000" b="1" i="1" dirty="0" err="1"/>
              <a:t>pivot_row</a:t>
            </a:r>
            <a:r>
              <a:rPr lang="fr-FR" sz="1000" b="1" i="1" dirty="0"/>
              <a:t>, N * </a:t>
            </a:r>
            <a:r>
              <a:rPr lang="fr-FR" sz="1000" b="1" i="1" dirty="0" err="1"/>
              <a:t>sizeof</a:t>
            </a:r>
            <a:r>
              <a:rPr lang="fr-FR" sz="1000" b="1" i="1" dirty="0"/>
              <a:t>(double));</a:t>
            </a:r>
          </a:p>
          <a:p>
            <a:r>
              <a:rPr lang="fr-FR" sz="1000" b="1" i="1" dirty="0"/>
              <a:t>        </a:t>
            </a:r>
            <a:r>
              <a:rPr lang="fr-FR" sz="1000" b="1" i="1" dirty="0" err="1"/>
              <a:t>b_vec</a:t>
            </a:r>
            <a:r>
              <a:rPr lang="fr-FR" sz="1000" b="1" i="1" dirty="0"/>
              <a:t>[</a:t>
            </a:r>
            <a:r>
              <a:rPr lang="fr-FR" sz="1000" b="1" i="1" dirty="0" err="1"/>
              <a:t>k_li</a:t>
            </a:r>
            <a:r>
              <a:rPr lang="fr-FR" sz="1000" b="1" i="1" dirty="0"/>
              <a:t>] = </a:t>
            </a:r>
            <a:r>
              <a:rPr lang="fr-FR" sz="1000" b="1" i="1" dirty="0" err="1"/>
              <a:t>pivot_row</a:t>
            </a:r>
            <a:r>
              <a:rPr lang="fr-FR" sz="1000" b="1" i="1" dirty="0"/>
              <a:t>[N];</a:t>
            </a:r>
          </a:p>
          <a:p>
            <a:endParaRPr lang="fr-FR" sz="1000" b="1" i="1" dirty="0"/>
          </a:p>
          <a:p>
            <a:r>
              <a:rPr lang="fr-FR" sz="1000" b="1" i="1" dirty="0"/>
              <a:t>    }</a:t>
            </a:r>
          </a:p>
          <a:p>
            <a:r>
              <a:rPr lang="fr-FR" sz="1000" b="1" i="1" dirty="0"/>
              <a:t>}</a:t>
            </a:r>
          </a:p>
        </p:txBody>
      </p:sp>
      <p:pic>
        <p:nvPicPr>
          <p:cNvPr id="40" name="Image 0" descr="preencoded.png">
            <a:extLst>
              <a:ext uri="{FF2B5EF4-FFF2-40B4-BE49-F238E27FC236}">
                <a16:creationId xmlns:a16="http://schemas.microsoft.com/office/drawing/2014/main" id="{B73F06FC-4BA6-8C05-17C2-F8CD2902E1BC}"/>
              </a:ext>
            </a:extLst>
          </p:cNvPr>
          <p:cNvPicPr>
            <a:picLocks noChangeAspect="1"/>
          </p:cNvPicPr>
          <p:nvPr/>
        </p:nvPicPr>
        <p:blipFill>
          <a:blip r:embed="rId3"/>
          <a:stretch>
            <a:fillRect/>
          </a:stretch>
        </p:blipFill>
        <p:spPr>
          <a:xfrm>
            <a:off x="4121657" y="3085610"/>
            <a:ext cx="274320" cy="274320"/>
          </a:xfrm>
          <a:prstGeom prst="rect">
            <a:avLst/>
          </a:prstGeom>
        </p:spPr>
      </p:pic>
      <p:sp>
        <p:nvSpPr>
          <p:cNvPr id="18" name="Rectangle 17">
            <a:extLst>
              <a:ext uri="{FF2B5EF4-FFF2-40B4-BE49-F238E27FC236}">
                <a16:creationId xmlns:a16="http://schemas.microsoft.com/office/drawing/2014/main" id="{6846FAA4-EFEB-3D9A-B197-5270CA01D1F7}"/>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F19EBE58-4A37-6750-9B7E-FF0BDB05BB94}"/>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28" name="TextBox 16">
                <a:extLst>
                  <a:ext uri="{FF2B5EF4-FFF2-40B4-BE49-F238E27FC236}">
                    <a16:creationId xmlns:a16="http://schemas.microsoft.com/office/drawing/2014/main" id="{EC1E9F45-BF48-853D-2A46-180EE756D845}"/>
                  </a:ext>
                </a:extLst>
              </p:cNvPr>
              <p:cNvSpPr txBox="1"/>
              <p:nvPr/>
            </p:nvSpPr>
            <p:spPr>
              <a:xfrm>
                <a:off x="4556760" y="2205990"/>
                <a:ext cx="4389120" cy="234936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vérifie si un échange de lignes est nécessaire.</a:t>
                </a:r>
              </a:p>
              <a:p>
                <a:pPr>
                  <a:spcAft>
                    <a:spcPts val="200"/>
                  </a:spcAft>
                </a:pPr>
                <a:r>
                  <a:rPr lang="fr-FR" sz="1000" dirty="0">
                    <a:solidFill>
                      <a:srgbClr val="4A4A5A"/>
                    </a:solidFill>
                    <a:latin typeface="Calibri"/>
                  </a:rPr>
                  <a:t> Si la ligne pivot globale est différente de la ligne courante </a:t>
                </a:r>
                <a14:m>
                  <m:oMath xmlns:m="http://schemas.openxmlformats.org/officeDocument/2006/math">
                    <m:r>
                      <a:rPr lang="fr-FR" sz="1000">
                        <a:solidFill>
                          <a:srgbClr val="4A4A5A"/>
                        </a:solidFill>
                        <a:latin typeface="Calibri"/>
                      </a:rPr>
                      <m:t>𝑘</m:t>
                    </m:r>
                  </m:oMath>
                </a14:m>
                <a:r>
                  <a:rPr lang="fr-FR" sz="1000" dirty="0">
                    <a:solidFill>
                      <a:srgbClr val="4A4A5A"/>
                    </a:solidFill>
                    <a:latin typeface="Calibri"/>
                  </a:rPr>
                  <a:t>, un swap est requis. </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Si les deux lignes sont sur le même processus, le swap est local.</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Les lignes sont échangées directement en mémoire sans communication MPI.</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Si les lignes sont sur deux processus différents, on utilise </a:t>
                </a:r>
                <a:r>
                  <a:rPr lang="fr-FR" sz="1000" b="1" dirty="0" err="1">
                    <a:solidFill>
                      <a:srgbClr val="0D4F4F"/>
                    </a:solidFill>
                    <a:latin typeface="Calibri"/>
                  </a:rPr>
                  <a:t>MPI_Sendrecv</a:t>
                </a:r>
                <a:r>
                  <a:rPr lang="fr-FR" sz="1000" b="1" dirty="0">
                    <a:solidFill>
                      <a:srgbClr val="0D4F4F"/>
                    </a:solidFill>
                    <a:latin typeface="Calibri"/>
                  </a:rPr>
                  <a:t>.</a:t>
                </a:r>
                <a:endParaRPr sz="1000" b="1" dirty="0">
                  <a:solidFill>
                    <a:srgbClr val="0D4F4F"/>
                  </a:solidFill>
                  <a:latin typeface="Calibri"/>
                </a:endParaRPr>
              </a:p>
              <a:p>
                <a:pPr>
                  <a:spcAft>
                    <a:spcPts val="200"/>
                  </a:spcAft>
                </a:pPr>
                <a:r>
                  <a:rPr lang="fr-FR" sz="1000" dirty="0">
                    <a:solidFill>
                      <a:srgbClr val="4A4A5A"/>
                    </a:solidFill>
                    <a:latin typeface="Calibri"/>
                  </a:rPr>
                  <a:t>Les deux processus échangent simultanément leurs lignes pour éviter un deadlock.</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La ligne et le second membre </a:t>
                </a:r>
                <a14:m>
                  <m:oMath xmlns:m="http://schemas.openxmlformats.org/officeDocument/2006/math">
                    <m:r>
                      <a:rPr lang="fr-FR" sz="1000" b="1">
                        <a:solidFill>
                          <a:srgbClr val="E07A5F"/>
                        </a:solidFill>
                        <a:latin typeface="Calibri"/>
                      </a:rPr>
                      <m:t>𝑏</m:t>
                    </m:r>
                  </m:oMath>
                </a14:m>
                <a:r>
                  <a:rPr lang="fr-FR" sz="1000" b="1" dirty="0">
                    <a:solidFill>
                      <a:srgbClr val="E07A5F"/>
                    </a:solidFill>
                    <a:latin typeface="Calibri"/>
                  </a:rPr>
                  <a:t>sont échangés ensemble.</a:t>
                </a:r>
              </a:p>
              <a:p>
                <a:pPr>
                  <a:spcAft>
                    <a:spcPts val="200"/>
                  </a:spcAft>
                </a:pPr>
                <a:r>
                  <a:rPr lang="fr-FR" sz="1000" b="1" dirty="0">
                    <a:solidFill>
                      <a:srgbClr val="E07A5F"/>
                    </a:solidFill>
                    <a:latin typeface="Calibri"/>
                  </a:rPr>
                  <a:t> </a:t>
                </a:r>
                <a:r>
                  <a:rPr lang="fr-FR" sz="1000" dirty="0">
                    <a:solidFill>
                      <a:srgbClr val="4A4A5A"/>
                    </a:solidFill>
                    <a:latin typeface="Calibri"/>
                  </a:rPr>
                  <a:t>Le vecteur </a:t>
                </a:r>
                <a14:m>
                  <m:oMath xmlns:m="http://schemas.openxmlformats.org/officeDocument/2006/math">
                    <m:r>
                      <a:rPr lang="fr-FR" sz="1000">
                        <a:solidFill>
                          <a:srgbClr val="4A4A5A"/>
                        </a:solidFill>
                        <a:latin typeface="Calibri"/>
                      </a:rPr>
                      <m:t>𝑏</m:t>
                    </m:r>
                  </m:oMath>
                </a14:m>
                <a:r>
                  <a:rPr lang="fr-FR" sz="1000" dirty="0">
                    <a:solidFill>
                      <a:srgbClr val="4A4A5A"/>
                    </a:solidFill>
                    <a:latin typeface="Calibri"/>
                  </a:rPr>
                  <a:t>est embarqué avec la ligne pour réduire le nombre de communications.</a:t>
                </a:r>
                <a:endParaRPr sz="1000" dirty="0">
                  <a:solidFill>
                    <a:srgbClr val="4A4A5A"/>
                  </a:solidFill>
                  <a:latin typeface="Calibri"/>
                </a:endParaRPr>
              </a:p>
            </p:txBody>
          </p:sp>
        </mc:Choice>
        <mc:Fallback>
          <p:sp>
            <p:nvSpPr>
              <p:cNvPr id="28" name="TextBox 16">
                <a:extLst>
                  <a:ext uri="{FF2B5EF4-FFF2-40B4-BE49-F238E27FC236}">
                    <a16:creationId xmlns:a16="http://schemas.microsoft.com/office/drawing/2014/main" id="{EC1E9F45-BF48-853D-2A46-180EE756D845}"/>
                  </a:ext>
                </a:extLst>
              </p:cNvPr>
              <p:cNvSpPr txBox="1">
                <a:spLocks noRot="1" noChangeAspect="1" noMove="1" noResize="1" noEditPoints="1" noAdjustHandles="1" noChangeArrowheads="1" noChangeShapeType="1" noTextEdit="1"/>
              </p:cNvSpPr>
              <p:nvPr/>
            </p:nvSpPr>
            <p:spPr>
              <a:xfrm>
                <a:off x="4556760" y="2205990"/>
                <a:ext cx="4389120" cy="2349361"/>
              </a:xfrm>
              <a:prstGeom prst="rect">
                <a:avLst/>
              </a:prstGeom>
              <a:blipFill>
                <a:blip r:embed="rId5"/>
                <a:stretch>
                  <a:fillRect b="-519"/>
                </a:stretch>
              </a:blipFill>
            </p:spPr>
            <p:txBody>
              <a:bodyPr/>
              <a:lstStyle/>
              <a:p>
                <a:r>
                  <a:rPr lang="fr-FR">
                    <a:noFill/>
                  </a:rPr>
                  <a:t> </a:t>
                </a:r>
              </a:p>
            </p:txBody>
          </p:sp>
        </mc:Fallback>
      </mc:AlternateContent>
    </p:spTree>
    <p:extLst>
      <p:ext uri="{BB962C8B-B14F-4D97-AF65-F5344CB8AC3E}">
        <p14:creationId xmlns:p14="http://schemas.microsoft.com/office/powerpoint/2010/main" val="199196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1E22CAC4-AF05-A371-8CCF-161757EE8F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DA14BBF-22E0-3C00-6E0A-C44C1100B279}"/>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8501E3-A363-D69B-1591-1D0586258C9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88EE9A4B-B7D5-9612-C96F-473014F0053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9AC608A-7389-9108-8229-B01FDAB199B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6794A449-3574-20F5-546E-0F4B4C6CD139}"/>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083313F-774F-69E6-1B46-6F5ECD3B1B6A}"/>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37E478A6-83FD-D21E-3442-79CA7D242E2C}"/>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7281A658-D8F2-053F-3566-A43F6FA6FF74}"/>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99320714-B074-A0BF-7BB0-0E576DB9DAB8}"/>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BF19E49-D2A3-88EC-6E22-88AC748E6BD9}"/>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DB1DAA35-1173-3FDB-60F0-A460BE6F797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4FF7BBD-B625-2F1F-05B8-50BAD690342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13D44C0-1E48-C48B-6964-075BB02CF7E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9355DB4F-1434-09E8-7EE7-7582B2B4F29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F1811C5-5972-AF71-3447-D6D723D51104}"/>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EFE385A6-632C-C0AB-E6E9-D4C843E29C74}"/>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DBC1FDE-4407-FC04-7D49-A85000529711}"/>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61AA22E-A6B8-4E44-F38A-7671BA21020A}"/>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B2B7902-1E26-AEA1-730C-E120C80D7F5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59BF3CA6-1F91-5765-9A43-47394F0763F3}"/>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30A89174-8E95-E966-4FC3-FA6FF6B1E5E6}"/>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76FC3264-932B-9D4C-5DC3-647DA8B9B84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36A9244-7593-3AEA-663D-91B1D1F27CF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6E0C4227-283A-04FC-8D42-1EFBAF28AAB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D2D1EDC-591F-0634-0629-A7EAF0B28A6A}"/>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8CF153-472D-3642-CA96-4EC43FF18EC2}"/>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635093A-F649-E417-5776-FBE367EE3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1B062FD-79FD-0723-DCE2-162241E7B2D6}"/>
              </a:ext>
            </a:extLst>
          </p:cNvPr>
          <p:cNvSpPr/>
          <p:nvPr/>
        </p:nvSpPr>
        <p:spPr>
          <a:xfrm>
            <a:off x="479160" y="502663"/>
            <a:ext cx="813906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Broadcast</a:t>
            </a:r>
          </a:p>
        </p:txBody>
      </p:sp>
      <p:sp>
        <p:nvSpPr>
          <p:cNvPr id="39" name="sketch line">
            <a:extLst>
              <a:ext uri="{FF2B5EF4-FFF2-40B4-BE49-F238E27FC236}">
                <a16:creationId xmlns:a16="http://schemas.microsoft.com/office/drawing/2014/main" id="{CCA70BE5-91A8-0296-800F-6ABA06863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C46BDEB-1CCD-4EA4-F868-D499E2E0F725}"/>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300" b="1" i="1" dirty="0"/>
              <a:t>for (</a:t>
            </a:r>
            <a:r>
              <a:rPr lang="fr-FR" sz="1300" b="1" i="1" dirty="0" err="1"/>
              <a:t>int</a:t>
            </a:r>
            <a:r>
              <a:rPr lang="fr-FR" sz="1300" b="1" i="1" dirty="0"/>
              <a:t> li = 0; li &lt; </a:t>
            </a:r>
            <a:r>
              <a:rPr lang="fr-FR" sz="1300" b="1" i="1" dirty="0" err="1"/>
              <a:t>local_rows</a:t>
            </a:r>
            <a:r>
              <a:rPr lang="fr-FR" sz="1300" b="1" i="1" dirty="0"/>
              <a:t>; li++) {</a:t>
            </a:r>
          </a:p>
          <a:p>
            <a:endParaRPr lang="fr-FR" sz="1300" b="1" i="1" dirty="0"/>
          </a:p>
          <a:p>
            <a:r>
              <a:rPr lang="fr-FR" sz="1300" b="1" i="1" dirty="0"/>
              <a:t>    // Reconstituer la ligne globale gi</a:t>
            </a:r>
          </a:p>
          <a:p>
            <a:r>
              <a:rPr lang="fr-FR" sz="1300" b="1" i="1" dirty="0"/>
              <a:t>    if (gi &lt;= k) continue;   // uniquement sous le pivot</a:t>
            </a:r>
          </a:p>
          <a:p>
            <a:endParaRPr lang="fr-FR" sz="1300" b="1" i="1" dirty="0"/>
          </a:p>
          <a:p>
            <a:r>
              <a:rPr lang="fr-FR" sz="1300" b="1" i="1" dirty="0"/>
              <a:t>    double factor = A[IDX(li, k, N)] / </a:t>
            </a:r>
            <a:r>
              <a:rPr lang="fr-FR" sz="1300" b="1" i="1" dirty="0" err="1"/>
              <a:t>pivot_val</a:t>
            </a:r>
            <a:r>
              <a:rPr lang="fr-FR" sz="1300" b="1" i="1" dirty="0"/>
              <a:t>;</a:t>
            </a:r>
          </a:p>
          <a:p>
            <a:endParaRPr lang="fr-FR" sz="1300" b="1" i="1" dirty="0"/>
          </a:p>
          <a:p>
            <a:r>
              <a:rPr lang="fr-FR" sz="1300" b="1" i="1" dirty="0"/>
              <a:t>    // SAXPY : </a:t>
            </a:r>
            <a:r>
              <a:rPr lang="fr-FR" sz="1300" b="1" i="1" dirty="0" err="1"/>
              <a:t>L_i</a:t>
            </a:r>
            <a:r>
              <a:rPr lang="fr-FR" sz="1300" b="1" i="1" dirty="0"/>
              <a:t> = </a:t>
            </a:r>
            <a:r>
              <a:rPr lang="fr-FR" sz="1300" b="1" i="1" dirty="0" err="1"/>
              <a:t>L_i</a:t>
            </a:r>
            <a:r>
              <a:rPr lang="fr-FR" sz="1300" b="1" i="1" dirty="0"/>
              <a:t> - factor * pivot</a:t>
            </a:r>
          </a:p>
          <a:p>
            <a:r>
              <a:rPr lang="fr-FR" sz="1300" b="1" i="1" dirty="0"/>
              <a:t>    for (</a:t>
            </a:r>
            <a:r>
              <a:rPr lang="fr-FR" sz="1300" b="1" i="1" dirty="0" err="1"/>
              <a:t>int</a:t>
            </a:r>
            <a:r>
              <a:rPr lang="fr-FR" sz="1300" b="1" i="1" dirty="0"/>
              <a:t> j = k; j &lt; N; j++) {</a:t>
            </a:r>
          </a:p>
          <a:p>
            <a:r>
              <a:rPr lang="fr-FR" sz="1300" b="1" i="1" dirty="0"/>
              <a:t>        A[IDX(li, j, N)] -= factor * </a:t>
            </a:r>
            <a:r>
              <a:rPr lang="fr-FR" sz="1300" b="1" i="1" dirty="0" err="1"/>
              <a:t>pivot_row</a:t>
            </a:r>
            <a:r>
              <a:rPr lang="fr-FR" sz="1300" b="1" i="1" dirty="0"/>
              <a:t>[j];</a:t>
            </a:r>
          </a:p>
          <a:p>
            <a:r>
              <a:rPr lang="fr-FR" sz="1300" b="1" i="1" dirty="0"/>
              <a:t>    }</a:t>
            </a:r>
          </a:p>
          <a:p>
            <a:endParaRPr lang="fr-FR" sz="1300" b="1" i="1" dirty="0"/>
          </a:p>
          <a:p>
            <a:r>
              <a:rPr lang="fr-FR" sz="1300" b="1" i="1" dirty="0"/>
              <a:t>    </a:t>
            </a:r>
            <a:r>
              <a:rPr lang="fr-FR" sz="1300" b="1" i="1" dirty="0" err="1"/>
              <a:t>b_vec</a:t>
            </a:r>
            <a:r>
              <a:rPr lang="fr-FR" sz="1300" b="1" i="1" dirty="0"/>
              <a:t>[li] -= factor * </a:t>
            </a:r>
            <a:r>
              <a:rPr lang="fr-FR" sz="1300" b="1" i="1" dirty="0" err="1"/>
              <a:t>pivot_row</a:t>
            </a:r>
            <a:r>
              <a:rPr lang="fr-FR" sz="1300" b="1" i="1" dirty="0"/>
              <a:t>[N];</a:t>
            </a:r>
          </a:p>
          <a:p>
            <a:endParaRPr lang="fr-FR" sz="1300" b="1" i="1" dirty="0"/>
          </a:p>
          <a:p>
            <a:r>
              <a:rPr lang="fr-FR" sz="1300" b="1" i="1" dirty="0"/>
              <a:t>    // Stocker le multiplicateur L </a:t>
            </a:r>
            <a:r>
              <a:rPr lang="fr-FR" sz="1300" b="1" i="1" dirty="0" err="1"/>
              <a:t>in-place</a:t>
            </a:r>
            <a:r>
              <a:rPr lang="fr-FR" sz="1300" b="1" i="1" dirty="0"/>
              <a:t> (LU)</a:t>
            </a:r>
          </a:p>
          <a:p>
            <a:r>
              <a:rPr lang="fr-FR" sz="1300" b="1" i="1" dirty="0"/>
              <a:t>    A[IDX(li, k, N)] = factor;</a:t>
            </a:r>
          </a:p>
          <a:p>
            <a:r>
              <a:rPr lang="fr-FR" sz="1300" b="1" i="1" dirty="0"/>
              <a:t>}</a:t>
            </a:r>
          </a:p>
        </p:txBody>
      </p:sp>
      <p:pic>
        <p:nvPicPr>
          <p:cNvPr id="40" name="Image 0" descr="preencoded.png">
            <a:extLst>
              <a:ext uri="{FF2B5EF4-FFF2-40B4-BE49-F238E27FC236}">
                <a16:creationId xmlns:a16="http://schemas.microsoft.com/office/drawing/2014/main" id="{72711257-E43E-944A-9495-5CCFB37BDB47}"/>
              </a:ext>
            </a:extLst>
          </p:cNvPr>
          <p:cNvPicPr>
            <a:picLocks noChangeAspect="1"/>
          </p:cNvPicPr>
          <p:nvPr/>
        </p:nvPicPr>
        <p:blipFill>
          <a:blip r:embed="rId3"/>
          <a:stretch>
            <a:fillRect/>
          </a:stretch>
        </p:blipFill>
        <p:spPr>
          <a:xfrm>
            <a:off x="4129277" y="3085610"/>
            <a:ext cx="274320" cy="274320"/>
          </a:xfrm>
          <a:prstGeom prst="rect">
            <a:avLst/>
          </a:prstGeom>
        </p:spPr>
      </p:pic>
      <p:sp>
        <p:nvSpPr>
          <p:cNvPr id="18" name="Rectangle 17">
            <a:extLst>
              <a:ext uri="{FF2B5EF4-FFF2-40B4-BE49-F238E27FC236}">
                <a16:creationId xmlns:a16="http://schemas.microsoft.com/office/drawing/2014/main" id="{25414571-2BD4-9F6E-AF9D-AD2053F74D53}"/>
              </a:ext>
            </a:extLst>
          </p:cNvPr>
          <p:cNvSpPr/>
          <p:nvPr/>
        </p:nvSpPr>
        <p:spPr>
          <a:xfrm>
            <a:off x="4465320" y="2274466"/>
            <a:ext cx="4572000" cy="228392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AE8D7C1A-3DAA-456E-A6C0-17A31CBF1898}"/>
              </a:ext>
            </a:extLst>
          </p:cNvPr>
          <p:cNvSpPr txBox="1"/>
          <p:nvPr/>
        </p:nvSpPr>
        <p:spPr>
          <a:xfrm>
            <a:off x="4556760" y="22974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28" name="TextBox 16">
                <a:extLst>
                  <a:ext uri="{FF2B5EF4-FFF2-40B4-BE49-F238E27FC236}">
                    <a16:creationId xmlns:a16="http://schemas.microsoft.com/office/drawing/2014/main" id="{949DCCCB-5D38-D485-1D94-16728FC71EBA}"/>
                  </a:ext>
                </a:extLst>
              </p:cNvPr>
              <p:cNvSpPr txBox="1"/>
              <p:nvPr/>
            </p:nvSpPr>
            <p:spPr>
              <a:xfrm>
                <a:off x="4556760" y="2663190"/>
                <a:ext cx="4389120" cy="18620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met à jour ses lignes locales sous le pivot.</a:t>
                </a:r>
                <a:r>
                  <a:rPr sz="1000" b="1" dirty="0">
                    <a:solidFill>
                      <a:srgbClr val="0D4F4F"/>
                    </a:solidFill>
                  </a:rPr>
                  <a:t> </a:t>
                </a:r>
                <a:endParaRPr lang="fr-FR" sz="1000" b="1" dirty="0">
                  <a:solidFill>
                    <a:srgbClr val="0D4F4F"/>
                  </a:solidFill>
                </a:endParaRPr>
              </a:p>
              <a:p>
                <a:pPr>
                  <a:spcAft>
                    <a:spcPts val="200"/>
                  </a:spcAft>
                </a:pPr>
                <a:r>
                  <a:rPr lang="fr-FR" sz="1000" dirty="0">
                    <a:solidFill>
                      <a:srgbClr val="4A4A5A"/>
                    </a:solidFill>
                    <a:latin typeface="Calibri"/>
                  </a:rPr>
                  <a:t>On ne traite que les lignes globales </a:t>
                </a:r>
                <a14:m>
                  <m:oMath xmlns:m="http://schemas.openxmlformats.org/officeDocument/2006/math">
                    <m:r>
                      <a:rPr lang="fr-FR" sz="1000">
                        <a:solidFill>
                          <a:srgbClr val="4A4A5A"/>
                        </a:solidFill>
                        <a:latin typeface="Calibri"/>
                      </a:rPr>
                      <m:t>𝑖</m:t>
                    </m:r>
                    <m:r>
                      <a:rPr lang="fr-FR" sz="1000">
                        <a:solidFill>
                          <a:srgbClr val="4A4A5A"/>
                        </a:solidFill>
                        <a:latin typeface="Calibri"/>
                      </a:rPr>
                      <m:t>&gt;</m:t>
                    </m:r>
                    <m:r>
                      <a:rPr lang="fr-FR" sz="1000">
                        <a:solidFill>
                          <a:srgbClr val="4A4A5A"/>
                        </a:solidFill>
                        <a:latin typeface="Calibri"/>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le multiplicateur d’élimination.</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applique l’opération SAXPY sur la ligne.</a:t>
                </a:r>
                <a:endParaRPr sz="1000" b="1" dirty="0">
                  <a:solidFill>
                    <a:srgbClr val="0D4F4F"/>
                  </a:solidFill>
                  <a:latin typeface="Calibri"/>
                </a:endParaRPr>
              </a:p>
              <a:p>
                <a:pPr>
                  <a:spcAft>
                    <a:spcPts val="200"/>
                  </a:spcAft>
                </a:pPr>
                <a:r>
                  <a:rPr lang="fr-FR" sz="1000" dirty="0">
                    <a:solidFill>
                      <a:srgbClr val="4A4A5A"/>
                    </a:solidFill>
                    <a:latin typeface="Calibri"/>
                  </a:rPr>
                  <a:t>La ligne devient </a:t>
                </a:r>
                <a14:m>
                  <m:oMath xmlns:m="http://schemas.openxmlformats.org/officeDocument/2006/math">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𝑖</m:t>
                        </m:r>
                      </m:sub>
                    </m:sSub>
                    <m:r>
                      <a:rPr lang="ar-TN" sz="1000">
                        <a:solidFill>
                          <a:srgbClr val="4A4A5A"/>
                        </a:solidFill>
                        <a:latin typeface="Calibri"/>
                      </a:rPr>
                      <m:t>←</m:t>
                    </m:r>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𝑖</m:t>
                        </m:r>
                      </m:sub>
                    </m:sSub>
                    <m:r>
                      <a:rPr lang="ar-TN" sz="1000">
                        <a:solidFill>
                          <a:srgbClr val="4A4A5A"/>
                        </a:solidFill>
                        <a:latin typeface="Calibri"/>
                      </a:rPr>
                      <m:t>−</m:t>
                    </m:r>
                    <m:r>
                      <m:rPr>
                        <m:nor/>
                      </m:rPr>
                      <a:rPr lang="fr-FR" sz="1000">
                        <a:solidFill>
                          <a:srgbClr val="4A4A5A"/>
                        </a:solidFill>
                        <a:latin typeface="Calibri"/>
                      </a:rPr>
                      <m:t>factor</m:t>
                    </m:r>
                    <m:r>
                      <a:rPr lang="fr-FR" sz="1000">
                        <a:solidFill>
                          <a:srgbClr val="4A4A5A"/>
                        </a:solidFill>
                        <a:latin typeface="Calibri"/>
                      </a:rPr>
                      <m:t>×</m:t>
                    </m:r>
                    <m:sSub>
                      <m:sSubPr>
                        <m:ctrlPr>
                          <a:rPr lang="ar-TN" sz="1000">
                            <a:solidFill>
                              <a:srgbClr val="4A4A5A"/>
                            </a:solidFill>
                            <a:latin typeface="Calibri"/>
                          </a:rPr>
                        </m:ctrlPr>
                      </m:sSubPr>
                      <m:e>
                        <m:r>
                          <a:rPr lang="ar-TN" sz="1000">
                            <a:solidFill>
                              <a:srgbClr val="4A4A5A"/>
                            </a:solidFill>
                            <a:latin typeface="Calibri"/>
                          </a:rPr>
                          <m:t>𝐿</m:t>
                        </m:r>
                      </m:e>
                      <m:sub>
                        <m:r>
                          <a:rPr lang="ar-TN" sz="1000">
                            <a:solidFill>
                              <a:srgbClr val="4A4A5A"/>
                            </a:solidFill>
                            <a:latin typeface="Calibri"/>
                          </a:rPr>
                          <m:t>𝑘</m:t>
                        </m:r>
                      </m:sub>
                    </m:sSub>
                  </m:oMath>
                </a14:m>
                <a:r>
                  <a:rPr lang="ar-TN"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multiplicateur est stocké pour la factorisation LU. </a:t>
                </a:r>
              </a:p>
              <a:p>
                <a:pPr>
                  <a:spcAft>
                    <a:spcPts val="200"/>
                  </a:spcAft>
                </a:pPr>
                <a:r>
                  <a:rPr lang="fr-FR" sz="1000" dirty="0">
                    <a:solidFill>
                      <a:srgbClr val="4A4A5A"/>
                    </a:solidFill>
                    <a:latin typeface="Calibri"/>
                  </a:rPr>
                  <a:t>La valeur factor est conservée dans la matrice (stockage </a:t>
                </a:r>
                <a:r>
                  <a:rPr lang="fr-FR" sz="1000" dirty="0" err="1">
                    <a:solidFill>
                      <a:srgbClr val="4A4A5A"/>
                    </a:solidFill>
                    <a:latin typeface="Calibri"/>
                  </a:rPr>
                  <a:t>in-place</a:t>
                </a:r>
                <a:r>
                  <a:rPr lang="fr-FR" sz="1000" dirty="0">
                    <a:solidFill>
                      <a:srgbClr val="4A4A5A"/>
                    </a:solidFill>
                    <a:latin typeface="Calibri"/>
                  </a:rPr>
                  <a:t>).</a:t>
                </a:r>
                <a:endParaRPr sz="1000" dirty="0">
                  <a:solidFill>
                    <a:srgbClr val="4A4A5A"/>
                  </a:solidFill>
                  <a:latin typeface="Calibri"/>
                </a:endParaRPr>
              </a:p>
            </p:txBody>
          </p:sp>
        </mc:Choice>
        <mc:Fallback>
          <p:sp>
            <p:nvSpPr>
              <p:cNvPr id="28" name="TextBox 16">
                <a:extLst>
                  <a:ext uri="{FF2B5EF4-FFF2-40B4-BE49-F238E27FC236}">
                    <a16:creationId xmlns:a16="http://schemas.microsoft.com/office/drawing/2014/main" id="{949DCCCB-5D38-D485-1D94-16728FC71EBA}"/>
                  </a:ext>
                </a:extLst>
              </p:cNvPr>
              <p:cNvSpPr txBox="1">
                <a:spLocks noRot="1" noChangeAspect="1" noMove="1" noResize="1" noEditPoints="1" noAdjustHandles="1" noChangeArrowheads="1" noChangeShapeType="1" noTextEdit="1"/>
              </p:cNvSpPr>
              <p:nvPr/>
            </p:nvSpPr>
            <p:spPr>
              <a:xfrm>
                <a:off x="4556760" y="2663190"/>
                <a:ext cx="4389120" cy="1862048"/>
              </a:xfrm>
              <a:prstGeom prst="rect">
                <a:avLst/>
              </a:prstGeom>
              <a:blipFill>
                <a:blip r:embed="rId5"/>
                <a:stretch>
                  <a:fillRect b="-984"/>
                </a:stretch>
              </a:blipFill>
            </p:spPr>
            <p:txBody>
              <a:bodyPr/>
              <a:lstStyle/>
              <a:p>
                <a:r>
                  <a:rPr lang="fr-FR">
                    <a:noFill/>
                  </a:rPr>
                  <a:t> </a:t>
                </a:r>
              </a:p>
            </p:txBody>
          </p:sp>
        </mc:Fallback>
      </mc:AlternateContent>
    </p:spTree>
    <p:extLst>
      <p:ext uri="{BB962C8B-B14F-4D97-AF65-F5344CB8AC3E}">
        <p14:creationId xmlns:p14="http://schemas.microsoft.com/office/powerpoint/2010/main" val="136601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232A9A5-D10A-C620-CA45-0F4E64EC9B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874E9D-91C0-38D0-A635-635388AD3F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1BC2E7F-340F-F21B-5280-61FA0E7E51C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BB4157E-4E0D-85ED-F5FB-C735219F9B9B}"/>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0507567-2374-4F03-0F16-F496FD1D82EE}"/>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7748E3F8-14E6-6484-BD71-C30B8FEF4E57}"/>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C0D37ED-B006-2971-1FE6-363B256E8F34}"/>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52C185-2F9F-3A42-B3F0-BA95BF0624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005C341B-D985-9136-A355-B4552DCC3CC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897A5E47-49EF-FA66-354C-89C143470CF2}"/>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A0FD7A2C-5F4F-7F4A-75E1-9635FEA566E0}"/>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0E9180D-CAD1-AF9D-88EE-A4E62723B78D}"/>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7992A27-33D3-57A7-C9F4-4F5439BEC76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DEF36C68-DD5F-2543-04BC-B4A23284D45F}"/>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C0A649A3-52AF-82BB-67FE-9AFA144E3A2B}"/>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237A5D45-C13B-763C-D149-BB3256A82040}"/>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4E1240C2-C132-40B5-C918-6DFE02A9793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B65D286B-CAE8-D4A8-F0AC-94FF13DD8B83}"/>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834FB631-00F6-7E77-255A-F89E69A3D7F6}"/>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6DDC7074-20A4-6B38-7EF8-FBF02CB3D4AA}"/>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9DBE56D-CD6A-68C1-51B9-64F3F2D5457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F883EE66-FFBC-04C9-B3A4-3A00746166FE}"/>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EC88E962-C8F7-99EC-06A3-E8EEE401EB36}"/>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42E68BDC-9628-7D64-8808-3694CB88494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3A62B759-3895-6111-CE70-D243B6B6154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7382AEB0-3E95-4B17-E7F3-F27D3FE95B2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D39D863-7AF7-9906-4A01-5C803ECADB4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D1D8DAA-B4F9-60ED-AE7E-7D960AC56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B9A44878-8282-98FD-86B4-54FF62E56C15}"/>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Mise à jour </a:t>
            </a:r>
          </a:p>
        </p:txBody>
      </p:sp>
      <p:sp>
        <p:nvSpPr>
          <p:cNvPr id="39" name="sketch line">
            <a:extLst>
              <a:ext uri="{FF2B5EF4-FFF2-40B4-BE49-F238E27FC236}">
                <a16:creationId xmlns:a16="http://schemas.microsoft.com/office/drawing/2014/main" id="{AB1349C7-1580-AABA-6CF6-474609092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791B23AD-A849-5AB0-B9EA-2CB671DA39EF}"/>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endParaRPr lang="fr-FR" sz="1000" b="1" i="1" dirty="0"/>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endParaRPr lang="fr-FR" sz="1000" b="1" i="1" dirty="0"/>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Diffusion de </a:t>
            </a:r>
            <a:r>
              <a:rPr lang="fr-FR" sz="1000" b="1" i="1" dirty="0" err="1"/>
              <a:t>x_k</a:t>
            </a:r>
            <a:r>
              <a:rPr lang="fr-FR" sz="1000" b="1" i="1" dirty="0"/>
              <a:t> à tous les processus */</a:t>
            </a:r>
          </a:p>
          <a:p>
            <a:r>
              <a:rPr lang="fr-FR" sz="1000" b="1" i="1" dirty="0"/>
              <a:t>    </a:t>
            </a:r>
            <a:r>
              <a:rPr lang="fr-FR" sz="1000" b="1" i="1" dirty="0" err="1"/>
              <a:t>MPI_Bcast</a:t>
            </a:r>
            <a:r>
              <a:rPr lang="fr-FR" sz="1000" b="1" i="1" dirty="0"/>
              <a:t>(&amp;</a:t>
            </a:r>
            <a:r>
              <a:rPr lang="fr-FR" sz="1000" b="1" i="1" dirty="0" err="1"/>
              <a:t>x_k</a:t>
            </a:r>
            <a:r>
              <a:rPr lang="fr-FR" sz="1000" b="1" i="1" dirty="0"/>
              <a:t>, 1, MPI_DOUBLE,</a:t>
            </a:r>
          </a:p>
          <a:p>
            <a:r>
              <a:rPr lang="fr-FR" sz="1000" b="1" i="1" dirty="0"/>
              <a:t>              </a:t>
            </a:r>
            <a:r>
              <a:rPr lang="fr-FR" sz="1000" b="1" i="1" dirty="0" err="1"/>
              <a:t>k_owner</a:t>
            </a:r>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E4816BCF-705D-C010-0A80-867645D557CF}"/>
              </a:ext>
            </a:extLst>
          </p:cNvPr>
          <p:cNvPicPr>
            <a:picLocks noChangeAspect="1"/>
          </p:cNvPicPr>
          <p:nvPr/>
        </p:nvPicPr>
        <p:blipFill>
          <a:blip r:embed="rId3"/>
          <a:stretch>
            <a:fillRect/>
          </a:stretch>
        </p:blipFill>
        <p:spPr>
          <a:xfrm>
            <a:off x="4136897" y="3085610"/>
            <a:ext cx="274320" cy="274320"/>
          </a:xfrm>
          <a:prstGeom prst="rect">
            <a:avLst/>
          </a:prstGeom>
        </p:spPr>
      </p:pic>
      <p:sp>
        <p:nvSpPr>
          <p:cNvPr id="9" name="Rectangle 8">
            <a:extLst>
              <a:ext uri="{FF2B5EF4-FFF2-40B4-BE49-F238E27FC236}">
                <a16:creationId xmlns:a16="http://schemas.microsoft.com/office/drawing/2014/main" id="{048B99DC-991A-3886-45CE-0B60D453388B}"/>
              </a:ext>
            </a:extLst>
          </p:cNvPr>
          <p:cNvSpPr/>
          <p:nvPr/>
        </p:nvSpPr>
        <p:spPr>
          <a:xfrm>
            <a:off x="4465320" y="2420398"/>
            <a:ext cx="4572000" cy="190319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716D5312-E73C-2E00-DBDB-3B79E3EAB3BD}"/>
              </a:ext>
            </a:extLst>
          </p:cNvPr>
          <p:cNvSpPr txBox="1"/>
          <p:nvPr/>
        </p:nvSpPr>
        <p:spPr>
          <a:xfrm>
            <a:off x="4556760" y="244221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EB3159C9-8241-F42D-AA6F-544D28C0B9AD}"/>
                  </a:ext>
                </a:extLst>
              </p:cNvPr>
              <p:cNvSpPr txBox="1"/>
              <p:nvPr/>
            </p:nvSpPr>
            <p:spPr>
              <a:xfrm>
                <a:off x="4556760" y="280797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résout le système triangulaire supérieur de bas en haut.</a:t>
                </a: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processus propriétaire calcule </a:t>
                </a:r>
                <a14:m>
                  <m:oMath xmlns:m="http://schemas.openxmlformats.org/officeDocument/2006/math">
                    <m:sSub>
                      <m:sSubPr>
                        <m:ctrlPr>
                          <a:rPr lang="ar-TN" sz="1000" b="1">
                            <a:solidFill>
                              <a:srgbClr val="E07A5F"/>
                            </a:solidFill>
                            <a:latin typeface="Calibri"/>
                          </a:rPr>
                        </m:ctrlPr>
                      </m:sSubPr>
                      <m:e>
                        <m:r>
                          <a:rPr lang="ar-TN" sz="1000" b="1">
                            <a:solidFill>
                              <a:srgbClr val="E07A5F"/>
                            </a:solidFill>
                            <a:latin typeface="Calibri"/>
                          </a:rPr>
                          <m:t>𝑥</m:t>
                        </m:r>
                      </m:e>
                      <m:sub>
                        <m:r>
                          <a:rPr lang="ar-TN" sz="1000" b="1">
                            <a:solidFill>
                              <a:srgbClr val="E07A5F"/>
                            </a:solidFill>
                            <a:latin typeface="Calibri"/>
                          </a:rPr>
                          <m:t>𝑘</m:t>
                        </m:r>
                      </m:sub>
                    </m:sSub>
                  </m:oMath>
                </a14:m>
                <a:r>
                  <a:rPr lang="ar-TN" sz="1000" b="1" dirty="0">
                    <a:solidFill>
                      <a:srgbClr val="E07A5F"/>
                    </a:solidFill>
                    <a:latin typeface="Calibri"/>
                  </a:rPr>
                  <a:t>.</a:t>
                </a:r>
                <a:endParaRPr lang="fr-FR" sz="1000" b="1" dirty="0">
                  <a:solidFill>
                    <a:srgbClr val="E07A5F"/>
                  </a:solidFill>
                  <a:latin typeface="Calibri"/>
                </a:endParaRP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 On diffuse </a:t>
                </a:r>
                <a14:m>
                  <m:oMath xmlns:m="http://schemas.openxmlformats.org/officeDocument/2006/math">
                    <m:sSub>
                      <m:sSubPr>
                        <m:ctrlPr>
                          <a:rPr lang="ar-TN" sz="1000" b="1">
                            <a:solidFill>
                              <a:srgbClr val="0D4F4F"/>
                            </a:solidFill>
                            <a:latin typeface="Calibri"/>
                          </a:rPr>
                        </m:ctrlPr>
                      </m:sSubPr>
                      <m:e>
                        <m:r>
                          <a:rPr lang="ar-TN" sz="1000" b="1">
                            <a:solidFill>
                              <a:srgbClr val="0D4F4F"/>
                            </a:solidFill>
                            <a:latin typeface="Calibri"/>
                          </a:rPr>
                          <m:t>𝑥</m:t>
                        </m:r>
                      </m:e>
                      <m:sub>
                        <m:r>
                          <a:rPr lang="ar-TN" sz="1000" b="1">
                            <a:solidFill>
                              <a:srgbClr val="0D4F4F"/>
                            </a:solidFill>
                            <a:latin typeface="Calibri"/>
                          </a:rPr>
                          <m:t>𝑘</m:t>
                        </m:r>
                      </m:sub>
                    </m:sSub>
                  </m:oMath>
                </a14:m>
                <a:r>
                  <a:rPr lang="fr-FR" sz="1000" b="1" dirty="0">
                    <a:solidFill>
                      <a:srgbClr val="0D4F4F"/>
                    </a:solidFill>
                    <a:latin typeface="Calibri"/>
                  </a:rPr>
                  <a:t>à tous les processus.</a:t>
                </a:r>
                <a:endParaRP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Tous construisent le même vecteur solution global.</a:t>
                </a:r>
                <a:endParaRPr sz="1000" dirty="0">
                  <a:solidFill>
                    <a:srgbClr val="4A4A5A"/>
                  </a:solidFill>
                  <a:latin typeface="Calibri"/>
                </a:endParaRPr>
              </a:p>
            </p:txBody>
          </p:sp>
        </mc:Choice>
        <mc:Fallback>
          <p:sp>
            <p:nvSpPr>
              <p:cNvPr id="18" name="TextBox 16">
                <a:extLst>
                  <a:ext uri="{FF2B5EF4-FFF2-40B4-BE49-F238E27FC236}">
                    <a16:creationId xmlns:a16="http://schemas.microsoft.com/office/drawing/2014/main" id="{EB3159C9-8241-F42D-AA6F-544D28C0B9AD}"/>
                  </a:ext>
                </a:extLst>
              </p:cNvPr>
              <p:cNvSpPr txBox="1">
                <a:spLocks noRot="1" noChangeAspect="1" noMove="1" noResize="1" noEditPoints="1" noAdjustHandles="1" noChangeArrowheads="1" noChangeShapeType="1" noTextEdit="1"/>
              </p:cNvSpPr>
              <p:nvPr/>
            </p:nvSpPr>
            <p:spPr>
              <a:xfrm>
                <a:off x="4556760" y="2807970"/>
                <a:ext cx="4389120" cy="1323439"/>
              </a:xfrm>
              <a:prstGeom prst="rect">
                <a:avLst/>
              </a:prstGeom>
              <a:blipFill>
                <a:blip r:embed="rId5"/>
                <a:stretch>
                  <a:fillRect b="-1843"/>
                </a:stretch>
              </a:blipFill>
            </p:spPr>
            <p:txBody>
              <a:bodyPr/>
              <a:lstStyle/>
              <a:p>
                <a:r>
                  <a:rPr lang="fr-FR">
                    <a:noFill/>
                  </a:rPr>
                  <a:t> </a:t>
                </a:r>
              </a:p>
            </p:txBody>
          </p:sp>
        </mc:Fallback>
      </mc:AlternateContent>
    </p:spTree>
    <p:extLst>
      <p:ext uri="{BB962C8B-B14F-4D97-AF65-F5344CB8AC3E}">
        <p14:creationId xmlns:p14="http://schemas.microsoft.com/office/powerpoint/2010/main" val="2513395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CC356A2E-1DCC-69F2-B07A-48B0740CFC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C2B1CF-749A-F43A-8EDE-C57148B776C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95A30AB1-42C9-8A06-438E-D9094839E278}"/>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ACAEFE9-78A8-876B-713C-079DF6689E6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D4905F36-38BF-ADFE-5653-5FF28BC7973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1971D8BE-2908-2B70-1A6A-9976B2A76DB5}"/>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D6407916-90C7-42CC-14F4-DCC440E967CB}"/>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553361E-02BF-3848-72A6-2AA921C72E7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D67A2433-01EA-37F9-8C7B-522D413BBCE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CE45AD8-5CEF-6074-7C2B-D23D8C80FC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F0A04F3D-AA24-1924-0E66-7B02078C643D}"/>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16296F8-80BF-EABE-235C-D07E7900512B}"/>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18FA330-9830-4E04-2128-8163060A7ED1}"/>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06281530-9EEC-C1E0-D3C1-EE0F3BE4049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BD6117C-083D-185D-BE39-A5DF80F60D7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C36A61CD-3D7F-9A21-A791-A2D774C95412}"/>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6054359B-CC4D-F051-4187-C5BFBDA21E1F}"/>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573294CD-C454-4371-199C-6C20E10DC568}"/>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2E49802-C267-0078-31C6-9C4BF303CA7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18AAAC6E-5142-2704-53E6-DC95B1155A89}"/>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40F3A0C8-497D-E5D9-DA0F-DC4E4DFED5C9}"/>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8C93E01C-7282-94EE-4118-C4B3CE360E2F}"/>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6D6D7DE2-D85F-AC45-507F-6CFDAA4D2E2D}"/>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76FF476-3658-69D9-E2BA-D3068D3096C1}"/>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4A52349-5365-773C-84D1-B33BAE25461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2A11A9DD-422E-C1D6-078E-128544E192AF}"/>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124A9C9B-8932-DE9C-86D5-786713C9D5F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F35B79F-5BD6-5F26-27E8-6A6EC60F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4862209E-B90F-DF6C-8001-A1BEC7589B3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Back-substitution </a:t>
            </a:r>
            <a:r>
              <a:rPr lang="en-US" sz="2800" b="1" dirty="0" err="1">
                <a:solidFill>
                  <a:srgbClr val="0D4F4F"/>
                </a:solidFill>
                <a:latin typeface="Georgia" pitchFamily="34" charset="0"/>
              </a:rPr>
              <a:t>parallèle</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0164F1E5-CC46-8CC7-938B-346D71C41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E53FDDF-9E7D-D9F5-2A5D-BD1A5B571B2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Diffuser </a:t>
            </a:r>
            <a:r>
              <a:rPr lang="fr-FR" sz="1000" b="1" i="1" dirty="0" err="1"/>
              <a:t>x_k</a:t>
            </a:r>
            <a:r>
              <a:rPr lang="fr-FR" sz="1000" b="1" i="1" dirty="0"/>
              <a:t> à tous */</a:t>
            </a:r>
          </a:p>
          <a:p>
            <a:r>
              <a:rPr lang="fr-FR" sz="1000" b="1" i="1" dirty="0"/>
              <a:t>    </a:t>
            </a:r>
            <a:r>
              <a:rPr lang="fr-FR" sz="1000" b="1" i="1" dirty="0" err="1"/>
              <a:t>MPI_Bcast</a:t>
            </a:r>
            <a:r>
              <a:rPr lang="fr-FR" sz="1000" b="1" i="1" dirty="0"/>
              <a:t>(&amp;</a:t>
            </a:r>
            <a:r>
              <a:rPr lang="fr-FR" sz="1000" b="1" i="1" dirty="0" err="1"/>
              <a:t>x_k</a:t>
            </a:r>
            <a:r>
              <a:rPr lang="fr-FR" sz="1000" b="1" i="1" dirty="0"/>
              <a:t>,</a:t>
            </a:r>
          </a:p>
          <a:p>
            <a:r>
              <a:rPr lang="fr-FR" sz="1000" b="1" i="1" dirty="0"/>
              <a:t>              1,</a:t>
            </a:r>
          </a:p>
          <a:p>
            <a:r>
              <a:rPr lang="fr-FR" sz="1000" b="1" i="1" dirty="0"/>
              <a:t>              MPI_DOUBLE,</a:t>
            </a:r>
          </a:p>
          <a:p>
            <a:r>
              <a:rPr lang="fr-FR" sz="1000" b="1" i="1" dirty="0"/>
              <a:t>              </a:t>
            </a:r>
            <a:r>
              <a:rPr lang="fr-FR" sz="1000" b="1" i="1" dirty="0" err="1"/>
              <a:t>k_owner</a:t>
            </a:r>
            <a:r>
              <a:rPr lang="fr-FR" sz="1000" b="1" i="1" dirty="0"/>
              <a:t>,</a:t>
            </a:r>
          </a:p>
          <a:p>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F990C2A9-F64D-DE9C-6A44-B67C822F3021}"/>
              </a:ext>
            </a:extLst>
          </p:cNvPr>
          <p:cNvPicPr>
            <a:picLocks noChangeAspect="1"/>
          </p:cNvPicPr>
          <p:nvPr/>
        </p:nvPicPr>
        <p:blipFill>
          <a:blip r:embed="rId3"/>
          <a:stretch>
            <a:fillRect/>
          </a:stretch>
        </p:blipFill>
        <p:spPr>
          <a:xfrm>
            <a:off x="4144517" y="3085610"/>
            <a:ext cx="274320" cy="274320"/>
          </a:xfrm>
          <a:prstGeom prst="rect">
            <a:avLst/>
          </a:prstGeom>
        </p:spPr>
      </p:pic>
      <p:sp>
        <p:nvSpPr>
          <p:cNvPr id="9" name="Rectangle 8">
            <a:extLst>
              <a:ext uri="{FF2B5EF4-FFF2-40B4-BE49-F238E27FC236}">
                <a16:creationId xmlns:a16="http://schemas.microsoft.com/office/drawing/2014/main" id="{B32635F2-8B64-3E15-23D2-E601BFDF79E0}"/>
              </a:ext>
            </a:extLst>
          </p:cNvPr>
          <p:cNvSpPr/>
          <p:nvPr/>
        </p:nvSpPr>
        <p:spPr>
          <a:xfrm>
            <a:off x="4465320" y="1772956"/>
            <a:ext cx="4572000" cy="25247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6425D164-9B88-C9CC-871E-2040379055E8}"/>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C4065130-6A7E-FF0F-66A2-A9A517EC411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initialise le vecteur solution global.</a:t>
                </a:r>
                <a:r>
                  <a:rPr sz="1000" b="1" dirty="0">
                    <a:solidFill>
                      <a:srgbClr val="0D4F4F"/>
                    </a:solidFill>
                  </a:rPr>
                  <a:t> </a:t>
                </a:r>
                <a:endParaRPr lang="fr-FR" sz="1000" b="1" dirty="0">
                  <a:solidFill>
                    <a:srgbClr val="0D4F4F"/>
                  </a:solidFill>
                </a:endParaRPr>
              </a:p>
              <a:p>
                <a:pPr>
                  <a:spcAft>
                    <a:spcPts val="200"/>
                  </a:spcAft>
                </a:pPr>
                <a:r>
                  <a:rPr lang="fr-FR" sz="1000" dirty="0" err="1">
                    <a:solidFill>
                      <a:srgbClr val="4A4A5A"/>
                    </a:solidFill>
                    <a:latin typeface="Calibri"/>
                  </a:rPr>
                  <a:t>x_global</a:t>
                </a:r>
                <a:r>
                  <a:rPr lang="fr-FR" sz="1000" dirty="0">
                    <a:solidFill>
                      <a:srgbClr val="4A4A5A"/>
                    </a:solidFill>
                    <a:latin typeface="Calibri"/>
                  </a:rPr>
                  <a:t> stocke la solution finale </a:t>
                </a:r>
                <a14:m>
                  <m:oMath xmlns:m="http://schemas.openxmlformats.org/officeDocument/2006/math">
                    <m:r>
                      <a:rPr lang="fr-FR" sz="1000">
                        <a:solidFill>
                          <a:srgbClr val="4A4A5A"/>
                        </a:solidFill>
                        <a:latin typeface="Calibri"/>
                      </a:rPr>
                      <m:t>𝑥</m:t>
                    </m:r>
                  </m:oMath>
                </a14:m>
                <a:r>
                  <a:rPr lang="fr-FR" sz="1000" dirty="0">
                    <a:solidFill>
                      <a:srgbClr val="4A4A5A"/>
                    </a:solidFill>
                    <a:latin typeface="Calibri"/>
                  </a:rPr>
                  <a:t>sur tous les processus.</a:t>
                </a:r>
              </a:p>
              <a:p>
                <a:pPr>
                  <a:spcAft>
                    <a:spcPts val="200"/>
                  </a:spcAft>
                </a:pP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On parcourt les inconnues de N-1 à 0. </a:t>
                </a:r>
              </a:p>
              <a:p>
                <a:pPr>
                  <a:spcAft>
                    <a:spcPts val="200"/>
                  </a:spcAft>
                </a:pPr>
                <a:r>
                  <a:rPr lang="fr-FR" sz="1000" dirty="0">
                    <a:solidFill>
                      <a:srgbClr val="4A4A5A"/>
                    </a:solidFill>
                    <a:latin typeface="Calibri"/>
                  </a:rPr>
                  <a:t>La back-substitution d’un système triangulaire supérieur </a:t>
                </a:r>
                <a14:m>
                  <m:oMath xmlns:m="http://schemas.openxmlformats.org/officeDocument/2006/math">
                    <m:r>
                      <a:rPr lang="fr-FR" sz="1000">
                        <a:solidFill>
                          <a:srgbClr val="4A4A5A"/>
                        </a:solidFill>
                        <a:latin typeface="Calibri"/>
                      </a:rPr>
                      <m:t>𝑈𝑥</m:t>
                    </m:r>
                    <m:r>
                      <a:rPr lang="fr-FR" sz="1000">
                        <a:solidFill>
                          <a:srgbClr val="4A4A5A"/>
                        </a:solidFill>
                        <a:latin typeface="Calibri"/>
                      </a:rPr>
                      <m:t>=</m:t>
                    </m:r>
                    <m:r>
                      <a:rPr lang="fr-FR" sz="1000">
                        <a:solidFill>
                          <a:srgbClr val="4A4A5A"/>
                        </a:solidFill>
                        <a:latin typeface="Calibri"/>
                      </a:rPr>
                      <m:t>𝑏</m:t>
                    </m:r>
                  </m:oMath>
                </a14:m>
                <a:r>
                  <a:rPr lang="fr-FR" sz="1000" dirty="0">
                    <a:solidFill>
                      <a:srgbClr val="4A4A5A"/>
                    </a:solidFill>
                    <a:latin typeface="Calibri"/>
                  </a:rPr>
                  <a:t>.</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Le propriétaire de la ligne </a:t>
                </a:r>
                <a14:m>
                  <m:oMath xmlns:m="http://schemas.openxmlformats.org/officeDocument/2006/math">
                    <m:r>
                      <a:rPr lang="fr-FR" sz="1000" b="1">
                        <a:solidFill>
                          <a:srgbClr val="0D4F4F"/>
                        </a:solidFill>
                        <a:latin typeface="Calibri"/>
                      </a:rPr>
                      <m:t>𝑘</m:t>
                    </m:r>
                  </m:oMath>
                </a14:m>
                <a:r>
                  <a:rPr lang="fr-FR" sz="1000" b="1" dirty="0">
                    <a:solidFill>
                      <a:srgbClr val="0D4F4F"/>
                    </a:solidFill>
                    <a:latin typeface="Calibri"/>
                  </a:rPr>
                  <a:t>calcule </a:t>
                </a:r>
                <a14:m>
                  <m:oMath xmlns:m="http://schemas.openxmlformats.org/officeDocument/2006/math">
                    <m:sSub>
                      <m:sSubPr>
                        <m:ctrlPr>
                          <a:rPr lang="ar-TN" sz="1000" b="1">
                            <a:solidFill>
                              <a:srgbClr val="0D4F4F"/>
                            </a:solidFill>
                            <a:latin typeface="Calibri"/>
                          </a:rPr>
                        </m:ctrlPr>
                      </m:sSubPr>
                      <m:e>
                        <m:r>
                          <a:rPr lang="ar-TN" sz="1000" b="1">
                            <a:solidFill>
                              <a:srgbClr val="0D4F4F"/>
                            </a:solidFill>
                            <a:latin typeface="Calibri"/>
                          </a:rPr>
                          <m:t>𝑥</m:t>
                        </m:r>
                      </m:e>
                      <m:sub>
                        <m:r>
                          <a:rPr lang="ar-TN" sz="1000" b="1">
                            <a:solidFill>
                              <a:srgbClr val="0D4F4F"/>
                            </a:solidFill>
                            <a:latin typeface="Calibri"/>
                          </a:rPr>
                          <m:t>𝑘</m:t>
                        </m:r>
                      </m:sub>
                    </m:sSub>
                  </m:oMath>
                </a14:m>
                <a:r>
                  <a:rPr lang="ar-TN" sz="1000" b="1" dirty="0">
                    <a:solidFill>
                      <a:srgbClr val="0D4F4F"/>
                    </a:solidFill>
                    <a:latin typeface="Calibri"/>
                  </a:rPr>
                  <a:t>.</a:t>
                </a:r>
                <a:endParaRPr lang="fr-F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diffuse </a:t>
                </a:r>
                <a14:m>
                  <m:oMath xmlns:m="http://schemas.openxmlformats.org/officeDocument/2006/math">
                    <m:sSub>
                      <m:sSubPr>
                        <m:ctrlPr>
                          <a:rPr lang="ar-TN" sz="1000" b="1">
                            <a:solidFill>
                              <a:srgbClr val="E07A5F"/>
                            </a:solidFill>
                            <a:latin typeface="Calibri"/>
                          </a:rPr>
                        </m:ctrlPr>
                      </m:sSubPr>
                      <m:e>
                        <m:r>
                          <a:rPr lang="ar-TN" sz="1000" b="1">
                            <a:solidFill>
                              <a:srgbClr val="E07A5F"/>
                            </a:solidFill>
                            <a:latin typeface="Calibri"/>
                          </a:rPr>
                          <m:t>𝑥</m:t>
                        </m:r>
                      </m:e>
                      <m:sub>
                        <m:r>
                          <a:rPr lang="ar-TN" sz="1000" b="1">
                            <a:solidFill>
                              <a:srgbClr val="E07A5F"/>
                            </a:solidFill>
                            <a:latin typeface="Calibri"/>
                          </a:rPr>
                          <m:t>𝑘</m:t>
                        </m:r>
                      </m:sub>
                    </m:sSub>
                  </m:oMath>
                </a14:m>
                <a:r>
                  <a:rPr lang="fr-FR" sz="1000" b="1" dirty="0">
                    <a:solidFill>
                      <a:srgbClr val="E07A5F"/>
                    </a:solidFill>
                    <a:latin typeface="Calibri"/>
                  </a:rPr>
                  <a:t>à tout le monde avec </a:t>
                </a:r>
                <a:r>
                  <a:rPr lang="fr-FR" sz="1000" b="1" dirty="0" err="1">
                    <a:solidFill>
                      <a:srgbClr val="E07A5F"/>
                    </a:solidFill>
                    <a:latin typeface="Calibri"/>
                  </a:rPr>
                  <a:t>MPI_Bcast</a:t>
                </a:r>
                <a:r>
                  <a:rPr lang="fr-FR" sz="1000" b="1" dirty="0">
                    <a:solidFill>
                      <a:srgbClr val="E07A5F"/>
                    </a:solidFill>
                    <a:latin typeface="Calibri"/>
                  </a:rPr>
                  <a:t>.</a:t>
                </a:r>
              </a:p>
              <a:p>
                <a:pPr>
                  <a:spcAft>
                    <a:spcPts val="200"/>
                  </a:spcAft>
                </a:pPr>
                <a:r>
                  <a:rPr lang="fr-FR" sz="1000" b="1" dirty="0">
                    <a:solidFill>
                      <a:srgbClr val="E07A5F"/>
                    </a:solidFill>
                    <a:latin typeface="Calibri"/>
                  </a:rPr>
                  <a:t> </a:t>
                </a:r>
                <a:r>
                  <a:rPr lang="fr-FR" sz="1000" dirty="0">
                    <a:solidFill>
                      <a:srgbClr val="4A4A5A"/>
                    </a:solidFill>
                    <a:latin typeface="Calibri"/>
                  </a:rPr>
                  <a:t>Chaque processus obtient la même valeur et remplit </a:t>
                </a:r>
                <a:r>
                  <a:rPr lang="fr-FR" sz="1000" dirty="0" err="1">
                    <a:solidFill>
                      <a:srgbClr val="4A4A5A"/>
                    </a:solidFill>
                    <a:latin typeface="Calibri"/>
                  </a:rPr>
                  <a:t>x_global</a:t>
                </a:r>
                <a:r>
                  <a:rPr lang="fr-FR" sz="1000" dirty="0">
                    <a:solidFill>
                      <a:srgbClr val="4A4A5A"/>
                    </a:solidFill>
                    <a:latin typeface="Calibri"/>
                  </a:rPr>
                  <a:t>[k].</a:t>
                </a:r>
                <a:endParaRPr sz="1000" dirty="0">
                  <a:solidFill>
                    <a:srgbClr val="4A4A5A"/>
                  </a:solidFill>
                  <a:latin typeface="Calibri"/>
                </a:endParaRPr>
              </a:p>
            </p:txBody>
          </p:sp>
        </mc:Choice>
        <mc:Fallback>
          <p:sp>
            <p:nvSpPr>
              <p:cNvPr id="18" name="TextBox 16">
                <a:extLst>
                  <a:ext uri="{FF2B5EF4-FFF2-40B4-BE49-F238E27FC236}">
                    <a16:creationId xmlns:a16="http://schemas.microsoft.com/office/drawing/2014/main" id="{C4065130-6A7E-FF0F-66A2-A9A517EC411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5"/>
                <a:stretch>
                  <a:fillRect b="-597"/>
                </a:stretch>
              </a:blipFill>
            </p:spPr>
            <p:txBody>
              <a:bodyPr/>
              <a:lstStyle/>
              <a:p>
                <a:r>
                  <a:rPr lang="fr-FR">
                    <a:noFill/>
                  </a:rPr>
                  <a:t> </a:t>
                </a:r>
              </a:p>
            </p:txBody>
          </p:sp>
        </mc:Fallback>
      </mc:AlternateContent>
    </p:spTree>
    <p:extLst>
      <p:ext uri="{BB962C8B-B14F-4D97-AF65-F5344CB8AC3E}">
        <p14:creationId xmlns:p14="http://schemas.microsoft.com/office/powerpoint/2010/main" val="3946734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E38A95B4-D777-E54A-822B-A4BD4F482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5DCD14-A641-83B4-ACA3-3EC883D9F8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5F3DC0E-0DB9-FFD9-B5C8-53B97454D9E3}"/>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667CC97-9DEE-6FC5-B705-ABC5035AB5D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039C2F6-38EB-6777-4010-87D4559A105A}"/>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076C36F-C868-466F-FA68-2198AEF4330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2253E64F-66C7-AD99-4DC5-70D9F6D95470}"/>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06E165E-BE35-F783-AAAB-82A50923F901}"/>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84EA644-9AE2-AD5E-0D51-3B7841827D86}"/>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5B470C1-C963-5A4C-4DBC-4DC8F53F83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E918A949-1CF4-DEB4-0FA1-A8733F6FEE7C}"/>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36D39DB2-1477-438B-2414-1AAE8DB109A6}"/>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2517074-D412-300C-5F6B-30E9FF2E73C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A99251F-4399-5DB1-BED7-F9FB121C62F0}"/>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B26B3C68-5FAA-FF85-2674-BEA93523B14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A4F58811-8447-8770-E6DA-A35910144F7A}"/>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930A54F0-70EA-508B-64B2-2C0C145B3932}"/>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E303DE9-75D0-6E96-32D6-66DBA00470A5}"/>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84450A8-785D-F841-C009-136F77C666A3}"/>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A06D6B6D-85D5-85B1-14BA-68D3179E3823}"/>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187D98F-ADE6-F108-D152-EFAAD3ABC4E0}"/>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EBA1D203-F17A-8EB4-32D0-3ADE03CE6A57}"/>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6767DA9-61A0-484C-3411-D0BAFC4F1940}"/>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51D80AA5-E396-04B9-12A2-0F08CCAEE06B}"/>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7DBFC6AB-49B7-D6F4-C27A-105D25EF1C6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755C2F9-3B10-A4B3-7E23-21F7384B8063}"/>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E9162025-C5B4-F4A3-2577-117098EB8640}"/>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AA1904A5-C283-94F2-E29A-F4589B1C23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672DAD8-45A1-0817-FD2F-109D47622FC9}"/>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Calcul</a:t>
            </a:r>
            <a:r>
              <a:rPr lang="en-US" sz="2800" b="1" dirty="0">
                <a:solidFill>
                  <a:srgbClr val="0D4F4F"/>
                </a:solidFill>
                <a:latin typeface="Georgia" pitchFamily="34" charset="0"/>
              </a:rPr>
              <a:t> du </a:t>
            </a:r>
            <a:r>
              <a:rPr lang="en-US" sz="2800" b="1" dirty="0" err="1">
                <a:solidFill>
                  <a:srgbClr val="0D4F4F"/>
                </a:solidFill>
                <a:latin typeface="Georgia" pitchFamily="34" charset="0"/>
              </a:rPr>
              <a:t>résidu</a:t>
            </a:r>
            <a:r>
              <a:rPr lang="en-US" sz="2800" b="1" dirty="0">
                <a:solidFill>
                  <a:srgbClr val="0D4F4F"/>
                </a:solidFill>
                <a:latin typeface="Georgia" pitchFamily="34" charset="0"/>
              </a:rPr>
              <a:t> </a:t>
            </a:r>
          </a:p>
        </p:txBody>
      </p:sp>
      <p:sp>
        <p:nvSpPr>
          <p:cNvPr id="39" name="sketch line">
            <a:extLst>
              <a:ext uri="{FF2B5EF4-FFF2-40B4-BE49-F238E27FC236}">
                <a16:creationId xmlns:a16="http://schemas.microsoft.com/office/drawing/2014/main" id="{B12720E2-C0B1-7255-0E27-A3F796E121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477320A8-98D4-BAAE-F46E-31787888ACB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 Chaque processus calcule sa contribution locale */</a:t>
            </a:r>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double </a:t>
            </a:r>
            <a:r>
              <a:rPr lang="fr-FR" sz="1000" b="1" i="1" dirty="0" err="1"/>
              <a:t>row_sum</a:t>
            </a:r>
            <a:r>
              <a:rPr lang="fr-FR" sz="1000" b="1" i="1" dirty="0"/>
              <a:t> = 0.0;</a:t>
            </a:r>
          </a:p>
          <a:p>
            <a:r>
              <a:rPr lang="fr-FR" sz="1000" b="1" i="1" dirty="0"/>
              <a:t>    double </a:t>
            </a:r>
            <a:r>
              <a:rPr lang="fr-FR" sz="1000" b="1" i="1" dirty="0" err="1"/>
              <a:t>Ax_i</a:t>
            </a:r>
            <a:r>
              <a:rPr lang="fr-FR" sz="1000" b="1" i="1" dirty="0"/>
              <a:t>    = 0.0;</a:t>
            </a:r>
          </a:p>
          <a:p>
            <a:r>
              <a:rPr lang="fr-FR" sz="1000" b="1" i="1" dirty="0"/>
              <a:t>    for (</a:t>
            </a:r>
            <a:r>
              <a:rPr lang="fr-FR" sz="1000" b="1" i="1" dirty="0" err="1"/>
              <a:t>int</a:t>
            </a:r>
            <a:r>
              <a:rPr lang="fr-FR" sz="1000" b="1" i="1" dirty="0"/>
              <a:t> j = 0; j &lt; N; j++) {</a:t>
            </a:r>
          </a:p>
          <a:p>
            <a:r>
              <a:rPr lang="fr-FR" sz="1000" b="1" i="1" dirty="0"/>
              <a:t>        </a:t>
            </a:r>
            <a:r>
              <a:rPr lang="fr-FR" sz="1000" b="1" i="1" dirty="0" err="1"/>
              <a:t>row_sum</a:t>
            </a:r>
            <a:r>
              <a:rPr lang="fr-FR" sz="1000" b="1" i="1" dirty="0"/>
              <a:t> += </a:t>
            </a:r>
            <a:r>
              <a:rPr lang="fr-FR" sz="1000" b="1" i="1" dirty="0" err="1"/>
              <a:t>fabs</a:t>
            </a:r>
            <a:r>
              <a:rPr lang="fr-FR" sz="1000" b="1" i="1" dirty="0"/>
              <a:t>(</a:t>
            </a:r>
            <a:r>
              <a:rPr lang="fr-FR" sz="1000" b="1" i="1" dirty="0" err="1"/>
              <a:t>A_orig</a:t>
            </a:r>
            <a:r>
              <a:rPr lang="fr-FR" sz="1000" b="1" i="1" dirty="0"/>
              <a:t>[IDX(li, j, N)]);</a:t>
            </a:r>
          </a:p>
          <a:p>
            <a:r>
              <a:rPr lang="fr-FR" sz="1000" b="1" i="1" dirty="0"/>
              <a:t>        </a:t>
            </a:r>
            <a:r>
              <a:rPr lang="fr-FR" sz="1000" b="1" i="1" dirty="0" err="1"/>
              <a:t>Ax_i</a:t>
            </a:r>
            <a:r>
              <a:rPr lang="fr-FR" sz="1000" b="1" i="1" dirty="0"/>
              <a:t>    += </a:t>
            </a:r>
            <a:r>
              <a:rPr lang="fr-FR" sz="1000" b="1" i="1" dirty="0" err="1"/>
              <a:t>A_orig</a:t>
            </a:r>
            <a:r>
              <a:rPr lang="fr-FR" sz="1000" b="1" i="1" dirty="0"/>
              <a:t>[IDX(li, j, N)] * </a:t>
            </a:r>
            <a:r>
              <a:rPr lang="fr-FR" sz="1000" b="1" i="1" dirty="0" err="1"/>
              <a:t>x_global</a:t>
            </a:r>
            <a:r>
              <a:rPr lang="fr-FR" sz="1000" b="1" i="1" dirty="0"/>
              <a:t>[j];</a:t>
            </a:r>
          </a:p>
          <a:p>
            <a:r>
              <a:rPr lang="fr-FR" sz="1000" b="1" i="1" dirty="0"/>
              <a:t>    }</a:t>
            </a:r>
          </a:p>
          <a:p>
            <a:r>
              <a:rPr lang="fr-FR" sz="1000" b="1" i="1" dirty="0"/>
              <a:t>    </a:t>
            </a:r>
            <a:r>
              <a:rPr lang="fr-FR" sz="1000" b="1" i="1" dirty="0" err="1"/>
              <a:t>local_res_norm</a:t>
            </a:r>
            <a:r>
              <a:rPr lang="fr-FR" sz="1000" b="1" i="1" dirty="0"/>
              <a:t> = </a:t>
            </a:r>
            <a:r>
              <a:rPr lang="fr-FR" sz="1000" b="1" i="1" dirty="0" err="1"/>
              <a:t>fmax</a:t>
            </a:r>
            <a:r>
              <a:rPr lang="fr-FR" sz="1000" b="1" i="1" dirty="0"/>
              <a:t>(</a:t>
            </a:r>
            <a:r>
              <a:rPr lang="fr-FR" sz="1000" b="1" i="1" dirty="0" err="1"/>
              <a:t>local_res_norm</a:t>
            </a:r>
            <a:r>
              <a:rPr lang="fr-FR" sz="1000" b="1" i="1" dirty="0"/>
              <a:t>,</a:t>
            </a:r>
          </a:p>
          <a:p>
            <a:r>
              <a:rPr lang="fr-FR" sz="1000" b="1" i="1" dirty="0"/>
              <a:t>                          </a:t>
            </a:r>
            <a:r>
              <a:rPr lang="fr-FR" sz="1000" b="1" i="1" dirty="0" err="1"/>
              <a:t>fabs</a:t>
            </a:r>
            <a:r>
              <a:rPr lang="fr-FR" sz="1000" b="1" i="1" dirty="0"/>
              <a:t>(</a:t>
            </a:r>
            <a:r>
              <a:rPr lang="fr-FR" sz="1000" b="1" i="1" dirty="0" err="1"/>
              <a:t>Ax_i</a:t>
            </a:r>
            <a:r>
              <a:rPr lang="fr-FR" sz="1000" b="1" i="1" dirty="0"/>
              <a:t> - </a:t>
            </a:r>
            <a:r>
              <a:rPr lang="fr-FR" sz="1000" b="1" i="1" dirty="0" err="1"/>
              <a:t>b_orig</a:t>
            </a:r>
            <a:r>
              <a:rPr lang="fr-FR" sz="1000" b="1" i="1" dirty="0"/>
              <a:t>[li]));</a:t>
            </a:r>
          </a:p>
          <a:p>
            <a:endParaRPr lang="fr-FR" sz="1000" b="1" i="1" dirty="0"/>
          </a:p>
          <a:p>
            <a:r>
              <a:rPr lang="fr-FR" sz="1000" b="1" i="1" dirty="0"/>
              <a:t>    </a:t>
            </a:r>
            <a:r>
              <a:rPr lang="fr-FR" sz="1000" b="1" i="1" dirty="0" err="1"/>
              <a:t>local_A_norm</a:t>
            </a:r>
            <a:r>
              <a:rPr lang="fr-FR" sz="1000" b="1" i="1" dirty="0"/>
              <a:t>   = </a:t>
            </a:r>
            <a:r>
              <a:rPr lang="fr-FR" sz="1000" b="1" i="1" dirty="0" err="1"/>
              <a:t>fmax</a:t>
            </a:r>
            <a:r>
              <a:rPr lang="fr-FR" sz="1000" b="1" i="1" dirty="0"/>
              <a:t>(</a:t>
            </a:r>
            <a:r>
              <a:rPr lang="fr-FR" sz="1000" b="1" i="1" dirty="0" err="1"/>
              <a:t>local_A_norm</a:t>
            </a:r>
            <a:r>
              <a:rPr lang="fr-FR" sz="1000" b="1" i="1" dirty="0"/>
              <a:t>,</a:t>
            </a:r>
          </a:p>
          <a:p>
            <a:r>
              <a:rPr lang="fr-FR" sz="1000" b="1" i="1" dirty="0"/>
              <a:t>                          </a:t>
            </a:r>
            <a:r>
              <a:rPr lang="fr-FR" sz="1000" b="1" i="1" dirty="0" err="1"/>
              <a:t>row_sum</a:t>
            </a:r>
            <a:r>
              <a:rPr lang="fr-FR" sz="1000" b="1" i="1" dirty="0"/>
              <a:t>);</a:t>
            </a:r>
          </a:p>
          <a:p>
            <a:r>
              <a:rPr lang="fr-FR" sz="1000" b="1" i="1" dirty="0"/>
              <a:t>}</a:t>
            </a:r>
          </a:p>
          <a:p>
            <a:endParaRPr lang="fr-FR" sz="1000" b="1" i="1" dirty="0"/>
          </a:p>
          <a:p>
            <a:r>
              <a:rPr lang="fr-FR" sz="1000" b="1" i="1" dirty="0"/>
              <a:t>/* Réduction : maximum global sur le processus 0 */</a:t>
            </a:r>
          </a:p>
          <a:p>
            <a:r>
              <a:rPr lang="fr-FR" sz="1000" b="1" i="1" dirty="0" err="1"/>
              <a:t>MPI_Reduce</a:t>
            </a:r>
            <a:r>
              <a:rPr lang="fr-FR" sz="1000" b="1" i="1" dirty="0"/>
              <a:t>(&amp;</a:t>
            </a:r>
            <a:r>
              <a:rPr lang="fr-FR" sz="1000" b="1" i="1" dirty="0" err="1"/>
              <a:t>local_res_norm</a:t>
            </a:r>
            <a:r>
              <a:rPr lang="fr-FR" sz="1000" b="1" i="1" dirty="0"/>
              <a:t>,</a:t>
            </a:r>
          </a:p>
          <a:p>
            <a:r>
              <a:rPr lang="fr-FR" sz="1000" b="1" i="1" dirty="0"/>
              <a:t>           &amp;</a:t>
            </a:r>
            <a:r>
              <a:rPr lang="fr-FR" sz="1000" b="1" i="1" dirty="0" err="1"/>
              <a:t>global_res_norm</a:t>
            </a:r>
            <a:r>
              <a:rPr lang="fr-FR" sz="1000" b="1" i="1" dirty="0"/>
              <a:t>,</a:t>
            </a:r>
          </a:p>
          <a:p>
            <a:r>
              <a:rPr lang="fr-FR" sz="1000" b="1" i="1" dirty="0"/>
              <a:t>           1,</a:t>
            </a:r>
          </a:p>
          <a:p>
            <a:r>
              <a:rPr lang="fr-FR" sz="1000" b="1" i="1" dirty="0"/>
              <a:t>           MPI_DOUBLE,</a:t>
            </a:r>
          </a:p>
          <a:p>
            <a:r>
              <a:rPr lang="fr-FR" sz="1000" b="1" i="1" dirty="0"/>
              <a:t>           MPI_MAX,</a:t>
            </a:r>
          </a:p>
          <a:p>
            <a:r>
              <a:rPr lang="fr-FR" sz="1000" b="1" i="1" dirty="0"/>
              <a:t>           0,</a:t>
            </a:r>
          </a:p>
          <a:p>
            <a:r>
              <a:rPr lang="fr-FR" sz="1000" b="1" i="1" dirty="0"/>
              <a:t>           MPI_COMM_WORLD);</a:t>
            </a:r>
          </a:p>
        </p:txBody>
      </p:sp>
      <p:pic>
        <p:nvPicPr>
          <p:cNvPr id="40" name="Image 0" descr="preencoded.png">
            <a:extLst>
              <a:ext uri="{FF2B5EF4-FFF2-40B4-BE49-F238E27FC236}">
                <a16:creationId xmlns:a16="http://schemas.microsoft.com/office/drawing/2014/main" id="{159AB926-03B3-FA4F-2C8C-CB3B46B043D1}"/>
              </a:ext>
            </a:extLst>
          </p:cNvPr>
          <p:cNvPicPr>
            <a:picLocks noChangeAspect="1"/>
          </p:cNvPicPr>
          <p:nvPr/>
        </p:nvPicPr>
        <p:blipFill>
          <a:blip r:embed="rId3"/>
          <a:stretch>
            <a:fillRect/>
          </a:stretch>
        </p:blipFill>
        <p:spPr>
          <a:xfrm>
            <a:off x="4129277" y="2544590"/>
            <a:ext cx="274320" cy="274320"/>
          </a:xfrm>
          <a:prstGeom prst="rect">
            <a:avLst/>
          </a:prstGeom>
        </p:spPr>
      </p:pic>
      <p:sp>
        <p:nvSpPr>
          <p:cNvPr id="9" name="Rectangle 8">
            <a:extLst>
              <a:ext uri="{FF2B5EF4-FFF2-40B4-BE49-F238E27FC236}">
                <a16:creationId xmlns:a16="http://schemas.microsoft.com/office/drawing/2014/main" id="{60961DDC-D0BC-7979-7F71-E2CEF88DE4EA}"/>
              </a:ext>
            </a:extLst>
          </p:cNvPr>
          <p:cNvSpPr/>
          <p:nvPr/>
        </p:nvSpPr>
        <p:spPr>
          <a:xfrm>
            <a:off x="4465320" y="1728502"/>
            <a:ext cx="4572000" cy="186204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16D1483B-636D-0BA1-25E3-66F6DB9421A6}"/>
              </a:ext>
            </a:extLst>
          </p:cNvPr>
          <p:cNvSpPr txBox="1"/>
          <p:nvPr/>
        </p:nvSpPr>
        <p:spPr>
          <a:xfrm>
            <a:off x="4556760" y="17640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mc:Choice xmlns:a14="http://schemas.microsoft.com/office/drawing/2010/main" Requires="a14">
          <p:sp>
            <p:nvSpPr>
              <p:cNvPr id="18" name="TextBox 16">
                <a:extLst>
                  <a:ext uri="{FF2B5EF4-FFF2-40B4-BE49-F238E27FC236}">
                    <a16:creationId xmlns:a16="http://schemas.microsoft.com/office/drawing/2014/main" id="{6331A60F-05DF-B03F-DB66-642BDBBFDE93}"/>
                  </a:ext>
                </a:extLst>
              </p:cNvPr>
              <p:cNvSpPr txBox="1"/>
              <p:nvPr/>
            </p:nvSpPr>
            <p:spPr>
              <a:xfrm>
                <a:off x="4556760" y="212979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calcule sa partie de </a:t>
                </a:r>
                <a14:m>
                  <m:oMath xmlns:m="http://schemas.openxmlformats.org/officeDocument/2006/math">
                    <m:r>
                      <a:rPr lang="fr-FR" sz="1000" b="1">
                        <a:solidFill>
                          <a:srgbClr val="0D4F4F"/>
                        </a:solidFill>
                      </a:rPr>
                      <m:t>𝐴𝑥</m:t>
                    </m:r>
                  </m:oMath>
                </a14:m>
                <a:r>
                  <a:rPr lang="fr-FR" sz="1000" b="1" dirty="0">
                    <a:solidFill>
                      <a:srgbClr val="0D4F4F"/>
                    </a:solidFill>
                  </a:rPr>
                  <a:t>sur ses lignes.</a:t>
                </a:r>
                <a:endParaRPr sz="1000" b="1" dirty="0">
                  <a:solidFill>
                    <a:srgbClr val="0D4F4F"/>
                  </a:solidFill>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la norme infinie du résidu local.</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calcule aussi la norme infinie de </a:t>
                </a:r>
                <a14:m>
                  <m:oMath xmlns:m="http://schemas.openxmlformats.org/officeDocument/2006/math">
                    <m:r>
                      <a:rPr lang="fr-FR" sz="1000" b="1">
                        <a:solidFill>
                          <a:srgbClr val="0D4F4F"/>
                        </a:solidFill>
                        <a:latin typeface="Calibri"/>
                      </a:rPr>
                      <m:t>𝐴</m:t>
                    </m:r>
                  </m:oMath>
                </a14:m>
                <a:r>
                  <a:rPr lang="fr-FR" sz="1000" b="1" dirty="0">
                    <a:solidFill>
                      <a:srgbClr val="0D4F4F"/>
                    </a:solidFill>
                    <a:latin typeface="Calibri"/>
                  </a:rPr>
                  <a:t>localement.</a:t>
                </a:r>
                <a:endParaRPr sz="1000" b="1" dirty="0">
                  <a:solidFill>
                    <a:srgbClr val="0D4F4F"/>
                  </a:solidFill>
                  <a:latin typeface="Calibri"/>
                </a:endParaRPr>
              </a:p>
              <a:p>
                <a:pPr>
                  <a:spcAft>
                    <a:spcPts val="200"/>
                  </a:spcAft>
                </a:pPr>
                <a:endParaRPr lang="fr-FR" sz="1000" dirty="0">
                  <a:solidFill>
                    <a:srgbClr val="4A4A5A"/>
                  </a:solidFill>
                  <a:latin typeface="Calibri"/>
                </a:endParaRPr>
              </a:p>
              <a:p>
                <a:pPr>
                  <a:spcAft>
                    <a:spcPts val="200"/>
                  </a:spcAft>
                </a:pPr>
                <a:r>
                  <a:rPr lang="fr-FR" sz="1000" b="1" dirty="0">
                    <a:solidFill>
                      <a:srgbClr val="E07A5F"/>
                    </a:solidFill>
                    <a:latin typeface="Calibri"/>
                  </a:rPr>
                  <a:t>On récupère le maximum global avec </a:t>
                </a:r>
                <a:r>
                  <a:rPr lang="fr-FR" sz="1000" b="1" dirty="0" err="1">
                    <a:solidFill>
                      <a:srgbClr val="E07A5F"/>
                    </a:solidFill>
                    <a:latin typeface="Calibri"/>
                  </a:rPr>
                  <a:t>MPI_Reduce</a:t>
                </a:r>
                <a:r>
                  <a:rPr lang="fr-FR" sz="1000" b="1" dirty="0">
                    <a:solidFill>
                      <a:srgbClr val="E07A5F"/>
                    </a:solidFill>
                    <a:latin typeface="Calibri"/>
                  </a:rPr>
                  <a:t>.</a:t>
                </a:r>
              </a:p>
            </p:txBody>
          </p:sp>
        </mc:Choice>
        <mc:Fallback>
          <p:sp>
            <p:nvSpPr>
              <p:cNvPr id="18" name="TextBox 16">
                <a:extLst>
                  <a:ext uri="{FF2B5EF4-FFF2-40B4-BE49-F238E27FC236}">
                    <a16:creationId xmlns:a16="http://schemas.microsoft.com/office/drawing/2014/main" id="{6331A60F-05DF-B03F-DB66-642BDBBFDE93}"/>
                  </a:ext>
                </a:extLst>
              </p:cNvPr>
              <p:cNvSpPr txBox="1">
                <a:spLocks noRot="1" noChangeAspect="1" noMove="1" noResize="1" noEditPoints="1" noAdjustHandles="1" noChangeArrowheads="1" noChangeShapeType="1" noTextEdit="1"/>
              </p:cNvSpPr>
              <p:nvPr/>
            </p:nvSpPr>
            <p:spPr>
              <a:xfrm>
                <a:off x="4556760" y="2129790"/>
                <a:ext cx="4389120" cy="1323439"/>
              </a:xfrm>
              <a:prstGeom prst="rect">
                <a:avLst/>
              </a:prstGeom>
              <a:blipFill>
                <a:blip r:embed="rId5"/>
                <a:stretch>
                  <a:fillRect b="-2304"/>
                </a:stretch>
              </a:blipFill>
            </p:spPr>
            <p:txBody>
              <a:bodyPr/>
              <a:lstStyle/>
              <a:p>
                <a:r>
                  <a:rPr lang="fr-FR">
                    <a:noFill/>
                  </a:rPr>
                  <a:t> </a:t>
                </a:r>
              </a:p>
            </p:txBody>
          </p:sp>
        </mc:Fallback>
      </mc:AlternateContent>
      <p:pic>
        <p:nvPicPr>
          <p:cNvPr id="23" name="Image 0" descr="preencoded.png">
            <a:extLst>
              <a:ext uri="{FF2B5EF4-FFF2-40B4-BE49-F238E27FC236}">
                <a16:creationId xmlns:a16="http://schemas.microsoft.com/office/drawing/2014/main" id="{349C72FF-5247-573E-D001-CF9960B8FC4F}"/>
              </a:ext>
            </a:extLst>
          </p:cNvPr>
          <p:cNvPicPr>
            <a:picLocks noChangeAspect="1"/>
          </p:cNvPicPr>
          <p:nvPr/>
        </p:nvPicPr>
        <p:blipFill>
          <a:blip r:embed="rId3"/>
          <a:stretch>
            <a:fillRect/>
          </a:stretch>
        </p:blipFill>
        <p:spPr>
          <a:xfrm rot="5400000">
            <a:off x="6477000" y="3663915"/>
            <a:ext cx="274320" cy="274320"/>
          </a:xfrm>
          <a:prstGeom prst="rect">
            <a:avLst/>
          </a:prstGeom>
        </p:spPr>
      </p:pic>
      <p:pic>
        <p:nvPicPr>
          <p:cNvPr id="33" name="Image 32" descr="Une image contenant texte, Police, ligne, nombre&#10;&#10;Le contenu généré par l’IA peut être incorrect.">
            <a:extLst>
              <a:ext uri="{FF2B5EF4-FFF2-40B4-BE49-F238E27FC236}">
                <a16:creationId xmlns:a16="http://schemas.microsoft.com/office/drawing/2014/main" id="{46A8B691-744A-3C18-2755-B9CA687F4C3F}"/>
              </a:ext>
            </a:extLst>
          </p:cNvPr>
          <p:cNvPicPr>
            <a:picLocks noChangeAspect="1"/>
          </p:cNvPicPr>
          <p:nvPr/>
        </p:nvPicPr>
        <p:blipFill>
          <a:blip r:embed="rId6"/>
          <a:stretch>
            <a:fillRect/>
          </a:stretch>
        </p:blipFill>
        <p:spPr>
          <a:xfrm>
            <a:off x="5530024" y="4021351"/>
            <a:ext cx="2009775" cy="542925"/>
          </a:xfrm>
          <a:prstGeom prst="rect">
            <a:avLst/>
          </a:prstGeom>
        </p:spPr>
      </p:pic>
      <p:pic>
        <p:nvPicPr>
          <p:cNvPr id="35" name="Image 0" descr="preencoded.png">
            <a:extLst>
              <a:ext uri="{FF2B5EF4-FFF2-40B4-BE49-F238E27FC236}">
                <a16:creationId xmlns:a16="http://schemas.microsoft.com/office/drawing/2014/main" id="{A42C1CD2-CFEF-F1F0-B7FA-1400A5CC401B}"/>
              </a:ext>
            </a:extLst>
          </p:cNvPr>
          <p:cNvPicPr>
            <a:picLocks noChangeAspect="1"/>
          </p:cNvPicPr>
          <p:nvPr/>
        </p:nvPicPr>
        <p:blipFill>
          <a:blip r:embed="rId3"/>
          <a:stretch>
            <a:fillRect/>
          </a:stretch>
        </p:blipFill>
        <p:spPr>
          <a:xfrm>
            <a:off x="7680960" y="4160520"/>
            <a:ext cx="274320" cy="274320"/>
          </a:xfrm>
          <a:prstGeom prst="rect">
            <a:avLst/>
          </a:prstGeom>
        </p:spPr>
      </p:pic>
      <p:pic>
        <p:nvPicPr>
          <p:cNvPr id="41" name="Image 40">
            <a:extLst>
              <a:ext uri="{FF2B5EF4-FFF2-40B4-BE49-F238E27FC236}">
                <a16:creationId xmlns:a16="http://schemas.microsoft.com/office/drawing/2014/main" id="{3039E323-0AA9-B42E-EDF4-F6839DBD3292}"/>
              </a:ext>
            </a:extLst>
          </p:cNvPr>
          <p:cNvPicPr>
            <a:picLocks noChangeAspect="1"/>
          </p:cNvPicPr>
          <p:nvPr/>
        </p:nvPicPr>
        <p:blipFill>
          <a:blip r:embed="rId7"/>
          <a:stretch>
            <a:fillRect/>
          </a:stretch>
        </p:blipFill>
        <p:spPr>
          <a:xfrm>
            <a:off x="8058722" y="4073842"/>
            <a:ext cx="904875" cy="447675"/>
          </a:xfrm>
          <a:prstGeom prst="rect">
            <a:avLst/>
          </a:prstGeom>
        </p:spPr>
      </p:pic>
    </p:spTree>
    <p:extLst>
      <p:ext uri="{BB962C8B-B14F-4D97-AF65-F5344CB8AC3E}">
        <p14:creationId xmlns:p14="http://schemas.microsoft.com/office/powerpoint/2010/main" val="1679926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TotalTime>
  <Words>2340</Words>
  <Application>Microsoft Office PowerPoint</Application>
  <PresentationFormat>Affichage à l'écran (16:9)</PresentationFormat>
  <Paragraphs>432</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Nguyen et al. 2014 - Modelisation cinetique bacterienne</dc:title>
  <dc:subject>PptxGenJS Presentation</dc:subject>
  <dc:creator>Achraf Benmalk</dc:creator>
  <cp:lastModifiedBy>mohamedkarim.bezine</cp:lastModifiedBy>
  <cp:revision>12</cp:revision>
  <dcterms:created xsi:type="dcterms:W3CDTF">2026-02-09T15:08:39Z</dcterms:created>
  <dcterms:modified xsi:type="dcterms:W3CDTF">2026-02-18T01:10:49Z</dcterms:modified>
</cp:coreProperties>
</file>