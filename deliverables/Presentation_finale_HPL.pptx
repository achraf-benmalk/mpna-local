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3"/>
  </p:notesMasterIdLst>
  <p:sldIdLst>
    <p:sldId id="256" r:id="rId2"/>
    <p:sldId id="278" r:id="rId3"/>
    <p:sldId id="257" r:id="rId4"/>
    <p:sldId id="267" r:id="rId5"/>
    <p:sldId id="268" r:id="rId6"/>
    <p:sldId id="270" r:id="rId7"/>
    <p:sldId id="272" r:id="rId8"/>
    <p:sldId id="273" r:id="rId9"/>
    <p:sldId id="274" r:id="rId10"/>
    <p:sldId id="275" r:id="rId11"/>
    <p:sldId id="276" r:id="rId12"/>
    <p:sldId id="277" r:id="rId13"/>
    <p:sldId id="280" r:id="rId14"/>
    <p:sldId id="279" r:id="rId15"/>
    <p:sldId id="258" r:id="rId16"/>
    <p:sldId id="259" r:id="rId17"/>
    <p:sldId id="260" r:id="rId18"/>
    <p:sldId id="261" r:id="rId19"/>
    <p:sldId id="262" r:id="rId20"/>
    <p:sldId id="263" r:id="rId21"/>
    <p:sldId id="264" r:id="rId22"/>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D4F4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11"/>
    <p:restoredTop sz="87969" autoAdjust="0"/>
  </p:normalViewPr>
  <p:slideViewPr>
    <p:cSldViewPr snapToGrid="0" snapToObjects="1">
      <p:cViewPr varScale="1">
        <p:scale>
          <a:sx n="81" d="100"/>
          <a:sy n="81" d="100"/>
        </p:scale>
        <p:origin x="860" y="5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39528389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CAA4C0D-164A-2E1D-7A30-3A80DD0E828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18C3C9A-95A3-B2C6-D112-91D7BD3C133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D8FD787-D11F-CFBA-BA80-1EDC723DC4A0}"/>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748539E9-B1FB-5480-D5AA-480355055D7D}"/>
              </a:ext>
            </a:extLst>
          </p:cNvPr>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377084720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4DCAC13-F9EF-C215-B831-6791C1C24AB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3316E85-7ED6-5C94-C1D3-9535273B456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31ED84C-D570-A811-33FC-D70618D26CB5}"/>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CFBBB55A-55C1-4E9A-6EBD-14CD16353652}"/>
              </a:ext>
            </a:extLst>
          </p:cNvPr>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276863759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40F474D-0458-8B88-A838-31F73A7A8F6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25E4825-59EF-AF1B-3D19-5287E3AAE4D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69038EF-8B05-9E80-68DC-342C4A9B09BB}"/>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0B28C218-3D63-6319-8AA7-A807B11436EF}"/>
              </a:ext>
            </a:extLst>
          </p:cNvPr>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46724686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A547830-6F1F-1B54-C38C-7412D8F2825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9A1F169-32DE-570E-56A3-807DCD62159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D6D8A64-D061-A304-5524-B2B6F698DCB0}"/>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38841FB2-6F2E-14D7-247B-EEE095535389}"/>
              </a:ext>
            </a:extLst>
          </p:cNvPr>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400789023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4C300DA-219C-FCEA-E4F8-2D43A183803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FA7C76B-CBBE-6B55-BD0E-A976BB3B4BB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A9E86D6-19C4-B54B-9927-9EE0B0AEA9C5}"/>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F7B84CCB-6D0F-5E0D-381F-D654DEEA7EBA}"/>
              </a:ext>
            </a:extLst>
          </p:cNvPr>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315516111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A8B5AA0-DA63-3B19-BD0C-8F5E0159F02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EA18324-9897-A020-CC42-8B533866336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77CBB3F-7E95-69B1-2434-EF9B5A8F94AF}"/>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17D5532C-B857-1B2F-F60A-FF43A24F56C0}"/>
              </a:ext>
            </a:extLst>
          </p:cNvPr>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42813915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693189A-FF37-D3E4-EE2C-A229235141B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80D1BD5-6E40-B7D0-9264-0F2833302B2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5FD2707-579E-C067-EE5D-5252A7944EA7}"/>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05DC882C-7685-537C-7E55-CD512EBBC34A}"/>
              </a:ext>
            </a:extLst>
          </p:cNvPr>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70384183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AEACF72-A51E-7F35-0EDC-C59F3A64066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8925781-FE54-593F-B325-D84DA24A39E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238A83E-8B58-82F1-78CC-001EF5005DFF}"/>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B280DF97-35FD-0EAE-4F98-56659D271A46}"/>
              </a:ext>
            </a:extLst>
          </p:cNvPr>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250025316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1539181-A27B-ED17-3E81-7A85A142567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991E176-5D5E-3048-4D6F-AA76F1C6250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AB4D6B7-35FF-334A-4A67-FB24AD6D6DB0}"/>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178721B1-111A-0DAD-3959-84D30416AD98}"/>
              </a:ext>
            </a:extLst>
          </p:cNvPr>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92083759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dirty="0"/>
          </a:p>
        </p:txBody>
      </p:sp>
      <p:sp>
        <p:nvSpPr>
          <p:cNvPr id="4" name="Slide Number Placeholder 3"/>
          <p:cNvSpPr>
            <a:spLocks noGrp="1"/>
          </p:cNvSpPr>
          <p:nvPr>
            <p:ph type="sldNum" sz="quarter" idx="5"/>
          </p:nvPr>
        </p:nvSpPr>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fr-FR" dirty="0"/>
          </a:p>
        </p:txBody>
      </p:sp>
      <p:sp>
        <p:nvSpPr>
          <p:cNvPr id="4" name="Slide Number Placeholder 3"/>
          <p:cNvSpPr>
            <a:spLocks noGrp="1"/>
          </p:cNvSpPr>
          <p:nvPr>
            <p:ph type="sldNum" sz="quarter" idx="5"/>
          </p:nvPr>
        </p:nvSpPr>
        <p:spPr/>
        <p:txBody>
          <a:bodyPr/>
          <a:lstStyle/>
          <a:p>
            <a:fld id="{8B082819-F0C1-4E0C-9BCD-8671F24E31EA}" type="slidenum">
              <a:rPr lang="fr-FR" smtClean="0"/>
              <a:t>14</a:t>
            </a:fld>
            <a:endParaRPr lang="fr-FR"/>
          </a:p>
        </p:txBody>
      </p:sp>
    </p:spTree>
    <p:extLst>
      <p:ext uri="{BB962C8B-B14F-4D97-AF65-F5344CB8AC3E}">
        <p14:creationId xmlns:p14="http://schemas.microsoft.com/office/powerpoint/2010/main" val="149032209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fr-FR" dirty="0"/>
          </a:p>
        </p:txBody>
      </p:sp>
      <p:sp>
        <p:nvSpPr>
          <p:cNvPr id="4" name="Slide Number Placeholder 3"/>
          <p:cNvSpPr>
            <a:spLocks noGrp="1"/>
          </p:cNvSpPr>
          <p:nvPr>
            <p:ph type="sldNum" sz="quarter" idx="5"/>
          </p:nvPr>
        </p:nvSpPr>
        <p:spPr/>
        <p:txBody>
          <a:bodyPr/>
          <a:lstStyle/>
          <a:p>
            <a:fld id="{8B082819-F0C1-4E0C-9BCD-8671F24E31EA}" type="slidenum">
              <a:rPr lang="fr-FR" smtClean="0"/>
              <a:t>15</a:t>
            </a:fld>
            <a:endParaRPr lang="fr-FR"/>
          </a:p>
        </p:txBody>
      </p:sp>
    </p:spTree>
    <p:extLst>
      <p:ext uri="{BB962C8B-B14F-4D97-AF65-F5344CB8AC3E}">
        <p14:creationId xmlns:p14="http://schemas.microsoft.com/office/powerpoint/2010/main" val="2033482023"/>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fr-FR" dirty="0"/>
          </a:p>
        </p:txBody>
      </p:sp>
      <p:sp>
        <p:nvSpPr>
          <p:cNvPr id="4" name="Slide Number Placeholder 3"/>
          <p:cNvSpPr>
            <a:spLocks noGrp="1"/>
          </p:cNvSpPr>
          <p:nvPr>
            <p:ph type="sldNum" sz="quarter" idx="5"/>
          </p:nvPr>
        </p:nvSpPr>
        <p:spPr/>
        <p:txBody>
          <a:bodyPr/>
          <a:lstStyle/>
          <a:p>
            <a:fld id="{8B082819-F0C1-4E0C-9BCD-8671F24E31EA}" type="slidenum">
              <a:rPr lang="fr-FR" smtClean="0"/>
              <a:t>16</a:t>
            </a:fld>
            <a:endParaRPr lang="fr-FR"/>
          </a:p>
        </p:txBody>
      </p:sp>
    </p:spTree>
    <p:extLst>
      <p:ext uri="{BB962C8B-B14F-4D97-AF65-F5344CB8AC3E}">
        <p14:creationId xmlns:p14="http://schemas.microsoft.com/office/powerpoint/2010/main" val="339319184"/>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fr-FR" dirty="0"/>
          </a:p>
        </p:txBody>
      </p:sp>
      <p:sp>
        <p:nvSpPr>
          <p:cNvPr id="4" name="Slide Number Placeholder 3"/>
          <p:cNvSpPr>
            <a:spLocks noGrp="1"/>
          </p:cNvSpPr>
          <p:nvPr>
            <p:ph type="sldNum" sz="quarter" idx="5"/>
          </p:nvPr>
        </p:nvSpPr>
        <p:spPr/>
        <p:txBody>
          <a:bodyPr/>
          <a:lstStyle/>
          <a:p>
            <a:fld id="{8B082819-F0C1-4E0C-9BCD-8671F24E31EA}" type="slidenum">
              <a:rPr lang="fr-FR" smtClean="0"/>
              <a:t>17</a:t>
            </a:fld>
            <a:endParaRPr lang="fr-FR"/>
          </a:p>
        </p:txBody>
      </p:sp>
    </p:spTree>
    <p:extLst>
      <p:ext uri="{BB962C8B-B14F-4D97-AF65-F5344CB8AC3E}">
        <p14:creationId xmlns:p14="http://schemas.microsoft.com/office/powerpoint/2010/main" val="1448471295"/>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fr-FR" dirty="0"/>
          </a:p>
        </p:txBody>
      </p:sp>
      <p:sp>
        <p:nvSpPr>
          <p:cNvPr id="4" name="Slide Number Placeholder 3"/>
          <p:cNvSpPr>
            <a:spLocks noGrp="1"/>
          </p:cNvSpPr>
          <p:nvPr>
            <p:ph type="sldNum" sz="quarter" idx="5"/>
          </p:nvPr>
        </p:nvSpPr>
        <p:spPr/>
        <p:txBody>
          <a:bodyPr/>
          <a:lstStyle/>
          <a:p>
            <a:fld id="{8B082819-F0C1-4E0C-9BCD-8671F24E31EA}" type="slidenum">
              <a:rPr lang="fr-FR" smtClean="0"/>
              <a:t>18</a:t>
            </a:fld>
            <a:endParaRPr lang="fr-FR"/>
          </a:p>
        </p:txBody>
      </p:sp>
    </p:spTree>
    <p:extLst>
      <p:ext uri="{BB962C8B-B14F-4D97-AF65-F5344CB8AC3E}">
        <p14:creationId xmlns:p14="http://schemas.microsoft.com/office/powerpoint/2010/main" val="1127667680"/>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fr-FR" dirty="0"/>
          </a:p>
        </p:txBody>
      </p:sp>
      <p:sp>
        <p:nvSpPr>
          <p:cNvPr id="4" name="Slide Number Placeholder 3"/>
          <p:cNvSpPr>
            <a:spLocks noGrp="1"/>
          </p:cNvSpPr>
          <p:nvPr>
            <p:ph type="sldNum" sz="quarter" idx="5"/>
          </p:nvPr>
        </p:nvSpPr>
        <p:spPr/>
        <p:txBody>
          <a:bodyPr/>
          <a:lstStyle/>
          <a:p>
            <a:fld id="{8B082819-F0C1-4E0C-9BCD-8671F24E31EA}" type="slidenum">
              <a:rPr lang="fr-FR" smtClean="0"/>
              <a:t>19</a:t>
            </a:fld>
            <a:endParaRPr lang="fr-FR"/>
          </a:p>
        </p:txBody>
      </p:sp>
    </p:spTree>
    <p:extLst>
      <p:ext uri="{BB962C8B-B14F-4D97-AF65-F5344CB8AC3E}">
        <p14:creationId xmlns:p14="http://schemas.microsoft.com/office/powerpoint/2010/main" val="4207262198"/>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fr-FR" dirty="0"/>
          </a:p>
        </p:txBody>
      </p:sp>
      <p:sp>
        <p:nvSpPr>
          <p:cNvPr id="4" name="Slide Number Placeholder 3"/>
          <p:cNvSpPr>
            <a:spLocks noGrp="1"/>
          </p:cNvSpPr>
          <p:nvPr>
            <p:ph type="sldNum" sz="quarter" idx="5"/>
          </p:nvPr>
        </p:nvSpPr>
        <p:spPr/>
        <p:txBody>
          <a:bodyPr/>
          <a:lstStyle/>
          <a:p>
            <a:fld id="{8B082819-F0C1-4E0C-9BCD-8671F24E31EA}" type="slidenum">
              <a:rPr lang="fr-FR" smtClean="0"/>
              <a:t>20</a:t>
            </a:fld>
            <a:endParaRPr lang="fr-FR"/>
          </a:p>
        </p:txBody>
      </p:sp>
    </p:spTree>
    <p:extLst>
      <p:ext uri="{BB962C8B-B14F-4D97-AF65-F5344CB8AC3E}">
        <p14:creationId xmlns:p14="http://schemas.microsoft.com/office/powerpoint/2010/main" val="3068104463"/>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fr-FR" dirty="0"/>
          </a:p>
        </p:txBody>
      </p:sp>
      <p:sp>
        <p:nvSpPr>
          <p:cNvPr id="4" name="Slide Number Placeholder 3"/>
          <p:cNvSpPr>
            <a:spLocks noGrp="1"/>
          </p:cNvSpPr>
          <p:nvPr>
            <p:ph type="sldNum" sz="quarter" idx="5"/>
          </p:nvPr>
        </p:nvSpPr>
        <p:spPr/>
        <p:txBody>
          <a:bodyPr/>
          <a:lstStyle/>
          <a:p>
            <a:fld id="{8B082819-F0C1-4E0C-9BCD-8671F24E31EA}" type="slidenum">
              <a:rPr lang="fr-FR" smtClean="0"/>
              <a:t>21</a:t>
            </a:fld>
            <a:endParaRPr lang="fr-FR"/>
          </a:p>
        </p:txBody>
      </p:sp>
    </p:spTree>
    <p:extLst>
      <p:ext uri="{BB962C8B-B14F-4D97-AF65-F5344CB8AC3E}">
        <p14:creationId xmlns:p14="http://schemas.microsoft.com/office/powerpoint/2010/main" val="108081698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blank">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2/18/2026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871183515"/>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1.xml"/><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2.png"/></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1.xml"/><Relationship Id="rId5" Type="http://schemas.openxmlformats.org/officeDocument/2006/relationships/image" Target="../media/image7.png"/><Relationship Id="rId4" Type="http://schemas.openxmlformats.org/officeDocument/2006/relationships/image" Target="../media/image2.png"/></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7" Type="http://schemas.openxmlformats.org/officeDocument/2006/relationships/image" Target="../media/image10.png"/><Relationship Id="rId2" Type="http://schemas.openxmlformats.org/officeDocument/2006/relationships/notesSlide" Target="../notesSlides/notesSlide4.xml"/><Relationship Id="rId1" Type="http://schemas.openxmlformats.org/officeDocument/2006/relationships/slideLayout" Target="../slideLayouts/slideLayout1.xml"/><Relationship Id="rId6" Type="http://schemas.openxmlformats.org/officeDocument/2006/relationships/image" Target="../media/image9.png"/><Relationship Id="rId5" Type="http://schemas.openxmlformats.org/officeDocument/2006/relationships/image" Target="../media/image8.png"/><Relationship Id="rId4" Type="http://schemas.openxmlformats.org/officeDocument/2006/relationships/image" Target="../media/image2.png"/></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1.xml"/><Relationship Id="rId5" Type="http://schemas.openxmlformats.org/officeDocument/2006/relationships/image" Target="../media/image11.png"/><Relationship Id="rId4" Type="http://schemas.openxmlformats.org/officeDocument/2006/relationships/image" Target="../media/image2.png"/></Relationships>
</file>

<file path=ppt/slides/_rels/slide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xml"/><Relationship Id="rId1" Type="http://schemas.openxmlformats.org/officeDocument/2006/relationships/slideLayout" Target="../slideLayouts/slideLayout1.xml"/><Relationship Id="rId5" Type="http://schemas.openxmlformats.org/officeDocument/2006/relationships/image" Target="../media/image12.png"/><Relationship Id="rId4" Type="http://schemas.openxmlformats.org/officeDocument/2006/relationships/image" Target="../media/image2.png"/></Relationships>
</file>

<file path=ppt/slides/_rels/slide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xml"/><Relationship Id="rId1" Type="http://schemas.openxmlformats.org/officeDocument/2006/relationships/slideLayout" Target="../slideLayouts/slideLayout1.xml"/><Relationship Id="rId5" Type="http://schemas.openxmlformats.org/officeDocument/2006/relationships/image" Target="../media/image13.png"/><Relationship Id="rId4" Type="http://schemas.openxmlformats.org/officeDocument/2006/relationships/image" Target="../media/image2.png"/></Relationships>
</file>

<file path=ppt/slides/_rels/slide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8.xml"/><Relationship Id="rId1" Type="http://schemas.openxmlformats.org/officeDocument/2006/relationships/slideLayout" Target="../slideLayouts/slideLayout1.xml"/><Relationship Id="rId5" Type="http://schemas.openxmlformats.org/officeDocument/2006/relationships/image" Target="../media/image14.png"/><Relationship Id="rId4" Type="http://schemas.openxmlformats.org/officeDocument/2006/relationships/image" Target="../media/image2.png"/></Relationships>
</file>

<file path=ppt/slides/_rels/slide1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9.xml"/><Relationship Id="rId1" Type="http://schemas.openxmlformats.org/officeDocument/2006/relationships/slideLayout" Target="../slideLayouts/slideLayout1.xml"/><Relationship Id="rId5" Type="http://schemas.openxmlformats.org/officeDocument/2006/relationships/image" Target="../media/image15.png"/><Relationship Id="rId4" Type="http://schemas.openxmlformats.org/officeDocument/2006/relationships/image" Target="../media/image2.png"/></Relationships>
</file>

<file path=ppt/slides/_rels/slide12.xml.rels><?xml version="1.0" encoding="UTF-8" standalone="yes"?>
<Relationships xmlns="http://schemas.openxmlformats.org/package/2006/relationships"><Relationship Id="rId3" Type="http://schemas.openxmlformats.org/officeDocument/2006/relationships/image" Target="../media/image1.png"/><Relationship Id="rId7" Type="http://schemas.openxmlformats.org/officeDocument/2006/relationships/image" Target="../media/image18.png"/><Relationship Id="rId2" Type="http://schemas.openxmlformats.org/officeDocument/2006/relationships/notesSlide" Target="../notesSlides/notesSlide10.xml"/><Relationship Id="rId1" Type="http://schemas.openxmlformats.org/officeDocument/2006/relationships/slideLayout" Target="../slideLayouts/slideLayout1.xml"/><Relationship Id="rId6" Type="http://schemas.openxmlformats.org/officeDocument/2006/relationships/image" Target="../media/image17.png"/><Relationship Id="rId5" Type="http://schemas.openxmlformats.org/officeDocument/2006/relationships/image" Target="../media/image16.png"/><Relationship Id="rId4" Type="http://schemas.openxmlformats.org/officeDocument/2006/relationships/image" Target="../media/image2.png"/></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3.xml"/><Relationship Id="rId1" Type="http://schemas.openxmlformats.org/officeDocument/2006/relationships/slideLayout" Target="../slideLayouts/slideLayout2.xml"/><Relationship Id="rId6" Type="http://schemas.openxmlformats.org/officeDocument/2006/relationships/image" Target="../media/image22.png"/><Relationship Id="rId5" Type="http://schemas.openxmlformats.org/officeDocument/2006/relationships/image" Target="../media/image21.png"/><Relationship Id="rId4" Type="http://schemas.openxmlformats.org/officeDocument/2006/relationships/image" Target="../media/image20.png"/></Relationships>
</file>

<file path=ppt/slides/_rels/slide16.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9144000" cy="5143500"/>
          </a:xfrm>
          <a:prstGeom prst="rect">
            <a:avLst/>
          </a:prstGeom>
          <a:solidFill>
            <a:srgbClr val="0D4F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548640" y="822960"/>
            <a:ext cx="54864" cy="1645920"/>
          </a:xfrm>
          <a:prstGeom prst="rect">
            <a:avLst/>
          </a:prstGeom>
          <a:solidFill>
            <a:srgbClr val="D4A84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822960" y="731520"/>
            <a:ext cx="7315200" cy="914400"/>
          </a:xfrm>
          <a:prstGeom prst="rect">
            <a:avLst/>
          </a:prstGeom>
          <a:noFill/>
        </p:spPr>
        <p:txBody>
          <a:bodyPr wrap="square">
            <a:spAutoFit/>
          </a:bodyPr>
          <a:lstStyle/>
          <a:p>
            <a:r>
              <a:rPr sz="3000" b="1">
                <a:solidFill>
                  <a:srgbClr val="FFFFFF"/>
                </a:solidFill>
                <a:latin typeface="Georgia"/>
              </a:rPr>
              <a:t>HPL Benchmark
Implémentation et résultats GPU</a:t>
            </a:r>
          </a:p>
        </p:txBody>
      </p:sp>
      <p:sp>
        <p:nvSpPr>
          <p:cNvPr id="5" name="TextBox 4"/>
          <p:cNvSpPr txBox="1"/>
          <p:nvPr/>
        </p:nvSpPr>
        <p:spPr>
          <a:xfrm>
            <a:off x="822960" y="1828800"/>
            <a:ext cx="7315200" cy="731520"/>
          </a:xfrm>
          <a:prstGeom prst="rect">
            <a:avLst/>
          </a:prstGeom>
          <a:noFill/>
        </p:spPr>
        <p:txBody>
          <a:bodyPr wrap="square">
            <a:spAutoFit/>
          </a:bodyPr>
          <a:lstStyle/>
          <a:p>
            <a:r>
              <a:rPr sz="1600">
                <a:solidFill>
                  <a:srgbClr val="B0D4D4"/>
                </a:solidFill>
                <a:latin typeface="Calibri"/>
              </a:rPr>
              <a:t>Analyse du code source et résultats sur GPU
A100 (Ampere) vs H100 (Hopper)</a:t>
            </a:r>
          </a:p>
        </p:txBody>
      </p:sp>
      <p:sp>
        <p:nvSpPr>
          <p:cNvPr id="6" name="Rectangle 5"/>
          <p:cNvSpPr/>
          <p:nvPr/>
        </p:nvSpPr>
        <p:spPr>
          <a:xfrm>
            <a:off x="0" y="3566160"/>
            <a:ext cx="9144000" cy="27432"/>
          </a:xfrm>
          <a:prstGeom prst="rect">
            <a:avLst/>
          </a:prstGeom>
          <a:solidFill>
            <a:srgbClr val="D4A84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822960" y="3703320"/>
            <a:ext cx="3635804" cy="307777"/>
          </a:xfrm>
          <a:prstGeom prst="rect">
            <a:avLst/>
          </a:prstGeom>
          <a:noFill/>
        </p:spPr>
        <p:txBody>
          <a:bodyPr wrap="none">
            <a:spAutoFit/>
          </a:bodyPr>
          <a:lstStyle/>
          <a:p>
            <a:r>
              <a:rPr sz="1400" b="1" dirty="0">
                <a:solidFill>
                  <a:srgbClr val="D4A843"/>
                </a:solidFill>
                <a:latin typeface="Calibri"/>
              </a:rPr>
              <a:t>BENMALK Achraf  —  </a:t>
            </a:r>
            <a:r>
              <a:rPr lang="fr-FR" sz="1400" b="1" dirty="0">
                <a:solidFill>
                  <a:srgbClr val="D4A843"/>
                </a:solidFill>
              </a:rPr>
              <a:t>BEZINE Mohamed </a:t>
            </a:r>
            <a:r>
              <a:rPr sz="1400" b="1" dirty="0">
                <a:solidFill>
                  <a:srgbClr val="D4A843"/>
                </a:solidFill>
                <a:latin typeface="Calibri"/>
              </a:rPr>
              <a:t>Karim</a:t>
            </a:r>
          </a:p>
        </p:txBody>
      </p:sp>
      <p:sp>
        <p:nvSpPr>
          <p:cNvPr id="8" name="TextBox 7"/>
          <p:cNvSpPr txBox="1"/>
          <p:nvPr/>
        </p:nvSpPr>
        <p:spPr>
          <a:xfrm>
            <a:off x="822960" y="3977639"/>
            <a:ext cx="7315200" cy="274320"/>
          </a:xfrm>
          <a:prstGeom prst="rect">
            <a:avLst/>
          </a:prstGeom>
          <a:noFill/>
        </p:spPr>
        <p:txBody>
          <a:bodyPr wrap="none">
            <a:spAutoFit/>
          </a:bodyPr>
          <a:lstStyle/>
          <a:p>
            <a:r>
              <a:rPr sz="1100">
                <a:solidFill>
                  <a:srgbClr val="7FB8B8"/>
                </a:solidFill>
                <a:latin typeface="Calibri"/>
              </a:rPr>
              <a:t>Projet MPNA — Méthodes et Programmation Numérique Avancée — 2026</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9144000" cy="5143500"/>
          </a:xfrm>
          <a:prstGeom prst="rect">
            <a:avLst/>
          </a:prstGeom>
          <a:solidFill>
            <a:srgbClr val="FAF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sp>
        <p:nvSpPr>
          <p:cNvPr id="3" name="TextBox 2"/>
          <p:cNvSpPr txBox="1"/>
          <p:nvPr/>
        </p:nvSpPr>
        <p:spPr>
          <a:xfrm>
            <a:off x="548640" y="228600"/>
            <a:ext cx="7772400" cy="457200"/>
          </a:xfrm>
          <a:prstGeom prst="rect">
            <a:avLst/>
          </a:prstGeom>
          <a:noFill/>
        </p:spPr>
        <p:txBody>
          <a:bodyPr wrap="none">
            <a:spAutoFit/>
          </a:bodyPr>
          <a:lstStyle/>
          <a:p>
            <a:r>
              <a:rPr sz="2400" b="1" dirty="0">
                <a:solidFill>
                  <a:srgbClr val="0D4F4F"/>
                </a:solidFill>
                <a:latin typeface="Georgia"/>
              </a:rPr>
              <a:t>Plan de la </a:t>
            </a:r>
            <a:r>
              <a:rPr sz="2400" b="1" dirty="0" err="1">
                <a:solidFill>
                  <a:srgbClr val="0D4F4F"/>
                </a:solidFill>
                <a:latin typeface="Georgia"/>
              </a:rPr>
              <a:t>présentation</a:t>
            </a:r>
            <a:endParaRPr sz="2400" b="1" dirty="0">
              <a:solidFill>
                <a:srgbClr val="0D4F4F"/>
              </a:solidFill>
              <a:latin typeface="Georgia"/>
            </a:endParaRPr>
          </a:p>
        </p:txBody>
      </p:sp>
      <p:sp>
        <p:nvSpPr>
          <p:cNvPr id="4" name="Rectangle 3"/>
          <p:cNvSpPr/>
          <p:nvPr/>
        </p:nvSpPr>
        <p:spPr>
          <a:xfrm>
            <a:off x="457200" y="960120"/>
            <a:ext cx="8229600" cy="173736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457200" y="960120"/>
            <a:ext cx="8229600" cy="45720"/>
          </a:xfrm>
          <a:prstGeom prst="rect">
            <a:avLst/>
          </a:prstGeom>
          <a:solidFill>
            <a:srgbClr val="0E7C7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640080" y="1143000"/>
            <a:ext cx="365760" cy="365760"/>
          </a:xfrm>
          <a:prstGeom prst="rect">
            <a:avLst/>
          </a:prstGeom>
          <a:solidFill>
            <a:srgbClr val="0E7C7B"/>
          </a:solidFill>
          <a:ln>
            <a:noFill/>
          </a:ln>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400" b="1">
                <a:solidFill>
                  <a:srgbClr val="FFFFFF"/>
                </a:solidFill>
                <a:latin typeface="Calibri"/>
              </a:rPr>
              <a:t>1</a:t>
            </a:r>
          </a:p>
        </p:txBody>
      </p:sp>
      <p:sp>
        <p:nvSpPr>
          <p:cNvPr id="7" name="TextBox 6"/>
          <p:cNvSpPr txBox="1"/>
          <p:nvPr/>
        </p:nvSpPr>
        <p:spPr>
          <a:xfrm>
            <a:off x="1188720" y="1097280"/>
            <a:ext cx="6858000" cy="365760"/>
          </a:xfrm>
          <a:prstGeom prst="rect">
            <a:avLst/>
          </a:prstGeom>
          <a:noFill/>
        </p:spPr>
        <p:txBody>
          <a:bodyPr wrap="none">
            <a:spAutoFit/>
          </a:bodyPr>
          <a:lstStyle/>
          <a:p>
            <a:r>
              <a:rPr sz="1400" b="1">
                <a:solidFill>
                  <a:srgbClr val="0E7C7B"/>
                </a:solidFill>
                <a:latin typeface="Georgia"/>
              </a:rPr>
              <a:t>Partie 1 — Analyse du code source (Mini HPL)</a:t>
            </a:r>
          </a:p>
        </p:txBody>
      </p:sp>
      <p:sp>
        <p:nvSpPr>
          <p:cNvPr id="8" name="TextBox 7"/>
          <p:cNvSpPr txBox="1"/>
          <p:nvPr/>
        </p:nvSpPr>
        <p:spPr>
          <a:xfrm>
            <a:off x="1188720" y="1508760"/>
            <a:ext cx="7315200" cy="1097280"/>
          </a:xfrm>
          <a:prstGeom prst="rect">
            <a:avLst/>
          </a:prstGeom>
          <a:noFill/>
        </p:spPr>
        <p:txBody>
          <a:bodyPr wrap="square">
            <a:spAutoFit/>
          </a:bodyPr>
          <a:lstStyle/>
          <a:p>
            <a:pPr>
              <a:spcAft>
                <a:spcPts val="200"/>
              </a:spcAft>
            </a:pPr>
            <a:r>
              <a:rPr sz="1100">
                <a:solidFill>
                  <a:srgbClr val="4A4A5A"/>
                </a:solidFill>
                <a:latin typeface="Calibri"/>
              </a:rPr>
              <a:t>  •  Élimination de Gauss et pivotage partiel</a:t>
            </a:r>
          </a:p>
          <a:p>
            <a:pPr>
              <a:spcAft>
                <a:spcPts val="200"/>
              </a:spcAft>
            </a:pPr>
            <a:r>
              <a:rPr sz="1100">
                <a:solidFill>
                  <a:srgbClr val="4A4A5A"/>
                </a:solidFill>
                <a:latin typeface="Calibri"/>
              </a:rPr>
              <a:t>  •  Exemple pas à pas (tournage à la main)</a:t>
            </a:r>
          </a:p>
          <a:p>
            <a:pPr>
              <a:spcAft>
                <a:spcPts val="200"/>
              </a:spcAft>
            </a:pPr>
            <a:r>
              <a:rPr sz="1100">
                <a:solidFill>
                  <a:srgbClr val="4A4A5A"/>
                </a:solidFill>
                <a:latin typeface="Calibri"/>
              </a:rPr>
              <a:t>  •  Communications MPI : recherche du pivot, échange de lignes</a:t>
            </a:r>
          </a:p>
          <a:p>
            <a:pPr>
              <a:spcAft>
                <a:spcPts val="200"/>
              </a:spcAft>
            </a:pPr>
            <a:r>
              <a:rPr sz="1100">
                <a:solidFill>
                  <a:srgbClr val="4A4A5A"/>
                </a:solidFill>
                <a:latin typeface="Calibri"/>
              </a:rPr>
              <a:t>  •  Broadcast, mise à jour, back-substitution parallèle</a:t>
            </a:r>
          </a:p>
          <a:p>
            <a:pPr>
              <a:spcAft>
                <a:spcPts val="200"/>
              </a:spcAft>
            </a:pPr>
            <a:r>
              <a:rPr sz="1100">
                <a:solidFill>
                  <a:srgbClr val="4A4A5A"/>
                </a:solidFill>
                <a:latin typeface="Calibri"/>
              </a:rPr>
              <a:t>  •  Calcul du résidu et validation</a:t>
            </a:r>
          </a:p>
        </p:txBody>
      </p:sp>
      <p:sp>
        <p:nvSpPr>
          <p:cNvPr id="9" name="Rectangle 8"/>
          <p:cNvSpPr/>
          <p:nvPr/>
        </p:nvSpPr>
        <p:spPr>
          <a:xfrm>
            <a:off x="457200" y="2926080"/>
            <a:ext cx="8229600" cy="173736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p:cNvSpPr/>
          <p:nvPr/>
        </p:nvSpPr>
        <p:spPr>
          <a:xfrm>
            <a:off x="457200" y="2926080"/>
            <a:ext cx="8229600" cy="45720"/>
          </a:xfrm>
          <a:prstGeom prst="rect">
            <a:avLst/>
          </a:prstGeom>
          <a:solidFill>
            <a:srgbClr val="E07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640080" y="3108960"/>
            <a:ext cx="365760" cy="365760"/>
          </a:xfrm>
          <a:prstGeom prst="rect">
            <a:avLst/>
          </a:prstGeom>
          <a:solidFill>
            <a:srgbClr val="E07A5F"/>
          </a:solidFill>
          <a:ln>
            <a:noFill/>
          </a:ln>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400" b="1">
                <a:solidFill>
                  <a:srgbClr val="FFFFFF"/>
                </a:solidFill>
                <a:latin typeface="Calibri"/>
              </a:rPr>
              <a:t>2</a:t>
            </a:r>
          </a:p>
        </p:txBody>
      </p:sp>
      <p:sp>
        <p:nvSpPr>
          <p:cNvPr id="12" name="TextBox 11"/>
          <p:cNvSpPr txBox="1"/>
          <p:nvPr/>
        </p:nvSpPr>
        <p:spPr>
          <a:xfrm>
            <a:off x="1188720" y="3063240"/>
            <a:ext cx="6858000" cy="365760"/>
          </a:xfrm>
          <a:prstGeom prst="rect">
            <a:avLst/>
          </a:prstGeom>
          <a:noFill/>
        </p:spPr>
        <p:txBody>
          <a:bodyPr wrap="none">
            <a:spAutoFit/>
          </a:bodyPr>
          <a:lstStyle/>
          <a:p>
            <a:r>
              <a:rPr sz="1400" b="1">
                <a:solidFill>
                  <a:srgbClr val="E07A5F"/>
                </a:solidFill>
                <a:latin typeface="Georgia"/>
              </a:rPr>
              <a:t>Partie 2 — Exécution et résultats GPU</a:t>
            </a:r>
          </a:p>
        </p:txBody>
      </p:sp>
      <p:sp>
        <p:nvSpPr>
          <p:cNvPr id="13" name="TextBox 12"/>
          <p:cNvSpPr txBox="1"/>
          <p:nvPr/>
        </p:nvSpPr>
        <p:spPr>
          <a:xfrm>
            <a:off x="1188720" y="3474720"/>
            <a:ext cx="7315200" cy="1041311"/>
          </a:xfrm>
          <a:prstGeom prst="rect">
            <a:avLst/>
          </a:prstGeom>
          <a:noFill/>
        </p:spPr>
        <p:txBody>
          <a:bodyPr wrap="square">
            <a:spAutoFit/>
          </a:bodyPr>
          <a:lstStyle/>
          <a:p>
            <a:pPr>
              <a:spcAft>
                <a:spcPts val="200"/>
              </a:spcAft>
            </a:pPr>
            <a:r>
              <a:rPr sz="1100" dirty="0">
                <a:solidFill>
                  <a:srgbClr val="4A4A5A"/>
                </a:solidFill>
                <a:latin typeface="Calibri"/>
              </a:rPr>
              <a:t>  •  </a:t>
            </a:r>
            <a:r>
              <a:rPr sz="1100" dirty="0" err="1">
                <a:solidFill>
                  <a:srgbClr val="4A4A5A"/>
                </a:solidFill>
                <a:latin typeface="Calibri"/>
              </a:rPr>
              <a:t>Plateforme</a:t>
            </a:r>
            <a:r>
              <a:rPr sz="1100" dirty="0">
                <a:solidFill>
                  <a:srgbClr val="4A4A5A"/>
                </a:solidFill>
                <a:latin typeface="Calibri"/>
              </a:rPr>
              <a:t> </a:t>
            </a:r>
            <a:r>
              <a:rPr sz="1100" dirty="0" err="1">
                <a:solidFill>
                  <a:srgbClr val="4A4A5A"/>
                </a:solidFill>
                <a:latin typeface="Calibri"/>
              </a:rPr>
              <a:t>d'exécution</a:t>
            </a:r>
            <a:r>
              <a:rPr sz="1100" dirty="0">
                <a:solidFill>
                  <a:srgbClr val="4A4A5A"/>
                </a:solidFill>
                <a:latin typeface="Calibri"/>
              </a:rPr>
              <a:t> et étapes du benchmark</a:t>
            </a:r>
          </a:p>
          <a:p>
            <a:pPr>
              <a:spcAft>
                <a:spcPts val="200"/>
              </a:spcAft>
            </a:pPr>
            <a:r>
              <a:rPr sz="1100" dirty="0">
                <a:solidFill>
                  <a:srgbClr val="4A4A5A"/>
                </a:solidFill>
                <a:latin typeface="Calibri"/>
              </a:rPr>
              <a:t>  •  </a:t>
            </a:r>
            <a:r>
              <a:rPr sz="1100" dirty="0" err="1">
                <a:solidFill>
                  <a:srgbClr val="4A4A5A"/>
                </a:solidFill>
                <a:latin typeface="Calibri"/>
              </a:rPr>
              <a:t>Résultats</a:t>
            </a:r>
            <a:r>
              <a:rPr sz="1100" dirty="0">
                <a:solidFill>
                  <a:srgbClr val="4A4A5A"/>
                </a:solidFill>
                <a:latin typeface="Calibri"/>
              </a:rPr>
              <a:t> A100 (Ampere) et H100 (Hopper)</a:t>
            </a:r>
          </a:p>
          <a:p>
            <a:pPr>
              <a:spcAft>
                <a:spcPts val="200"/>
              </a:spcAft>
            </a:pPr>
            <a:r>
              <a:rPr sz="1100" dirty="0">
                <a:solidFill>
                  <a:srgbClr val="4A4A5A"/>
                </a:solidFill>
                <a:latin typeface="Calibri"/>
              </a:rPr>
              <a:t>  •  </a:t>
            </a:r>
            <a:r>
              <a:rPr sz="1100" dirty="0" err="1">
                <a:solidFill>
                  <a:srgbClr val="4A4A5A"/>
                </a:solidFill>
                <a:latin typeface="Calibri"/>
              </a:rPr>
              <a:t>Anomalie</a:t>
            </a:r>
            <a:r>
              <a:rPr sz="1100" dirty="0">
                <a:solidFill>
                  <a:srgbClr val="4A4A5A"/>
                </a:solidFill>
                <a:latin typeface="Calibri"/>
              </a:rPr>
              <a:t> multi-GPU à N = 20 000</a:t>
            </a:r>
          </a:p>
          <a:p>
            <a:pPr>
              <a:spcAft>
                <a:spcPts val="200"/>
              </a:spcAft>
            </a:pPr>
            <a:r>
              <a:rPr sz="1100" dirty="0">
                <a:solidFill>
                  <a:srgbClr val="4A4A5A"/>
                </a:solidFill>
                <a:latin typeface="Calibri"/>
              </a:rPr>
              <a:t>  •  </a:t>
            </a:r>
            <a:r>
              <a:rPr sz="1100" dirty="0" err="1">
                <a:solidFill>
                  <a:srgbClr val="4A4A5A"/>
                </a:solidFill>
                <a:latin typeface="Calibri"/>
              </a:rPr>
              <a:t>Comparaison</a:t>
            </a:r>
            <a:r>
              <a:rPr sz="1100" dirty="0">
                <a:solidFill>
                  <a:srgbClr val="4A4A5A"/>
                </a:solidFill>
                <a:latin typeface="Calibri"/>
              </a:rPr>
              <a:t> </a:t>
            </a:r>
            <a:r>
              <a:rPr sz="1100" dirty="0" err="1">
                <a:solidFill>
                  <a:srgbClr val="4A4A5A"/>
                </a:solidFill>
                <a:latin typeface="Calibri"/>
              </a:rPr>
              <a:t>architecturale</a:t>
            </a:r>
            <a:r>
              <a:rPr sz="1100" dirty="0">
                <a:solidFill>
                  <a:srgbClr val="4A4A5A"/>
                </a:solidFill>
                <a:latin typeface="Calibri"/>
              </a:rPr>
              <a:t> et </a:t>
            </a:r>
            <a:r>
              <a:rPr sz="1100" dirty="0" err="1">
                <a:solidFill>
                  <a:srgbClr val="4A4A5A"/>
                </a:solidFill>
                <a:latin typeface="Calibri"/>
              </a:rPr>
              <a:t>synthèse</a:t>
            </a:r>
            <a:r>
              <a:rPr sz="1100" dirty="0">
                <a:solidFill>
                  <a:srgbClr val="4A4A5A"/>
                </a:solidFill>
                <a:latin typeface="Calibri"/>
              </a:rPr>
              <a:t> de </a:t>
            </a:r>
            <a:r>
              <a:rPr sz="1100" dirty="0" err="1">
                <a:solidFill>
                  <a:srgbClr val="4A4A5A"/>
                </a:solidFill>
                <a:latin typeface="Calibri"/>
              </a:rPr>
              <a:t>l'efficacité</a:t>
            </a:r>
            <a:endParaRPr sz="1100" dirty="0">
              <a:solidFill>
                <a:srgbClr val="4A4A5A"/>
              </a:solidFill>
              <a:latin typeface="Calibri"/>
            </a:endParaRPr>
          </a:p>
          <a:p>
            <a:pPr>
              <a:spcAft>
                <a:spcPts val="200"/>
              </a:spcAft>
            </a:pPr>
            <a:r>
              <a:rPr sz="1100" dirty="0">
                <a:solidFill>
                  <a:srgbClr val="4A4A5A"/>
                </a:solidFill>
                <a:latin typeface="Calibri"/>
              </a:rPr>
              <a:t>  •  Conclusion</a:t>
            </a:r>
          </a:p>
        </p:txBody>
      </p:sp>
      <p:sp>
        <p:nvSpPr>
          <p:cNvPr id="16" name="TextBox 15">
            <a:extLst>
              <a:ext uri="{FF2B5EF4-FFF2-40B4-BE49-F238E27FC236}">
                <a16:creationId xmlns:a16="http://schemas.microsoft.com/office/drawing/2014/main" id="{430DFAE9-3A50-5E24-221E-D2537BC7D29E}"/>
              </a:ext>
            </a:extLst>
          </p:cNvPr>
          <p:cNvSpPr txBox="1"/>
          <p:nvPr/>
        </p:nvSpPr>
        <p:spPr>
          <a:xfrm>
            <a:off x="8394732" y="43934"/>
            <a:ext cx="696024" cy="369332"/>
          </a:xfrm>
          <a:prstGeom prst="rect">
            <a:avLst/>
          </a:prstGeom>
          <a:noFill/>
        </p:spPr>
        <p:txBody>
          <a:bodyPr wrap="none" rtlCol="0">
            <a:spAutoFit/>
          </a:bodyPr>
          <a:lstStyle/>
          <a:p>
            <a:r>
              <a:rPr lang="fr-FR" b="1" dirty="0">
                <a:solidFill>
                  <a:srgbClr val="0D4F4F"/>
                </a:solidFill>
                <a:latin typeface="Georgia"/>
              </a:rPr>
              <a:t>2/21</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2">
    <p:bg>
      <p:bgPr>
        <a:solidFill>
          <a:srgbClr val="FAF8F0"/>
        </a:solidFill>
        <a:effectLst/>
      </p:bgPr>
    </p:bg>
    <p:spTree>
      <p:nvGrpSpPr>
        <p:cNvPr id="1" name=""/>
        <p:cNvGrpSpPr/>
        <p:nvPr/>
      </p:nvGrpSpPr>
      <p:grpSpPr>
        <a:xfrm>
          <a:off x="0" y="0"/>
          <a:ext cx="0" cy="0"/>
          <a:chOff x="0" y="0"/>
          <a:chExt cx="0" cy="0"/>
        </a:xfrm>
      </p:grpSpPr>
      <p:sp>
        <p:nvSpPr>
          <p:cNvPr id="2" name="Text 0"/>
          <p:cNvSpPr/>
          <p:nvPr/>
        </p:nvSpPr>
        <p:spPr>
          <a:xfrm>
            <a:off x="548640" y="228600"/>
            <a:ext cx="8229600" cy="457200"/>
          </a:xfrm>
          <a:prstGeom prst="rect">
            <a:avLst/>
          </a:prstGeom>
          <a:noFill/>
          <a:ln/>
        </p:spPr>
        <p:txBody>
          <a:bodyPr wrap="square" lIns="0" tIns="0" rIns="0" bIns="0" rtlCol="0" anchor="ctr"/>
          <a:lstStyle/>
          <a:p>
            <a:pPr marL="0" indent="0">
              <a:buNone/>
            </a:pPr>
            <a:r>
              <a:rPr lang="en-US" sz="2400" b="1" dirty="0">
                <a:solidFill>
                  <a:srgbClr val="0D4F4F"/>
                </a:solidFill>
                <a:latin typeface="Georgia" pitchFamily="34" charset="0"/>
                <a:ea typeface="Georgia" pitchFamily="34" charset="-122"/>
                <a:cs typeface="Georgia" pitchFamily="34" charset="-120"/>
              </a:rPr>
              <a:t>Le problème : résistance aux antibiotiques</a:t>
            </a:r>
            <a:endParaRPr lang="en-US" sz="2400" dirty="0"/>
          </a:p>
        </p:txBody>
      </p:sp>
      <p:sp>
        <p:nvSpPr>
          <p:cNvPr id="3" name="Text 1"/>
          <p:cNvSpPr/>
          <p:nvPr/>
        </p:nvSpPr>
        <p:spPr>
          <a:xfrm>
            <a:off x="548640" y="658368"/>
            <a:ext cx="8229600" cy="274320"/>
          </a:xfrm>
          <a:prstGeom prst="rect">
            <a:avLst/>
          </a:prstGeom>
          <a:noFill/>
          <a:ln/>
        </p:spPr>
        <p:txBody>
          <a:bodyPr wrap="square" lIns="0" tIns="0" rIns="0" bIns="0" rtlCol="0" anchor="ctr"/>
          <a:lstStyle/>
          <a:p>
            <a:pPr marL="0" indent="0">
              <a:buNone/>
            </a:pPr>
            <a:r>
              <a:rPr lang="en-US" sz="1200" i="1" dirty="0">
                <a:solidFill>
                  <a:srgbClr val="8A8A9A"/>
                </a:solidFill>
                <a:latin typeface="Calibri" pitchFamily="34" charset="0"/>
                <a:ea typeface="Calibri" pitchFamily="34" charset="-122"/>
                <a:cs typeface="Calibri" pitchFamily="34" charset="-120"/>
              </a:rPr>
              <a:t>L'une des plus grandes menaces pour la santé publique mondiale (OMS, 2014)</a:t>
            </a:r>
            <a:endParaRPr lang="en-US" sz="1200" dirty="0"/>
          </a:p>
        </p:txBody>
      </p:sp>
      <p:sp>
        <p:nvSpPr>
          <p:cNvPr id="4" name="Shape 2"/>
          <p:cNvSpPr/>
          <p:nvPr/>
        </p:nvSpPr>
        <p:spPr>
          <a:xfrm>
            <a:off x="548640" y="1371600"/>
            <a:ext cx="2560320" cy="1371600"/>
          </a:xfrm>
          <a:prstGeom prst="rect">
            <a:avLst/>
          </a:prstGeom>
          <a:solidFill>
            <a:srgbClr val="FFFFFF"/>
          </a:solidFill>
          <a:ln/>
          <a:effectLst>
            <a:outerShdw blurRad="50800" dist="25400" dir="8100000" algn="bl" rotWithShape="0">
              <a:srgbClr val="000000">
                <a:alpha val="8000"/>
              </a:srgbClr>
            </a:outerShdw>
          </a:effectLst>
        </p:spPr>
        <p:txBody>
          <a:bodyPr/>
          <a:lstStyle/>
          <a:p>
            <a:endParaRPr lang="fr-FR"/>
          </a:p>
        </p:txBody>
      </p:sp>
      <p:sp>
        <p:nvSpPr>
          <p:cNvPr id="5" name="Shape 3"/>
          <p:cNvSpPr/>
          <p:nvPr/>
        </p:nvSpPr>
        <p:spPr>
          <a:xfrm>
            <a:off x="685800" y="1508760"/>
            <a:ext cx="365760" cy="365760"/>
          </a:xfrm>
          <a:prstGeom prst="ellipse">
            <a:avLst/>
          </a:prstGeom>
          <a:solidFill>
            <a:srgbClr val="0E7C7B"/>
          </a:solidFill>
          <a:ln/>
        </p:spPr>
        <p:txBody>
          <a:bodyPr/>
          <a:lstStyle/>
          <a:p>
            <a:endParaRPr lang="fr-FR"/>
          </a:p>
        </p:txBody>
      </p:sp>
      <p:sp>
        <p:nvSpPr>
          <p:cNvPr id="6" name="Text 4"/>
          <p:cNvSpPr/>
          <p:nvPr/>
        </p:nvSpPr>
        <p:spPr>
          <a:xfrm>
            <a:off x="685800" y="1508760"/>
            <a:ext cx="365760" cy="365760"/>
          </a:xfrm>
          <a:prstGeom prst="rect">
            <a:avLst/>
          </a:prstGeom>
          <a:noFill/>
          <a:ln/>
        </p:spPr>
        <p:txBody>
          <a:bodyPr wrap="square"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7" name="Text 5"/>
          <p:cNvSpPr/>
          <p:nvPr/>
        </p:nvSpPr>
        <p:spPr>
          <a:xfrm>
            <a:off x="1143000" y="1508760"/>
            <a:ext cx="1828800" cy="1097280"/>
          </a:xfrm>
          <a:prstGeom prst="rect">
            <a:avLst/>
          </a:prstGeom>
          <a:noFill/>
          <a:ln/>
        </p:spPr>
        <p:txBody>
          <a:bodyPr wrap="square" rtlCol="0" anchor="t"/>
          <a:lstStyle/>
          <a:p>
            <a:pPr marL="0" indent="0">
              <a:buNone/>
            </a:pPr>
            <a:r>
              <a:rPr lang="en-US" sz="1200" dirty="0">
                <a:solidFill>
                  <a:srgbClr val="1A1A2E"/>
                </a:solidFill>
                <a:latin typeface="Calibri" pitchFamily="34" charset="0"/>
                <a:ea typeface="Calibri" pitchFamily="34" charset="-122"/>
                <a:cs typeface="Calibri" pitchFamily="34" charset="-120"/>
              </a:rPr>
              <a:t>Antibiotiques massivement</a:t>
            </a:r>
            <a:endParaRPr lang="en-US" sz="1200" dirty="0"/>
          </a:p>
          <a:p>
            <a:pPr marL="0" indent="0">
              <a:buNone/>
            </a:pPr>
            <a:r>
              <a:rPr lang="en-US" sz="1200" dirty="0">
                <a:solidFill>
                  <a:srgbClr val="1A1A2E"/>
                </a:solidFill>
                <a:latin typeface="Calibri" pitchFamily="34" charset="0"/>
                <a:ea typeface="Calibri" pitchFamily="34" charset="-122"/>
                <a:cs typeface="Calibri" pitchFamily="34" charset="-120"/>
              </a:rPr>
              <a:t>utilisés en élevage</a:t>
            </a:r>
            <a:endParaRPr lang="en-US" sz="1200" dirty="0"/>
          </a:p>
        </p:txBody>
      </p:sp>
      <p:pic>
        <p:nvPicPr>
          <p:cNvPr id="8" name="Image 0" descr="preencoded.png"/>
          <p:cNvPicPr>
            <a:picLocks noChangeAspect="1"/>
          </p:cNvPicPr>
          <p:nvPr/>
        </p:nvPicPr>
        <p:blipFill>
          <a:blip r:embed="rId3"/>
          <a:stretch>
            <a:fillRect/>
          </a:stretch>
        </p:blipFill>
        <p:spPr>
          <a:xfrm>
            <a:off x="3154680" y="1828800"/>
            <a:ext cx="201168" cy="201168"/>
          </a:xfrm>
          <a:prstGeom prst="rect">
            <a:avLst/>
          </a:prstGeom>
        </p:spPr>
      </p:pic>
      <p:sp>
        <p:nvSpPr>
          <p:cNvPr id="9" name="Shape 6"/>
          <p:cNvSpPr/>
          <p:nvPr/>
        </p:nvSpPr>
        <p:spPr>
          <a:xfrm>
            <a:off x="3383280" y="1371600"/>
            <a:ext cx="2560320" cy="1371600"/>
          </a:xfrm>
          <a:prstGeom prst="rect">
            <a:avLst/>
          </a:prstGeom>
          <a:solidFill>
            <a:srgbClr val="FFFFFF"/>
          </a:solidFill>
          <a:ln/>
          <a:effectLst>
            <a:outerShdw blurRad="50800" dist="25400" dir="8100000" algn="bl" rotWithShape="0">
              <a:srgbClr val="000000">
                <a:alpha val="8000"/>
              </a:srgbClr>
            </a:outerShdw>
          </a:effectLst>
        </p:spPr>
        <p:txBody>
          <a:bodyPr/>
          <a:lstStyle/>
          <a:p>
            <a:endParaRPr lang="fr-FR"/>
          </a:p>
        </p:txBody>
      </p:sp>
      <p:sp>
        <p:nvSpPr>
          <p:cNvPr id="10" name="Shape 7"/>
          <p:cNvSpPr/>
          <p:nvPr/>
        </p:nvSpPr>
        <p:spPr>
          <a:xfrm>
            <a:off x="3520440" y="1508760"/>
            <a:ext cx="365760" cy="365760"/>
          </a:xfrm>
          <a:prstGeom prst="ellipse">
            <a:avLst/>
          </a:prstGeom>
          <a:solidFill>
            <a:srgbClr val="0E7C7B"/>
          </a:solidFill>
          <a:ln/>
        </p:spPr>
        <p:txBody>
          <a:bodyPr/>
          <a:lstStyle/>
          <a:p>
            <a:endParaRPr lang="fr-FR"/>
          </a:p>
        </p:txBody>
      </p:sp>
      <p:sp>
        <p:nvSpPr>
          <p:cNvPr id="11" name="Text 8"/>
          <p:cNvSpPr/>
          <p:nvPr/>
        </p:nvSpPr>
        <p:spPr>
          <a:xfrm>
            <a:off x="3520440" y="1508760"/>
            <a:ext cx="365760" cy="365760"/>
          </a:xfrm>
          <a:prstGeom prst="rect">
            <a:avLst/>
          </a:prstGeom>
          <a:noFill/>
          <a:ln/>
        </p:spPr>
        <p:txBody>
          <a:bodyPr wrap="square"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2" name="Text 9"/>
          <p:cNvSpPr/>
          <p:nvPr/>
        </p:nvSpPr>
        <p:spPr>
          <a:xfrm>
            <a:off x="3977640" y="1508760"/>
            <a:ext cx="1828800" cy="1097280"/>
          </a:xfrm>
          <a:prstGeom prst="rect">
            <a:avLst/>
          </a:prstGeom>
          <a:noFill/>
          <a:ln/>
        </p:spPr>
        <p:txBody>
          <a:bodyPr wrap="square" rtlCol="0" anchor="t"/>
          <a:lstStyle/>
          <a:p>
            <a:pPr marL="0" indent="0">
              <a:buNone/>
            </a:pPr>
            <a:r>
              <a:rPr lang="en-US" sz="1200" dirty="0">
                <a:solidFill>
                  <a:srgbClr val="1A1A2E"/>
                </a:solidFill>
                <a:latin typeface="Calibri" pitchFamily="34" charset="0"/>
                <a:ea typeface="Calibri" pitchFamily="34" charset="-122"/>
                <a:cs typeface="Calibri" pitchFamily="34" charset="-120"/>
              </a:rPr>
              <a:t>Résidus atteignent</a:t>
            </a:r>
            <a:endParaRPr lang="en-US" sz="1200" dirty="0"/>
          </a:p>
          <a:p>
            <a:pPr marL="0" indent="0">
              <a:buNone/>
            </a:pPr>
            <a:r>
              <a:rPr lang="en-US" sz="1200" dirty="0">
                <a:solidFill>
                  <a:srgbClr val="1A1A2E"/>
                </a:solidFill>
                <a:latin typeface="Calibri" pitchFamily="34" charset="0"/>
                <a:ea typeface="Calibri" pitchFamily="34" charset="-122"/>
                <a:cs typeface="Calibri" pitchFamily="34" charset="-120"/>
              </a:rPr>
              <a:t>le côlon</a:t>
            </a:r>
            <a:endParaRPr lang="en-US" sz="1200" dirty="0"/>
          </a:p>
        </p:txBody>
      </p:sp>
      <p:pic>
        <p:nvPicPr>
          <p:cNvPr id="13" name="Image 1" descr="preencoded.png"/>
          <p:cNvPicPr>
            <a:picLocks noChangeAspect="1"/>
          </p:cNvPicPr>
          <p:nvPr/>
        </p:nvPicPr>
        <p:blipFill>
          <a:blip r:embed="rId3"/>
          <a:stretch>
            <a:fillRect/>
          </a:stretch>
        </p:blipFill>
        <p:spPr>
          <a:xfrm>
            <a:off x="5989320" y="1828800"/>
            <a:ext cx="201168" cy="201168"/>
          </a:xfrm>
          <a:prstGeom prst="rect">
            <a:avLst/>
          </a:prstGeom>
        </p:spPr>
      </p:pic>
      <p:sp>
        <p:nvSpPr>
          <p:cNvPr id="14" name="Shape 10"/>
          <p:cNvSpPr/>
          <p:nvPr/>
        </p:nvSpPr>
        <p:spPr>
          <a:xfrm>
            <a:off x="6217920" y="1371600"/>
            <a:ext cx="2560320" cy="1371600"/>
          </a:xfrm>
          <a:prstGeom prst="rect">
            <a:avLst/>
          </a:prstGeom>
          <a:solidFill>
            <a:srgbClr val="FFFFFF"/>
          </a:solidFill>
          <a:ln/>
          <a:effectLst>
            <a:outerShdw blurRad="50800" dist="25400" dir="8100000" algn="bl" rotWithShape="0">
              <a:srgbClr val="000000">
                <a:alpha val="8000"/>
              </a:srgbClr>
            </a:outerShdw>
          </a:effectLst>
        </p:spPr>
        <p:txBody>
          <a:bodyPr/>
          <a:lstStyle/>
          <a:p>
            <a:endParaRPr lang="fr-FR"/>
          </a:p>
        </p:txBody>
      </p:sp>
      <p:sp>
        <p:nvSpPr>
          <p:cNvPr id="15" name="Shape 11"/>
          <p:cNvSpPr/>
          <p:nvPr/>
        </p:nvSpPr>
        <p:spPr>
          <a:xfrm>
            <a:off x="6355080" y="1508760"/>
            <a:ext cx="365760" cy="365760"/>
          </a:xfrm>
          <a:prstGeom prst="ellipse">
            <a:avLst/>
          </a:prstGeom>
          <a:solidFill>
            <a:srgbClr val="0E7C7B"/>
          </a:solidFill>
          <a:ln/>
        </p:spPr>
        <p:txBody>
          <a:bodyPr/>
          <a:lstStyle/>
          <a:p>
            <a:endParaRPr lang="fr-FR"/>
          </a:p>
        </p:txBody>
      </p:sp>
      <p:sp>
        <p:nvSpPr>
          <p:cNvPr id="16" name="Text 12"/>
          <p:cNvSpPr/>
          <p:nvPr/>
        </p:nvSpPr>
        <p:spPr>
          <a:xfrm>
            <a:off x="6355080" y="1508760"/>
            <a:ext cx="365760" cy="365760"/>
          </a:xfrm>
          <a:prstGeom prst="rect">
            <a:avLst/>
          </a:prstGeom>
          <a:noFill/>
          <a:ln/>
        </p:spPr>
        <p:txBody>
          <a:bodyPr wrap="square"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7" name="Text 13"/>
          <p:cNvSpPr/>
          <p:nvPr/>
        </p:nvSpPr>
        <p:spPr>
          <a:xfrm>
            <a:off x="6812280" y="1508760"/>
            <a:ext cx="1828800" cy="1097280"/>
          </a:xfrm>
          <a:prstGeom prst="rect">
            <a:avLst/>
          </a:prstGeom>
          <a:noFill/>
          <a:ln/>
        </p:spPr>
        <p:txBody>
          <a:bodyPr wrap="square" rtlCol="0" anchor="t"/>
          <a:lstStyle/>
          <a:p>
            <a:pPr marL="0" indent="0">
              <a:buNone/>
            </a:pPr>
            <a:r>
              <a:rPr lang="en-US" sz="1200" dirty="0">
                <a:solidFill>
                  <a:srgbClr val="1A1A2E"/>
                </a:solidFill>
                <a:latin typeface="Calibri" pitchFamily="34" charset="0"/>
                <a:ea typeface="Calibri" pitchFamily="34" charset="-122"/>
                <a:cs typeface="Calibri" pitchFamily="34" charset="-120"/>
              </a:rPr>
              <a:t>Bactéries sensibles</a:t>
            </a:r>
            <a:endParaRPr lang="en-US" sz="1200" dirty="0"/>
          </a:p>
          <a:p>
            <a:pPr marL="0" indent="0">
              <a:buNone/>
            </a:pPr>
            <a:r>
              <a:rPr lang="en-US" sz="1200" dirty="0">
                <a:solidFill>
                  <a:srgbClr val="1A1A2E"/>
                </a:solidFill>
                <a:latin typeface="Calibri" pitchFamily="34" charset="0"/>
                <a:ea typeface="Calibri" pitchFamily="34" charset="-122"/>
                <a:cs typeface="Calibri" pitchFamily="34" charset="-120"/>
              </a:rPr>
              <a:t>éliminées</a:t>
            </a:r>
            <a:endParaRPr lang="en-US" sz="1200" dirty="0"/>
          </a:p>
        </p:txBody>
      </p:sp>
      <p:sp>
        <p:nvSpPr>
          <p:cNvPr id="18" name="Shape 14"/>
          <p:cNvSpPr/>
          <p:nvPr/>
        </p:nvSpPr>
        <p:spPr>
          <a:xfrm>
            <a:off x="548640" y="3063240"/>
            <a:ext cx="2560320" cy="1371600"/>
          </a:xfrm>
          <a:prstGeom prst="rect">
            <a:avLst/>
          </a:prstGeom>
          <a:solidFill>
            <a:srgbClr val="FFFFFF"/>
          </a:solidFill>
          <a:ln/>
          <a:effectLst>
            <a:outerShdw blurRad="50800" dist="25400" dir="8100000" algn="bl" rotWithShape="0">
              <a:srgbClr val="000000">
                <a:alpha val="8000"/>
              </a:srgbClr>
            </a:outerShdw>
          </a:effectLst>
        </p:spPr>
        <p:txBody>
          <a:bodyPr/>
          <a:lstStyle/>
          <a:p>
            <a:endParaRPr lang="fr-FR"/>
          </a:p>
        </p:txBody>
      </p:sp>
      <p:sp>
        <p:nvSpPr>
          <p:cNvPr id="19" name="Shape 15"/>
          <p:cNvSpPr/>
          <p:nvPr/>
        </p:nvSpPr>
        <p:spPr>
          <a:xfrm>
            <a:off x="685800" y="3200400"/>
            <a:ext cx="365760" cy="365760"/>
          </a:xfrm>
          <a:prstGeom prst="ellipse">
            <a:avLst/>
          </a:prstGeom>
          <a:solidFill>
            <a:srgbClr val="E07A5F"/>
          </a:solidFill>
          <a:ln/>
        </p:spPr>
        <p:txBody>
          <a:bodyPr/>
          <a:lstStyle/>
          <a:p>
            <a:endParaRPr lang="fr-FR"/>
          </a:p>
        </p:txBody>
      </p:sp>
      <p:sp>
        <p:nvSpPr>
          <p:cNvPr id="20" name="Text 16"/>
          <p:cNvSpPr/>
          <p:nvPr/>
        </p:nvSpPr>
        <p:spPr>
          <a:xfrm>
            <a:off x="685800" y="3200400"/>
            <a:ext cx="365760" cy="365760"/>
          </a:xfrm>
          <a:prstGeom prst="rect">
            <a:avLst/>
          </a:prstGeom>
          <a:noFill/>
          <a:ln/>
        </p:spPr>
        <p:txBody>
          <a:bodyPr wrap="square"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21" name="Text 17"/>
          <p:cNvSpPr/>
          <p:nvPr/>
        </p:nvSpPr>
        <p:spPr>
          <a:xfrm>
            <a:off x="1143000" y="3200400"/>
            <a:ext cx="1828800" cy="1097280"/>
          </a:xfrm>
          <a:prstGeom prst="rect">
            <a:avLst/>
          </a:prstGeom>
          <a:noFill/>
          <a:ln/>
        </p:spPr>
        <p:txBody>
          <a:bodyPr wrap="square" rtlCol="0" anchor="t"/>
          <a:lstStyle/>
          <a:p>
            <a:pPr marL="0" indent="0">
              <a:buNone/>
            </a:pPr>
            <a:r>
              <a:rPr lang="en-US" sz="1200" dirty="0">
                <a:solidFill>
                  <a:srgbClr val="1A1A2E"/>
                </a:solidFill>
                <a:latin typeface="Calibri" pitchFamily="34" charset="0"/>
                <a:ea typeface="Calibri" pitchFamily="34" charset="-122"/>
                <a:cs typeface="Calibri" pitchFamily="34" charset="-120"/>
              </a:rPr>
              <a:t>Bactéries résistantes</a:t>
            </a:r>
            <a:endParaRPr lang="en-US" sz="1200" dirty="0"/>
          </a:p>
          <a:p>
            <a:pPr marL="0" indent="0">
              <a:buNone/>
            </a:pPr>
            <a:r>
              <a:rPr lang="en-US" sz="1200" dirty="0">
                <a:solidFill>
                  <a:srgbClr val="1A1A2E"/>
                </a:solidFill>
                <a:latin typeface="Calibri" pitchFamily="34" charset="0"/>
                <a:ea typeface="Calibri" pitchFamily="34" charset="-122"/>
                <a:cs typeface="Calibri" pitchFamily="34" charset="-120"/>
              </a:rPr>
              <a:t>colonisent les niches</a:t>
            </a:r>
            <a:endParaRPr lang="en-US" sz="1200" dirty="0"/>
          </a:p>
        </p:txBody>
      </p:sp>
      <p:pic>
        <p:nvPicPr>
          <p:cNvPr id="22" name="Image 2" descr="preencoded.png"/>
          <p:cNvPicPr>
            <a:picLocks noChangeAspect="1"/>
          </p:cNvPicPr>
          <p:nvPr/>
        </p:nvPicPr>
        <p:blipFill>
          <a:blip r:embed="rId3"/>
          <a:stretch>
            <a:fillRect/>
          </a:stretch>
        </p:blipFill>
        <p:spPr>
          <a:xfrm>
            <a:off x="3154680" y="3520440"/>
            <a:ext cx="201168" cy="201168"/>
          </a:xfrm>
          <a:prstGeom prst="rect">
            <a:avLst/>
          </a:prstGeom>
        </p:spPr>
      </p:pic>
      <p:sp>
        <p:nvSpPr>
          <p:cNvPr id="23" name="Shape 18"/>
          <p:cNvSpPr/>
          <p:nvPr/>
        </p:nvSpPr>
        <p:spPr>
          <a:xfrm>
            <a:off x="3383280" y="3063240"/>
            <a:ext cx="2560320" cy="1371600"/>
          </a:xfrm>
          <a:prstGeom prst="rect">
            <a:avLst/>
          </a:prstGeom>
          <a:solidFill>
            <a:srgbClr val="FFFFFF"/>
          </a:solidFill>
          <a:ln/>
          <a:effectLst>
            <a:outerShdw blurRad="50800" dist="25400" dir="8100000" algn="bl" rotWithShape="0">
              <a:srgbClr val="000000">
                <a:alpha val="8000"/>
              </a:srgbClr>
            </a:outerShdw>
          </a:effectLst>
        </p:spPr>
        <p:txBody>
          <a:bodyPr/>
          <a:lstStyle/>
          <a:p>
            <a:endParaRPr lang="fr-FR"/>
          </a:p>
        </p:txBody>
      </p:sp>
      <p:sp>
        <p:nvSpPr>
          <p:cNvPr id="24" name="Shape 19"/>
          <p:cNvSpPr/>
          <p:nvPr/>
        </p:nvSpPr>
        <p:spPr>
          <a:xfrm>
            <a:off x="3520440" y="3200400"/>
            <a:ext cx="365760" cy="365760"/>
          </a:xfrm>
          <a:prstGeom prst="ellipse">
            <a:avLst/>
          </a:prstGeom>
          <a:solidFill>
            <a:srgbClr val="E07A5F"/>
          </a:solidFill>
          <a:ln/>
        </p:spPr>
        <p:txBody>
          <a:bodyPr/>
          <a:lstStyle/>
          <a:p>
            <a:endParaRPr lang="fr-FR"/>
          </a:p>
        </p:txBody>
      </p:sp>
      <p:sp>
        <p:nvSpPr>
          <p:cNvPr id="25" name="Text 20"/>
          <p:cNvSpPr/>
          <p:nvPr/>
        </p:nvSpPr>
        <p:spPr>
          <a:xfrm>
            <a:off x="3520440" y="3200400"/>
            <a:ext cx="365760" cy="365760"/>
          </a:xfrm>
          <a:prstGeom prst="rect">
            <a:avLst/>
          </a:prstGeom>
          <a:noFill/>
          <a:ln/>
        </p:spPr>
        <p:txBody>
          <a:bodyPr wrap="square"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5</a:t>
            </a:r>
            <a:endParaRPr lang="en-US" sz="1400" dirty="0"/>
          </a:p>
        </p:txBody>
      </p:sp>
      <p:sp>
        <p:nvSpPr>
          <p:cNvPr id="26" name="Text 21"/>
          <p:cNvSpPr/>
          <p:nvPr/>
        </p:nvSpPr>
        <p:spPr>
          <a:xfrm>
            <a:off x="3977640" y="3200400"/>
            <a:ext cx="1828800" cy="1097280"/>
          </a:xfrm>
          <a:prstGeom prst="rect">
            <a:avLst/>
          </a:prstGeom>
          <a:noFill/>
          <a:ln/>
        </p:spPr>
        <p:txBody>
          <a:bodyPr wrap="square" rtlCol="0" anchor="t"/>
          <a:lstStyle/>
          <a:p>
            <a:pPr marL="0" indent="0">
              <a:buNone/>
            </a:pPr>
            <a:r>
              <a:rPr lang="en-US" sz="1200" dirty="0">
                <a:solidFill>
                  <a:srgbClr val="1A1A2E"/>
                </a:solidFill>
                <a:latin typeface="Calibri" pitchFamily="34" charset="0"/>
                <a:ea typeface="Calibri" pitchFamily="34" charset="-122"/>
                <a:cs typeface="Calibri" pitchFamily="34" charset="-120"/>
              </a:rPr>
              <a:t>Excrétion massive</a:t>
            </a:r>
            <a:endParaRPr lang="en-US" sz="1200" dirty="0"/>
          </a:p>
          <a:p>
            <a:pPr marL="0" indent="0">
              <a:buNone/>
            </a:pPr>
            <a:r>
              <a:rPr lang="en-US" sz="1200" dirty="0">
                <a:solidFill>
                  <a:srgbClr val="1A1A2E"/>
                </a:solidFill>
                <a:latin typeface="Calibri" pitchFamily="34" charset="0"/>
                <a:ea typeface="Calibri" pitchFamily="34" charset="-122"/>
                <a:cs typeface="Calibri" pitchFamily="34" charset="-120"/>
              </a:rPr>
              <a:t>dans les fèces</a:t>
            </a:r>
            <a:endParaRPr lang="en-US" sz="1200" dirty="0"/>
          </a:p>
        </p:txBody>
      </p:sp>
      <p:pic>
        <p:nvPicPr>
          <p:cNvPr id="27" name="Image 3" descr="preencoded.png"/>
          <p:cNvPicPr>
            <a:picLocks noChangeAspect="1"/>
          </p:cNvPicPr>
          <p:nvPr/>
        </p:nvPicPr>
        <p:blipFill>
          <a:blip r:embed="rId3"/>
          <a:stretch>
            <a:fillRect/>
          </a:stretch>
        </p:blipFill>
        <p:spPr>
          <a:xfrm>
            <a:off x="5989320" y="3520440"/>
            <a:ext cx="201168" cy="201168"/>
          </a:xfrm>
          <a:prstGeom prst="rect">
            <a:avLst/>
          </a:prstGeom>
        </p:spPr>
      </p:pic>
      <p:sp>
        <p:nvSpPr>
          <p:cNvPr id="28" name="Shape 22"/>
          <p:cNvSpPr/>
          <p:nvPr/>
        </p:nvSpPr>
        <p:spPr>
          <a:xfrm>
            <a:off x="6217920" y="3063240"/>
            <a:ext cx="2560320" cy="1371600"/>
          </a:xfrm>
          <a:prstGeom prst="rect">
            <a:avLst/>
          </a:prstGeom>
          <a:solidFill>
            <a:srgbClr val="FFFFFF"/>
          </a:solidFill>
          <a:ln/>
          <a:effectLst>
            <a:outerShdw blurRad="50800" dist="25400" dir="8100000" algn="bl" rotWithShape="0">
              <a:srgbClr val="000000">
                <a:alpha val="8000"/>
              </a:srgbClr>
            </a:outerShdw>
          </a:effectLst>
        </p:spPr>
        <p:txBody>
          <a:bodyPr/>
          <a:lstStyle/>
          <a:p>
            <a:endParaRPr lang="fr-FR"/>
          </a:p>
        </p:txBody>
      </p:sp>
      <p:sp>
        <p:nvSpPr>
          <p:cNvPr id="29" name="Shape 23"/>
          <p:cNvSpPr/>
          <p:nvPr/>
        </p:nvSpPr>
        <p:spPr>
          <a:xfrm>
            <a:off x="6355080" y="3200400"/>
            <a:ext cx="365760" cy="365760"/>
          </a:xfrm>
          <a:prstGeom prst="ellipse">
            <a:avLst/>
          </a:prstGeom>
          <a:solidFill>
            <a:srgbClr val="E07A5F"/>
          </a:solidFill>
          <a:ln/>
        </p:spPr>
        <p:txBody>
          <a:bodyPr/>
          <a:lstStyle/>
          <a:p>
            <a:endParaRPr lang="fr-FR"/>
          </a:p>
        </p:txBody>
      </p:sp>
      <p:sp>
        <p:nvSpPr>
          <p:cNvPr id="30" name="Text 24"/>
          <p:cNvSpPr/>
          <p:nvPr/>
        </p:nvSpPr>
        <p:spPr>
          <a:xfrm>
            <a:off x="6355080" y="3200400"/>
            <a:ext cx="365760" cy="365760"/>
          </a:xfrm>
          <a:prstGeom prst="rect">
            <a:avLst/>
          </a:prstGeom>
          <a:noFill/>
          <a:ln/>
        </p:spPr>
        <p:txBody>
          <a:bodyPr wrap="square"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6</a:t>
            </a:r>
            <a:endParaRPr lang="en-US" sz="1400" dirty="0"/>
          </a:p>
        </p:txBody>
      </p:sp>
      <p:sp>
        <p:nvSpPr>
          <p:cNvPr id="31" name="Text 25"/>
          <p:cNvSpPr/>
          <p:nvPr/>
        </p:nvSpPr>
        <p:spPr>
          <a:xfrm>
            <a:off x="6812280" y="3200400"/>
            <a:ext cx="1828800" cy="1097280"/>
          </a:xfrm>
          <a:prstGeom prst="rect">
            <a:avLst/>
          </a:prstGeom>
          <a:noFill/>
          <a:ln/>
        </p:spPr>
        <p:txBody>
          <a:bodyPr wrap="square" rtlCol="0" anchor="t"/>
          <a:lstStyle/>
          <a:p>
            <a:pPr marL="0" indent="0">
              <a:buNone/>
            </a:pPr>
            <a:r>
              <a:rPr lang="en-US" sz="1200" dirty="0">
                <a:solidFill>
                  <a:srgbClr val="1A1A2E"/>
                </a:solidFill>
                <a:latin typeface="Calibri" pitchFamily="34" charset="0"/>
                <a:ea typeface="Calibri" pitchFamily="34" charset="-122"/>
                <a:cs typeface="Calibri" pitchFamily="34" charset="-120"/>
              </a:rPr>
              <a:t>Contamination</a:t>
            </a:r>
            <a:endParaRPr lang="en-US" sz="1200" dirty="0"/>
          </a:p>
          <a:p>
            <a:pPr marL="0" indent="0">
              <a:buNone/>
            </a:pPr>
            <a:r>
              <a:rPr lang="en-US" sz="1200" dirty="0">
                <a:solidFill>
                  <a:srgbClr val="1A1A2E"/>
                </a:solidFill>
                <a:latin typeface="Calibri" pitchFamily="34" charset="0"/>
                <a:ea typeface="Calibri" pitchFamily="34" charset="-122"/>
                <a:cs typeface="Calibri" pitchFamily="34" charset="-120"/>
              </a:rPr>
              <a:t>environnement → homme</a:t>
            </a:r>
            <a:endParaRPr lang="en-US" sz="1200" dirty="0"/>
          </a:p>
        </p:txBody>
      </p:sp>
      <p:sp>
        <p:nvSpPr>
          <p:cNvPr id="32" name="Text 26"/>
          <p:cNvSpPr/>
          <p:nvPr/>
        </p:nvSpPr>
        <p:spPr>
          <a:xfrm>
            <a:off x="7772400" y="2651760"/>
            <a:ext cx="365760" cy="457200"/>
          </a:xfrm>
          <a:prstGeom prst="rect">
            <a:avLst/>
          </a:prstGeom>
          <a:noFill/>
          <a:ln/>
        </p:spPr>
        <p:txBody>
          <a:bodyPr wrap="square" rtlCol="0" anchor="ctr"/>
          <a:lstStyle/>
          <a:p>
            <a:pPr marL="0" indent="0" algn="ctr">
              <a:buNone/>
            </a:pPr>
            <a:r>
              <a:rPr lang="en-US" sz="2000" dirty="0">
                <a:solidFill>
                  <a:srgbClr val="17A2A2"/>
                </a:solidFill>
              </a:rPr>
              <a:t>↓</a:t>
            </a:r>
            <a:endParaRPr lang="en-US" sz="2000" dirty="0"/>
          </a:p>
        </p:txBody>
      </p:sp>
      <p:sp>
        <p:nvSpPr>
          <p:cNvPr id="33" name="Shape 27"/>
          <p:cNvSpPr/>
          <p:nvPr/>
        </p:nvSpPr>
        <p:spPr>
          <a:xfrm>
            <a:off x="548640" y="4526280"/>
            <a:ext cx="8046720" cy="502920"/>
          </a:xfrm>
          <a:prstGeom prst="rect">
            <a:avLst/>
          </a:prstGeom>
          <a:solidFill>
            <a:srgbClr val="FFF3E0"/>
          </a:solidFill>
          <a:ln/>
        </p:spPr>
        <p:txBody>
          <a:bodyPr/>
          <a:lstStyle/>
          <a:p>
            <a:endParaRPr lang="fr-FR"/>
          </a:p>
        </p:txBody>
      </p:sp>
      <p:pic>
        <p:nvPicPr>
          <p:cNvPr id="34" name="Image 4" descr="preencoded.png"/>
          <p:cNvPicPr>
            <a:picLocks noChangeAspect="1"/>
          </p:cNvPicPr>
          <p:nvPr/>
        </p:nvPicPr>
        <p:blipFill>
          <a:blip r:embed="rId4"/>
          <a:stretch>
            <a:fillRect/>
          </a:stretch>
        </p:blipFill>
        <p:spPr>
          <a:xfrm>
            <a:off x="685800" y="4590288"/>
            <a:ext cx="320040" cy="320040"/>
          </a:xfrm>
          <a:prstGeom prst="rect">
            <a:avLst/>
          </a:prstGeom>
        </p:spPr>
      </p:pic>
      <p:sp useBgFill="1">
        <p:nvSpPr>
          <p:cNvPr id="36" name="Rectangle 35">
            <a:extLst>
              <a:ext uri="{FF2B5EF4-FFF2-40B4-BE49-F238E27FC236}">
                <a16:creationId xmlns:a16="http://schemas.microsoft.com/office/drawing/2014/main" id="{212135B9-7A35-095D-D5B9-373FE7BFB52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0"/>
            <a:ext cx="9141714" cy="51435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 name="Text 0">
            <a:extLst>
              <a:ext uri="{FF2B5EF4-FFF2-40B4-BE49-F238E27FC236}">
                <a16:creationId xmlns:a16="http://schemas.microsoft.com/office/drawing/2014/main" id="{1E649D24-C90D-FD32-D2DE-97D7BD2F55B7}"/>
              </a:ext>
            </a:extLst>
          </p:cNvPr>
          <p:cNvSpPr/>
          <p:nvPr/>
        </p:nvSpPr>
        <p:spPr>
          <a:xfrm>
            <a:off x="479160" y="502663"/>
            <a:ext cx="8182230" cy="799377"/>
          </a:xfrm>
          <a:prstGeom prst="rect">
            <a:avLst/>
          </a:prstGeom>
        </p:spPr>
        <p:txBody>
          <a:bodyPr vert="horz" lIns="91440" tIns="45720" rIns="91440" bIns="45720" rtlCol="0" anchor="ctr">
            <a:normAutofit/>
          </a:bodyPr>
          <a:lstStyle/>
          <a:p>
            <a:pPr>
              <a:lnSpc>
                <a:spcPct val="90000"/>
              </a:lnSpc>
              <a:spcBef>
                <a:spcPct val="0"/>
              </a:spcBef>
              <a:spcAft>
                <a:spcPts val="600"/>
              </a:spcAft>
            </a:pPr>
            <a:r>
              <a:rPr lang="en-US" sz="2800" b="1" dirty="0">
                <a:solidFill>
                  <a:srgbClr val="0D4F4F"/>
                </a:solidFill>
                <a:latin typeface="Georgia" pitchFamily="34" charset="0"/>
              </a:rPr>
              <a:t>Mini HPL : Elimination de Gauss</a:t>
            </a:r>
          </a:p>
        </p:txBody>
      </p:sp>
      <p:sp>
        <p:nvSpPr>
          <p:cNvPr id="38" name="Text 1">
            <a:extLst>
              <a:ext uri="{FF2B5EF4-FFF2-40B4-BE49-F238E27FC236}">
                <a16:creationId xmlns:a16="http://schemas.microsoft.com/office/drawing/2014/main" id="{6FB1A5CA-0DD8-3C08-1D29-040DB379DD63}"/>
              </a:ext>
            </a:extLst>
          </p:cNvPr>
          <p:cNvSpPr/>
          <p:nvPr/>
        </p:nvSpPr>
        <p:spPr>
          <a:xfrm>
            <a:off x="479160" y="1388535"/>
            <a:ext cx="8182233" cy="414495"/>
          </a:xfrm>
          <a:prstGeom prst="rect">
            <a:avLst/>
          </a:prstGeom>
        </p:spPr>
        <p:txBody>
          <a:bodyPr vert="horz" lIns="91440" tIns="45720" rIns="91440" bIns="45720" rtlCol="0" anchor="ctr">
            <a:normAutofit/>
          </a:bodyPr>
          <a:lstStyle/>
          <a:p>
            <a:pPr algn="ctr">
              <a:lnSpc>
                <a:spcPct val="90000"/>
              </a:lnSpc>
              <a:spcBef>
                <a:spcPts val="1000"/>
              </a:spcBef>
            </a:pPr>
            <a:r>
              <a:rPr lang="en-US" sz="2200" i="1" dirty="0"/>
              <a:t>On </a:t>
            </a:r>
            <a:r>
              <a:rPr lang="en-US" sz="2200" i="1" dirty="0" err="1"/>
              <a:t>résout</a:t>
            </a:r>
            <a:r>
              <a:rPr lang="en-US" sz="2200" i="1" dirty="0"/>
              <a:t> Ax = b </a:t>
            </a:r>
            <a:r>
              <a:rPr lang="en-US" sz="2200" i="1" dirty="0" err="1"/>
              <a:t>en</a:t>
            </a:r>
            <a:r>
              <a:rPr lang="en-US" sz="2200" i="1" dirty="0"/>
              <a:t> </a:t>
            </a:r>
            <a:r>
              <a:rPr lang="en-US" sz="2200" i="1" dirty="0" err="1"/>
              <a:t>travaillant</a:t>
            </a:r>
            <a:r>
              <a:rPr lang="en-US" sz="2200" i="1" dirty="0"/>
              <a:t> sur[A | b].</a:t>
            </a:r>
            <a:endParaRPr lang="en-US" sz="2200" dirty="0"/>
          </a:p>
        </p:txBody>
      </p:sp>
      <p:sp>
        <p:nvSpPr>
          <p:cNvPr id="39" name="sketch line">
            <a:extLst>
              <a:ext uri="{FF2B5EF4-FFF2-40B4-BE49-F238E27FC236}">
                <a16:creationId xmlns:a16="http://schemas.microsoft.com/office/drawing/2014/main" id="{4CE56D1D-3467-8294-9E8D-DCB6662E797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2542032" y="1350066"/>
            <a:ext cx="4057650" cy="13716"/>
          </a:xfrm>
          <a:custGeom>
            <a:avLst/>
            <a:gdLst>
              <a:gd name="csX0" fmla="*/ 0 w 4057650"/>
              <a:gd name="csY0" fmla="*/ 0 h 13716"/>
              <a:gd name="csX1" fmla="*/ 757428 w 4057650"/>
              <a:gd name="csY1" fmla="*/ 0 h 13716"/>
              <a:gd name="csX2" fmla="*/ 1474279 w 4057650"/>
              <a:gd name="csY2" fmla="*/ 0 h 13716"/>
              <a:gd name="csX3" fmla="*/ 2191131 w 4057650"/>
              <a:gd name="csY3" fmla="*/ 0 h 13716"/>
              <a:gd name="csX4" fmla="*/ 2745676 w 4057650"/>
              <a:gd name="csY4" fmla="*/ 0 h 13716"/>
              <a:gd name="csX5" fmla="*/ 3340798 w 4057650"/>
              <a:gd name="csY5" fmla="*/ 0 h 13716"/>
              <a:gd name="csX6" fmla="*/ 4057650 w 4057650"/>
              <a:gd name="csY6" fmla="*/ 0 h 13716"/>
              <a:gd name="csX7" fmla="*/ 4057650 w 4057650"/>
              <a:gd name="csY7" fmla="*/ 13716 h 13716"/>
              <a:gd name="csX8" fmla="*/ 3381375 w 4057650"/>
              <a:gd name="csY8" fmla="*/ 13716 h 13716"/>
              <a:gd name="csX9" fmla="*/ 2826830 w 4057650"/>
              <a:gd name="csY9" fmla="*/ 13716 h 13716"/>
              <a:gd name="csX10" fmla="*/ 2272284 w 4057650"/>
              <a:gd name="csY10" fmla="*/ 13716 h 13716"/>
              <a:gd name="csX11" fmla="*/ 1555432 w 4057650"/>
              <a:gd name="csY11" fmla="*/ 13716 h 13716"/>
              <a:gd name="csX12" fmla="*/ 960310 w 4057650"/>
              <a:gd name="csY12" fmla="*/ 13716 h 13716"/>
              <a:gd name="csX13" fmla="*/ 0 w 4057650"/>
              <a:gd name="csY13" fmla="*/ 13716 h 13716"/>
              <a:gd name="csX14" fmla="*/ 0 w 4057650"/>
              <a:gd name="csY14" fmla="*/ 0 h 1371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Lst>
            <a:rect l="l" t="t" r="r" b="b"/>
            <a:pathLst>
              <a:path w="4057650" h="13716" fill="none" extrusionOk="0">
                <a:moveTo>
                  <a:pt x="0" y="0"/>
                </a:moveTo>
                <a:cubicBezTo>
                  <a:pt x="371182" y="3227"/>
                  <a:pt x="494372" y="9222"/>
                  <a:pt x="757428" y="0"/>
                </a:cubicBezTo>
                <a:cubicBezTo>
                  <a:pt x="1020484" y="-9222"/>
                  <a:pt x="1116719" y="-4357"/>
                  <a:pt x="1474279" y="0"/>
                </a:cubicBezTo>
                <a:cubicBezTo>
                  <a:pt x="1831839" y="4357"/>
                  <a:pt x="1920973" y="-11809"/>
                  <a:pt x="2191131" y="0"/>
                </a:cubicBezTo>
                <a:cubicBezTo>
                  <a:pt x="2461289" y="11809"/>
                  <a:pt x="2589480" y="-22604"/>
                  <a:pt x="2745676" y="0"/>
                </a:cubicBezTo>
                <a:cubicBezTo>
                  <a:pt x="2901872" y="22604"/>
                  <a:pt x="3136452" y="-12306"/>
                  <a:pt x="3340798" y="0"/>
                </a:cubicBezTo>
                <a:cubicBezTo>
                  <a:pt x="3545144" y="12306"/>
                  <a:pt x="3766934" y="-21556"/>
                  <a:pt x="4057650" y="0"/>
                </a:cubicBezTo>
                <a:cubicBezTo>
                  <a:pt x="4057378" y="4708"/>
                  <a:pt x="4057987" y="7132"/>
                  <a:pt x="4057650" y="13716"/>
                </a:cubicBezTo>
                <a:cubicBezTo>
                  <a:pt x="3743404" y="35553"/>
                  <a:pt x="3625516" y="-19495"/>
                  <a:pt x="3381375" y="13716"/>
                </a:cubicBezTo>
                <a:cubicBezTo>
                  <a:pt x="3137235" y="46927"/>
                  <a:pt x="2946571" y="-4571"/>
                  <a:pt x="2826830" y="13716"/>
                </a:cubicBezTo>
                <a:cubicBezTo>
                  <a:pt x="2707090" y="32003"/>
                  <a:pt x="2402756" y="-3140"/>
                  <a:pt x="2272284" y="13716"/>
                </a:cubicBezTo>
                <a:cubicBezTo>
                  <a:pt x="2141812" y="30572"/>
                  <a:pt x="1895935" y="13627"/>
                  <a:pt x="1555432" y="13716"/>
                </a:cubicBezTo>
                <a:cubicBezTo>
                  <a:pt x="1214929" y="13805"/>
                  <a:pt x="1103072" y="9931"/>
                  <a:pt x="960310" y="13716"/>
                </a:cubicBezTo>
                <a:cubicBezTo>
                  <a:pt x="817548" y="17501"/>
                  <a:pt x="402272" y="-33931"/>
                  <a:pt x="0" y="13716"/>
                </a:cubicBezTo>
                <a:cubicBezTo>
                  <a:pt x="-460" y="10837"/>
                  <a:pt x="38" y="6680"/>
                  <a:pt x="0" y="0"/>
                </a:cubicBezTo>
                <a:close/>
              </a:path>
              <a:path w="4057650" h="13716" stroke="0" extrusionOk="0">
                <a:moveTo>
                  <a:pt x="0" y="0"/>
                </a:moveTo>
                <a:cubicBezTo>
                  <a:pt x="248348" y="13145"/>
                  <a:pt x="486117" y="25042"/>
                  <a:pt x="635698" y="0"/>
                </a:cubicBezTo>
                <a:cubicBezTo>
                  <a:pt x="785279" y="-25042"/>
                  <a:pt x="917762" y="-5537"/>
                  <a:pt x="1190244" y="0"/>
                </a:cubicBezTo>
                <a:cubicBezTo>
                  <a:pt x="1462726" y="5537"/>
                  <a:pt x="1667120" y="-21232"/>
                  <a:pt x="1947672" y="0"/>
                </a:cubicBezTo>
                <a:cubicBezTo>
                  <a:pt x="2228224" y="21232"/>
                  <a:pt x="2280631" y="-21698"/>
                  <a:pt x="2583370" y="0"/>
                </a:cubicBezTo>
                <a:cubicBezTo>
                  <a:pt x="2886109" y="21698"/>
                  <a:pt x="3022941" y="19647"/>
                  <a:pt x="3219069" y="0"/>
                </a:cubicBezTo>
                <a:cubicBezTo>
                  <a:pt x="3415197" y="-19647"/>
                  <a:pt x="3747500" y="26991"/>
                  <a:pt x="4057650" y="0"/>
                </a:cubicBezTo>
                <a:cubicBezTo>
                  <a:pt x="4056980" y="3019"/>
                  <a:pt x="4057134" y="10425"/>
                  <a:pt x="4057650" y="13716"/>
                </a:cubicBezTo>
                <a:cubicBezTo>
                  <a:pt x="3865148" y="-7885"/>
                  <a:pt x="3702543" y="44896"/>
                  <a:pt x="3381375" y="13716"/>
                </a:cubicBezTo>
                <a:cubicBezTo>
                  <a:pt x="3060208" y="-17464"/>
                  <a:pt x="2956571" y="-13250"/>
                  <a:pt x="2826830" y="13716"/>
                </a:cubicBezTo>
                <a:cubicBezTo>
                  <a:pt x="2697089" y="40682"/>
                  <a:pt x="2411031" y="38582"/>
                  <a:pt x="2150555" y="13716"/>
                </a:cubicBezTo>
                <a:cubicBezTo>
                  <a:pt x="1890080" y="-11150"/>
                  <a:pt x="1741827" y="-5187"/>
                  <a:pt x="1474280" y="13716"/>
                </a:cubicBezTo>
                <a:cubicBezTo>
                  <a:pt x="1206734" y="32619"/>
                  <a:pt x="998203" y="28763"/>
                  <a:pt x="838581" y="13716"/>
                </a:cubicBezTo>
                <a:cubicBezTo>
                  <a:pt x="678959" y="-1331"/>
                  <a:pt x="187101" y="-17784"/>
                  <a:pt x="0" y="13716"/>
                </a:cubicBezTo>
                <a:cubicBezTo>
                  <a:pt x="-114" y="7033"/>
                  <a:pt x="103" y="3429"/>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0" name="Image 39" descr="Une image contenant texte, Police, capture d’écran, écriture manuscrite&#10;&#10;Le contenu généré par l’IA peut être incorrect.">
            <a:extLst>
              <a:ext uri="{FF2B5EF4-FFF2-40B4-BE49-F238E27FC236}">
                <a16:creationId xmlns:a16="http://schemas.microsoft.com/office/drawing/2014/main" id="{5752FA87-8509-D46D-ED87-4310EB76AD12}"/>
              </a:ext>
            </a:extLst>
          </p:cNvPr>
          <p:cNvPicPr>
            <a:picLocks noChangeAspect="1"/>
          </p:cNvPicPr>
          <p:nvPr/>
        </p:nvPicPr>
        <p:blipFill>
          <a:blip r:embed="rId5"/>
          <a:stretch>
            <a:fillRect/>
          </a:stretch>
        </p:blipFill>
        <p:spPr>
          <a:xfrm>
            <a:off x="779799" y="2231723"/>
            <a:ext cx="3353761" cy="2326561"/>
          </a:xfrm>
          <a:prstGeom prst="rect">
            <a:avLst/>
          </a:prstGeom>
        </p:spPr>
      </p:pic>
      <p:pic>
        <p:nvPicPr>
          <p:cNvPr id="44" name="Image 43" descr="Une image contenant texte, Police, capture d’écran, nombre&#10;&#10;Le contenu généré par l’IA peut être incorrect.">
            <a:extLst>
              <a:ext uri="{FF2B5EF4-FFF2-40B4-BE49-F238E27FC236}">
                <a16:creationId xmlns:a16="http://schemas.microsoft.com/office/drawing/2014/main" id="{9D14A73D-3153-AF8F-4336-E9560768201A}"/>
              </a:ext>
            </a:extLst>
          </p:cNvPr>
          <p:cNvPicPr>
            <a:picLocks noChangeAspect="1"/>
          </p:cNvPicPr>
          <p:nvPr/>
        </p:nvPicPr>
        <p:blipFill>
          <a:blip r:embed="rId6"/>
          <a:stretch>
            <a:fillRect/>
          </a:stretch>
        </p:blipFill>
        <p:spPr>
          <a:xfrm>
            <a:off x="5696712" y="2790209"/>
            <a:ext cx="2761488" cy="1114201"/>
          </a:xfrm>
          <a:prstGeom prst="rect">
            <a:avLst/>
          </a:prstGeom>
        </p:spPr>
      </p:pic>
      <p:pic>
        <p:nvPicPr>
          <p:cNvPr id="45" name="Image 0" descr="preencoded.png">
            <a:extLst>
              <a:ext uri="{FF2B5EF4-FFF2-40B4-BE49-F238E27FC236}">
                <a16:creationId xmlns:a16="http://schemas.microsoft.com/office/drawing/2014/main" id="{A720A4BD-1403-3E6E-6AF7-1AD3C8F06858}"/>
              </a:ext>
            </a:extLst>
          </p:cNvPr>
          <p:cNvPicPr>
            <a:picLocks noChangeAspect="1"/>
          </p:cNvPicPr>
          <p:nvPr/>
        </p:nvPicPr>
        <p:blipFill>
          <a:blip r:embed="rId3"/>
          <a:stretch>
            <a:fillRect/>
          </a:stretch>
        </p:blipFill>
        <p:spPr>
          <a:xfrm>
            <a:off x="4754880" y="3210149"/>
            <a:ext cx="274320" cy="274320"/>
          </a:xfrm>
          <a:prstGeom prst="rect">
            <a:avLst/>
          </a:prstGeom>
        </p:spPr>
      </p:pic>
      <p:sp>
        <p:nvSpPr>
          <p:cNvPr id="35" name="TextBox 34">
            <a:extLst>
              <a:ext uri="{FF2B5EF4-FFF2-40B4-BE49-F238E27FC236}">
                <a16:creationId xmlns:a16="http://schemas.microsoft.com/office/drawing/2014/main" id="{6588D446-AA45-F6FB-345D-BE5CA3B7AB51}"/>
              </a:ext>
            </a:extLst>
          </p:cNvPr>
          <p:cNvSpPr txBox="1"/>
          <p:nvPr/>
        </p:nvSpPr>
        <p:spPr>
          <a:xfrm>
            <a:off x="8394732" y="43934"/>
            <a:ext cx="696024" cy="369332"/>
          </a:xfrm>
          <a:prstGeom prst="rect">
            <a:avLst/>
          </a:prstGeom>
          <a:noFill/>
        </p:spPr>
        <p:txBody>
          <a:bodyPr wrap="none" rtlCol="0">
            <a:spAutoFit/>
          </a:bodyPr>
          <a:lstStyle/>
          <a:p>
            <a:r>
              <a:rPr lang="fr-FR" b="1" dirty="0">
                <a:solidFill>
                  <a:srgbClr val="0D4F4F"/>
                </a:solidFill>
                <a:latin typeface="Georgia"/>
              </a:rPr>
              <a:t>3/21</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AF8F0"/>
        </a:solidFill>
        <a:effectLst/>
      </p:bgPr>
    </p:bg>
    <p:spTree>
      <p:nvGrpSpPr>
        <p:cNvPr id="1" name="">
          <a:extLst>
            <a:ext uri="{FF2B5EF4-FFF2-40B4-BE49-F238E27FC236}">
              <a16:creationId xmlns:a16="http://schemas.microsoft.com/office/drawing/2014/main" id="{D3C93B89-9A80-A232-89F7-2A37EE8D0BC0}"/>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ED15CE14-4A4F-7CE0-AB01-0D73062654E2}"/>
              </a:ext>
            </a:extLst>
          </p:cNvPr>
          <p:cNvSpPr/>
          <p:nvPr/>
        </p:nvSpPr>
        <p:spPr>
          <a:xfrm>
            <a:off x="548640" y="228600"/>
            <a:ext cx="8229600" cy="457200"/>
          </a:xfrm>
          <a:prstGeom prst="rect">
            <a:avLst/>
          </a:prstGeom>
          <a:noFill/>
          <a:ln/>
        </p:spPr>
        <p:txBody>
          <a:bodyPr wrap="square" lIns="0" tIns="0" rIns="0" bIns="0" rtlCol="0" anchor="ctr"/>
          <a:lstStyle/>
          <a:p>
            <a:pPr marL="0" indent="0">
              <a:buNone/>
            </a:pPr>
            <a:r>
              <a:rPr lang="en-US" sz="2400" b="1" dirty="0">
                <a:solidFill>
                  <a:srgbClr val="0D4F4F"/>
                </a:solidFill>
                <a:latin typeface="Georgia" pitchFamily="34" charset="0"/>
                <a:ea typeface="Georgia" pitchFamily="34" charset="-122"/>
                <a:cs typeface="Georgia" pitchFamily="34" charset="-120"/>
              </a:rPr>
              <a:t>Le problème : résistance aux antibiotiques</a:t>
            </a:r>
            <a:endParaRPr lang="en-US" sz="2400" dirty="0"/>
          </a:p>
        </p:txBody>
      </p:sp>
      <p:sp>
        <p:nvSpPr>
          <p:cNvPr id="3" name="Text 1">
            <a:extLst>
              <a:ext uri="{FF2B5EF4-FFF2-40B4-BE49-F238E27FC236}">
                <a16:creationId xmlns:a16="http://schemas.microsoft.com/office/drawing/2014/main" id="{A954599C-8603-274D-A5EB-034FA6D82265}"/>
              </a:ext>
            </a:extLst>
          </p:cNvPr>
          <p:cNvSpPr/>
          <p:nvPr/>
        </p:nvSpPr>
        <p:spPr>
          <a:xfrm>
            <a:off x="548640" y="658368"/>
            <a:ext cx="8229600" cy="274320"/>
          </a:xfrm>
          <a:prstGeom prst="rect">
            <a:avLst/>
          </a:prstGeom>
          <a:noFill/>
          <a:ln/>
        </p:spPr>
        <p:txBody>
          <a:bodyPr wrap="square" lIns="0" tIns="0" rIns="0" bIns="0" rtlCol="0" anchor="ctr"/>
          <a:lstStyle/>
          <a:p>
            <a:pPr marL="0" indent="0">
              <a:buNone/>
            </a:pPr>
            <a:r>
              <a:rPr lang="en-US" sz="1200" i="1" dirty="0">
                <a:solidFill>
                  <a:srgbClr val="8A8A9A"/>
                </a:solidFill>
                <a:latin typeface="Calibri" pitchFamily="34" charset="0"/>
                <a:ea typeface="Calibri" pitchFamily="34" charset="-122"/>
                <a:cs typeface="Calibri" pitchFamily="34" charset="-120"/>
              </a:rPr>
              <a:t>L'une des plus grandes menaces pour la santé publique mondiale (OMS, 2014)</a:t>
            </a:r>
            <a:endParaRPr lang="en-US" sz="1200" dirty="0"/>
          </a:p>
        </p:txBody>
      </p:sp>
      <p:sp>
        <p:nvSpPr>
          <p:cNvPr id="5" name="Shape 3">
            <a:extLst>
              <a:ext uri="{FF2B5EF4-FFF2-40B4-BE49-F238E27FC236}">
                <a16:creationId xmlns:a16="http://schemas.microsoft.com/office/drawing/2014/main" id="{0B540DE2-8A10-77F1-D655-9C630957C972}"/>
              </a:ext>
            </a:extLst>
          </p:cNvPr>
          <p:cNvSpPr/>
          <p:nvPr/>
        </p:nvSpPr>
        <p:spPr>
          <a:xfrm>
            <a:off x="685800" y="1508760"/>
            <a:ext cx="365760" cy="365760"/>
          </a:xfrm>
          <a:prstGeom prst="ellipse">
            <a:avLst/>
          </a:prstGeom>
          <a:solidFill>
            <a:srgbClr val="0E7C7B"/>
          </a:solidFill>
          <a:ln/>
        </p:spPr>
        <p:txBody>
          <a:bodyPr/>
          <a:lstStyle/>
          <a:p>
            <a:endParaRPr lang="fr-FR"/>
          </a:p>
        </p:txBody>
      </p:sp>
      <p:sp>
        <p:nvSpPr>
          <p:cNvPr id="6" name="Text 4">
            <a:extLst>
              <a:ext uri="{FF2B5EF4-FFF2-40B4-BE49-F238E27FC236}">
                <a16:creationId xmlns:a16="http://schemas.microsoft.com/office/drawing/2014/main" id="{AAF7AB79-DDEE-2BDF-F589-85464E68A3D9}"/>
              </a:ext>
            </a:extLst>
          </p:cNvPr>
          <p:cNvSpPr/>
          <p:nvPr/>
        </p:nvSpPr>
        <p:spPr>
          <a:xfrm>
            <a:off x="685800" y="1508760"/>
            <a:ext cx="365760" cy="365760"/>
          </a:xfrm>
          <a:prstGeom prst="rect">
            <a:avLst/>
          </a:prstGeom>
          <a:noFill/>
          <a:ln/>
        </p:spPr>
        <p:txBody>
          <a:bodyPr wrap="square"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7" name="Text 5">
            <a:extLst>
              <a:ext uri="{FF2B5EF4-FFF2-40B4-BE49-F238E27FC236}">
                <a16:creationId xmlns:a16="http://schemas.microsoft.com/office/drawing/2014/main" id="{3516B590-0538-7A51-62AF-DED608224FE1}"/>
              </a:ext>
            </a:extLst>
          </p:cNvPr>
          <p:cNvSpPr/>
          <p:nvPr/>
        </p:nvSpPr>
        <p:spPr>
          <a:xfrm>
            <a:off x="1143000" y="1508760"/>
            <a:ext cx="1828800" cy="1097280"/>
          </a:xfrm>
          <a:prstGeom prst="rect">
            <a:avLst/>
          </a:prstGeom>
          <a:noFill/>
          <a:ln/>
        </p:spPr>
        <p:txBody>
          <a:bodyPr wrap="square" rtlCol="0" anchor="t"/>
          <a:lstStyle/>
          <a:p>
            <a:pPr marL="0" indent="0">
              <a:buNone/>
            </a:pPr>
            <a:r>
              <a:rPr lang="en-US" sz="1200" dirty="0">
                <a:solidFill>
                  <a:srgbClr val="1A1A2E"/>
                </a:solidFill>
                <a:latin typeface="Calibri" pitchFamily="34" charset="0"/>
                <a:ea typeface="Calibri" pitchFamily="34" charset="-122"/>
                <a:cs typeface="Calibri" pitchFamily="34" charset="-120"/>
              </a:rPr>
              <a:t>Antibiotiques massivement</a:t>
            </a:r>
            <a:endParaRPr lang="en-US" sz="1200" dirty="0"/>
          </a:p>
          <a:p>
            <a:pPr marL="0" indent="0">
              <a:buNone/>
            </a:pPr>
            <a:r>
              <a:rPr lang="en-US" sz="1200" dirty="0">
                <a:solidFill>
                  <a:srgbClr val="1A1A2E"/>
                </a:solidFill>
                <a:latin typeface="Calibri" pitchFamily="34" charset="0"/>
                <a:ea typeface="Calibri" pitchFamily="34" charset="-122"/>
                <a:cs typeface="Calibri" pitchFamily="34" charset="-120"/>
              </a:rPr>
              <a:t>utilisés en élevage</a:t>
            </a:r>
            <a:endParaRPr lang="en-US" sz="1200" dirty="0"/>
          </a:p>
        </p:txBody>
      </p:sp>
      <p:pic>
        <p:nvPicPr>
          <p:cNvPr id="8" name="Image 0" descr="preencoded.png">
            <a:extLst>
              <a:ext uri="{FF2B5EF4-FFF2-40B4-BE49-F238E27FC236}">
                <a16:creationId xmlns:a16="http://schemas.microsoft.com/office/drawing/2014/main" id="{4F9922F8-41E5-73FD-9A5F-AE73646FB44E}"/>
              </a:ext>
            </a:extLst>
          </p:cNvPr>
          <p:cNvPicPr>
            <a:picLocks noChangeAspect="1"/>
          </p:cNvPicPr>
          <p:nvPr/>
        </p:nvPicPr>
        <p:blipFill>
          <a:blip r:embed="rId3"/>
          <a:stretch>
            <a:fillRect/>
          </a:stretch>
        </p:blipFill>
        <p:spPr>
          <a:xfrm>
            <a:off x="3154680" y="1828800"/>
            <a:ext cx="201168" cy="201168"/>
          </a:xfrm>
          <a:prstGeom prst="rect">
            <a:avLst/>
          </a:prstGeom>
        </p:spPr>
      </p:pic>
      <p:sp>
        <p:nvSpPr>
          <p:cNvPr id="10" name="Shape 7">
            <a:extLst>
              <a:ext uri="{FF2B5EF4-FFF2-40B4-BE49-F238E27FC236}">
                <a16:creationId xmlns:a16="http://schemas.microsoft.com/office/drawing/2014/main" id="{61DED5F8-12DD-C7CC-15FE-5273E4A1138B}"/>
              </a:ext>
            </a:extLst>
          </p:cNvPr>
          <p:cNvSpPr/>
          <p:nvPr/>
        </p:nvSpPr>
        <p:spPr>
          <a:xfrm>
            <a:off x="3520440" y="1508760"/>
            <a:ext cx="365760" cy="365760"/>
          </a:xfrm>
          <a:prstGeom prst="ellipse">
            <a:avLst/>
          </a:prstGeom>
          <a:solidFill>
            <a:srgbClr val="0E7C7B"/>
          </a:solidFill>
          <a:ln/>
        </p:spPr>
        <p:txBody>
          <a:bodyPr/>
          <a:lstStyle/>
          <a:p>
            <a:endParaRPr lang="fr-FR"/>
          </a:p>
        </p:txBody>
      </p:sp>
      <p:sp>
        <p:nvSpPr>
          <p:cNvPr id="11" name="Text 8">
            <a:extLst>
              <a:ext uri="{FF2B5EF4-FFF2-40B4-BE49-F238E27FC236}">
                <a16:creationId xmlns:a16="http://schemas.microsoft.com/office/drawing/2014/main" id="{200BE633-2CBC-CEC8-2D6C-779B1423E3AC}"/>
              </a:ext>
            </a:extLst>
          </p:cNvPr>
          <p:cNvSpPr/>
          <p:nvPr/>
        </p:nvSpPr>
        <p:spPr>
          <a:xfrm>
            <a:off x="3520440" y="1508760"/>
            <a:ext cx="365760" cy="365760"/>
          </a:xfrm>
          <a:prstGeom prst="rect">
            <a:avLst/>
          </a:prstGeom>
          <a:noFill/>
          <a:ln/>
        </p:spPr>
        <p:txBody>
          <a:bodyPr wrap="square"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2" name="Text 9">
            <a:extLst>
              <a:ext uri="{FF2B5EF4-FFF2-40B4-BE49-F238E27FC236}">
                <a16:creationId xmlns:a16="http://schemas.microsoft.com/office/drawing/2014/main" id="{F509FA21-7533-FD7B-8DCE-9D6F951D2FEB}"/>
              </a:ext>
            </a:extLst>
          </p:cNvPr>
          <p:cNvSpPr/>
          <p:nvPr/>
        </p:nvSpPr>
        <p:spPr>
          <a:xfrm>
            <a:off x="3977640" y="1508760"/>
            <a:ext cx="1828800" cy="1097280"/>
          </a:xfrm>
          <a:prstGeom prst="rect">
            <a:avLst/>
          </a:prstGeom>
          <a:noFill/>
          <a:ln/>
        </p:spPr>
        <p:txBody>
          <a:bodyPr wrap="square" rtlCol="0" anchor="t"/>
          <a:lstStyle/>
          <a:p>
            <a:pPr marL="0" indent="0">
              <a:buNone/>
            </a:pPr>
            <a:r>
              <a:rPr lang="en-US" sz="1200" dirty="0">
                <a:solidFill>
                  <a:srgbClr val="1A1A2E"/>
                </a:solidFill>
                <a:latin typeface="Calibri" pitchFamily="34" charset="0"/>
                <a:ea typeface="Calibri" pitchFamily="34" charset="-122"/>
                <a:cs typeface="Calibri" pitchFamily="34" charset="-120"/>
              </a:rPr>
              <a:t>Résidus atteignent</a:t>
            </a:r>
            <a:endParaRPr lang="en-US" sz="1200" dirty="0"/>
          </a:p>
          <a:p>
            <a:pPr marL="0" indent="0">
              <a:buNone/>
            </a:pPr>
            <a:r>
              <a:rPr lang="en-US" sz="1200" dirty="0">
                <a:solidFill>
                  <a:srgbClr val="1A1A2E"/>
                </a:solidFill>
                <a:latin typeface="Calibri" pitchFamily="34" charset="0"/>
                <a:ea typeface="Calibri" pitchFamily="34" charset="-122"/>
                <a:cs typeface="Calibri" pitchFamily="34" charset="-120"/>
              </a:rPr>
              <a:t>le côlon</a:t>
            </a:r>
            <a:endParaRPr lang="en-US" sz="1200" dirty="0"/>
          </a:p>
        </p:txBody>
      </p:sp>
      <p:pic>
        <p:nvPicPr>
          <p:cNvPr id="13" name="Image 1" descr="preencoded.png">
            <a:extLst>
              <a:ext uri="{FF2B5EF4-FFF2-40B4-BE49-F238E27FC236}">
                <a16:creationId xmlns:a16="http://schemas.microsoft.com/office/drawing/2014/main" id="{911294E4-24EB-10BD-C7D7-BF74C8E4BE7F}"/>
              </a:ext>
            </a:extLst>
          </p:cNvPr>
          <p:cNvPicPr>
            <a:picLocks noChangeAspect="1"/>
          </p:cNvPicPr>
          <p:nvPr/>
        </p:nvPicPr>
        <p:blipFill>
          <a:blip r:embed="rId3"/>
          <a:stretch>
            <a:fillRect/>
          </a:stretch>
        </p:blipFill>
        <p:spPr>
          <a:xfrm>
            <a:off x="5989320" y="1828800"/>
            <a:ext cx="201168" cy="201168"/>
          </a:xfrm>
          <a:prstGeom prst="rect">
            <a:avLst/>
          </a:prstGeom>
        </p:spPr>
      </p:pic>
      <p:sp>
        <p:nvSpPr>
          <p:cNvPr id="15" name="Shape 11">
            <a:extLst>
              <a:ext uri="{FF2B5EF4-FFF2-40B4-BE49-F238E27FC236}">
                <a16:creationId xmlns:a16="http://schemas.microsoft.com/office/drawing/2014/main" id="{6BB1A144-A5F3-AB05-B605-C2DCB5948E07}"/>
              </a:ext>
            </a:extLst>
          </p:cNvPr>
          <p:cNvSpPr/>
          <p:nvPr/>
        </p:nvSpPr>
        <p:spPr>
          <a:xfrm>
            <a:off x="6355080" y="1508760"/>
            <a:ext cx="365760" cy="365760"/>
          </a:xfrm>
          <a:prstGeom prst="ellipse">
            <a:avLst/>
          </a:prstGeom>
          <a:solidFill>
            <a:srgbClr val="0E7C7B"/>
          </a:solidFill>
          <a:ln/>
        </p:spPr>
        <p:txBody>
          <a:bodyPr/>
          <a:lstStyle/>
          <a:p>
            <a:endParaRPr lang="fr-FR"/>
          </a:p>
        </p:txBody>
      </p:sp>
      <p:sp>
        <p:nvSpPr>
          <p:cNvPr id="16" name="Text 12">
            <a:extLst>
              <a:ext uri="{FF2B5EF4-FFF2-40B4-BE49-F238E27FC236}">
                <a16:creationId xmlns:a16="http://schemas.microsoft.com/office/drawing/2014/main" id="{315DFAD6-CD76-E230-EC7A-EE60E0801708}"/>
              </a:ext>
            </a:extLst>
          </p:cNvPr>
          <p:cNvSpPr/>
          <p:nvPr/>
        </p:nvSpPr>
        <p:spPr>
          <a:xfrm>
            <a:off x="6355080" y="1508760"/>
            <a:ext cx="365760" cy="365760"/>
          </a:xfrm>
          <a:prstGeom prst="rect">
            <a:avLst/>
          </a:prstGeom>
          <a:noFill/>
          <a:ln/>
        </p:spPr>
        <p:txBody>
          <a:bodyPr wrap="square"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7" name="Text 13">
            <a:extLst>
              <a:ext uri="{FF2B5EF4-FFF2-40B4-BE49-F238E27FC236}">
                <a16:creationId xmlns:a16="http://schemas.microsoft.com/office/drawing/2014/main" id="{9F3E1344-0BBF-4D05-4172-7DCD0BD57592}"/>
              </a:ext>
            </a:extLst>
          </p:cNvPr>
          <p:cNvSpPr/>
          <p:nvPr/>
        </p:nvSpPr>
        <p:spPr>
          <a:xfrm>
            <a:off x="6812280" y="1508760"/>
            <a:ext cx="1828800" cy="1097280"/>
          </a:xfrm>
          <a:prstGeom prst="rect">
            <a:avLst/>
          </a:prstGeom>
          <a:noFill/>
          <a:ln/>
        </p:spPr>
        <p:txBody>
          <a:bodyPr wrap="square" rtlCol="0" anchor="t"/>
          <a:lstStyle/>
          <a:p>
            <a:pPr marL="0" indent="0">
              <a:buNone/>
            </a:pPr>
            <a:r>
              <a:rPr lang="en-US" sz="1200" dirty="0">
                <a:solidFill>
                  <a:srgbClr val="1A1A2E"/>
                </a:solidFill>
                <a:latin typeface="Calibri" pitchFamily="34" charset="0"/>
                <a:ea typeface="Calibri" pitchFamily="34" charset="-122"/>
                <a:cs typeface="Calibri" pitchFamily="34" charset="-120"/>
              </a:rPr>
              <a:t>Bactéries sensibles</a:t>
            </a:r>
            <a:endParaRPr lang="en-US" sz="1200" dirty="0"/>
          </a:p>
          <a:p>
            <a:pPr marL="0" indent="0">
              <a:buNone/>
            </a:pPr>
            <a:r>
              <a:rPr lang="en-US" sz="1200" dirty="0">
                <a:solidFill>
                  <a:srgbClr val="1A1A2E"/>
                </a:solidFill>
                <a:latin typeface="Calibri" pitchFamily="34" charset="0"/>
                <a:ea typeface="Calibri" pitchFamily="34" charset="-122"/>
                <a:cs typeface="Calibri" pitchFamily="34" charset="-120"/>
              </a:rPr>
              <a:t>éliminées</a:t>
            </a:r>
            <a:endParaRPr lang="en-US" sz="1200" dirty="0"/>
          </a:p>
        </p:txBody>
      </p:sp>
      <p:sp>
        <p:nvSpPr>
          <p:cNvPr id="19" name="Shape 15">
            <a:extLst>
              <a:ext uri="{FF2B5EF4-FFF2-40B4-BE49-F238E27FC236}">
                <a16:creationId xmlns:a16="http://schemas.microsoft.com/office/drawing/2014/main" id="{47D4DFD6-F9DE-B101-5951-75174860C95D}"/>
              </a:ext>
            </a:extLst>
          </p:cNvPr>
          <p:cNvSpPr/>
          <p:nvPr/>
        </p:nvSpPr>
        <p:spPr>
          <a:xfrm>
            <a:off x="685800" y="3200400"/>
            <a:ext cx="365760" cy="365760"/>
          </a:xfrm>
          <a:prstGeom prst="ellipse">
            <a:avLst/>
          </a:prstGeom>
          <a:solidFill>
            <a:srgbClr val="E07A5F"/>
          </a:solidFill>
          <a:ln/>
        </p:spPr>
        <p:txBody>
          <a:bodyPr/>
          <a:lstStyle/>
          <a:p>
            <a:endParaRPr lang="fr-FR"/>
          </a:p>
        </p:txBody>
      </p:sp>
      <p:sp>
        <p:nvSpPr>
          <p:cNvPr id="20" name="Text 16">
            <a:extLst>
              <a:ext uri="{FF2B5EF4-FFF2-40B4-BE49-F238E27FC236}">
                <a16:creationId xmlns:a16="http://schemas.microsoft.com/office/drawing/2014/main" id="{9C1F5131-D96C-4CDF-B2C0-D8063307A20D}"/>
              </a:ext>
            </a:extLst>
          </p:cNvPr>
          <p:cNvSpPr/>
          <p:nvPr/>
        </p:nvSpPr>
        <p:spPr>
          <a:xfrm>
            <a:off x="685800" y="3200400"/>
            <a:ext cx="365760" cy="365760"/>
          </a:xfrm>
          <a:prstGeom prst="rect">
            <a:avLst/>
          </a:prstGeom>
          <a:noFill/>
          <a:ln/>
        </p:spPr>
        <p:txBody>
          <a:bodyPr wrap="square"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21" name="Text 17">
            <a:extLst>
              <a:ext uri="{FF2B5EF4-FFF2-40B4-BE49-F238E27FC236}">
                <a16:creationId xmlns:a16="http://schemas.microsoft.com/office/drawing/2014/main" id="{A60F4A73-276B-3539-7C82-B6048C7C96D0}"/>
              </a:ext>
            </a:extLst>
          </p:cNvPr>
          <p:cNvSpPr/>
          <p:nvPr/>
        </p:nvSpPr>
        <p:spPr>
          <a:xfrm>
            <a:off x="1143000" y="3200400"/>
            <a:ext cx="1828800" cy="1097280"/>
          </a:xfrm>
          <a:prstGeom prst="rect">
            <a:avLst/>
          </a:prstGeom>
          <a:noFill/>
          <a:ln/>
        </p:spPr>
        <p:txBody>
          <a:bodyPr wrap="square" rtlCol="0" anchor="t"/>
          <a:lstStyle/>
          <a:p>
            <a:pPr marL="0" indent="0">
              <a:buNone/>
            </a:pPr>
            <a:r>
              <a:rPr lang="en-US" sz="1200" dirty="0">
                <a:solidFill>
                  <a:srgbClr val="1A1A2E"/>
                </a:solidFill>
                <a:latin typeface="Calibri" pitchFamily="34" charset="0"/>
                <a:ea typeface="Calibri" pitchFamily="34" charset="-122"/>
                <a:cs typeface="Calibri" pitchFamily="34" charset="-120"/>
              </a:rPr>
              <a:t>Bactéries résistantes</a:t>
            </a:r>
            <a:endParaRPr lang="en-US" sz="1200" dirty="0"/>
          </a:p>
          <a:p>
            <a:pPr marL="0" indent="0">
              <a:buNone/>
            </a:pPr>
            <a:r>
              <a:rPr lang="en-US" sz="1200" dirty="0">
                <a:solidFill>
                  <a:srgbClr val="1A1A2E"/>
                </a:solidFill>
                <a:latin typeface="Calibri" pitchFamily="34" charset="0"/>
                <a:ea typeface="Calibri" pitchFamily="34" charset="-122"/>
                <a:cs typeface="Calibri" pitchFamily="34" charset="-120"/>
              </a:rPr>
              <a:t>colonisent les niches</a:t>
            </a:r>
            <a:endParaRPr lang="en-US" sz="1200" dirty="0"/>
          </a:p>
        </p:txBody>
      </p:sp>
      <p:pic>
        <p:nvPicPr>
          <p:cNvPr id="22" name="Image 2" descr="preencoded.png">
            <a:extLst>
              <a:ext uri="{FF2B5EF4-FFF2-40B4-BE49-F238E27FC236}">
                <a16:creationId xmlns:a16="http://schemas.microsoft.com/office/drawing/2014/main" id="{03BD8C93-922D-040F-DB53-77DDD60B871C}"/>
              </a:ext>
            </a:extLst>
          </p:cNvPr>
          <p:cNvPicPr>
            <a:picLocks noChangeAspect="1"/>
          </p:cNvPicPr>
          <p:nvPr/>
        </p:nvPicPr>
        <p:blipFill>
          <a:blip r:embed="rId3"/>
          <a:stretch>
            <a:fillRect/>
          </a:stretch>
        </p:blipFill>
        <p:spPr>
          <a:xfrm>
            <a:off x="3154680" y="3520440"/>
            <a:ext cx="201168" cy="201168"/>
          </a:xfrm>
          <a:prstGeom prst="rect">
            <a:avLst/>
          </a:prstGeom>
        </p:spPr>
      </p:pic>
      <p:sp>
        <p:nvSpPr>
          <p:cNvPr id="24" name="Shape 19">
            <a:extLst>
              <a:ext uri="{FF2B5EF4-FFF2-40B4-BE49-F238E27FC236}">
                <a16:creationId xmlns:a16="http://schemas.microsoft.com/office/drawing/2014/main" id="{2120EB05-837F-B999-5623-F6B48AB6074B}"/>
              </a:ext>
            </a:extLst>
          </p:cNvPr>
          <p:cNvSpPr/>
          <p:nvPr/>
        </p:nvSpPr>
        <p:spPr>
          <a:xfrm>
            <a:off x="3520440" y="3200400"/>
            <a:ext cx="365760" cy="365760"/>
          </a:xfrm>
          <a:prstGeom prst="ellipse">
            <a:avLst/>
          </a:prstGeom>
          <a:solidFill>
            <a:srgbClr val="E07A5F"/>
          </a:solidFill>
          <a:ln/>
        </p:spPr>
        <p:txBody>
          <a:bodyPr/>
          <a:lstStyle/>
          <a:p>
            <a:endParaRPr lang="fr-FR"/>
          </a:p>
        </p:txBody>
      </p:sp>
      <p:sp>
        <p:nvSpPr>
          <p:cNvPr id="25" name="Text 20">
            <a:extLst>
              <a:ext uri="{FF2B5EF4-FFF2-40B4-BE49-F238E27FC236}">
                <a16:creationId xmlns:a16="http://schemas.microsoft.com/office/drawing/2014/main" id="{04959FED-D093-F090-F413-FA62E1A8671D}"/>
              </a:ext>
            </a:extLst>
          </p:cNvPr>
          <p:cNvSpPr/>
          <p:nvPr/>
        </p:nvSpPr>
        <p:spPr>
          <a:xfrm>
            <a:off x="3520440" y="3200400"/>
            <a:ext cx="365760" cy="365760"/>
          </a:xfrm>
          <a:prstGeom prst="rect">
            <a:avLst/>
          </a:prstGeom>
          <a:noFill/>
          <a:ln/>
        </p:spPr>
        <p:txBody>
          <a:bodyPr wrap="square"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5</a:t>
            </a:r>
            <a:endParaRPr lang="en-US" sz="1400" dirty="0"/>
          </a:p>
        </p:txBody>
      </p:sp>
      <p:sp>
        <p:nvSpPr>
          <p:cNvPr id="26" name="Text 21">
            <a:extLst>
              <a:ext uri="{FF2B5EF4-FFF2-40B4-BE49-F238E27FC236}">
                <a16:creationId xmlns:a16="http://schemas.microsoft.com/office/drawing/2014/main" id="{62537C80-B424-4D68-3523-0665C4BDBA6B}"/>
              </a:ext>
            </a:extLst>
          </p:cNvPr>
          <p:cNvSpPr/>
          <p:nvPr/>
        </p:nvSpPr>
        <p:spPr>
          <a:xfrm>
            <a:off x="3977640" y="3200400"/>
            <a:ext cx="1828800" cy="1097280"/>
          </a:xfrm>
          <a:prstGeom prst="rect">
            <a:avLst/>
          </a:prstGeom>
          <a:noFill/>
          <a:ln/>
        </p:spPr>
        <p:txBody>
          <a:bodyPr wrap="square" rtlCol="0" anchor="t"/>
          <a:lstStyle/>
          <a:p>
            <a:pPr marL="0" indent="0">
              <a:buNone/>
            </a:pPr>
            <a:r>
              <a:rPr lang="en-US" sz="1200" dirty="0">
                <a:solidFill>
                  <a:srgbClr val="1A1A2E"/>
                </a:solidFill>
                <a:latin typeface="Calibri" pitchFamily="34" charset="0"/>
                <a:ea typeface="Calibri" pitchFamily="34" charset="-122"/>
                <a:cs typeface="Calibri" pitchFamily="34" charset="-120"/>
              </a:rPr>
              <a:t>Excrétion massive</a:t>
            </a:r>
            <a:endParaRPr lang="en-US" sz="1200" dirty="0"/>
          </a:p>
          <a:p>
            <a:pPr marL="0" indent="0">
              <a:buNone/>
            </a:pPr>
            <a:r>
              <a:rPr lang="en-US" sz="1200" dirty="0">
                <a:solidFill>
                  <a:srgbClr val="1A1A2E"/>
                </a:solidFill>
                <a:latin typeface="Calibri" pitchFamily="34" charset="0"/>
                <a:ea typeface="Calibri" pitchFamily="34" charset="-122"/>
                <a:cs typeface="Calibri" pitchFamily="34" charset="-120"/>
              </a:rPr>
              <a:t>dans les fèces</a:t>
            </a:r>
            <a:endParaRPr lang="en-US" sz="1200" dirty="0"/>
          </a:p>
        </p:txBody>
      </p:sp>
      <p:pic>
        <p:nvPicPr>
          <p:cNvPr id="27" name="Image 3" descr="preencoded.png">
            <a:extLst>
              <a:ext uri="{FF2B5EF4-FFF2-40B4-BE49-F238E27FC236}">
                <a16:creationId xmlns:a16="http://schemas.microsoft.com/office/drawing/2014/main" id="{651942F6-9D4F-BC79-92C5-92BCF2AF652F}"/>
              </a:ext>
            </a:extLst>
          </p:cNvPr>
          <p:cNvPicPr>
            <a:picLocks noChangeAspect="1"/>
          </p:cNvPicPr>
          <p:nvPr/>
        </p:nvPicPr>
        <p:blipFill>
          <a:blip r:embed="rId3"/>
          <a:stretch>
            <a:fillRect/>
          </a:stretch>
        </p:blipFill>
        <p:spPr>
          <a:xfrm>
            <a:off x="5989320" y="3520440"/>
            <a:ext cx="201168" cy="201168"/>
          </a:xfrm>
          <a:prstGeom prst="rect">
            <a:avLst/>
          </a:prstGeom>
        </p:spPr>
      </p:pic>
      <p:sp>
        <p:nvSpPr>
          <p:cNvPr id="29" name="Shape 23">
            <a:extLst>
              <a:ext uri="{FF2B5EF4-FFF2-40B4-BE49-F238E27FC236}">
                <a16:creationId xmlns:a16="http://schemas.microsoft.com/office/drawing/2014/main" id="{BC366C6B-22EC-FBC2-AE11-5CFCD3BA11EE}"/>
              </a:ext>
            </a:extLst>
          </p:cNvPr>
          <p:cNvSpPr/>
          <p:nvPr/>
        </p:nvSpPr>
        <p:spPr>
          <a:xfrm>
            <a:off x="6355080" y="3200400"/>
            <a:ext cx="365760" cy="365760"/>
          </a:xfrm>
          <a:prstGeom prst="ellipse">
            <a:avLst/>
          </a:prstGeom>
          <a:solidFill>
            <a:srgbClr val="E07A5F"/>
          </a:solidFill>
          <a:ln/>
        </p:spPr>
        <p:txBody>
          <a:bodyPr/>
          <a:lstStyle/>
          <a:p>
            <a:endParaRPr lang="fr-FR"/>
          </a:p>
        </p:txBody>
      </p:sp>
      <p:sp>
        <p:nvSpPr>
          <p:cNvPr id="30" name="Text 24">
            <a:extLst>
              <a:ext uri="{FF2B5EF4-FFF2-40B4-BE49-F238E27FC236}">
                <a16:creationId xmlns:a16="http://schemas.microsoft.com/office/drawing/2014/main" id="{8C113618-D4EC-9A01-26A6-E1B843936D22}"/>
              </a:ext>
            </a:extLst>
          </p:cNvPr>
          <p:cNvSpPr/>
          <p:nvPr/>
        </p:nvSpPr>
        <p:spPr>
          <a:xfrm>
            <a:off x="6355080" y="3200400"/>
            <a:ext cx="365760" cy="365760"/>
          </a:xfrm>
          <a:prstGeom prst="rect">
            <a:avLst/>
          </a:prstGeom>
          <a:noFill/>
          <a:ln/>
        </p:spPr>
        <p:txBody>
          <a:bodyPr wrap="square"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6</a:t>
            </a:r>
            <a:endParaRPr lang="en-US" sz="1400" dirty="0"/>
          </a:p>
        </p:txBody>
      </p:sp>
      <p:sp>
        <p:nvSpPr>
          <p:cNvPr id="31" name="Text 25">
            <a:extLst>
              <a:ext uri="{FF2B5EF4-FFF2-40B4-BE49-F238E27FC236}">
                <a16:creationId xmlns:a16="http://schemas.microsoft.com/office/drawing/2014/main" id="{C5A5D2C5-0561-1513-B9C1-3AAA677EFBDB}"/>
              </a:ext>
            </a:extLst>
          </p:cNvPr>
          <p:cNvSpPr/>
          <p:nvPr/>
        </p:nvSpPr>
        <p:spPr>
          <a:xfrm>
            <a:off x="6812280" y="3200400"/>
            <a:ext cx="1828800" cy="1097280"/>
          </a:xfrm>
          <a:prstGeom prst="rect">
            <a:avLst/>
          </a:prstGeom>
          <a:noFill/>
          <a:ln/>
        </p:spPr>
        <p:txBody>
          <a:bodyPr wrap="square" rtlCol="0" anchor="t"/>
          <a:lstStyle/>
          <a:p>
            <a:pPr marL="0" indent="0">
              <a:buNone/>
            </a:pPr>
            <a:r>
              <a:rPr lang="en-US" sz="1200" dirty="0">
                <a:solidFill>
                  <a:srgbClr val="1A1A2E"/>
                </a:solidFill>
                <a:latin typeface="Calibri" pitchFamily="34" charset="0"/>
                <a:ea typeface="Calibri" pitchFamily="34" charset="-122"/>
                <a:cs typeface="Calibri" pitchFamily="34" charset="-120"/>
              </a:rPr>
              <a:t>Contamination</a:t>
            </a:r>
            <a:endParaRPr lang="en-US" sz="1200" dirty="0"/>
          </a:p>
          <a:p>
            <a:pPr marL="0" indent="0">
              <a:buNone/>
            </a:pPr>
            <a:r>
              <a:rPr lang="en-US" sz="1200" dirty="0">
                <a:solidFill>
                  <a:srgbClr val="1A1A2E"/>
                </a:solidFill>
                <a:latin typeface="Calibri" pitchFamily="34" charset="0"/>
                <a:ea typeface="Calibri" pitchFamily="34" charset="-122"/>
                <a:cs typeface="Calibri" pitchFamily="34" charset="-120"/>
              </a:rPr>
              <a:t>environnement → homme</a:t>
            </a:r>
            <a:endParaRPr lang="en-US" sz="1200" dirty="0"/>
          </a:p>
        </p:txBody>
      </p:sp>
      <p:sp>
        <p:nvSpPr>
          <p:cNvPr id="32" name="Text 26">
            <a:extLst>
              <a:ext uri="{FF2B5EF4-FFF2-40B4-BE49-F238E27FC236}">
                <a16:creationId xmlns:a16="http://schemas.microsoft.com/office/drawing/2014/main" id="{A385D489-9A28-319E-CF99-A0F1A7BF2DE1}"/>
              </a:ext>
            </a:extLst>
          </p:cNvPr>
          <p:cNvSpPr/>
          <p:nvPr/>
        </p:nvSpPr>
        <p:spPr>
          <a:xfrm>
            <a:off x="7772400" y="2651760"/>
            <a:ext cx="365760" cy="457200"/>
          </a:xfrm>
          <a:prstGeom prst="rect">
            <a:avLst/>
          </a:prstGeom>
          <a:noFill/>
          <a:ln/>
        </p:spPr>
        <p:txBody>
          <a:bodyPr wrap="square" rtlCol="0" anchor="ctr"/>
          <a:lstStyle/>
          <a:p>
            <a:pPr marL="0" indent="0" algn="ctr">
              <a:buNone/>
            </a:pPr>
            <a:r>
              <a:rPr lang="en-US" sz="2000" dirty="0">
                <a:solidFill>
                  <a:srgbClr val="17A2A2"/>
                </a:solidFill>
              </a:rPr>
              <a:t>↓</a:t>
            </a:r>
            <a:endParaRPr lang="en-US" sz="2000" dirty="0"/>
          </a:p>
        </p:txBody>
      </p:sp>
      <p:sp>
        <p:nvSpPr>
          <p:cNvPr id="33" name="Shape 27">
            <a:extLst>
              <a:ext uri="{FF2B5EF4-FFF2-40B4-BE49-F238E27FC236}">
                <a16:creationId xmlns:a16="http://schemas.microsoft.com/office/drawing/2014/main" id="{C074AE8A-71CA-D434-0D6F-4BF526975A81}"/>
              </a:ext>
            </a:extLst>
          </p:cNvPr>
          <p:cNvSpPr/>
          <p:nvPr/>
        </p:nvSpPr>
        <p:spPr>
          <a:xfrm>
            <a:off x="548640" y="4526280"/>
            <a:ext cx="8046720" cy="502920"/>
          </a:xfrm>
          <a:prstGeom prst="rect">
            <a:avLst/>
          </a:prstGeom>
          <a:solidFill>
            <a:srgbClr val="FFF3E0"/>
          </a:solidFill>
          <a:ln/>
        </p:spPr>
        <p:txBody>
          <a:bodyPr/>
          <a:lstStyle/>
          <a:p>
            <a:endParaRPr lang="fr-FR"/>
          </a:p>
        </p:txBody>
      </p:sp>
      <p:pic>
        <p:nvPicPr>
          <p:cNvPr id="34" name="Image 4" descr="preencoded.png">
            <a:extLst>
              <a:ext uri="{FF2B5EF4-FFF2-40B4-BE49-F238E27FC236}">
                <a16:creationId xmlns:a16="http://schemas.microsoft.com/office/drawing/2014/main" id="{7E414D07-F873-18D3-29FA-59A5000B96EC}"/>
              </a:ext>
            </a:extLst>
          </p:cNvPr>
          <p:cNvPicPr>
            <a:picLocks noChangeAspect="1"/>
          </p:cNvPicPr>
          <p:nvPr/>
        </p:nvPicPr>
        <p:blipFill>
          <a:blip r:embed="rId4"/>
          <a:stretch>
            <a:fillRect/>
          </a:stretch>
        </p:blipFill>
        <p:spPr>
          <a:xfrm>
            <a:off x="685800" y="4590288"/>
            <a:ext cx="320040" cy="320040"/>
          </a:xfrm>
          <a:prstGeom prst="rect">
            <a:avLst/>
          </a:prstGeom>
        </p:spPr>
      </p:pic>
      <p:sp>
        <p:nvSpPr>
          <p:cNvPr id="35" name="Text 28">
            <a:extLst>
              <a:ext uri="{FF2B5EF4-FFF2-40B4-BE49-F238E27FC236}">
                <a16:creationId xmlns:a16="http://schemas.microsoft.com/office/drawing/2014/main" id="{75194A53-9EE8-7C0A-4C9E-9EA95AD5F542}"/>
              </a:ext>
            </a:extLst>
          </p:cNvPr>
          <p:cNvSpPr/>
          <p:nvPr/>
        </p:nvSpPr>
        <p:spPr>
          <a:xfrm>
            <a:off x="1097280" y="4544568"/>
            <a:ext cx="7315200" cy="457200"/>
          </a:xfrm>
          <a:prstGeom prst="rect">
            <a:avLst/>
          </a:prstGeom>
          <a:noFill/>
          <a:ln/>
        </p:spPr>
        <p:txBody>
          <a:bodyPr wrap="square" rtlCol="0" anchor="ctr"/>
          <a:lstStyle/>
          <a:p>
            <a:pPr marL="0" indent="0">
              <a:buNone/>
            </a:pPr>
            <a:r>
              <a:rPr lang="en-US" sz="1200" b="1" dirty="0">
                <a:solidFill>
                  <a:srgbClr val="E07A5F"/>
                </a:solidFill>
                <a:latin typeface="Calibri" pitchFamily="34" charset="0"/>
                <a:ea typeface="Calibri" pitchFamily="34" charset="-122"/>
                <a:cs typeface="Calibri" pitchFamily="34" charset="-120"/>
              </a:rPr>
              <a:t>Fluoroquinolones (ciprofloxacine) : classées « critiquement importantes » par l'OMS, résistance en hausse constante</a:t>
            </a:r>
            <a:endParaRPr lang="en-US" sz="1200" dirty="0"/>
          </a:p>
        </p:txBody>
      </p:sp>
      <p:sp useBgFill="1">
        <p:nvSpPr>
          <p:cNvPr id="36" name="Rectangle 35">
            <a:extLst>
              <a:ext uri="{FF2B5EF4-FFF2-40B4-BE49-F238E27FC236}">
                <a16:creationId xmlns:a16="http://schemas.microsoft.com/office/drawing/2014/main" id="{39E33267-646A-B6E8-5E39-35A6E8C5D84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0"/>
            <a:ext cx="9141714" cy="51435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 name="Text 0">
            <a:extLst>
              <a:ext uri="{FF2B5EF4-FFF2-40B4-BE49-F238E27FC236}">
                <a16:creationId xmlns:a16="http://schemas.microsoft.com/office/drawing/2014/main" id="{A8A9EDB8-9607-2C8F-283F-76C59BA68E4F}"/>
              </a:ext>
            </a:extLst>
          </p:cNvPr>
          <p:cNvSpPr/>
          <p:nvPr/>
        </p:nvSpPr>
        <p:spPr>
          <a:xfrm>
            <a:off x="479160" y="502663"/>
            <a:ext cx="8182230" cy="799377"/>
          </a:xfrm>
          <a:prstGeom prst="rect">
            <a:avLst/>
          </a:prstGeom>
        </p:spPr>
        <p:txBody>
          <a:bodyPr vert="horz" lIns="91440" tIns="45720" rIns="91440" bIns="45720" rtlCol="0" anchor="ctr">
            <a:normAutofit/>
          </a:bodyPr>
          <a:lstStyle/>
          <a:p>
            <a:pPr>
              <a:lnSpc>
                <a:spcPct val="90000"/>
              </a:lnSpc>
              <a:spcBef>
                <a:spcPct val="0"/>
              </a:spcBef>
              <a:spcAft>
                <a:spcPts val="600"/>
              </a:spcAft>
            </a:pPr>
            <a:r>
              <a:rPr lang="en-US" sz="2800" b="1" dirty="0">
                <a:solidFill>
                  <a:srgbClr val="0D4F4F"/>
                </a:solidFill>
                <a:latin typeface="Georgia" pitchFamily="34" charset="0"/>
              </a:rPr>
              <a:t>Mini HPL : </a:t>
            </a:r>
            <a:r>
              <a:rPr lang="en-US" sz="2800" b="1" dirty="0" err="1">
                <a:solidFill>
                  <a:srgbClr val="0D4F4F"/>
                </a:solidFill>
                <a:latin typeface="Georgia" pitchFamily="34" charset="0"/>
              </a:rPr>
              <a:t>Pivotage</a:t>
            </a:r>
            <a:r>
              <a:rPr lang="en-US" sz="2800" b="1" dirty="0">
                <a:solidFill>
                  <a:srgbClr val="0D4F4F"/>
                </a:solidFill>
                <a:latin typeface="Georgia" pitchFamily="34" charset="0"/>
              </a:rPr>
              <a:t> </a:t>
            </a:r>
            <a:r>
              <a:rPr lang="en-US" sz="2800" b="1" dirty="0" err="1">
                <a:solidFill>
                  <a:srgbClr val="0D4F4F"/>
                </a:solidFill>
                <a:latin typeface="Georgia" pitchFamily="34" charset="0"/>
              </a:rPr>
              <a:t>partiel</a:t>
            </a:r>
            <a:endParaRPr lang="en-US" sz="2800" b="1" dirty="0">
              <a:solidFill>
                <a:srgbClr val="0D4F4F"/>
              </a:solidFill>
              <a:latin typeface="Georgia" pitchFamily="34" charset="0"/>
            </a:endParaRPr>
          </a:p>
        </p:txBody>
      </p:sp>
      <p:sp>
        <p:nvSpPr>
          <p:cNvPr id="38" name="Text 1">
            <a:extLst>
              <a:ext uri="{FF2B5EF4-FFF2-40B4-BE49-F238E27FC236}">
                <a16:creationId xmlns:a16="http://schemas.microsoft.com/office/drawing/2014/main" id="{F1BD4F0E-DE3D-E4CB-91CB-199B3573D745}"/>
              </a:ext>
            </a:extLst>
          </p:cNvPr>
          <p:cNvSpPr/>
          <p:nvPr/>
        </p:nvSpPr>
        <p:spPr>
          <a:xfrm>
            <a:off x="479160" y="1533315"/>
            <a:ext cx="8182233" cy="414495"/>
          </a:xfrm>
          <a:prstGeom prst="rect">
            <a:avLst/>
          </a:prstGeom>
        </p:spPr>
        <p:txBody>
          <a:bodyPr vert="horz" lIns="91440" tIns="45720" rIns="91440" bIns="45720" rtlCol="0" anchor="ctr">
            <a:normAutofit fontScale="62500" lnSpcReduction="20000"/>
          </a:bodyPr>
          <a:lstStyle/>
          <a:p>
            <a:pPr algn="ctr">
              <a:lnSpc>
                <a:spcPct val="90000"/>
              </a:lnSpc>
              <a:spcBef>
                <a:spcPts val="1000"/>
              </a:spcBef>
            </a:pPr>
            <a:r>
              <a:rPr lang="fr-FR" sz="2200" i="1" dirty="0"/>
              <a:t>consiste à échanger la ligne courante avec celle ayant le plus grand coefficient en valeur absolue dans la colonne, afin d’éviter les divisions par des pivots quasi nuls et garantir la stabilité numérique.</a:t>
            </a:r>
            <a:endParaRPr lang="en-US" sz="2200" i="1" dirty="0"/>
          </a:p>
        </p:txBody>
      </p:sp>
      <p:sp>
        <p:nvSpPr>
          <p:cNvPr id="39" name="sketch line">
            <a:extLst>
              <a:ext uri="{FF2B5EF4-FFF2-40B4-BE49-F238E27FC236}">
                <a16:creationId xmlns:a16="http://schemas.microsoft.com/office/drawing/2014/main" id="{8D6BB4B6-E960-B6B7-0F69-91B362761FB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2542032" y="1350066"/>
            <a:ext cx="4057650" cy="13716"/>
          </a:xfrm>
          <a:custGeom>
            <a:avLst/>
            <a:gdLst>
              <a:gd name="csX0" fmla="*/ 0 w 4057650"/>
              <a:gd name="csY0" fmla="*/ 0 h 13716"/>
              <a:gd name="csX1" fmla="*/ 757428 w 4057650"/>
              <a:gd name="csY1" fmla="*/ 0 h 13716"/>
              <a:gd name="csX2" fmla="*/ 1474279 w 4057650"/>
              <a:gd name="csY2" fmla="*/ 0 h 13716"/>
              <a:gd name="csX3" fmla="*/ 2191131 w 4057650"/>
              <a:gd name="csY3" fmla="*/ 0 h 13716"/>
              <a:gd name="csX4" fmla="*/ 2745676 w 4057650"/>
              <a:gd name="csY4" fmla="*/ 0 h 13716"/>
              <a:gd name="csX5" fmla="*/ 3340798 w 4057650"/>
              <a:gd name="csY5" fmla="*/ 0 h 13716"/>
              <a:gd name="csX6" fmla="*/ 4057650 w 4057650"/>
              <a:gd name="csY6" fmla="*/ 0 h 13716"/>
              <a:gd name="csX7" fmla="*/ 4057650 w 4057650"/>
              <a:gd name="csY7" fmla="*/ 13716 h 13716"/>
              <a:gd name="csX8" fmla="*/ 3381375 w 4057650"/>
              <a:gd name="csY8" fmla="*/ 13716 h 13716"/>
              <a:gd name="csX9" fmla="*/ 2826830 w 4057650"/>
              <a:gd name="csY9" fmla="*/ 13716 h 13716"/>
              <a:gd name="csX10" fmla="*/ 2272284 w 4057650"/>
              <a:gd name="csY10" fmla="*/ 13716 h 13716"/>
              <a:gd name="csX11" fmla="*/ 1555432 w 4057650"/>
              <a:gd name="csY11" fmla="*/ 13716 h 13716"/>
              <a:gd name="csX12" fmla="*/ 960310 w 4057650"/>
              <a:gd name="csY12" fmla="*/ 13716 h 13716"/>
              <a:gd name="csX13" fmla="*/ 0 w 4057650"/>
              <a:gd name="csY13" fmla="*/ 13716 h 13716"/>
              <a:gd name="csX14" fmla="*/ 0 w 4057650"/>
              <a:gd name="csY14" fmla="*/ 0 h 1371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Lst>
            <a:rect l="l" t="t" r="r" b="b"/>
            <a:pathLst>
              <a:path w="4057650" h="13716" fill="none" extrusionOk="0">
                <a:moveTo>
                  <a:pt x="0" y="0"/>
                </a:moveTo>
                <a:cubicBezTo>
                  <a:pt x="371182" y="3227"/>
                  <a:pt x="494372" y="9222"/>
                  <a:pt x="757428" y="0"/>
                </a:cubicBezTo>
                <a:cubicBezTo>
                  <a:pt x="1020484" y="-9222"/>
                  <a:pt x="1116719" y="-4357"/>
                  <a:pt x="1474279" y="0"/>
                </a:cubicBezTo>
                <a:cubicBezTo>
                  <a:pt x="1831839" y="4357"/>
                  <a:pt x="1920973" y="-11809"/>
                  <a:pt x="2191131" y="0"/>
                </a:cubicBezTo>
                <a:cubicBezTo>
                  <a:pt x="2461289" y="11809"/>
                  <a:pt x="2589480" y="-22604"/>
                  <a:pt x="2745676" y="0"/>
                </a:cubicBezTo>
                <a:cubicBezTo>
                  <a:pt x="2901872" y="22604"/>
                  <a:pt x="3136452" y="-12306"/>
                  <a:pt x="3340798" y="0"/>
                </a:cubicBezTo>
                <a:cubicBezTo>
                  <a:pt x="3545144" y="12306"/>
                  <a:pt x="3766934" y="-21556"/>
                  <a:pt x="4057650" y="0"/>
                </a:cubicBezTo>
                <a:cubicBezTo>
                  <a:pt x="4057378" y="4708"/>
                  <a:pt x="4057987" y="7132"/>
                  <a:pt x="4057650" y="13716"/>
                </a:cubicBezTo>
                <a:cubicBezTo>
                  <a:pt x="3743404" y="35553"/>
                  <a:pt x="3625516" y="-19495"/>
                  <a:pt x="3381375" y="13716"/>
                </a:cubicBezTo>
                <a:cubicBezTo>
                  <a:pt x="3137235" y="46927"/>
                  <a:pt x="2946571" y="-4571"/>
                  <a:pt x="2826830" y="13716"/>
                </a:cubicBezTo>
                <a:cubicBezTo>
                  <a:pt x="2707090" y="32003"/>
                  <a:pt x="2402756" y="-3140"/>
                  <a:pt x="2272284" y="13716"/>
                </a:cubicBezTo>
                <a:cubicBezTo>
                  <a:pt x="2141812" y="30572"/>
                  <a:pt x="1895935" y="13627"/>
                  <a:pt x="1555432" y="13716"/>
                </a:cubicBezTo>
                <a:cubicBezTo>
                  <a:pt x="1214929" y="13805"/>
                  <a:pt x="1103072" y="9931"/>
                  <a:pt x="960310" y="13716"/>
                </a:cubicBezTo>
                <a:cubicBezTo>
                  <a:pt x="817548" y="17501"/>
                  <a:pt x="402272" y="-33931"/>
                  <a:pt x="0" y="13716"/>
                </a:cubicBezTo>
                <a:cubicBezTo>
                  <a:pt x="-460" y="10837"/>
                  <a:pt x="38" y="6680"/>
                  <a:pt x="0" y="0"/>
                </a:cubicBezTo>
                <a:close/>
              </a:path>
              <a:path w="4057650" h="13716" stroke="0" extrusionOk="0">
                <a:moveTo>
                  <a:pt x="0" y="0"/>
                </a:moveTo>
                <a:cubicBezTo>
                  <a:pt x="248348" y="13145"/>
                  <a:pt x="486117" y="25042"/>
                  <a:pt x="635698" y="0"/>
                </a:cubicBezTo>
                <a:cubicBezTo>
                  <a:pt x="785279" y="-25042"/>
                  <a:pt x="917762" y="-5537"/>
                  <a:pt x="1190244" y="0"/>
                </a:cubicBezTo>
                <a:cubicBezTo>
                  <a:pt x="1462726" y="5537"/>
                  <a:pt x="1667120" y="-21232"/>
                  <a:pt x="1947672" y="0"/>
                </a:cubicBezTo>
                <a:cubicBezTo>
                  <a:pt x="2228224" y="21232"/>
                  <a:pt x="2280631" y="-21698"/>
                  <a:pt x="2583370" y="0"/>
                </a:cubicBezTo>
                <a:cubicBezTo>
                  <a:pt x="2886109" y="21698"/>
                  <a:pt x="3022941" y="19647"/>
                  <a:pt x="3219069" y="0"/>
                </a:cubicBezTo>
                <a:cubicBezTo>
                  <a:pt x="3415197" y="-19647"/>
                  <a:pt x="3747500" y="26991"/>
                  <a:pt x="4057650" y="0"/>
                </a:cubicBezTo>
                <a:cubicBezTo>
                  <a:pt x="4056980" y="3019"/>
                  <a:pt x="4057134" y="10425"/>
                  <a:pt x="4057650" y="13716"/>
                </a:cubicBezTo>
                <a:cubicBezTo>
                  <a:pt x="3865148" y="-7885"/>
                  <a:pt x="3702543" y="44896"/>
                  <a:pt x="3381375" y="13716"/>
                </a:cubicBezTo>
                <a:cubicBezTo>
                  <a:pt x="3060208" y="-17464"/>
                  <a:pt x="2956571" y="-13250"/>
                  <a:pt x="2826830" y="13716"/>
                </a:cubicBezTo>
                <a:cubicBezTo>
                  <a:pt x="2697089" y="40682"/>
                  <a:pt x="2411031" y="38582"/>
                  <a:pt x="2150555" y="13716"/>
                </a:cubicBezTo>
                <a:cubicBezTo>
                  <a:pt x="1890080" y="-11150"/>
                  <a:pt x="1741827" y="-5187"/>
                  <a:pt x="1474280" y="13716"/>
                </a:cubicBezTo>
                <a:cubicBezTo>
                  <a:pt x="1206734" y="32619"/>
                  <a:pt x="998203" y="28763"/>
                  <a:pt x="838581" y="13716"/>
                </a:cubicBezTo>
                <a:cubicBezTo>
                  <a:pt x="678959" y="-1331"/>
                  <a:pt x="187101" y="-17784"/>
                  <a:pt x="0" y="13716"/>
                </a:cubicBezTo>
                <a:cubicBezTo>
                  <a:pt x="-114" y="7033"/>
                  <a:pt x="103" y="3429"/>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2" name="Image 0" descr="preencoded.png">
            <a:extLst>
              <a:ext uri="{FF2B5EF4-FFF2-40B4-BE49-F238E27FC236}">
                <a16:creationId xmlns:a16="http://schemas.microsoft.com/office/drawing/2014/main" id="{D12F1243-B0BB-D3D6-24C5-6F4392B92A71}"/>
              </a:ext>
            </a:extLst>
          </p:cNvPr>
          <p:cNvPicPr>
            <a:picLocks noChangeAspect="1"/>
          </p:cNvPicPr>
          <p:nvPr/>
        </p:nvPicPr>
        <p:blipFill>
          <a:blip r:embed="rId3"/>
          <a:stretch>
            <a:fillRect/>
          </a:stretch>
        </p:blipFill>
        <p:spPr>
          <a:xfrm>
            <a:off x="548640" y="4693158"/>
            <a:ext cx="274320" cy="274320"/>
          </a:xfrm>
          <a:prstGeom prst="rect">
            <a:avLst/>
          </a:prstGeom>
        </p:spPr>
      </p:pic>
      <p:sp>
        <p:nvSpPr>
          <p:cNvPr id="43" name="Text 1">
            <a:extLst>
              <a:ext uri="{FF2B5EF4-FFF2-40B4-BE49-F238E27FC236}">
                <a16:creationId xmlns:a16="http://schemas.microsoft.com/office/drawing/2014/main" id="{1B653658-FAB3-908E-93CC-668EC54CECAA}"/>
              </a:ext>
            </a:extLst>
          </p:cNvPr>
          <p:cNvSpPr/>
          <p:nvPr/>
        </p:nvSpPr>
        <p:spPr>
          <a:xfrm>
            <a:off x="596007" y="4628678"/>
            <a:ext cx="8182233" cy="414495"/>
          </a:xfrm>
          <a:prstGeom prst="rect">
            <a:avLst/>
          </a:prstGeom>
        </p:spPr>
        <p:txBody>
          <a:bodyPr vert="horz" lIns="91440" tIns="45720" rIns="91440" bIns="45720" rtlCol="0" anchor="ctr">
            <a:normAutofit fontScale="55000" lnSpcReduction="20000"/>
          </a:bodyPr>
          <a:lstStyle/>
          <a:p>
            <a:pPr algn="ctr">
              <a:lnSpc>
                <a:spcPct val="90000"/>
              </a:lnSpc>
              <a:spcBef>
                <a:spcPts val="1000"/>
              </a:spcBef>
            </a:pPr>
            <a:r>
              <a:rPr lang="fr-FR" sz="2400" dirty="0"/>
              <a:t>Amélioration de  la stabilité numérique en choisissant le plus grand pivot en valeur absolue avant l’élimination.</a:t>
            </a:r>
            <a:endParaRPr lang="en-US" sz="2200" i="1" dirty="0"/>
          </a:p>
        </p:txBody>
      </p:sp>
      <p:pic>
        <p:nvPicPr>
          <p:cNvPr id="46" name="Image 45" descr="Une image contenant texte, Police, capture d’écran, blanc&#10;&#10;Le contenu généré par l’IA peut être incorrect.">
            <a:extLst>
              <a:ext uri="{FF2B5EF4-FFF2-40B4-BE49-F238E27FC236}">
                <a16:creationId xmlns:a16="http://schemas.microsoft.com/office/drawing/2014/main" id="{5D5E4B16-C080-3FBB-6173-70D51DF0B8C4}"/>
              </a:ext>
            </a:extLst>
          </p:cNvPr>
          <p:cNvPicPr>
            <a:picLocks noChangeAspect="1"/>
          </p:cNvPicPr>
          <p:nvPr/>
        </p:nvPicPr>
        <p:blipFill>
          <a:blip r:embed="rId5"/>
          <a:stretch>
            <a:fillRect/>
          </a:stretch>
        </p:blipFill>
        <p:spPr>
          <a:xfrm>
            <a:off x="868680" y="2605972"/>
            <a:ext cx="3756660" cy="927277"/>
          </a:xfrm>
          <a:prstGeom prst="rect">
            <a:avLst/>
          </a:prstGeom>
        </p:spPr>
      </p:pic>
      <p:pic>
        <p:nvPicPr>
          <p:cNvPr id="48" name="Image 47" descr="Une image contenant texte, Police, capture d’écran, nombre&#10;&#10;Le contenu généré par l’IA peut être incorrect.">
            <a:extLst>
              <a:ext uri="{FF2B5EF4-FFF2-40B4-BE49-F238E27FC236}">
                <a16:creationId xmlns:a16="http://schemas.microsoft.com/office/drawing/2014/main" id="{0ACFCEAE-80DF-86C0-B2D6-473932DFE425}"/>
              </a:ext>
            </a:extLst>
          </p:cNvPr>
          <p:cNvPicPr>
            <a:picLocks noChangeAspect="1"/>
          </p:cNvPicPr>
          <p:nvPr/>
        </p:nvPicPr>
        <p:blipFill>
          <a:blip r:embed="rId6"/>
          <a:stretch>
            <a:fillRect/>
          </a:stretch>
        </p:blipFill>
        <p:spPr>
          <a:xfrm>
            <a:off x="5118354" y="2231319"/>
            <a:ext cx="3057525" cy="1628775"/>
          </a:xfrm>
          <a:prstGeom prst="rect">
            <a:avLst/>
          </a:prstGeom>
        </p:spPr>
      </p:pic>
      <p:sp>
        <p:nvSpPr>
          <p:cNvPr id="4" name="TextBox 3">
            <a:extLst>
              <a:ext uri="{FF2B5EF4-FFF2-40B4-BE49-F238E27FC236}">
                <a16:creationId xmlns:a16="http://schemas.microsoft.com/office/drawing/2014/main" id="{B5A92442-EAF4-428E-7FC8-1A9FF7CBC224}"/>
              </a:ext>
            </a:extLst>
          </p:cNvPr>
          <p:cNvSpPr txBox="1"/>
          <p:nvPr/>
        </p:nvSpPr>
        <p:spPr>
          <a:xfrm>
            <a:off x="8394732" y="43934"/>
            <a:ext cx="702436" cy="369332"/>
          </a:xfrm>
          <a:prstGeom prst="rect">
            <a:avLst/>
          </a:prstGeom>
          <a:noFill/>
        </p:spPr>
        <p:txBody>
          <a:bodyPr wrap="none" rtlCol="0">
            <a:spAutoFit/>
          </a:bodyPr>
          <a:lstStyle/>
          <a:p>
            <a:r>
              <a:rPr lang="fr-FR" b="1" dirty="0">
                <a:solidFill>
                  <a:srgbClr val="0D4F4F"/>
                </a:solidFill>
                <a:latin typeface="Georgia"/>
              </a:rPr>
              <a:t>4/21</a:t>
            </a:r>
          </a:p>
        </p:txBody>
      </p:sp>
    </p:spTree>
    <p:extLst>
      <p:ext uri="{BB962C8B-B14F-4D97-AF65-F5344CB8AC3E}">
        <p14:creationId xmlns:p14="http://schemas.microsoft.com/office/powerpoint/2010/main" val="343690390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AF8F0"/>
        </a:solidFill>
        <a:effectLst/>
      </p:bgPr>
    </p:bg>
    <p:spTree>
      <p:nvGrpSpPr>
        <p:cNvPr id="1" name="">
          <a:extLst>
            <a:ext uri="{FF2B5EF4-FFF2-40B4-BE49-F238E27FC236}">
              <a16:creationId xmlns:a16="http://schemas.microsoft.com/office/drawing/2014/main" id="{DD625B73-15CF-6EA4-861F-2E8DD4DA6EEB}"/>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DBA8851F-72A9-26C0-9BD2-49173B167D55}"/>
              </a:ext>
            </a:extLst>
          </p:cNvPr>
          <p:cNvSpPr/>
          <p:nvPr/>
        </p:nvSpPr>
        <p:spPr>
          <a:xfrm>
            <a:off x="548640" y="228600"/>
            <a:ext cx="8229600" cy="457200"/>
          </a:xfrm>
          <a:prstGeom prst="rect">
            <a:avLst/>
          </a:prstGeom>
          <a:noFill/>
          <a:ln/>
        </p:spPr>
        <p:txBody>
          <a:bodyPr wrap="square" lIns="0" tIns="0" rIns="0" bIns="0" rtlCol="0" anchor="ctr"/>
          <a:lstStyle/>
          <a:p>
            <a:pPr marL="0" indent="0">
              <a:buNone/>
            </a:pPr>
            <a:r>
              <a:rPr lang="en-US" sz="2400" b="1" dirty="0">
                <a:solidFill>
                  <a:srgbClr val="0D4F4F"/>
                </a:solidFill>
                <a:latin typeface="Georgia" pitchFamily="34" charset="0"/>
                <a:ea typeface="Georgia" pitchFamily="34" charset="-122"/>
                <a:cs typeface="Georgia" pitchFamily="34" charset="-120"/>
              </a:rPr>
              <a:t>Le problème : résistance aux antibiotiques</a:t>
            </a:r>
            <a:endParaRPr lang="en-US" sz="2400" dirty="0"/>
          </a:p>
        </p:txBody>
      </p:sp>
      <p:sp>
        <p:nvSpPr>
          <p:cNvPr id="3" name="Text 1">
            <a:extLst>
              <a:ext uri="{FF2B5EF4-FFF2-40B4-BE49-F238E27FC236}">
                <a16:creationId xmlns:a16="http://schemas.microsoft.com/office/drawing/2014/main" id="{C7D60960-3EA4-DBFF-8AC5-5A2490C02610}"/>
              </a:ext>
            </a:extLst>
          </p:cNvPr>
          <p:cNvSpPr/>
          <p:nvPr/>
        </p:nvSpPr>
        <p:spPr>
          <a:xfrm>
            <a:off x="548640" y="658368"/>
            <a:ext cx="8229600" cy="274320"/>
          </a:xfrm>
          <a:prstGeom prst="rect">
            <a:avLst/>
          </a:prstGeom>
          <a:noFill/>
          <a:ln/>
        </p:spPr>
        <p:txBody>
          <a:bodyPr wrap="square" lIns="0" tIns="0" rIns="0" bIns="0" rtlCol="0" anchor="ctr"/>
          <a:lstStyle/>
          <a:p>
            <a:pPr marL="0" indent="0">
              <a:buNone/>
            </a:pPr>
            <a:r>
              <a:rPr lang="en-US" sz="1200" i="1" dirty="0">
                <a:solidFill>
                  <a:srgbClr val="8A8A9A"/>
                </a:solidFill>
                <a:latin typeface="Calibri" pitchFamily="34" charset="0"/>
                <a:ea typeface="Calibri" pitchFamily="34" charset="-122"/>
                <a:cs typeface="Calibri" pitchFamily="34" charset="-120"/>
              </a:rPr>
              <a:t>L'une des plus grandes menaces pour la santé publique mondiale (OMS, 2014)</a:t>
            </a:r>
            <a:endParaRPr lang="en-US" sz="1200" dirty="0"/>
          </a:p>
        </p:txBody>
      </p:sp>
      <p:sp>
        <p:nvSpPr>
          <p:cNvPr id="5" name="Shape 3">
            <a:extLst>
              <a:ext uri="{FF2B5EF4-FFF2-40B4-BE49-F238E27FC236}">
                <a16:creationId xmlns:a16="http://schemas.microsoft.com/office/drawing/2014/main" id="{2EB74472-67BA-9D69-9BB4-BE61A114A406}"/>
              </a:ext>
            </a:extLst>
          </p:cNvPr>
          <p:cNvSpPr/>
          <p:nvPr/>
        </p:nvSpPr>
        <p:spPr>
          <a:xfrm>
            <a:off x="685800" y="1508760"/>
            <a:ext cx="365760" cy="365760"/>
          </a:xfrm>
          <a:prstGeom prst="ellipse">
            <a:avLst/>
          </a:prstGeom>
          <a:solidFill>
            <a:srgbClr val="0E7C7B"/>
          </a:solidFill>
          <a:ln/>
        </p:spPr>
        <p:txBody>
          <a:bodyPr/>
          <a:lstStyle/>
          <a:p>
            <a:endParaRPr lang="fr-FR"/>
          </a:p>
        </p:txBody>
      </p:sp>
      <p:sp>
        <p:nvSpPr>
          <p:cNvPr id="6" name="Text 4">
            <a:extLst>
              <a:ext uri="{FF2B5EF4-FFF2-40B4-BE49-F238E27FC236}">
                <a16:creationId xmlns:a16="http://schemas.microsoft.com/office/drawing/2014/main" id="{B06D7C95-AEBE-4723-6908-F7389DA02806}"/>
              </a:ext>
            </a:extLst>
          </p:cNvPr>
          <p:cNvSpPr/>
          <p:nvPr/>
        </p:nvSpPr>
        <p:spPr>
          <a:xfrm>
            <a:off x="685800" y="1508760"/>
            <a:ext cx="365760" cy="365760"/>
          </a:xfrm>
          <a:prstGeom prst="rect">
            <a:avLst/>
          </a:prstGeom>
          <a:noFill/>
          <a:ln/>
        </p:spPr>
        <p:txBody>
          <a:bodyPr wrap="square"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7" name="Text 5">
            <a:extLst>
              <a:ext uri="{FF2B5EF4-FFF2-40B4-BE49-F238E27FC236}">
                <a16:creationId xmlns:a16="http://schemas.microsoft.com/office/drawing/2014/main" id="{5BC0A2EF-053C-26DA-9FF3-E956D1C6375F}"/>
              </a:ext>
            </a:extLst>
          </p:cNvPr>
          <p:cNvSpPr/>
          <p:nvPr/>
        </p:nvSpPr>
        <p:spPr>
          <a:xfrm>
            <a:off x="1143000" y="1508760"/>
            <a:ext cx="1828800" cy="1097280"/>
          </a:xfrm>
          <a:prstGeom prst="rect">
            <a:avLst/>
          </a:prstGeom>
          <a:noFill/>
          <a:ln/>
        </p:spPr>
        <p:txBody>
          <a:bodyPr wrap="square" rtlCol="0" anchor="t"/>
          <a:lstStyle/>
          <a:p>
            <a:pPr marL="0" indent="0">
              <a:buNone/>
            </a:pPr>
            <a:r>
              <a:rPr lang="en-US" sz="1200" dirty="0">
                <a:solidFill>
                  <a:srgbClr val="1A1A2E"/>
                </a:solidFill>
                <a:latin typeface="Calibri" pitchFamily="34" charset="0"/>
                <a:ea typeface="Calibri" pitchFamily="34" charset="-122"/>
                <a:cs typeface="Calibri" pitchFamily="34" charset="-120"/>
              </a:rPr>
              <a:t>Antibiotiques massivement</a:t>
            </a:r>
            <a:endParaRPr lang="en-US" sz="1200" dirty="0"/>
          </a:p>
          <a:p>
            <a:pPr marL="0" indent="0">
              <a:buNone/>
            </a:pPr>
            <a:r>
              <a:rPr lang="en-US" sz="1200" dirty="0">
                <a:solidFill>
                  <a:srgbClr val="1A1A2E"/>
                </a:solidFill>
                <a:latin typeface="Calibri" pitchFamily="34" charset="0"/>
                <a:ea typeface="Calibri" pitchFamily="34" charset="-122"/>
                <a:cs typeface="Calibri" pitchFamily="34" charset="-120"/>
              </a:rPr>
              <a:t>utilisés en élevage</a:t>
            </a:r>
            <a:endParaRPr lang="en-US" sz="1200" dirty="0"/>
          </a:p>
        </p:txBody>
      </p:sp>
      <p:pic>
        <p:nvPicPr>
          <p:cNvPr id="8" name="Image 0" descr="preencoded.png">
            <a:extLst>
              <a:ext uri="{FF2B5EF4-FFF2-40B4-BE49-F238E27FC236}">
                <a16:creationId xmlns:a16="http://schemas.microsoft.com/office/drawing/2014/main" id="{E24576E1-540C-A96E-F547-FF2D4597434A}"/>
              </a:ext>
            </a:extLst>
          </p:cNvPr>
          <p:cNvPicPr>
            <a:picLocks noChangeAspect="1"/>
          </p:cNvPicPr>
          <p:nvPr/>
        </p:nvPicPr>
        <p:blipFill>
          <a:blip r:embed="rId3"/>
          <a:stretch>
            <a:fillRect/>
          </a:stretch>
        </p:blipFill>
        <p:spPr>
          <a:xfrm>
            <a:off x="3154680" y="1828800"/>
            <a:ext cx="201168" cy="201168"/>
          </a:xfrm>
          <a:prstGeom prst="rect">
            <a:avLst/>
          </a:prstGeom>
        </p:spPr>
      </p:pic>
      <p:sp>
        <p:nvSpPr>
          <p:cNvPr id="10" name="Shape 7">
            <a:extLst>
              <a:ext uri="{FF2B5EF4-FFF2-40B4-BE49-F238E27FC236}">
                <a16:creationId xmlns:a16="http://schemas.microsoft.com/office/drawing/2014/main" id="{97F72C87-DFE8-E34F-CBC2-56DA3CCE0609}"/>
              </a:ext>
            </a:extLst>
          </p:cNvPr>
          <p:cNvSpPr/>
          <p:nvPr/>
        </p:nvSpPr>
        <p:spPr>
          <a:xfrm>
            <a:off x="3520440" y="1508760"/>
            <a:ext cx="365760" cy="365760"/>
          </a:xfrm>
          <a:prstGeom prst="ellipse">
            <a:avLst/>
          </a:prstGeom>
          <a:solidFill>
            <a:srgbClr val="0E7C7B"/>
          </a:solidFill>
          <a:ln/>
        </p:spPr>
        <p:txBody>
          <a:bodyPr/>
          <a:lstStyle/>
          <a:p>
            <a:endParaRPr lang="fr-FR"/>
          </a:p>
        </p:txBody>
      </p:sp>
      <p:sp>
        <p:nvSpPr>
          <p:cNvPr id="11" name="Text 8">
            <a:extLst>
              <a:ext uri="{FF2B5EF4-FFF2-40B4-BE49-F238E27FC236}">
                <a16:creationId xmlns:a16="http://schemas.microsoft.com/office/drawing/2014/main" id="{C7C02C3F-7C10-5D13-8298-ABE3E727B1B3}"/>
              </a:ext>
            </a:extLst>
          </p:cNvPr>
          <p:cNvSpPr/>
          <p:nvPr/>
        </p:nvSpPr>
        <p:spPr>
          <a:xfrm>
            <a:off x="3520440" y="1508760"/>
            <a:ext cx="365760" cy="365760"/>
          </a:xfrm>
          <a:prstGeom prst="rect">
            <a:avLst/>
          </a:prstGeom>
          <a:noFill/>
          <a:ln/>
        </p:spPr>
        <p:txBody>
          <a:bodyPr wrap="square"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2" name="Text 9">
            <a:extLst>
              <a:ext uri="{FF2B5EF4-FFF2-40B4-BE49-F238E27FC236}">
                <a16:creationId xmlns:a16="http://schemas.microsoft.com/office/drawing/2014/main" id="{22E749F8-42B2-A67E-8E41-A3BDECD683B3}"/>
              </a:ext>
            </a:extLst>
          </p:cNvPr>
          <p:cNvSpPr/>
          <p:nvPr/>
        </p:nvSpPr>
        <p:spPr>
          <a:xfrm>
            <a:off x="3977640" y="1508760"/>
            <a:ext cx="1828800" cy="1097280"/>
          </a:xfrm>
          <a:prstGeom prst="rect">
            <a:avLst/>
          </a:prstGeom>
          <a:noFill/>
          <a:ln/>
        </p:spPr>
        <p:txBody>
          <a:bodyPr wrap="square" rtlCol="0" anchor="t"/>
          <a:lstStyle/>
          <a:p>
            <a:pPr marL="0" indent="0">
              <a:buNone/>
            </a:pPr>
            <a:r>
              <a:rPr lang="en-US" sz="1200" dirty="0">
                <a:solidFill>
                  <a:srgbClr val="1A1A2E"/>
                </a:solidFill>
                <a:latin typeface="Calibri" pitchFamily="34" charset="0"/>
                <a:ea typeface="Calibri" pitchFamily="34" charset="-122"/>
                <a:cs typeface="Calibri" pitchFamily="34" charset="-120"/>
              </a:rPr>
              <a:t>Résidus atteignent</a:t>
            </a:r>
            <a:endParaRPr lang="en-US" sz="1200" dirty="0"/>
          </a:p>
          <a:p>
            <a:pPr marL="0" indent="0">
              <a:buNone/>
            </a:pPr>
            <a:r>
              <a:rPr lang="en-US" sz="1200" dirty="0">
                <a:solidFill>
                  <a:srgbClr val="1A1A2E"/>
                </a:solidFill>
                <a:latin typeface="Calibri" pitchFamily="34" charset="0"/>
                <a:ea typeface="Calibri" pitchFamily="34" charset="-122"/>
                <a:cs typeface="Calibri" pitchFamily="34" charset="-120"/>
              </a:rPr>
              <a:t>le côlon</a:t>
            </a:r>
            <a:endParaRPr lang="en-US" sz="1200" dirty="0"/>
          </a:p>
        </p:txBody>
      </p:sp>
      <p:pic>
        <p:nvPicPr>
          <p:cNvPr id="13" name="Image 1" descr="preencoded.png">
            <a:extLst>
              <a:ext uri="{FF2B5EF4-FFF2-40B4-BE49-F238E27FC236}">
                <a16:creationId xmlns:a16="http://schemas.microsoft.com/office/drawing/2014/main" id="{35E10284-F796-75F2-3A0F-3F033454EAAB}"/>
              </a:ext>
            </a:extLst>
          </p:cNvPr>
          <p:cNvPicPr>
            <a:picLocks noChangeAspect="1"/>
          </p:cNvPicPr>
          <p:nvPr/>
        </p:nvPicPr>
        <p:blipFill>
          <a:blip r:embed="rId3"/>
          <a:stretch>
            <a:fillRect/>
          </a:stretch>
        </p:blipFill>
        <p:spPr>
          <a:xfrm>
            <a:off x="5989320" y="1828800"/>
            <a:ext cx="201168" cy="201168"/>
          </a:xfrm>
          <a:prstGeom prst="rect">
            <a:avLst/>
          </a:prstGeom>
        </p:spPr>
      </p:pic>
      <p:sp>
        <p:nvSpPr>
          <p:cNvPr id="15" name="Shape 11">
            <a:extLst>
              <a:ext uri="{FF2B5EF4-FFF2-40B4-BE49-F238E27FC236}">
                <a16:creationId xmlns:a16="http://schemas.microsoft.com/office/drawing/2014/main" id="{2F286A7C-BF3E-132C-FD57-E235B954F2E4}"/>
              </a:ext>
            </a:extLst>
          </p:cNvPr>
          <p:cNvSpPr/>
          <p:nvPr/>
        </p:nvSpPr>
        <p:spPr>
          <a:xfrm>
            <a:off x="6355080" y="1508760"/>
            <a:ext cx="365760" cy="365760"/>
          </a:xfrm>
          <a:prstGeom prst="ellipse">
            <a:avLst/>
          </a:prstGeom>
          <a:solidFill>
            <a:srgbClr val="0E7C7B"/>
          </a:solidFill>
          <a:ln/>
        </p:spPr>
        <p:txBody>
          <a:bodyPr/>
          <a:lstStyle/>
          <a:p>
            <a:endParaRPr lang="fr-FR"/>
          </a:p>
        </p:txBody>
      </p:sp>
      <p:sp>
        <p:nvSpPr>
          <p:cNvPr id="16" name="Text 12">
            <a:extLst>
              <a:ext uri="{FF2B5EF4-FFF2-40B4-BE49-F238E27FC236}">
                <a16:creationId xmlns:a16="http://schemas.microsoft.com/office/drawing/2014/main" id="{9D6AAF1F-20B4-578E-3010-14D201BA1E02}"/>
              </a:ext>
            </a:extLst>
          </p:cNvPr>
          <p:cNvSpPr/>
          <p:nvPr/>
        </p:nvSpPr>
        <p:spPr>
          <a:xfrm>
            <a:off x="6355080" y="1508760"/>
            <a:ext cx="365760" cy="365760"/>
          </a:xfrm>
          <a:prstGeom prst="rect">
            <a:avLst/>
          </a:prstGeom>
          <a:noFill/>
          <a:ln/>
        </p:spPr>
        <p:txBody>
          <a:bodyPr wrap="square"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7" name="Text 13">
            <a:extLst>
              <a:ext uri="{FF2B5EF4-FFF2-40B4-BE49-F238E27FC236}">
                <a16:creationId xmlns:a16="http://schemas.microsoft.com/office/drawing/2014/main" id="{56C57602-4D2B-8AAA-6E01-64EB7B16A955}"/>
              </a:ext>
            </a:extLst>
          </p:cNvPr>
          <p:cNvSpPr/>
          <p:nvPr/>
        </p:nvSpPr>
        <p:spPr>
          <a:xfrm>
            <a:off x="6812280" y="1508760"/>
            <a:ext cx="1828800" cy="1097280"/>
          </a:xfrm>
          <a:prstGeom prst="rect">
            <a:avLst/>
          </a:prstGeom>
          <a:noFill/>
          <a:ln/>
        </p:spPr>
        <p:txBody>
          <a:bodyPr wrap="square" rtlCol="0" anchor="t"/>
          <a:lstStyle/>
          <a:p>
            <a:pPr marL="0" indent="0">
              <a:buNone/>
            </a:pPr>
            <a:r>
              <a:rPr lang="en-US" sz="1200" dirty="0">
                <a:solidFill>
                  <a:srgbClr val="1A1A2E"/>
                </a:solidFill>
                <a:latin typeface="Calibri" pitchFamily="34" charset="0"/>
                <a:ea typeface="Calibri" pitchFamily="34" charset="-122"/>
                <a:cs typeface="Calibri" pitchFamily="34" charset="-120"/>
              </a:rPr>
              <a:t>Bactéries sensibles</a:t>
            </a:r>
            <a:endParaRPr lang="en-US" sz="1200" dirty="0"/>
          </a:p>
          <a:p>
            <a:pPr marL="0" indent="0">
              <a:buNone/>
            </a:pPr>
            <a:r>
              <a:rPr lang="en-US" sz="1200" dirty="0">
                <a:solidFill>
                  <a:srgbClr val="1A1A2E"/>
                </a:solidFill>
                <a:latin typeface="Calibri" pitchFamily="34" charset="0"/>
                <a:ea typeface="Calibri" pitchFamily="34" charset="-122"/>
                <a:cs typeface="Calibri" pitchFamily="34" charset="-120"/>
              </a:rPr>
              <a:t>éliminées</a:t>
            </a:r>
            <a:endParaRPr lang="en-US" sz="1200" dirty="0"/>
          </a:p>
        </p:txBody>
      </p:sp>
      <p:sp>
        <p:nvSpPr>
          <p:cNvPr id="19" name="Shape 15">
            <a:extLst>
              <a:ext uri="{FF2B5EF4-FFF2-40B4-BE49-F238E27FC236}">
                <a16:creationId xmlns:a16="http://schemas.microsoft.com/office/drawing/2014/main" id="{48E47570-9A54-DCB0-BF90-17F843E96FB0}"/>
              </a:ext>
            </a:extLst>
          </p:cNvPr>
          <p:cNvSpPr/>
          <p:nvPr/>
        </p:nvSpPr>
        <p:spPr>
          <a:xfrm>
            <a:off x="685800" y="3200400"/>
            <a:ext cx="365760" cy="365760"/>
          </a:xfrm>
          <a:prstGeom prst="ellipse">
            <a:avLst/>
          </a:prstGeom>
          <a:solidFill>
            <a:srgbClr val="E07A5F"/>
          </a:solidFill>
          <a:ln/>
        </p:spPr>
        <p:txBody>
          <a:bodyPr/>
          <a:lstStyle/>
          <a:p>
            <a:endParaRPr lang="fr-FR"/>
          </a:p>
        </p:txBody>
      </p:sp>
      <p:sp>
        <p:nvSpPr>
          <p:cNvPr id="20" name="Text 16">
            <a:extLst>
              <a:ext uri="{FF2B5EF4-FFF2-40B4-BE49-F238E27FC236}">
                <a16:creationId xmlns:a16="http://schemas.microsoft.com/office/drawing/2014/main" id="{839ECCAF-E4D4-2C2E-E14D-7ED387AA4951}"/>
              </a:ext>
            </a:extLst>
          </p:cNvPr>
          <p:cNvSpPr/>
          <p:nvPr/>
        </p:nvSpPr>
        <p:spPr>
          <a:xfrm>
            <a:off x="685800" y="3200400"/>
            <a:ext cx="365760" cy="365760"/>
          </a:xfrm>
          <a:prstGeom prst="rect">
            <a:avLst/>
          </a:prstGeom>
          <a:noFill/>
          <a:ln/>
        </p:spPr>
        <p:txBody>
          <a:bodyPr wrap="square"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21" name="Text 17">
            <a:extLst>
              <a:ext uri="{FF2B5EF4-FFF2-40B4-BE49-F238E27FC236}">
                <a16:creationId xmlns:a16="http://schemas.microsoft.com/office/drawing/2014/main" id="{0BB0A1A8-B133-4443-AA7B-763E773931EE}"/>
              </a:ext>
            </a:extLst>
          </p:cNvPr>
          <p:cNvSpPr/>
          <p:nvPr/>
        </p:nvSpPr>
        <p:spPr>
          <a:xfrm>
            <a:off x="1143000" y="3200400"/>
            <a:ext cx="1828800" cy="1097280"/>
          </a:xfrm>
          <a:prstGeom prst="rect">
            <a:avLst/>
          </a:prstGeom>
          <a:noFill/>
          <a:ln/>
        </p:spPr>
        <p:txBody>
          <a:bodyPr wrap="square" rtlCol="0" anchor="t"/>
          <a:lstStyle/>
          <a:p>
            <a:pPr marL="0" indent="0">
              <a:buNone/>
            </a:pPr>
            <a:r>
              <a:rPr lang="en-US" sz="1200" dirty="0">
                <a:solidFill>
                  <a:srgbClr val="1A1A2E"/>
                </a:solidFill>
                <a:latin typeface="Calibri" pitchFamily="34" charset="0"/>
                <a:ea typeface="Calibri" pitchFamily="34" charset="-122"/>
                <a:cs typeface="Calibri" pitchFamily="34" charset="-120"/>
              </a:rPr>
              <a:t>Bactéries résistantes</a:t>
            </a:r>
            <a:endParaRPr lang="en-US" sz="1200" dirty="0"/>
          </a:p>
          <a:p>
            <a:pPr marL="0" indent="0">
              <a:buNone/>
            </a:pPr>
            <a:r>
              <a:rPr lang="en-US" sz="1200" dirty="0">
                <a:solidFill>
                  <a:srgbClr val="1A1A2E"/>
                </a:solidFill>
                <a:latin typeface="Calibri" pitchFamily="34" charset="0"/>
                <a:ea typeface="Calibri" pitchFamily="34" charset="-122"/>
                <a:cs typeface="Calibri" pitchFamily="34" charset="-120"/>
              </a:rPr>
              <a:t>colonisent les niches</a:t>
            </a:r>
            <a:endParaRPr lang="en-US" sz="1200" dirty="0"/>
          </a:p>
        </p:txBody>
      </p:sp>
      <p:pic>
        <p:nvPicPr>
          <p:cNvPr id="22" name="Image 2" descr="preencoded.png">
            <a:extLst>
              <a:ext uri="{FF2B5EF4-FFF2-40B4-BE49-F238E27FC236}">
                <a16:creationId xmlns:a16="http://schemas.microsoft.com/office/drawing/2014/main" id="{F7A75938-643D-D18C-F61E-CE9A1DDA0CE5}"/>
              </a:ext>
            </a:extLst>
          </p:cNvPr>
          <p:cNvPicPr>
            <a:picLocks noChangeAspect="1"/>
          </p:cNvPicPr>
          <p:nvPr/>
        </p:nvPicPr>
        <p:blipFill>
          <a:blip r:embed="rId3"/>
          <a:stretch>
            <a:fillRect/>
          </a:stretch>
        </p:blipFill>
        <p:spPr>
          <a:xfrm>
            <a:off x="3154680" y="3520440"/>
            <a:ext cx="201168" cy="201168"/>
          </a:xfrm>
          <a:prstGeom prst="rect">
            <a:avLst/>
          </a:prstGeom>
        </p:spPr>
      </p:pic>
      <p:sp>
        <p:nvSpPr>
          <p:cNvPr id="24" name="Shape 19">
            <a:extLst>
              <a:ext uri="{FF2B5EF4-FFF2-40B4-BE49-F238E27FC236}">
                <a16:creationId xmlns:a16="http://schemas.microsoft.com/office/drawing/2014/main" id="{05F567E4-5486-229E-8410-FF7F82A515C8}"/>
              </a:ext>
            </a:extLst>
          </p:cNvPr>
          <p:cNvSpPr/>
          <p:nvPr/>
        </p:nvSpPr>
        <p:spPr>
          <a:xfrm>
            <a:off x="3520440" y="3200400"/>
            <a:ext cx="365760" cy="365760"/>
          </a:xfrm>
          <a:prstGeom prst="ellipse">
            <a:avLst/>
          </a:prstGeom>
          <a:solidFill>
            <a:srgbClr val="E07A5F"/>
          </a:solidFill>
          <a:ln/>
        </p:spPr>
        <p:txBody>
          <a:bodyPr/>
          <a:lstStyle/>
          <a:p>
            <a:endParaRPr lang="fr-FR"/>
          </a:p>
        </p:txBody>
      </p:sp>
      <p:sp>
        <p:nvSpPr>
          <p:cNvPr id="25" name="Text 20">
            <a:extLst>
              <a:ext uri="{FF2B5EF4-FFF2-40B4-BE49-F238E27FC236}">
                <a16:creationId xmlns:a16="http://schemas.microsoft.com/office/drawing/2014/main" id="{01FE82EE-D1F2-2544-F2E2-D5640F19E664}"/>
              </a:ext>
            </a:extLst>
          </p:cNvPr>
          <p:cNvSpPr/>
          <p:nvPr/>
        </p:nvSpPr>
        <p:spPr>
          <a:xfrm>
            <a:off x="3520440" y="3200400"/>
            <a:ext cx="365760" cy="365760"/>
          </a:xfrm>
          <a:prstGeom prst="rect">
            <a:avLst/>
          </a:prstGeom>
          <a:noFill/>
          <a:ln/>
        </p:spPr>
        <p:txBody>
          <a:bodyPr wrap="square"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5</a:t>
            </a:r>
            <a:endParaRPr lang="en-US" sz="1400" dirty="0"/>
          </a:p>
        </p:txBody>
      </p:sp>
      <p:sp>
        <p:nvSpPr>
          <p:cNvPr id="26" name="Text 21">
            <a:extLst>
              <a:ext uri="{FF2B5EF4-FFF2-40B4-BE49-F238E27FC236}">
                <a16:creationId xmlns:a16="http://schemas.microsoft.com/office/drawing/2014/main" id="{BBF7D123-B2A8-3C7F-A7F6-8B0FEEE363AB}"/>
              </a:ext>
            </a:extLst>
          </p:cNvPr>
          <p:cNvSpPr/>
          <p:nvPr/>
        </p:nvSpPr>
        <p:spPr>
          <a:xfrm>
            <a:off x="3977640" y="3200400"/>
            <a:ext cx="1828800" cy="1097280"/>
          </a:xfrm>
          <a:prstGeom prst="rect">
            <a:avLst/>
          </a:prstGeom>
          <a:noFill/>
          <a:ln/>
        </p:spPr>
        <p:txBody>
          <a:bodyPr wrap="square" rtlCol="0" anchor="t"/>
          <a:lstStyle/>
          <a:p>
            <a:pPr marL="0" indent="0">
              <a:buNone/>
            </a:pPr>
            <a:r>
              <a:rPr lang="en-US" sz="1200" dirty="0">
                <a:solidFill>
                  <a:srgbClr val="1A1A2E"/>
                </a:solidFill>
                <a:latin typeface="Calibri" pitchFamily="34" charset="0"/>
                <a:ea typeface="Calibri" pitchFamily="34" charset="-122"/>
                <a:cs typeface="Calibri" pitchFamily="34" charset="-120"/>
              </a:rPr>
              <a:t>Excrétion massive</a:t>
            </a:r>
            <a:endParaRPr lang="en-US" sz="1200" dirty="0"/>
          </a:p>
          <a:p>
            <a:pPr marL="0" indent="0">
              <a:buNone/>
            </a:pPr>
            <a:r>
              <a:rPr lang="en-US" sz="1200" dirty="0">
                <a:solidFill>
                  <a:srgbClr val="1A1A2E"/>
                </a:solidFill>
                <a:latin typeface="Calibri" pitchFamily="34" charset="0"/>
                <a:ea typeface="Calibri" pitchFamily="34" charset="-122"/>
                <a:cs typeface="Calibri" pitchFamily="34" charset="-120"/>
              </a:rPr>
              <a:t>dans les fèces</a:t>
            </a:r>
            <a:endParaRPr lang="en-US" sz="1200" dirty="0"/>
          </a:p>
        </p:txBody>
      </p:sp>
      <p:pic>
        <p:nvPicPr>
          <p:cNvPr id="27" name="Image 3" descr="preencoded.png">
            <a:extLst>
              <a:ext uri="{FF2B5EF4-FFF2-40B4-BE49-F238E27FC236}">
                <a16:creationId xmlns:a16="http://schemas.microsoft.com/office/drawing/2014/main" id="{C743145C-F551-B586-3789-1B1AA791775B}"/>
              </a:ext>
            </a:extLst>
          </p:cNvPr>
          <p:cNvPicPr>
            <a:picLocks noChangeAspect="1"/>
          </p:cNvPicPr>
          <p:nvPr/>
        </p:nvPicPr>
        <p:blipFill>
          <a:blip r:embed="rId3"/>
          <a:stretch>
            <a:fillRect/>
          </a:stretch>
        </p:blipFill>
        <p:spPr>
          <a:xfrm>
            <a:off x="5989320" y="3520440"/>
            <a:ext cx="201168" cy="201168"/>
          </a:xfrm>
          <a:prstGeom prst="rect">
            <a:avLst/>
          </a:prstGeom>
        </p:spPr>
      </p:pic>
      <p:sp>
        <p:nvSpPr>
          <p:cNvPr id="29" name="Shape 23">
            <a:extLst>
              <a:ext uri="{FF2B5EF4-FFF2-40B4-BE49-F238E27FC236}">
                <a16:creationId xmlns:a16="http://schemas.microsoft.com/office/drawing/2014/main" id="{A51AC18A-BD74-80F8-D7C1-D6648FE1B9D4}"/>
              </a:ext>
            </a:extLst>
          </p:cNvPr>
          <p:cNvSpPr/>
          <p:nvPr/>
        </p:nvSpPr>
        <p:spPr>
          <a:xfrm>
            <a:off x="6355080" y="3200400"/>
            <a:ext cx="365760" cy="365760"/>
          </a:xfrm>
          <a:prstGeom prst="ellipse">
            <a:avLst/>
          </a:prstGeom>
          <a:solidFill>
            <a:srgbClr val="E07A5F"/>
          </a:solidFill>
          <a:ln/>
        </p:spPr>
        <p:txBody>
          <a:bodyPr/>
          <a:lstStyle/>
          <a:p>
            <a:endParaRPr lang="fr-FR"/>
          </a:p>
        </p:txBody>
      </p:sp>
      <p:sp>
        <p:nvSpPr>
          <p:cNvPr id="30" name="Text 24">
            <a:extLst>
              <a:ext uri="{FF2B5EF4-FFF2-40B4-BE49-F238E27FC236}">
                <a16:creationId xmlns:a16="http://schemas.microsoft.com/office/drawing/2014/main" id="{A20C73B1-8A9A-17BB-E197-501FDAEE4687}"/>
              </a:ext>
            </a:extLst>
          </p:cNvPr>
          <p:cNvSpPr/>
          <p:nvPr/>
        </p:nvSpPr>
        <p:spPr>
          <a:xfrm>
            <a:off x="6355080" y="3200400"/>
            <a:ext cx="365760" cy="365760"/>
          </a:xfrm>
          <a:prstGeom prst="rect">
            <a:avLst/>
          </a:prstGeom>
          <a:noFill/>
          <a:ln/>
        </p:spPr>
        <p:txBody>
          <a:bodyPr wrap="square"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6</a:t>
            </a:r>
            <a:endParaRPr lang="en-US" sz="1400" dirty="0"/>
          </a:p>
        </p:txBody>
      </p:sp>
      <p:sp>
        <p:nvSpPr>
          <p:cNvPr id="31" name="Text 25">
            <a:extLst>
              <a:ext uri="{FF2B5EF4-FFF2-40B4-BE49-F238E27FC236}">
                <a16:creationId xmlns:a16="http://schemas.microsoft.com/office/drawing/2014/main" id="{AD57FEB6-36A6-4AD5-DE5C-874ED990333F}"/>
              </a:ext>
            </a:extLst>
          </p:cNvPr>
          <p:cNvSpPr/>
          <p:nvPr/>
        </p:nvSpPr>
        <p:spPr>
          <a:xfrm>
            <a:off x="6812280" y="3200400"/>
            <a:ext cx="1828800" cy="1097280"/>
          </a:xfrm>
          <a:prstGeom prst="rect">
            <a:avLst/>
          </a:prstGeom>
          <a:noFill/>
          <a:ln/>
        </p:spPr>
        <p:txBody>
          <a:bodyPr wrap="square" rtlCol="0" anchor="t"/>
          <a:lstStyle/>
          <a:p>
            <a:pPr marL="0" indent="0">
              <a:buNone/>
            </a:pPr>
            <a:r>
              <a:rPr lang="en-US" sz="1200" dirty="0">
                <a:solidFill>
                  <a:srgbClr val="1A1A2E"/>
                </a:solidFill>
                <a:latin typeface="Calibri" pitchFamily="34" charset="0"/>
                <a:ea typeface="Calibri" pitchFamily="34" charset="-122"/>
                <a:cs typeface="Calibri" pitchFamily="34" charset="-120"/>
              </a:rPr>
              <a:t>Contamination</a:t>
            </a:r>
            <a:endParaRPr lang="en-US" sz="1200" dirty="0"/>
          </a:p>
          <a:p>
            <a:pPr marL="0" indent="0">
              <a:buNone/>
            </a:pPr>
            <a:r>
              <a:rPr lang="en-US" sz="1200" dirty="0">
                <a:solidFill>
                  <a:srgbClr val="1A1A2E"/>
                </a:solidFill>
                <a:latin typeface="Calibri" pitchFamily="34" charset="0"/>
                <a:ea typeface="Calibri" pitchFamily="34" charset="-122"/>
                <a:cs typeface="Calibri" pitchFamily="34" charset="-120"/>
              </a:rPr>
              <a:t>environnement → homme</a:t>
            </a:r>
            <a:endParaRPr lang="en-US" sz="1200" dirty="0"/>
          </a:p>
        </p:txBody>
      </p:sp>
      <p:sp>
        <p:nvSpPr>
          <p:cNvPr id="32" name="Text 26">
            <a:extLst>
              <a:ext uri="{FF2B5EF4-FFF2-40B4-BE49-F238E27FC236}">
                <a16:creationId xmlns:a16="http://schemas.microsoft.com/office/drawing/2014/main" id="{0C254F2F-31F6-64FE-9C66-96FAE6B43102}"/>
              </a:ext>
            </a:extLst>
          </p:cNvPr>
          <p:cNvSpPr/>
          <p:nvPr/>
        </p:nvSpPr>
        <p:spPr>
          <a:xfrm>
            <a:off x="7772400" y="2651760"/>
            <a:ext cx="365760" cy="457200"/>
          </a:xfrm>
          <a:prstGeom prst="rect">
            <a:avLst/>
          </a:prstGeom>
          <a:noFill/>
          <a:ln/>
        </p:spPr>
        <p:txBody>
          <a:bodyPr wrap="square" rtlCol="0" anchor="ctr"/>
          <a:lstStyle/>
          <a:p>
            <a:pPr marL="0" indent="0" algn="ctr">
              <a:buNone/>
            </a:pPr>
            <a:r>
              <a:rPr lang="en-US" sz="2000" dirty="0">
                <a:solidFill>
                  <a:srgbClr val="17A2A2"/>
                </a:solidFill>
              </a:rPr>
              <a:t>↓</a:t>
            </a:r>
            <a:endParaRPr lang="en-US" sz="2000" dirty="0"/>
          </a:p>
        </p:txBody>
      </p:sp>
      <p:pic>
        <p:nvPicPr>
          <p:cNvPr id="34" name="Image 4" descr="preencoded.png">
            <a:extLst>
              <a:ext uri="{FF2B5EF4-FFF2-40B4-BE49-F238E27FC236}">
                <a16:creationId xmlns:a16="http://schemas.microsoft.com/office/drawing/2014/main" id="{D6B25B33-5E0B-561F-6BBB-71A6FD96EB09}"/>
              </a:ext>
            </a:extLst>
          </p:cNvPr>
          <p:cNvPicPr>
            <a:picLocks noChangeAspect="1"/>
          </p:cNvPicPr>
          <p:nvPr/>
        </p:nvPicPr>
        <p:blipFill>
          <a:blip r:embed="rId4"/>
          <a:stretch>
            <a:fillRect/>
          </a:stretch>
        </p:blipFill>
        <p:spPr>
          <a:xfrm>
            <a:off x="685800" y="4590288"/>
            <a:ext cx="320040" cy="320040"/>
          </a:xfrm>
          <a:prstGeom prst="rect">
            <a:avLst/>
          </a:prstGeom>
        </p:spPr>
      </p:pic>
      <p:sp useBgFill="1">
        <p:nvSpPr>
          <p:cNvPr id="36" name="Rectangle 35">
            <a:extLst>
              <a:ext uri="{FF2B5EF4-FFF2-40B4-BE49-F238E27FC236}">
                <a16:creationId xmlns:a16="http://schemas.microsoft.com/office/drawing/2014/main" id="{D0B3C8DA-DC4D-F3D3-E5E1-174CECE7E7A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0"/>
            <a:ext cx="9141714" cy="51435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 name="Text 0">
            <a:extLst>
              <a:ext uri="{FF2B5EF4-FFF2-40B4-BE49-F238E27FC236}">
                <a16:creationId xmlns:a16="http://schemas.microsoft.com/office/drawing/2014/main" id="{CBCCBA6F-1F2C-0025-1C8F-865CAB39A12F}"/>
              </a:ext>
            </a:extLst>
          </p:cNvPr>
          <p:cNvSpPr/>
          <p:nvPr/>
        </p:nvSpPr>
        <p:spPr>
          <a:xfrm>
            <a:off x="479160" y="502663"/>
            <a:ext cx="8182230" cy="799377"/>
          </a:xfrm>
          <a:prstGeom prst="rect">
            <a:avLst/>
          </a:prstGeom>
        </p:spPr>
        <p:txBody>
          <a:bodyPr vert="horz" lIns="91440" tIns="45720" rIns="91440" bIns="45720" rtlCol="0" anchor="ctr">
            <a:normAutofit/>
          </a:bodyPr>
          <a:lstStyle/>
          <a:p>
            <a:pPr>
              <a:lnSpc>
                <a:spcPct val="90000"/>
              </a:lnSpc>
              <a:spcBef>
                <a:spcPct val="0"/>
              </a:spcBef>
              <a:spcAft>
                <a:spcPts val="600"/>
              </a:spcAft>
            </a:pPr>
            <a:r>
              <a:rPr lang="en-US" sz="2800" b="1" dirty="0">
                <a:solidFill>
                  <a:srgbClr val="0D4F4F"/>
                </a:solidFill>
                <a:latin typeface="Georgia" pitchFamily="34" charset="0"/>
              </a:rPr>
              <a:t>Mini HPL : </a:t>
            </a:r>
            <a:r>
              <a:rPr lang="en-US" sz="2800" b="1" dirty="0" err="1">
                <a:solidFill>
                  <a:srgbClr val="0D4F4F"/>
                </a:solidFill>
                <a:latin typeface="Georgia" pitchFamily="34" charset="0"/>
              </a:rPr>
              <a:t>Tournage</a:t>
            </a:r>
            <a:r>
              <a:rPr lang="en-US" sz="2800" b="1" dirty="0">
                <a:solidFill>
                  <a:srgbClr val="0D4F4F"/>
                </a:solidFill>
                <a:latin typeface="Georgia" pitchFamily="34" charset="0"/>
              </a:rPr>
              <a:t> à la main</a:t>
            </a:r>
          </a:p>
        </p:txBody>
      </p:sp>
      <p:sp>
        <p:nvSpPr>
          <p:cNvPr id="39" name="sketch line">
            <a:extLst>
              <a:ext uri="{FF2B5EF4-FFF2-40B4-BE49-F238E27FC236}">
                <a16:creationId xmlns:a16="http://schemas.microsoft.com/office/drawing/2014/main" id="{9385BAB0-7202-75E5-DF9B-76DAF9FE6DD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2542032" y="1350066"/>
            <a:ext cx="4057650" cy="13716"/>
          </a:xfrm>
          <a:custGeom>
            <a:avLst/>
            <a:gdLst>
              <a:gd name="csX0" fmla="*/ 0 w 4057650"/>
              <a:gd name="csY0" fmla="*/ 0 h 13716"/>
              <a:gd name="csX1" fmla="*/ 757428 w 4057650"/>
              <a:gd name="csY1" fmla="*/ 0 h 13716"/>
              <a:gd name="csX2" fmla="*/ 1474279 w 4057650"/>
              <a:gd name="csY2" fmla="*/ 0 h 13716"/>
              <a:gd name="csX3" fmla="*/ 2191131 w 4057650"/>
              <a:gd name="csY3" fmla="*/ 0 h 13716"/>
              <a:gd name="csX4" fmla="*/ 2745676 w 4057650"/>
              <a:gd name="csY4" fmla="*/ 0 h 13716"/>
              <a:gd name="csX5" fmla="*/ 3340798 w 4057650"/>
              <a:gd name="csY5" fmla="*/ 0 h 13716"/>
              <a:gd name="csX6" fmla="*/ 4057650 w 4057650"/>
              <a:gd name="csY6" fmla="*/ 0 h 13716"/>
              <a:gd name="csX7" fmla="*/ 4057650 w 4057650"/>
              <a:gd name="csY7" fmla="*/ 13716 h 13716"/>
              <a:gd name="csX8" fmla="*/ 3381375 w 4057650"/>
              <a:gd name="csY8" fmla="*/ 13716 h 13716"/>
              <a:gd name="csX9" fmla="*/ 2826830 w 4057650"/>
              <a:gd name="csY9" fmla="*/ 13716 h 13716"/>
              <a:gd name="csX10" fmla="*/ 2272284 w 4057650"/>
              <a:gd name="csY10" fmla="*/ 13716 h 13716"/>
              <a:gd name="csX11" fmla="*/ 1555432 w 4057650"/>
              <a:gd name="csY11" fmla="*/ 13716 h 13716"/>
              <a:gd name="csX12" fmla="*/ 960310 w 4057650"/>
              <a:gd name="csY12" fmla="*/ 13716 h 13716"/>
              <a:gd name="csX13" fmla="*/ 0 w 4057650"/>
              <a:gd name="csY13" fmla="*/ 13716 h 13716"/>
              <a:gd name="csX14" fmla="*/ 0 w 4057650"/>
              <a:gd name="csY14" fmla="*/ 0 h 1371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Lst>
            <a:rect l="l" t="t" r="r" b="b"/>
            <a:pathLst>
              <a:path w="4057650" h="13716" fill="none" extrusionOk="0">
                <a:moveTo>
                  <a:pt x="0" y="0"/>
                </a:moveTo>
                <a:cubicBezTo>
                  <a:pt x="371182" y="3227"/>
                  <a:pt x="494372" y="9222"/>
                  <a:pt x="757428" y="0"/>
                </a:cubicBezTo>
                <a:cubicBezTo>
                  <a:pt x="1020484" y="-9222"/>
                  <a:pt x="1116719" y="-4357"/>
                  <a:pt x="1474279" y="0"/>
                </a:cubicBezTo>
                <a:cubicBezTo>
                  <a:pt x="1831839" y="4357"/>
                  <a:pt x="1920973" y="-11809"/>
                  <a:pt x="2191131" y="0"/>
                </a:cubicBezTo>
                <a:cubicBezTo>
                  <a:pt x="2461289" y="11809"/>
                  <a:pt x="2589480" y="-22604"/>
                  <a:pt x="2745676" y="0"/>
                </a:cubicBezTo>
                <a:cubicBezTo>
                  <a:pt x="2901872" y="22604"/>
                  <a:pt x="3136452" y="-12306"/>
                  <a:pt x="3340798" y="0"/>
                </a:cubicBezTo>
                <a:cubicBezTo>
                  <a:pt x="3545144" y="12306"/>
                  <a:pt x="3766934" y="-21556"/>
                  <a:pt x="4057650" y="0"/>
                </a:cubicBezTo>
                <a:cubicBezTo>
                  <a:pt x="4057378" y="4708"/>
                  <a:pt x="4057987" y="7132"/>
                  <a:pt x="4057650" y="13716"/>
                </a:cubicBezTo>
                <a:cubicBezTo>
                  <a:pt x="3743404" y="35553"/>
                  <a:pt x="3625516" y="-19495"/>
                  <a:pt x="3381375" y="13716"/>
                </a:cubicBezTo>
                <a:cubicBezTo>
                  <a:pt x="3137235" y="46927"/>
                  <a:pt x="2946571" y="-4571"/>
                  <a:pt x="2826830" y="13716"/>
                </a:cubicBezTo>
                <a:cubicBezTo>
                  <a:pt x="2707090" y="32003"/>
                  <a:pt x="2402756" y="-3140"/>
                  <a:pt x="2272284" y="13716"/>
                </a:cubicBezTo>
                <a:cubicBezTo>
                  <a:pt x="2141812" y="30572"/>
                  <a:pt x="1895935" y="13627"/>
                  <a:pt x="1555432" y="13716"/>
                </a:cubicBezTo>
                <a:cubicBezTo>
                  <a:pt x="1214929" y="13805"/>
                  <a:pt x="1103072" y="9931"/>
                  <a:pt x="960310" y="13716"/>
                </a:cubicBezTo>
                <a:cubicBezTo>
                  <a:pt x="817548" y="17501"/>
                  <a:pt x="402272" y="-33931"/>
                  <a:pt x="0" y="13716"/>
                </a:cubicBezTo>
                <a:cubicBezTo>
                  <a:pt x="-460" y="10837"/>
                  <a:pt x="38" y="6680"/>
                  <a:pt x="0" y="0"/>
                </a:cubicBezTo>
                <a:close/>
              </a:path>
              <a:path w="4057650" h="13716" stroke="0" extrusionOk="0">
                <a:moveTo>
                  <a:pt x="0" y="0"/>
                </a:moveTo>
                <a:cubicBezTo>
                  <a:pt x="248348" y="13145"/>
                  <a:pt x="486117" y="25042"/>
                  <a:pt x="635698" y="0"/>
                </a:cubicBezTo>
                <a:cubicBezTo>
                  <a:pt x="785279" y="-25042"/>
                  <a:pt x="917762" y="-5537"/>
                  <a:pt x="1190244" y="0"/>
                </a:cubicBezTo>
                <a:cubicBezTo>
                  <a:pt x="1462726" y="5537"/>
                  <a:pt x="1667120" y="-21232"/>
                  <a:pt x="1947672" y="0"/>
                </a:cubicBezTo>
                <a:cubicBezTo>
                  <a:pt x="2228224" y="21232"/>
                  <a:pt x="2280631" y="-21698"/>
                  <a:pt x="2583370" y="0"/>
                </a:cubicBezTo>
                <a:cubicBezTo>
                  <a:pt x="2886109" y="21698"/>
                  <a:pt x="3022941" y="19647"/>
                  <a:pt x="3219069" y="0"/>
                </a:cubicBezTo>
                <a:cubicBezTo>
                  <a:pt x="3415197" y="-19647"/>
                  <a:pt x="3747500" y="26991"/>
                  <a:pt x="4057650" y="0"/>
                </a:cubicBezTo>
                <a:cubicBezTo>
                  <a:pt x="4056980" y="3019"/>
                  <a:pt x="4057134" y="10425"/>
                  <a:pt x="4057650" y="13716"/>
                </a:cubicBezTo>
                <a:cubicBezTo>
                  <a:pt x="3865148" y="-7885"/>
                  <a:pt x="3702543" y="44896"/>
                  <a:pt x="3381375" y="13716"/>
                </a:cubicBezTo>
                <a:cubicBezTo>
                  <a:pt x="3060208" y="-17464"/>
                  <a:pt x="2956571" y="-13250"/>
                  <a:pt x="2826830" y="13716"/>
                </a:cubicBezTo>
                <a:cubicBezTo>
                  <a:pt x="2697089" y="40682"/>
                  <a:pt x="2411031" y="38582"/>
                  <a:pt x="2150555" y="13716"/>
                </a:cubicBezTo>
                <a:cubicBezTo>
                  <a:pt x="1890080" y="-11150"/>
                  <a:pt x="1741827" y="-5187"/>
                  <a:pt x="1474280" y="13716"/>
                </a:cubicBezTo>
                <a:cubicBezTo>
                  <a:pt x="1206734" y="32619"/>
                  <a:pt x="998203" y="28763"/>
                  <a:pt x="838581" y="13716"/>
                </a:cubicBezTo>
                <a:cubicBezTo>
                  <a:pt x="678959" y="-1331"/>
                  <a:pt x="187101" y="-17784"/>
                  <a:pt x="0" y="13716"/>
                </a:cubicBezTo>
                <a:cubicBezTo>
                  <a:pt x="-114" y="7033"/>
                  <a:pt x="103" y="3429"/>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9" name="Image 8" descr="Une image contenant texte, Police, diagramme, écriture manuscrite&#10;&#10;Le contenu généré par l’IA peut être incorrect.">
            <a:extLst>
              <a:ext uri="{FF2B5EF4-FFF2-40B4-BE49-F238E27FC236}">
                <a16:creationId xmlns:a16="http://schemas.microsoft.com/office/drawing/2014/main" id="{C7D5C86B-19B8-AD76-56EB-72ABE22685EE}"/>
              </a:ext>
            </a:extLst>
          </p:cNvPr>
          <p:cNvPicPr>
            <a:picLocks noChangeAspect="1"/>
          </p:cNvPicPr>
          <p:nvPr/>
        </p:nvPicPr>
        <p:blipFill>
          <a:blip r:embed="rId5"/>
          <a:stretch>
            <a:fillRect/>
          </a:stretch>
        </p:blipFill>
        <p:spPr>
          <a:xfrm>
            <a:off x="936089" y="1427147"/>
            <a:ext cx="7268372" cy="3483181"/>
          </a:xfrm>
          <a:prstGeom prst="rect">
            <a:avLst/>
          </a:prstGeom>
        </p:spPr>
      </p:pic>
      <p:sp>
        <p:nvSpPr>
          <p:cNvPr id="4" name="TextBox 3">
            <a:extLst>
              <a:ext uri="{FF2B5EF4-FFF2-40B4-BE49-F238E27FC236}">
                <a16:creationId xmlns:a16="http://schemas.microsoft.com/office/drawing/2014/main" id="{E82C3A88-92A5-8C63-0DFF-4BD5DF2610C3}"/>
              </a:ext>
            </a:extLst>
          </p:cNvPr>
          <p:cNvSpPr txBox="1"/>
          <p:nvPr/>
        </p:nvSpPr>
        <p:spPr>
          <a:xfrm>
            <a:off x="8394732" y="43934"/>
            <a:ext cx="689612" cy="369332"/>
          </a:xfrm>
          <a:prstGeom prst="rect">
            <a:avLst/>
          </a:prstGeom>
          <a:noFill/>
        </p:spPr>
        <p:txBody>
          <a:bodyPr wrap="none" rtlCol="0">
            <a:spAutoFit/>
          </a:bodyPr>
          <a:lstStyle/>
          <a:p>
            <a:r>
              <a:rPr lang="fr-FR" b="1" dirty="0">
                <a:solidFill>
                  <a:srgbClr val="0D4F4F"/>
                </a:solidFill>
                <a:latin typeface="Georgia"/>
              </a:rPr>
              <a:t>5/21</a:t>
            </a:r>
          </a:p>
        </p:txBody>
      </p:sp>
    </p:spTree>
    <p:extLst>
      <p:ext uri="{BB962C8B-B14F-4D97-AF65-F5344CB8AC3E}">
        <p14:creationId xmlns:p14="http://schemas.microsoft.com/office/powerpoint/2010/main" val="233389576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AF8F0"/>
        </a:solidFill>
        <a:effectLst/>
      </p:bgPr>
    </p:bg>
    <p:spTree>
      <p:nvGrpSpPr>
        <p:cNvPr id="1" name="">
          <a:extLst>
            <a:ext uri="{FF2B5EF4-FFF2-40B4-BE49-F238E27FC236}">
              <a16:creationId xmlns:a16="http://schemas.microsoft.com/office/drawing/2014/main" id="{431EB6A5-5237-1A22-850D-8A0310F4E258}"/>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8213DFD1-1425-78A2-A803-384740C8CAA0}"/>
              </a:ext>
            </a:extLst>
          </p:cNvPr>
          <p:cNvSpPr/>
          <p:nvPr/>
        </p:nvSpPr>
        <p:spPr>
          <a:xfrm>
            <a:off x="548640" y="228600"/>
            <a:ext cx="8229600" cy="457200"/>
          </a:xfrm>
          <a:prstGeom prst="rect">
            <a:avLst/>
          </a:prstGeom>
          <a:noFill/>
          <a:ln/>
        </p:spPr>
        <p:txBody>
          <a:bodyPr wrap="square" lIns="0" tIns="0" rIns="0" bIns="0" rtlCol="0" anchor="ctr"/>
          <a:lstStyle/>
          <a:p>
            <a:pPr marL="0" indent="0">
              <a:buNone/>
            </a:pPr>
            <a:r>
              <a:rPr lang="en-US" sz="2400" b="1" dirty="0">
                <a:solidFill>
                  <a:srgbClr val="0D4F4F"/>
                </a:solidFill>
                <a:latin typeface="Georgia" pitchFamily="34" charset="0"/>
                <a:ea typeface="Georgia" pitchFamily="34" charset="-122"/>
                <a:cs typeface="Georgia" pitchFamily="34" charset="-120"/>
              </a:rPr>
              <a:t>Le problème : résistance aux antibiotiques</a:t>
            </a:r>
            <a:endParaRPr lang="en-US" sz="2400" dirty="0"/>
          </a:p>
        </p:txBody>
      </p:sp>
      <p:sp>
        <p:nvSpPr>
          <p:cNvPr id="3" name="Text 1">
            <a:extLst>
              <a:ext uri="{FF2B5EF4-FFF2-40B4-BE49-F238E27FC236}">
                <a16:creationId xmlns:a16="http://schemas.microsoft.com/office/drawing/2014/main" id="{00541CA2-DB38-55B4-C892-7BB54782AB97}"/>
              </a:ext>
            </a:extLst>
          </p:cNvPr>
          <p:cNvSpPr/>
          <p:nvPr/>
        </p:nvSpPr>
        <p:spPr>
          <a:xfrm>
            <a:off x="548640" y="658368"/>
            <a:ext cx="8229600" cy="274320"/>
          </a:xfrm>
          <a:prstGeom prst="rect">
            <a:avLst/>
          </a:prstGeom>
          <a:noFill/>
          <a:ln/>
        </p:spPr>
        <p:txBody>
          <a:bodyPr wrap="square" lIns="0" tIns="0" rIns="0" bIns="0" rtlCol="0" anchor="ctr"/>
          <a:lstStyle/>
          <a:p>
            <a:pPr marL="0" indent="0">
              <a:buNone/>
            </a:pPr>
            <a:r>
              <a:rPr lang="en-US" sz="1200" i="1" dirty="0">
                <a:solidFill>
                  <a:srgbClr val="8A8A9A"/>
                </a:solidFill>
                <a:latin typeface="Calibri" pitchFamily="34" charset="0"/>
                <a:ea typeface="Calibri" pitchFamily="34" charset="-122"/>
                <a:cs typeface="Calibri" pitchFamily="34" charset="-120"/>
              </a:rPr>
              <a:t>L'une des plus grandes menaces pour la santé publique mondiale (OMS, 2014)</a:t>
            </a:r>
            <a:endParaRPr lang="en-US" sz="1200" dirty="0"/>
          </a:p>
        </p:txBody>
      </p:sp>
      <p:sp>
        <p:nvSpPr>
          <p:cNvPr id="5" name="Shape 3">
            <a:extLst>
              <a:ext uri="{FF2B5EF4-FFF2-40B4-BE49-F238E27FC236}">
                <a16:creationId xmlns:a16="http://schemas.microsoft.com/office/drawing/2014/main" id="{E516E339-9CFF-0132-31B8-E9FF789297CD}"/>
              </a:ext>
            </a:extLst>
          </p:cNvPr>
          <p:cNvSpPr/>
          <p:nvPr/>
        </p:nvSpPr>
        <p:spPr>
          <a:xfrm>
            <a:off x="685800" y="1508760"/>
            <a:ext cx="365760" cy="365760"/>
          </a:xfrm>
          <a:prstGeom prst="ellipse">
            <a:avLst/>
          </a:prstGeom>
          <a:solidFill>
            <a:srgbClr val="0E7C7B"/>
          </a:solidFill>
          <a:ln/>
        </p:spPr>
        <p:txBody>
          <a:bodyPr/>
          <a:lstStyle/>
          <a:p>
            <a:endParaRPr lang="fr-FR"/>
          </a:p>
        </p:txBody>
      </p:sp>
      <p:sp>
        <p:nvSpPr>
          <p:cNvPr id="6" name="Text 4">
            <a:extLst>
              <a:ext uri="{FF2B5EF4-FFF2-40B4-BE49-F238E27FC236}">
                <a16:creationId xmlns:a16="http://schemas.microsoft.com/office/drawing/2014/main" id="{16EBA406-9FC3-8FF5-FD52-3A0D6567CA88}"/>
              </a:ext>
            </a:extLst>
          </p:cNvPr>
          <p:cNvSpPr/>
          <p:nvPr/>
        </p:nvSpPr>
        <p:spPr>
          <a:xfrm>
            <a:off x="685800" y="1508760"/>
            <a:ext cx="365760" cy="365760"/>
          </a:xfrm>
          <a:prstGeom prst="rect">
            <a:avLst/>
          </a:prstGeom>
          <a:noFill/>
          <a:ln/>
        </p:spPr>
        <p:txBody>
          <a:bodyPr wrap="square"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7" name="Text 5">
            <a:extLst>
              <a:ext uri="{FF2B5EF4-FFF2-40B4-BE49-F238E27FC236}">
                <a16:creationId xmlns:a16="http://schemas.microsoft.com/office/drawing/2014/main" id="{44335F60-0D19-492B-28E7-C099117EFD76}"/>
              </a:ext>
            </a:extLst>
          </p:cNvPr>
          <p:cNvSpPr/>
          <p:nvPr/>
        </p:nvSpPr>
        <p:spPr>
          <a:xfrm>
            <a:off x="1143000" y="1508760"/>
            <a:ext cx="1828800" cy="1097280"/>
          </a:xfrm>
          <a:prstGeom prst="rect">
            <a:avLst/>
          </a:prstGeom>
          <a:noFill/>
          <a:ln/>
        </p:spPr>
        <p:txBody>
          <a:bodyPr wrap="square" rtlCol="0" anchor="t"/>
          <a:lstStyle/>
          <a:p>
            <a:pPr marL="0" indent="0">
              <a:buNone/>
            </a:pPr>
            <a:r>
              <a:rPr lang="en-US" sz="1200" dirty="0">
                <a:solidFill>
                  <a:srgbClr val="1A1A2E"/>
                </a:solidFill>
                <a:latin typeface="Calibri" pitchFamily="34" charset="0"/>
                <a:ea typeface="Calibri" pitchFamily="34" charset="-122"/>
                <a:cs typeface="Calibri" pitchFamily="34" charset="-120"/>
              </a:rPr>
              <a:t>Antibiotiques massivement</a:t>
            </a:r>
            <a:endParaRPr lang="en-US" sz="1200" dirty="0"/>
          </a:p>
          <a:p>
            <a:pPr marL="0" indent="0">
              <a:buNone/>
            </a:pPr>
            <a:r>
              <a:rPr lang="en-US" sz="1200" dirty="0">
                <a:solidFill>
                  <a:srgbClr val="1A1A2E"/>
                </a:solidFill>
                <a:latin typeface="Calibri" pitchFamily="34" charset="0"/>
                <a:ea typeface="Calibri" pitchFamily="34" charset="-122"/>
                <a:cs typeface="Calibri" pitchFamily="34" charset="-120"/>
              </a:rPr>
              <a:t>utilisés en élevage</a:t>
            </a:r>
            <a:endParaRPr lang="en-US" sz="1200" dirty="0"/>
          </a:p>
        </p:txBody>
      </p:sp>
      <p:pic>
        <p:nvPicPr>
          <p:cNvPr id="8" name="Image 0" descr="preencoded.png">
            <a:extLst>
              <a:ext uri="{FF2B5EF4-FFF2-40B4-BE49-F238E27FC236}">
                <a16:creationId xmlns:a16="http://schemas.microsoft.com/office/drawing/2014/main" id="{5B90A668-5B83-810C-2632-E1BCA3B5FDD1}"/>
              </a:ext>
            </a:extLst>
          </p:cNvPr>
          <p:cNvPicPr>
            <a:picLocks noChangeAspect="1"/>
          </p:cNvPicPr>
          <p:nvPr/>
        </p:nvPicPr>
        <p:blipFill>
          <a:blip r:embed="rId3"/>
          <a:stretch>
            <a:fillRect/>
          </a:stretch>
        </p:blipFill>
        <p:spPr>
          <a:xfrm>
            <a:off x="3154680" y="1828800"/>
            <a:ext cx="201168" cy="201168"/>
          </a:xfrm>
          <a:prstGeom prst="rect">
            <a:avLst/>
          </a:prstGeom>
        </p:spPr>
      </p:pic>
      <p:sp>
        <p:nvSpPr>
          <p:cNvPr id="10" name="Shape 7">
            <a:extLst>
              <a:ext uri="{FF2B5EF4-FFF2-40B4-BE49-F238E27FC236}">
                <a16:creationId xmlns:a16="http://schemas.microsoft.com/office/drawing/2014/main" id="{057AE143-25E4-A080-B036-C9375790A5FD}"/>
              </a:ext>
            </a:extLst>
          </p:cNvPr>
          <p:cNvSpPr/>
          <p:nvPr/>
        </p:nvSpPr>
        <p:spPr>
          <a:xfrm>
            <a:off x="3520440" y="1508760"/>
            <a:ext cx="365760" cy="365760"/>
          </a:xfrm>
          <a:prstGeom prst="ellipse">
            <a:avLst/>
          </a:prstGeom>
          <a:solidFill>
            <a:srgbClr val="0E7C7B"/>
          </a:solidFill>
          <a:ln/>
        </p:spPr>
        <p:txBody>
          <a:bodyPr/>
          <a:lstStyle/>
          <a:p>
            <a:endParaRPr lang="fr-FR"/>
          </a:p>
        </p:txBody>
      </p:sp>
      <p:sp>
        <p:nvSpPr>
          <p:cNvPr id="11" name="Text 8">
            <a:extLst>
              <a:ext uri="{FF2B5EF4-FFF2-40B4-BE49-F238E27FC236}">
                <a16:creationId xmlns:a16="http://schemas.microsoft.com/office/drawing/2014/main" id="{F5FC3EF3-E88E-D48D-558D-67311A4782BD}"/>
              </a:ext>
            </a:extLst>
          </p:cNvPr>
          <p:cNvSpPr/>
          <p:nvPr/>
        </p:nvSpPr>
        <p:spPr>
          <a:xfrm>
            <a:off x="3520440" y="1508760"/>
            <a:ext cx="365760" cy="365760"/>
          </a:xfrm>
          <a:prstGeom prst="rect">
            <a:avLst/>
          </a:prstGeom>
          <a:noFill/>
          <a:ln/>
        </p:spPr>
        <p:txBody>
          <a:bodyPr wrap="square"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2" name="Text 9">
            <a:extLst>
              <a:ext uri="{FF2B5EF4-FFF2-40B4-BE49-F238E27FC236}">
                <a16:creationId xmlns:a16="http://schemas.microsoft.com/office/drawing/2014/main" id="{6F1852FD-AC5F-2621-4B1D-8E3C05F19D7B}"/>
              </a:ext>
            </a:extLst>
          </p:cNvPr>
          <p:cNvSpPr/>
          <p:nvPr/>
        </p:nvSpPr>
        <p:spPr>
          <a:xfrm>
            <a:off x="3977640" y="1508760"/>
            <a:ext cx="1828800" cy="1097280"/>
          </a:xfrm>
          <a:prstGeom prst="rect">
            <a:avLst/>
          </a:prstGeom>
          <a:noFill/>
          <a:ln/>
        </p:spPr>
        <p:txBody>
          <a:bodyPr wrap="square" rtlCol="0" anchor="t"/>
          <a:lstStyle/>
          <a:p>
            <a:pPr marL="0" indent="0">
              <a:buNone/>
            </a:pPr>
            <a:r>
              <a:rPr lang="en-US" sz="1200" dirty="0">
                <a:solidFill>
                  <a:srgbClr val="1A1A2E"/>
                </a:solidFill>
                <a:latin typeface="Calibri" pitchFamily="34" charset="0"/>
                <a:ea typeface="Calibri" pitchFamily="34" charset="-122"/>
                <a:cs typeface="Calibri" pitchFamily="34" charset="-120"/>
              </a:rPr>
              <a:t>Résidus atteignent</a:t>
            </a:r>
            <a:endParaRPr lang="en-US" sz="1200" dirty="0"/>
          </a:p>
          <a:p>
            <a:pPr marL="0" indent="0">
              <a:buNone/>
            </a:pPr>
            <a:r>
              <a:rPr lang="en-US" sz="1200" dirty="0">
                <a:solidFill>
                  <a:srgbClr val="1A1A2E"/>
                </a:solidFill>
                <a:latin typeface="Calibri" pitchFamily="34" charset="0"/>
                <a:ea typeface="Calibri" pitchFamily="34" charset="-122"/>
                <a:cs typeface="Calibri" pitchFamily="34" charset="-120"/>
              </a:rPr>
              <a:t>le côlon</a:t>
            </a:r>
            <a:endParaRPr lang="en-US" sz="1200" dirty="0"/>
          </a:p>
        </p:txBody>
      </p:sp>
      <p:pic>
        <p:nvPicPr>
          <p:cNvPr id="13" name="Image 1" descr="preencoded.png">
            <a:extLst>
              <a:ext uri="{FF2B5EF4-FFF2-40B4-BE49-F238E27FC236}">
                <a16:creationId xmlns:a16="http://schemas.microsoft.com/office/drawing/2014/main" id="{3F3A4D24-F8B8-7567-427F-CDC1D05BDEC4}"/>
              </a:ext>
            </a:extLst>
          </p:cNvPr>
          <p:cNvPicPr>
            <a:picLocks noChangeAspect="1"/>
          </p:cNvPicPr>
          <p:nvPr/>
        </p:nvPicPr>
        <p:blipFill>
          <a:blip r:embed="rId3"/>
          <a:stretch>
            <a:fillRect/>
          </a:stretch>
        </p:blipFill>
        <p:spPr>
          <a:xfrm>
            <a:off x="5989320" y="1828800"/>
            <a:ext cx="201168" cy="201168"/>
          </a:xfrm>
          <a:prstGeom prst="rect">
            <a:avLst/>
          </a:prstGeom>
        </p:spPr>
      </p:pic>
      <p:sp>
        <p:nvSpPr>
          <p:cNvPr id="15" name="Shape 11">
            <a:extLst>
              <a:ext uri="{FF2B5EF4-FFF2-40B4-BE49-F238E27FC236}">
                <a16:creationId xmlns:a16="http://schemas.microsoft.com/office/drawing/2014/main" id="{86B848D6-7B5B-61C8-FAFC-F010F02339E5}"/>
              </a:ext>
            </a:extLst>
          </p:cNvPr>
          <p:cNvSpPr/>
          <p:nvPr/>
        </p:nvSpPr>
        <p:spPr>
          <a:xfrm>
            <a:off x="6355080" y="1508760"/>
            <a:ext cx="365760" cy="365760"/>
          </a:xfrm>
          <a:prstGeom prst="ellipse">
            <a:avLst/>
          </a:prstGeom>
          <a:solidFill>
            <a:srgbClr val="0E7C7B"/>
          </a:solidFill>
          <a:ln/>
        </p:spPr>
        <p:txBody>
          <a:bodyPr/>
          <a:lstStyle/>
          <a:p>
            <a:endParaRPr lang="fr-FR"/>
          </a:p>
        </p:txBody>
      </p:sp>
      <p:sp>
        <p:nvSpPr>
          <p:cNvPr id="16" name="Text 12">
            <a:extLst>
              <a:ext uri="{FF2B5EF4-FFF2-40B4-BE49-F238E27FC236}">
                <a16:creationId xmlns:a16="http://schemas.microsoft.com/office/drawing/2014/main" id="{C2EBA3DD-791C-0DD3-24AE-1422CEA0EE1C}"/>
              </a:ext>
            </a:extLst>
          </p:cNvPr>
          <p:cNvSpPr/>
          <p:nvPr/>
        </p:nvSpPr>
        <p:spPr>
          <a:xfrm>
            <a:off x="6355080" y="1508760"/>
            <a:ext cx="365760" cy="365760"/>
          </a:xfrm>
          <a:prstGeom prst="rect">
            <a:avLst/>
          </a:prstGeom>
          <a:noFill/>
          <a:ln/>
        </p:spPr>
        <p:txBody>
          <a:bodyPr wrap="square"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7" name="Text 13">
            <a:extLst>
              <a:ext uri="{FF2B5EF4-FFF2-40B4-BE49-F238E27FC236}">
                <a16:creationId xmlns:a16="http://schemas.microsoft.com/office/drawing/2014/main" id="{4CE93889-9A82-2EBB-B95F-0836A09CB738}"/>
              </a:ext>
            </a:extLst>
          </p:cNvPr>
          <p:cNvSpPr/>
          <p:nvPr/>
        </p:nvSpPr>
        <p:spPr>
          <a:xfrm>
            <a:off x="6812280" y="1508760"/>
            <a:ext cx="1828800" cy="1097280"/>
          </a:xfrm>
          <a:prstGeom prst="rect">
            <a:avLst/>
          </a:prstGeom>
          <a:noFill/>
          <a:ln/>
        </p:spPr>
        <p:txBody>
          <a:bodyPr wrap="square" rtlCol="0" anchor="t"/>
          <a:lstStyle/>
          <a:p>
            <a:pPr marL="0" indent="0">
              <a:buNone/>
            </a:pPr>
            <a:r>
              <a:rPr lang="en-US" sz="1200" dirty="0">
                <a:solidFill>
                  <a:srgbClr val="1A1A2E"/>
                </a:solidFill>
                <a:latin typeface="Calibri" pitchFamily="34" charset="0"/>
                <a:ea typeface="Calibri" pitchFamily="34" charset="-122"/>
                <a:cs typeface="Calibri" pitchFamily="34" charset="-120"/>
              </a:rPr>
              <a:t>Bactéries sensibles</a:t>
            </a:r>
            <a:endParaRPr lang="en-US" sz="1200" dirty="0"/>
          </a:p>
          <a:p>
            <a:pPr marL="0" indent="0">
              <a:buNone/>
            </a:pPr>
            <a:r>
              <a:rPr lang="en-US" sz="1200" dirty="0">
                <a:solidFill>
                  <a:srgbClr val="1A1A2E"/>
                </a:solidFill>
                <a:latin typeface="Calibri" pitchFamily="34" charset="0"/>
                <a:ea typeface="Calibri" pitchFamily="34" charset="-122"/>
                <a:cs typeface="Calibri" pitchFamily="34" charset="-120"/>
              </a:rPr>
              <a:t>éliminées</a:t>
            </a:r>
            <a:endParaRPr lang="en-US" sz="1200" dirty="0"/>
          </a:p>
        </p:txBody>
      </p:sp>
      <p:sp>
        <p:nvSpPr>
          <p:cNvPr id="19" name="Shape 15">
            <a:extLst>
              <a:ext uri="{FF2B5EF4-FFF2-40B4-BE49-F238E27FC236}">
                <a16:creationId xmlns:a16="http://schemas.microsoft.com/office/drawing/2014/main" id="{4098F12D-55D3-09AA-A02E-84243A382D5A}"/>
              </a:ext>
            </a:extLst>
          </p:cNvPr>
          <p:cNvSpPr/>
          <p:nvPr/>
        </p:nvSpPr>
        <p:spPr>
          <a:xfrm>
            <a:off x="685800" y="3200400"/>
            <a:ext cx="365760" cy="365760"/>
          </a:xfrm>
          <a:prstGeom prst="ellipse">
            <a:avLst/>
          </a:prstGeom>
          <a:solidFill>
            <a:srgbClr val="E07A5F"/>
          </a:solidFill>
          <a:ln/>
        </p:spPr>
        <p:txBody>
          <a:bodyPr/>
          <a:lstStyle/>
          <a:p>
            <a:endParaRPr lang="fr-FR"/>
          </a:p>
        </p:txBody>
      </p:sp>
      <p:sp>
        <p:nvSpPr>
          <p:cNvPr id="20" name="Text 16">
            <a:extLst>
              <a:ext uri="{FF2B5EF4-FFF2-40B4-BE49-F238E27FC236}">
                <a16:creationId xmlns:a16="http://schemas.microsoft.com/office/drawing/2014/main" id="{774C6D34-AC82-1977-8259-DBFAC89F8737}"/>
              </a:ext>
            </a:extLst>
          </p:cNvPr>
          <p:cNvSpPr/>
          <p:nvPr/>
        </p:nvSpPr>
        <p:spPr>
          <a:xfrm>
            <a:off x="685800" y="3200400"/>
            <a:ext cx="365760" cy="365760"/>
          </a:xfrm>
          <a:prstGeom prst="rect">
            <a:avLst/>
          </a:prstGeom>
          <a:noFill/>
          <a:ln/>
        </p:spPr>
        <p:txBody>
          <a:bodyPr wrap="square"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21" name="Text 17">
            <a:extLst>
              <a:ext uri="{FF2B5EF4-FFF2-40B4-BE49-F238E27FC236}">
                <a16:creationId xmlns:a16="http://schemas.microsoft.com/office/drawing/2014/main" id="{19499554-0347-0CFD-E5D8-5EE8176BD4AA}"/>
              </a:ext>
            </a:extLst>
          </p:cNvPr>
          <p:cNvSpPr/>
          <p:nvPr/>
        </p:nvSpPr>
        <p:spPr>
          <a:xfrm>
            <a:off x="1143000" y="3200400"/>
            <a:ext cx="1828800" cy="1097280"/>
          </a:xfrm>
          <a:prstGeom prst="rect">
            <a:avLst/>
          </a:prstGeom>
          <a:noFill/>
          <a:ln/>
        </p:spPr>
        <p:txBody>
          <a:bodyPr wrap="square" rtlCol="0" anchor="t"/>
          <a:lstStyle/>
          <a:p>
            <a:pPr marL="0" indent="0">
              <a:buNone/>
            </a:pPr>
            <a:r>
              <a:rPr lang="en-US" sz="1200" dirty="0">
                <a:solidFill>
                  <a:srgbClr val="1A1A2E"/>
                </a:solidFill>
                <a:latin typeface="Calibri" pitchFamily="34" charset="0"/>
                <a:ea typeface="Calibri" pitchFamily="34" charset="-122"/>
                <a:cs typeface="Calibri" pitchFamily="34" charset="-120"/>
              </a:rPr>
              <a:t>Bactéries résistantes</a:t>
            </a:r>
            <a:endParaRPr lang="en-US" sz="1200" dirty="0"/>
          </a:p>
          <a:p>
            <a:pPr marL="0" indent="0">
              <a:buNone/>
            </a:pPr>
            <a:r>
              <a:rPr lang="en-US" sz="1200" dirty="0">
                <a:solidFill>
                  <a:srgbClr val="1A1A2E"/>
                </a:solidFill>
                <a:latin typeface="Calibri" pitchFamily="34" charset="0"/>
                <a:ea typeface="Calibri" pitchFamily="34" charset="-122"/>
                <a:cs typeface="Calibri" pitchFamily="34" charset="-120"/>
              </a:rPr>
              <a:t>colonisent les niches</a:t>
            </a:r>
            <a:endParaRPr lang="en-US" sz="1200" dirty="0"/>
          </a:p>
        </p:txBody>
      </p:sp>
      <p:pic>
        <p:nvPicPr>
          <p:cNvPr id="22" name="Image 2" descr="preencoded.png">
            <a:extLst>
              <a:ext uri="{FF2B5EF4-FFF2-40B4-BE49-F238E27FC236}">
                <a16:creationId xmlns:a16="http://schemas.microsoft.com/office/drawing/2014/main" id="{FA2A6791-CAB1-B74A-E651-383A4E0D61F7}"/>
              </a:ext>
            </a:extLst>
          </p:cNvPr>
          <p:cNvPicPr>
            <a:picLocks noChangeAspect="1"/>
          </p:cNvPicPr>
          <p:nvPr/>
        </p:nvPicPr>
        <p:blipFill>
          <a:blip r:embed="rId3"/>
          <a:stretch>
            <a:fillRect/>
          </a:stretch>
        </p:blipFill>
        <p:spPr>
          <a:xfrm>
            <a:off x="3154680" y="3520440"/>
            <a:ext cx="201168" cy="201168"/>
          </a:xfrm>
          <a:prstGeom prst="rect">
            <a:avLst/>
          </a:prstGeom>
        </p:spPr>
      </p:pic>
      <p:sp>
        <p:nvSpPr>
          <p:cNvPr id="24" name="Shape 19">
            <a:extLst>
              <a:ext uri="{FF2B5EF4-FFF2-40B4-BE49-F238E27FC236}">
                <a16:creationId xmlns:a16="http://schemas.microsoft.com/office/drawing/2014/main" id="{375AA570-9489-2885-B0F1-8F146A8EE1D1}"/>
              </a:ext>
            </a:extLst>
          </p:cNvPr>
          <p:cNvSpPr/>
          <p:nvPr/>
        </p:nvSpPr>
        <p:spPr>
          <a:xfrm>
            <a:off x="3520440" y="3200400"/>
            <a:ext cx="365760" cy="365760"/>
          </a:xfrm>
          <a:prstGeom prst="ellipse">
            <a:avLst/>
          </a:prstGeom>
          <a:solidFill>
            <a:srgbClr val="E07A5F"/>
          </a:solidFill>
          <a:ln/>
        </p:spPr>
        <p:txBody>
          <a:bodyPr/>
          <a:lstStyle/>
          <a:p>
            <a:endParaRPr lang="fr-FR"/>
          </a:p>
        </p:txBody>
      </p:sp>
      <p:sp>
        <p:nvSpPr>
          <p:cNvPr id="25" name="Text 20">
            <a:extLst>
              <a:ext uri="{FF2B5EF4-FFF2-40B4-BE49-F238E27FC236}">
                <a16:creationId xmlns:a16="http://schemas.microsoft.com/office/drawing/2014/main" id="{3AEE1F49-CCBF-6F6E-6690-A677248071F6}"/>
              </a:ext>
            </a:extLst>
          </p:cNvPr>
          <p:cNvSpPr/>
          <p:nvPr/>
        </p:nvSpPr>
        <p:spPr>
          <a:xfrm>
            <a:off x="3520440" y="3200400"/>
            <a:ext cx="365760" cy="365760"/>
          </a:xfrm>
          <a:prstGeom prst="rect">
            <a:avLst/>
          </a:prstGeom>
          <a:noFill/>
          <a:ln/>
        </p:spPr>
        <p:txBody>
          <a:bodyPr wrap="square"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5</a:t>
            </a:r>
            <a:endParaRPr lang="en-US" sz="1400" dirty="0"/>
          </a:p>
        </p:txBody>
      </p:sp>
      <p:sp>
        <p:nvSpPr>
          <p:cNvPr id="26" name="Text 21">
            <a:extLst>
              <a:ext uri="{FF2B5EF4-FFF2-40B4-BE49-F238E27FC236}">
                <a16:creationId xmlns:a16="http://schemas.microsoft.com/office/drawing/2014/main" id="{CEB76657-95EB-4B1D-8342-A5AB2AE54D78}"/>
              </a:ext>
            </a:extLst>
          </p:cNvPr>
          <p:cNvSpPr/>
          <p:nvPr/>
        </p:nvSpPr>
        <p:spPr>
          <a:xfrm>
            <a:off x="3977640" y="3200400"/>
            <a:ext cx="1828800" cy="1097280"/>
          </a:xfrm>
          <a:prstGeom prst="rect">
            <a:avLst/>
          </a:prstGeom>
          <a:noFill/>
          <a:ln/>
        </p:spPr>
        <p:txBody>
          <a:bodyPr wrap="square" rtlCol="0" anchor="t"/>
          <a:lstStyle/>
          <a:p>
            <a:pPr marL="0" indent="0">
              <a:buNone/>
            </a:pPr>
            <a:r>
              <a:rPr lang="en-US" sz="1200" dirty="0">
                <a:solidFill>
                  <a:srgbClr val="1A1A2E"/>
                </a:solidFill>
                <a:latin typeface="Calibri" pitchFamily="34" charset="0"/>
                <a:ea typeface="Calibri" pitchFamily="34" charset="-122"/>
                <a:cs typeface="Calibri" pitchFamily="34" charset="-120"/>
              </a:rPr>
              <a:t>Excrétion massive</a:t>
            </a:r>
            <a:endParaRPr lang="en-US" sz="1200" dirty="0"/>
          </a:p>
          <a:p>
            <a:pPr marL="0" indent="0">
              <a:buNone/>
            </a:pPr>
            <a:r>
              <a:rPr lang="en-US" sz="1200" dirty="0">
                <a:solidFill>
                  <a:srgbClr val="1A1A2E"/>
                </a:solidFill>
                <a:latin typeface="Calibri" pitchFamily="34" charset="0"/>
                <a:ea typeface="Calibri" pitchFamily="34" charset="-122"/>
                <a:cs typeface="Calibri" pitchFamily="34" charset="-120"/>
              </a:rPr>
              <a:t>dans les fèces</a:t>
            </a:r>
            <a:endParaRPr lang="en-US" sz="1200" dirty="0"/>
          </a:p>
        </p:txBody>
      </p:sp>
      <p:pic>
        <p:nvPicPr>
          <p:cNvPr id="27" name="Image 3" descr="preencoded.png">
            <a:extLst>
              <a:ext uri="{FF2B5EF4-FFF2-40B4-BE49-F238E27FC236}">
                <a16:creationId xmlns:a16="http://schemas.microsoft.com/office/drawing/2014/main" id="{5CE79250-E274-4FF4-089E-A30941A3380B}"/>
              </a:ext>
            </a:extLst>
          </p:cNvPr>
          <p:cNvPicPr>
            <a:picLocks noChangeAspect="1"/>
          </p:cNvPicPr>
          <p:nvPr/>
        </p:nvPicPr>
        <p:blipFill>
          <a:blip r:embed="rId3"/>
          <a:stretch>
            <a:fillRect/>
          </a:stretch>
        </p:blipFill>
        <p:spPr>
          <a:xfrm>
            <a:off x="5989320" y="3520440"/>
            <a:ext cx="201168" cy="201168"/>
          </a:xfrm>
          <a:prstGeom prst="rect">
            <a:avLst/>
          </a:prstGeom>
        </p:spPr>
      </p:pic>
      <p:sp>
        <p:nvSpPr>
          <p:cNvPr id="29" name="Shape 23">
            <a:extLst>
              <a:ext uri="{FF2B5EF4-FFF2-40B4-BE49-F238E27FC236}">
                <a16:creationId xmlns:a16="http://schemas.microsoft.com/office/drawing/2014/main" id="{906E5E0B-5C91-A48E-FC46-ADE35410BFD5}"/>
              </a:ext>
            </a:extLst>
          </p:cNvPr>
          <p:cNvSpPr/>
          <p:nvPr/>
        </p:nvSpPr>
        <p:spPr>
          <a:xfrm>
            <a:off x="6355080" y="3200400"/>
            <a:ext cx="365760" cy="365760"/>
          </a:xfrm>
          <a:prstGeom prst="ellipse">
            <a:avLst/>
          </a:prstGeom>
          <a:solidFill>
            <a:srgbClr val="E07A5F"/>
          </a:solidFill>
          <a:ln/>
        </p:spPr>
        <p:txBody>
          <a:bodyPr/>
          <a:lstStyle/>
          <a:p>
            <a:endParaRPr lang="fr-FR"/>
          </a:p>
        </p:txBody>
      </p:sp>
      <p:sp>
        <p:nvSpPr>
          <p:cNvPr id="30" name="Text 24">
            <a:extLst>
              <a:ext uri="{FF2B5EF4-FFF2-40B4-BE49-F238E27FC236}">
                <a16:creationId xmlns:a16="http://schemas.microsoft.com/office/drawing/2014/main" id="{C2D6AD38-B34D-196B-0816-8B1FABDD07E8}"/>
              </a:ext>
            </a:extLst>
          </p:cNvPr>
          <p:cNvSpPr/>
          <p:nvPr/>
        </p:nvSpPr>
        <p:spPr>
          <a:xfrm>
            <a:off x="6355080" y="3200400"/>
            <a:ext cx="365760" cy="365760"/>
          </a:xfrm>
          <a:prstGeom prst="rect">
            <a:avLst/>
          </a:prstGeom>
          <a:noFill/>
          <a:ln/>
        </p:spPr>
        <p:txBody>
          <a:bodyPr wrap="square"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6</a:t>
            </a:r>
            <a:endParaRPr lang="en-US" sz="1400" dirty="0"/>
          </a:p>
        </p:txBody>
      </p:sp>
      <p:sp>
        <p:nvSpPr>
          <p:cNvPr id="31" name="Text 25">
            <a:extLst>
              <a:ext uri="{FF2B5EF4-FFF2-40B4-BE49-F238E27FC236}">
                <a16:creationId xmlns:a16="http://schemas.microsoft.com/office/drawing/2014/main" id="{A5A78684-BA39-6472-47DB-2F1077EACA40}"/>
              </a:ext>
            </a:extLst>
          </p:cNvPr>
          <p:cNvSpPr/>
          <p:nvPr/>
        </p:nvSpPr>
        <p:spPr>
          <a:xfrm>
            <a:off x="6812280" y="3200400"/>
            <a:ext cx="1828800" cy="1097280"/>
          </a:xfrm>
          <a:prstGeom prst="rect">
            <a:avLst/>
          </a:prstGeom>
          <a:noFill/>
          <a:ln/>
        </p:spPr>
        <p:txBody>
          <a:bodyPr wrap="square" rtlCol="0" anchor="t"/>
          <a:lstStyle/>
          <a:p>
            <a:pPr marL="0" indent="0">
              <a:buNone/>
            </a:pPr>
            <a:r>
              <a:rPr lang="en-US" sz="1200" dirty="0">
                <a:solidFill>
                  <a:srgbClr val="1A1A2E"/>
                </a:solidFill>
                <a:latin typeface="Calibri" pitchFamily="34" charset="0"/>
                <a:ea typeface="Calibri" pitchFamily="34" charset="-122"/>
                <a:cs typeface="Calibri" pitchFamily="34" charset="-120"/>
              </a:rPr>
              <a:t>Contamination</a:t>
            </a:r>
            <a:endParaRPr lang="en-US" sz="1200" dirty="0"/>
          </a:p>
          <a:p>
            <a:pPr marL="0" indent="0">
              <a:buNone/>
            </a:pPr>
            <a:r>
              <a:rPr lang="en-US" sz="1200" dirty="0">
                <a:solidFill>
                  <a:srgbClr val="1A1A2E"/>
                </a:solidFill>
                <a:latin typeface="Calibri" pitchFamily="34" charset="0"/>
                <a:ea typeface="Calibri" pitchFamily="34" charset="-122"/>
                <a:cs typeface="Calibri" pitchFamily="34" charset="-120"/>
              </a:rPr>
              <a:t>environnement → homme</a:t>
            </a:r>
            <a:endParaRPr lang="en-US" sz="1200" dirty="0"/>
          </a:p>
        </p:txBody>
      </p:sp>
      <p:sp>
        <p:nvSpPr>
          <p:cNvPr id="32" name="Text 26">
            <a:extLst>
              <a:ext uri="{FF2B5EF4-FFF2-40B4-BE49-F238E27FC236}">
                <a16:creationId xmlns:a16="http://schemas.microsoft.com/office/drawing/2014/main" id="{1718C121-37C4-4FFA-A2EB-0D1A79765F0B}"/>
              </a:ext>
            </a:extLst>
          </p:cNvPr>
          <p:cNvSpPr/>
          <p:nvPr/>
        </p:nvSpPr>
        <p:spPr>
          <a:xfrm>
            <a:off x="7772400" y="2651760"/>
            <a:ext cx="365760" cy="457200"/>
          </a:xfrm>
          <a:prstGeom prst="rect">
            <a:avLst/>
          </a:prstGeom>
          <a:noFill/>
          <a:ln/>
        </p:spPr>
        <p:txBody>
          <a:bodyPr wrap="square" rtlCol="0" anchor="ctr"/>
          <a:lstStyle/>
          <a:p>
            <a:pPr marL="0" indent="0" algn="ctr">
              <a:buNone/>
            </a:pPr>
            <a:r>
              <a:rPr lang="en-US" sz="2000" dirty="0">
                <a:solidFill>
                  <a:srgbClr val="17A2A2"/>
                </a:solidFill>
              </a:rPr>
              <a:t>↓</a:t>
            </a:r>
            <a:endParaRPr lang="en-US" sz="2000" dirty="0"/>
          </a:p>
        </p:txBody>
      </p:sp>
      <p:pic>
        <p:nvPicPr>
          <p:cNvPr id="34" name="Image 4" descr="preencoded.png">
            <a:extLst>
              <a:ext uri="{FF2B5EF4-FFF2-40B4-BE49-F238E27FC236}">
                <a16:creationId xmlns:a16="http://schemas.microsoft.com/office/drawing/2014/main" id="{5DA65F00-EA12-46FF-F6AF-AD60FAC09433}"/>
              </a:ext>
            </a:extLst>
          </p:cNvPr>
          <p:cNvPicPr>
            <a:picLocks noChangeAspect="1"/>
          </p:cNvPicPr>
          <p:nvPr/>
        </p:nvPicPr>
        <p:blipFill>
          <a:blip r:embed="rId4"/>
          <a:stretch>
            <a:fillRect/>
          </a:stretch>
        </p:blipFill>
        <p:spPr>
          <a:xfrm>
            <a:off x="685800" y="4590288"/>
            <a:ext cx="320040" cy="320040"/>
          </a:xfrm>
          <a:prstGeom prst="rect">
            <a:avLst/>
          </a:prstGeom>
        </p:spPr>
      </p:pic>
      <p:sp useBgFill="1">
        <p:nvSpPr>
          <p:cNvPr id="36" name="Rectangle 35">
            <a:extLst>
              <a:ext uri="{FF2B5EF4-FFF2-40B4-BE49-F238E27FC236}">
                <a16:creationId xmlns:a16="http://schemas.microsoft.com/office/drawing/2014/main" id="{69505BAA-3379-D482-9F27-877FB07C8BC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0"/>
            <a:ext cx="9141714" cy="51435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 name="Text 0">
            <a:extLst>
              <a:ext uri="{FF2B5EF4-FFF2-40B4-BE49-F238E27FC236}">
                <a16:creationId xmlns:a16="http://schemas.microsoft.com/office/drawing/2014/main" id="{61334ED4-E447-1F02-2941-9BBC6EA935EF}"/>
              </a:ext>
            </a:extLst>
          </p:cNvPr>
          <p:cNvSpPr/>
          <p:nvPr/>
        </p:nvSpPr>
        <p:spPr>
          <a:xfrm>
            <a:off x="479160" y="502663"/>
            <a:ext cx="8182230" cy="799377"/>
          </a:xfrm>
          <a:prstGeom prst="rect">
            <a:avLst/>
          </a:prstGeom>
        </p:spPr>
        <p:txBody>
          <a:bodyPr vert="horz" lIns="91440" tIns="45720" rIns="91440" bIns="45720" rtlCol="0" anchor="ctr">
            <a:normAutofit/>
          </a:bodyPr>
          <a:lstStyle/>
          <a:p>
            <a:pPr>
              <a:lnSpc>
                <a:spcPct val="90000"/>
              </a:lnSpc>
              <a:spcBef>
                <a:spcPct val="0"/>
              </a:spcBef>
              <a:spcAft>
                <a:spcPts val="600"/>
              </a:spcAft>
            </a:pPr>
            <a:r>
              <a:rPr lang="en-US" sz="2800" b="1" dirty="0">
                <a:solidFill>
                  <a:srgbClr val="0D4F4F"/>
                </a:solidFill>
                <a:latin typeface="Georgia" pitchFamily="34" charset="0"/>
              </a:rPr>
              <a:t>Mini HPL : Communications MPI </a:t>
            </a:r>
          </a:p>
        </p:txBody>
      </p:sp>
      <p:sp>
        <p:nvSpPr>
          <p:cNvPr id="39" name="sketch line">
            <a:extLst>
              <a:ext uri="{FF2B5EF4-FFF2-40B4-BE49-F238E27FC236}">
                <a16:creationId xmlns:a16="http://schemas.microsoft.com/office/drawing/2014/main" id="{C9FB0B79-0E1E-363B-3266-7D1BE147A53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2542032" y="1350066"/>
            <a:ext cx="4057650" cy="13716"/>
          </a:xfrm>
          <a:custGeom>
            <a:avLst/>
            <a:gdLst>
              <a:gd name="csX0" fmla="*/ 0 w 4057650"/>
              <a:gd name="csY0" fmla="*/ 0 h 13716"/>
              <a:gd name="csX1" fmla="*/ 757428 w 4057650"/>
              <a:gd name="csY1" fmla="*/ 0 h 13716"/>
              <a:gd name="csX2" fmla="*/ 1474279 w 4057650"/>
              <a:gd name="csY2" fmla="*/ 0 h 13716"/>
              <a:gd name="csX3" fmla="*/ 2191131 w 4057650"/>
              <a:gd name="csY3" fmla="*/ 0 h 13716"/>
              <a:gd name="csX4" fmla="*/ 2745676 w 4057650"/>
              <a:gd name="csY4" fmla="*/ 0 h 13716"/>
              <a:gd name="csX5" fmla="*/ 3340798 w 4057650"/>
              <a:gd name="csY5" fmla="*/ 0 h 13716"/>
              <a:gd name="csX6" fmla="*/ 4057650 w 4057650"/>
              <a:gd name="csY6" fmla="*/ 0 h 13716"/>
              <a:gd name="csX7" fmla="*/ 4057650 w 4057650"/>
              <a:gd name="csY7" fmla="*/ 13716 h 13716"/>
              <a:gd name="csX8" fmla="*/ 3381375 w 4057650"/>
              <a:gd name="csY8" fmla="*/ 13716 h 13716"/>
              <a:gd name="csX9" fmla="*/ 2826830 w 4057650"/>
              <a:gd name="csY9" fmla="*/ 13716 h 13716"/>
              <a:gd name="csX10" fmla="*/ 2272284 w 4057650"/>
              <a:gd name="csY10" fmla="*/ 13716 h 13716"/>
              <a:gd name="csX11" fmla="*/ 1555432 w 4057650"/>
              <a:gd name="csY11" fmla="*/ 13716 h 13716"/>
              <a:gd name="csX12" fmla="*/ 960310 w 4057650"/>
              <a:gd name="csY12" fmla="*/ 13716 h 13716"/>
              <a:gd name="csX13" fmla="*/ 0 w 4057650"/>
              <a:gd name="csY13" fmla="*/ 13716 h 13716"/>
              <a:gd name="csX14" fmla="*/ 0 w 4057650"/>
              <a:gd name="csY14" fmla="*/ 0 h 1371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Lst>
            <a:rect l="l" t="t" r="r" b="b"/>
            <a:pathLst>
              <a:path w="4057650" h="13716" fill="none" extrusionOk="0">
                <a:moveTo>
                  <a:pt x="0" y="0"/>
                </a:moveTo>
                <a:cubicBezTo>
                  <a:pt x="371182" y="3227"/>
                  <a:pt x="494372" y="9222"/>
                  <a:pt x="757428" y="0"/>
                </a:cubicBezTo>
                <a:cubicBezTo>
                  <a:pt x="1020484" y="-9222"/>
                  <a:pt x="1116719" y="-4357"/>
                  <a:pt x="1474279" y="0"/>
                </a:cubicBezTo>
                <a:cubicBezTo>
                  <a:pt x="1831839" y="4357"/>
                  <a:pt x="1920973" y="-11809"/>
                  <a:pt x="2191131" y="0"/>
                </a:cubicBezTo>
                <a:cubicBezTo>
                  <a:pt x="2461289" y="11809"/>
                  <a:pt x="2589480" y="-22604"/>
                  <a:pt x="2745676" y="0"/>
                </a:cubicBezTo>
                <a:cubicBezTo>
                  <a:pt x="2901872" y="22604"/>
                  <a:pt x="3136452" y="-12306"/>
                  <a:pt x="3340798" y="0"/>
                </a:cubicBezTo>
                <a:cubicBezTo>
                  <a:pt x="3545144" y="12306"/>
                  <a:pt x="3766934" y="-21556"/>
                  <a:pt x="4057650" y="0"/>
                </a:cubicBezTo>
                <a:cubicBezTo>
                  <a:pt x="4057378" y="4708"/>
                  <a:pt x="4057987" y="7132"/>
                  <a:pt x="4057650" y="13716"/>
                </a:cubicBezTo>
                <a:cubicBezTo>
                  <a:pt x="3743404" y="35553"/>
                  <a:pt x="3625516" y="-19495"/>
                  <a:pt x="3381375" y="13716"/>
                </a:cubicBezTo>
                <a:cubicBezTo>
                  <a:pt x="3137235" y="46927"/>
                  <a:pt x="2946571" y="-4571"/>
                  <a:pt x="2826830" y="13716"/>
                </a:cubicBezTo>
                <a:cubicBezTo>
                  <a:pt x="2707090" y="32003"/>
                  <a:pt x="2402756" y="-3140"/>
                  <a:pt x="2272284" y="13716"/>
                </a:cubicBezTo>
                <a:cubicBezTo>
                  <a:pt x="2141812" y="30572"/>
                  <a:pt x="1895935" y="13627"/>
                  <a:pt x="1555432" y="13716"/>
                </a:cubicBezTo>
                <a:cubicBezTo>
                  <a:pt x="1214929" y="13805"/>
                  <a:pt x="1103072" y="9931"/>
                  <a:pt x="960310" y="13716"/>
                </a:cubicBezTo>
                <a:cubicBezTo>
                  <a:pt x="817548" y="17501"/>
                  <a:pt x="402272" y="-33931"/>
                  <a:pt x="0" y="13716"/>
                </a:cubicBezTo>
                <a:cubicBezTo>
                  <a:pt x="-460" y="10837"/>
                  <a:pt x="38" y="6680"/>
                  <a:pt x="0" y="0"/>
                </a:cubicBezTo>
                <a:close/>
              </a:path>
              <a:path w="4057650" h="13716" stroke="0" extrusionOk="0">
                <a:moveTo>
                  <a:pt x="0" y="0"/>
                </a:moveTo>
                <a:cubicBezTo>
                  <a:pt x="248348" y="13145"/>
                  <a:pt x="486117" y="25042"/>
                  <a:pt x="635698" y="0"/>
                </a:cubicBezTo>
                <a:cubicBezTo>
                  <a:pt x="785279" y="-25042"/>
                  <a:pt x="917762" y="-5537"/>
                  <a:pt x="1190244" y="0"/>
                </a:cubicBezTo>
                <a:cubicBezTo>
                  <a:pt x="1462726" y="5537"/>
                  <a:pt x="1667120" y="-21232"/>
                  <a:pt x="1947672" y="0"/>
                </a:cubicBezTo>
                <a:cubicBezTo>
                  <a:pt x="2228224" y="21232"/>
                  <a:pt x="2280631" y="-21698"/>
                  <a:pt x="2583370" y="0"/>
                </a:cubicBezTo>
                <a:cubicBezTo>
                  <a:pt x="2886109" y="21698"/>
                  <a:pt x="3022941" y="19647"/>
                  <a:pt x="3219069" y="0"/>
                </a:cubicBezTo>
                <a:cubicBezTo>
                  <a:pt x="3415197" y="-19647"/>
                  <a:pt x="3747500" y="26991"/>
                  <a:pt x="4057650" y="0"/>
                </a:cubicBezTo>
                <a:cubicBezTo>
                  <a:pt x="4056980" y="3019"/>
                  <a:pt x="4057134" y="10425"/>
                  <a:pt x="4057650" y="13716"/>
                </a:cubicBezTo>
                <a:cubicBezTo>
                  <a:pt x="3865148" y="-7885"/>
                  <a:pt x="3702543" y="44896"/>
                  <a:pt x="3381375" y="13716"/>
                </a:cubicBezTo>
                <a:cubicBezTo>
                  <a:pt x="3060208" y="-17464"/>
                  <a:pt x="2956571" y="-13250"/>
                  <a:pt x="2826830" y="13716"/>
                </a:cubicBezTo>
                <a:cubicBezTo>
                  <a:pt x="2697089" y="40682"/>
                  <a:pt x="2411031" y="38582"/>
                  <a:pt x="2150555" y="13716"/>
                </a:cubicBezTo>
                <a:cubicBezTo>
                  <a:pt x="1890080" y="-11150"/>
                  <a:pt x="1741827" y="-5187"/>
                  <a:pt x="1474280" y="13716"/>
                </a:cubicBezTo>
                <a:cubicBezTo>
                  <a:pt x="1206734" y="32619"/>
                  <a:pt x="998203" y="28763"/>
                  <a:pt x="838581" y="13716"/>
                </a:cubicBezTo>
                <a:cubicBezTo>
                  <a:pt x="678959" y="-1331"/>
                  <a:pt x="187101" y="-17784"/>
                  <a:pt x="0" y="13716"/>
                </a:cubicBezTo>
                <a:cubicBezTo>
                  <a:pt x="-114" y="7033"/>
                  <a:pt x="103" y="3429"/>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4" name="Image 13" descr="Une image contenant texte, capture d’écran, Police, nombre&#10;&#10;Le contenu généré par l’IA peut être incorrect.">
            <a:extLst>
              <a:ext uri="{FF2B5EF4-FFF2-40B4-BE49-F238E27FC236}">
                <a16:creationId xmlns:a16="http://schemas.microsoft.com/office/drawing/2014/main" id="{935F4D20-CC50-598C-EF30-F67164BF0FC8}"/>
              </a:ext>
            </a:extLst>
          </p:cNvPr>
          <p:cNvPicPr>
            <a:picLocks noChangeAspect="1"/>
          </p:cNvPicPr>
          <p:nvPr/>
        </p:nvPicPr>
        <p:blipFill>
          <a:blip r:embed="rId5"/>
          <a:stretch>
            <a:fillRect/>
          </a:stretch>
        </p:blipFill>
        <p:spPr>
          <a:xfrm>
            <a:off x="1576282" y="1720926"/>
            <a:ext cx="5987986" cy="2120535"/>
          </a:xfrm>
          <a:prstGeom prst="rect">
            <a:avLst/>
          </a:prstGeom>
        </p:spPr>
      </p:pic>
      <p:sp>
        <p:nvSpPr>
          <p:cNvPr id="18" name="Shape 10">
            <a:extLst>
              <a:ext uri="{FF2B5EF4-FFF2-40B4-BE49-F238E27FC236}">
                <a16:creationId xmlns:a16="http://schemas.microsoft.com/office/drawing/2014/main" id="{2A5079E5-801B-BB48-3BE9-0BE65417A399}"/>
              </a:ext>
            </a:extLst>
          </p:cNvPr>
          <p:cNvSpPr/>
          <p:nvPr/>
        </p:nvSpPr>
        <p:spPr>
          <a:xfrm>
            <a:off x="365760" y="4160520"/>
            <a:ext cx="8412480" cy="914400"/>
          </a:xfrm>
          <a:prstGeom prst="rect">
            <a:avLst/>
          </a:prstGeom>
          <a:solidFill>
            <a:srgbClr val="FFF3E0"/>
          </a:solidFill>
          <a:ln/>
        </p:spPr>
        <p:txBody>
          <a:bodyPr/>
          <a:lstStyle/>
          <a:p>
            <a:endParaRPr lang="fr-FR"/>
          </a:p>
        </p:txBody>
      </p:sp>
      <p:pic>
        <p:nvPicPr>
          <p:cNvPr id="23" name="Image 0" descr="preencoded.png">
            <a:extLst>
              <a:ext uri="{FF2B5EF4-FFF2-40B4-BE49-F238E27FC236}">
                <a16:creationId xmlns:a16="http://schemas.microsoft.com/office/drawing/2014/main" id="{C9B0AA1C-4707-E46A-2FA2-EE677DFE4C79}"/>
              </a:ext>
            </a:extLst>
          </p:cNvPr>
          <p:cNvPicPr>
            <a:picLocks noChangeAspect="1"/>
          </p:cNvPicPr>
          <p:nvPr/>
        </p:nvPicPr>
        <p:blipFill>
          <a:blip r:embed="rId6"/>
          <a:stretch>
            <a:fillRect/>
          </a:stretch>
        </p:blipFill>
        <p:spPr>
          <a:xfrm>
            <a:off x="548640" y="4297680"/>
            <a:ext cx="320040" cy="320040"/>
          </a:xfrm>
          <a:prstGeom prst="rect">
            <a:avLst/>
          </a:prstGeom>
        </p:spPr>
      </p:pic>
      <mc:AlternateContent xmlns:mc="http://schemas.openxmlformats.org/markup-compatibility/2006" xmlns:a14="http://schemas.microsoft.com/office/drawing/2010/main">
        <mc:Choice Requires="a14">
          <p:sp>
            <p:nvSpPr>
              <p:cNvPr id="28" name="Text 11">
                <a:extLst>
                  <a:ext uri="{FF2B5EF4-FFF2-40B4-BE49-F238E27FC236}">
                    <a16:creationId xmlns:a16="http://schemas.microsoft.com/office/drawing/2014/main" id="{C4ACCF94-3414-142E-EECA-D07578887595}"/>
                  </a:ext>
                </a:extLst>
              </p:cNvPr>
              <p:cNvSpPr/>
              <p:nvPr/>
            </p:nvSpPr>
            <p:spPr>
              <a:xfrm>
                <a:off x="1005840" y="4206240"/>
                <a:ext cx="7589520" cy="822960"/>
              </a:xfrm>
              <a:prstGeom prst="rect">
                <a:avLst/>
              </a:prstGeom>
              <a:noFill/>
              <a:ln/>
            </p:spPr>
            <p:txBody>
              <a:bodyPr wrap="square" rtlCol="0" anchor="ctr"/>
              <a:lstStyle/>
              <a:p>
                <a:r>
                  <a:rPr lang="fr-FR" sz="1500" dirty="0"/>
                  <a:t>Le coût dominant provient des </a:t>
                </a:r>
                <a14:m>
                  <m:oMath xmlns:m="http://schemas.openxmlformats.org/officeDocument/2006/math">
                    <m:r>
                      <a:rPr lang="fr-FR" sz="1500" i="1">
                        <a:latin typeface="Cambria Math" panose="02040503050406030204" pitchFamily="18" charset="0"/>
                      </a:rPr>
                      <m:t>𝑁</m:t>
                    </m:r>
                  </m:oMath>
                </a14:m>
                <a:r>
                  <a:rPr lang="fr-FR" sz="1500" dirty="0"/>
                  <a:t> diffusions (</a:t>
                </a:r>
                <a:r>
                  <a:rPr lang="fr-FR" sz="1500" dirty="0" err="1"/>
                  <a:t>Bcast</a:t>
                </a:r>
                <a:r>
                  <a:rPr lang="fr-FR" sz="1500" dirty="0"/>
                  <a:t>) de taille </a:t>
                </a:r>
                <a14:m>
                  <m:oMath xmlns:m="http://schemas.openxmlformats.org/officeDocument/2006/math">
                    <m:r>
                      <a:rPr lang="fr-FR" sz="1500" i="1">
                        <a:latin typeface="Cambria Math" panose="02040503050406030204" pitchFamily="18" charset="0"/>
                      </a:rPr>
                      <m:t>𝑁</m:t>
                    </m:r>
                    <m:r>
                      <a:rPr lang="fr-FR" sz="1500">
                        <a:latin typeface="Cambria Math" panose="02040503050406030204" pitchFamily="18" charset="0"/>
                      </a:rPr>
                      <m:t>+1</m:t>
                    </m:r>
                  </m:oMath>
                </a14:m>
                <a:r>
                  <a:rPr lang="fr-FR" sz="1500" dirty="0"/>
                  <a:t>, soit </a:t>
                </a:r>
                <a14:m>
                  <m:oMath xmlns:m="http://schemas.openxmlformats.org/officeDocument/2006/math">
                    <m:r>
                      <a:rPr lang="fr-FR" sz="1500" i="1">
                        <a:latin typeface="Cambria Math" panose="02040503050406030204" pitchFamily="18" charset="0"/>
                      </a:rPr>
                      <m:t>𝑂</m:t>
                    </m:r>
                    <m:d>
                      <m:dPr>
                        <m:ctrlPr>
                          <a:rPr lang="ar-TN" sz="1500" i="1">
                            <a:latin typeface="Cambria Math" panose="02040503050406030204" pitchFamily="18" charset="0"/>
                          </a:rPr>
                        </m:ctrlPr>
                      </m:dPr>
                      <m:e>
                        <m:sSup>
                          <m:sSupPr>
                            <m:ctrlPr>
                              <a:rPr lang="ar-TN" sz="1500" i="1">
                                <a:latin typeface="Cambria Math" panose="02040503050406030204" pitchFamily="18" charset="0"/>
                              </a:rPr>
                            </m:ctrlPr>
                          </m:sSupPr>
                          <m:e>
                            <m:r>
                              <a:rPr lang="ar-TN" sz="1500" i="1">
                                <a:latin typeface="Cambria Math" panose="02040503050406030204" pitchFamily="18" charset="0"/>
                              </a:rPr>
                              <m:t>𝑁</m:t>
                            </m:r>
                          </m:e>
                          <m:sup>
                            <m:r>
                              <a:rPr lang="ar-TN" sz="1500">
                                <a:latin typeface="Cambria Math" panose="02040503050406030204" pitchFamily="18" charset="0"/>
                              </a:rPr>
                              <m:t>2</m:t>
                            </m:r>
                          </m:sup>
                        </m:sSup>
                      </m:e>
                    </m:d>
                  </m:oMath>
                </a14:m>
                <a:r>
                  <a:rPr lang="fr-FR" sz="1500" dirty="0"/>
                  <a:t> données échangées, mais comme le calcul nécessite </a:t>
                </a:r>
                <a14:m>
                  <m:oMath xmlns:m="http://schemas.openxmlformats.org/officeDocument/2006/math">
                    <m:r>
                      <a:rPr lang="fr-FR" sz="1500" i="1">
                        <a:latin typeface="Cambria Math" panose="02040503050406030204" pitchFamily="18" charset="0"/>
                      </a:rPr>
                      <m:t>𝑂</m:t>
                    </m:r>
                    <m:d>
                      <m:dPr>
                        <m:ctrlPr>
                          <a:rPr lang="ar-TN" sz="1500" i="1">
                            <a:latin typeface="Cambria Math" panose="02040503050406030204" pitchFamily="18" charset="0"/>
                          </a:rPr>
                        </m:ctrlPr>
                      </m:dPr>
                      <m:e>
                        <m:sSup>
                          <m:sSupPr>
                            <m:ctrlPr>
                              <a:rPr lang="ar-TN" sz="1500" i="1">
                                <a:latin typeface="Cambria Math" panose="02040503050406030204" pitchFamily="18" charset="0"/>
                              </a:rPr>
                            </m:ctrlPr>
                          </m:sSupPr>
                          <m:e>
                            <m:r>
                              <a:rPr lang="ar-TN" sz="1500" i="1">
                                <a:latin typeface="Cambria Math" panose="02040503050406030204" pitchFamily="18" charset="0"/>
                              </a:rPr>
                              <m:t>𝑁</m:t>
                            </m:r>
                          </m:e>
                          <m:sup>
                            <m:r>
                              <a:rPr lang="ar-TN" sz="1500">
                                <a:latin typeface="Cambria Math" panose="02040503050406030204" pitchFamily="18" charset="0"/>
                              </a:rPr>
                              <m:t>3</m:t>
                            </m:r>
                          </m:sup>
                        </m:sSup>
                      </m:e>
                    </m:d>
                  </m:oMath>
                </a14:m>
                <a:r>
                  <a:rPr lang="fr-FR" sz="1500" dirty="0"/>
                  <a:t> opérations, le calcul reste dominant.</a:t>
                </a:r>
                <a:endParaRPr lang="en-US" sz="1500" dirty="0"/>
              </a:p>
            </p:txBody>
          </p:sp>
        </mc:Choice>
        <mc:Fallback xmlns="">
          <p:sp>
            <p:nvSpPr>
              <p:cNvPr id="28" name="Text 11">
                <a:extLst>
                  <a:ext uri="{FF2B5EF4-FFF2-40B4-BE49-F238E27FC236}">
                    <a16:creationId xmlns:a16="http://schemas.microsoft.com/office/drawing/2014/main" id="{C4ACCF94-3414-142E-EECA-D07578887595}"/>
                  </a:ext>
                </a:extLst>
              </p:cNvPr>
              <p:cNvSpPr>
                <a:spLocks noRot="1" noChangeAspect="1" noMove="1" noResize="1" noEditPoints="1" noAdjustHandles="1" noChangeArrowheads="1" noChangeShapeType="1" noTextEdit="1"/>
              </p:cNvSpPr>
              <p:nvPr/>
            </p:nvSpPr>
            <p:spPr>
              <a:xfrm>
                <a:off x="1005840" y="4206240"/>
                <a:ext cx="7589520" cy="822960"/>
              </a:xfrm>
              <a:prstGeom prst="rect">
                <a:avLst/>
              </a:prstGeom>
              <a:blipFill>
                <a:blip r:embed="rId7"/>
                <a:stretch>
                  <a:fillRect l="-321"/>
                </a:stretch>
              </a:blipFill>
              <a:ln/>
            </p:spPr>
            <p:txBody>
              <a:bodyPr/>
              <a:lstStyle/>
              <a:p>
                <a:r>
                  <a:rPr lang="fr-FR">
                    <a:noFill/>
                  </a:rPr>
                  <a:t> </a:t>
                </a:r>
              </a:p>
            </p:txBody>
          </p:sp>
        </mc:Fallback>
      </mc:AlternateContent>
      <p:sp>
        <p:nvSpPr>
          <p:cNvPr id="4" name="TextBox 3">
            <a:extLst>
              <a:ext uri="{FF2B5EF4-FFF2-40B4-BE49-F238E27FC236}">
                <a16:creationId xmlns:a16="http://schemas.microsoft.com/office/drawing/2014/main" id="{12FFE118-B73B-EBB5-E887-08E23EEBEB8B}"/>
              </a:ext>
            </a:extLst>
          </p:cNvPr>
          <p:cNvSpPr txBox="1"/>
          <p:nvPr/>
        </p:nvSpPr>
        <p:spPr>
          <a:xfrm>
            <a:off x="8394732" y="43934"/>
            <a:ext cx="700833" cy="369332"/>
          </a:xfrm>
          <a:prstGeom prst="rect">
            <a:avLst/>
          </a:prstGeom>
          <a:noFill/>
        </p:spPr>
        <p:txBody>
          <a:bodyPr wrap="none" rtlCol="0">
            <a:spAutoFit/>
          </a:bodyPr>
          <a:lstStyle/>
          <a:p>
            <a:r>
              <a:rPr lang="fr-FR" b="1" dirty="0">
                <a:solidFill>
                  <a:srgbClr val="0D4F4F"/>
                </a:solidFill>
                <a:latin typeface="Georgia"/>
              </a:rPr>
              <a:t>6/21</a:t>
            </a:r>
          </a:p>
        </p:txBody>
      </p:sp>
    </p:spTree>
    <p:extLst>
      <p:ext uri="{BB962C8B-B14F-4D97-AF65-F5344CB8AC3E}">
        <p14:creationId xmlns:p14="http://schemas.microsoft.com/office/powerpoint/2010/main" val="38542690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AF8F0"/>
        </a:solidFill>
        <a:effectLst/>
      </p:bgPr>
    </p:bg>
    <p:spTree>
      <p:nvGrpSpPr>
        <p:cNvPr id="1" name="">
          <a:extLst>
            <a:ext uri="{FF2B5EF4-FFF2-40B4-BE49-F238E27FC236}">
              <a16:creationId xmlns:a16="http://schemas.microsoft.com/office/drawing/2014/main" id="{3EA4BDCC-D292-39B3-8814-4AA79EED758D}"/>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41629FF2-1516-65D2-0BFA-DD07C96C520A}"/>
              </a:ext>
            </a:extLst>
          </p:cNvPr>
          <p:cNvSpPr/>
          <p:nvPr/>
        </p:nvSpPr>
        <p:spPr>
          <a:xfrm>
            <a:off x="548640" y="228600"/>
            <a:ext cx="8229600" cy="457200"/>
          </a:xfrm>
          <a:prstGeom prst="rect">
            <a:avLst/>
          </a:prstGeom>
          <a:noFill/>
          <a:ln/>
        </p:spPr>
        <p:txBody>
          <a:bodyPr wrap="square" lIns="0" tIns="0" rIns="0" bIns="0" rtlCol="0" anchor="ctr"/>
          <a:lstStyle/>
          <a:p>
            <a:pPr marL="0" indent="0">
              <a:buNone/>
            </a:pPr>
            <a:r>
              <a:rPr lang="en-US" sz="2400" b="1" dirty="0">
                <a:solidFill>
                  <a:srgbClr val="0D4F4F"/>
                </a:solidFill>
                <a:latin typeface="Georgia" pitchFamily="34" charset="0"/>
                <a:ea typeface="Georgia" pitchFamily="34" charset="-122"/>
                <a:cs typeface="Georgia" pitchFamily="34" charset="-120"/>
              </a:rPr>
              <a:t>Le problème : résistance aux antibiotiques</a:t>
            </a:r>
            <a:endParaRPr lang="en-US" sz="2400" dirty="0"/>
          </a:p>
        </p:txBody>
      </p:sp>
      <p:sp>
        <p:nvSpPr>
          <p:cNvPr id="3" name="Text 1">
            <a:extLst>
              <a:ext uri="{FF2B5EF4-FFF2-40B4-BE49-F238E27FC236}">
                <a16:creationId xmlns:a16="http://schemas.microsoft.com/office/drawing/2014/main" id="{3D9708DE-85A5-2421-18F4-86828D6306FC}"/>
              </a:ext>
            </a:extLst>
          </p:cNvPr>
          <p:cNvSpPr/>
          <p:nvPr/>
        </p:nvSpPr>
        <p:spPr>
          <a:xfrm>
            <a:off x="548640" y="658368"/>
            <a:ext cx="8229600" cy="274320"/>
          </a:xfrm>
          <a:prstGeom prst="rect">
            <a:avLst/>
          </a:prstGeom>
          <a:noFill/>
          <a:ln/>
        </p:spPr>
        <p:txBody>
          <a:bodyPr wrap="square" lIns="0" tIns="0" rIns="0" bIns="0" rtlCol="0" anchor="ctr"/>
          <a:lstStyle/>
          <a:p>
            <a:pPr marL="0" indent="0">
              <a:buNone/>
            </a:pPr>
            <a:r>
              <a:rPr lang="en-US" sz="1200" i="1" dirty="0">
                <a:solidFill>
                  <a:srgbClr val="8A8A9A"/>
                </a:solidFill>
                <a:latin typeface="Calibri" pitchFamily="34" charset="0"/>
                <a:ea typeface="Calibri" pitchFamily="34" charset="-122"/>
                <a:cs typeface="Calibri" pitchFamily="34" charset="-120"/>
              </a:rPr>
              <a:t>L'une des plus grandes menaces pour la santé publique mondiale (OMS, 2014)</a:t>
            </a:r>
            <a:endParaRPr lang="en-US" sz="1200" dirty="0"/>
          </a:p>
        </p:txBody>
      </p:sp>
      <p:sp>
        <p:nvSpPr>
          <p:cNvPr id="5" name="Shape 3">
            <a:extLst>
              <a:ext uri="{FF2B5EF4-FFF2-40B4-BE49-F238E27FC236}">
                <a16:creationId xmlns:a16="http://schemas.microsoft.com/office/drawing/2014/main" id="{AC3C6868-C6C4-BA82-F029-54296DA4EC5C}"/>
              </a:ext>
            </a:extLst>
          </p:cNvPr>
          <p:cNvSpPr/>
          <p:nvPr/>
        </p:nvSpPr>
        <p:spPr>
          <a:xfrm>
            <a:off x="685800" y="1508760"/>
            <a:ext cx="365760" cy="365760"/>
          </a:xfrm>
          <a:prstGeom prst="ellipse">
            <a:avLst/>
          </a:prstGeom>
          <a:solidFill>
            <a:srgbClr val="0E7C7B"/>
          </a:solidFill>
          <a:ln/>
        </p:spPr>
        <p:txBody>
          <a:bodyPr/>
          <a:lstStyle/>
          <a:p>
            <a:endParaRPr lang="fr-FR"/>
          </a:p>
        </p:txBody>
      </p:sp>
      <p:sp>
        <p:nvSpPr>
          <p:cNvPr id="6" name="Text 4">
            <a:extLst>
              <a:ext uri="{FF2B5EF4-FFF2-40B4-BE49-F238E27FC236}">
                <a16:creationId xmlns:a16="http://schemas.microsoft.com/office/drawing/2014/main" id="{C1593E6A-0E13-EABC-AA1A-FAF8FAFBD063}"/>
              </a:ext>
            </a:extLst>
          </p:cNvPr>
          <p:cNvSpPr/>
          <p:nvPr/>
        </p:nvSpPr>
        <p:spPr>
          <a:xfrm>
            <a:off x="685800" y="1508760"/>
            <a:ext cx="365760" cy="365760"/>
          </a:xfrm>
          <a:prstGeom prst="rect">
            <a:avLst/>
          </a:prstGeom>
          <a:noFill/>
          <a:ln/>
        </p:spPr>
        <p:txBody>
          <a:bodyPr wrap="square"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7" name="Text 5">
            <a:extLst>
              <a:ext uri="{FF2B5EF4-FFF2-40B4-BE49-F238E27FC236}">
                <a16:creationId xmlns:a16="http://schemas.microsoft.com/office/drawing/2014/main" id="{F7ABBB01-1CEA-C934-E1BA-6787ECF27BD4}"/>
              </a:ext>
            </a:extLst>
          </p:cNvPr>
          <p:cNvSpPr/>
          <p:nvPr/>
        </p:nvSpPr>
        <p:spPr>
          <a:xfrm>
            <a:off x="1143000" y="1508760"/>
            <a:ext cx="1828800" cy="1097280"/>
          </a:xfrm>
          <a:prstGeom prst="rect">
            <a:avLst/>
          </a:prstGeom>
          <a:noFill/>
          <a:ln/>
        </p:spPr>
        <p:txBody>
          <a:bodyPr wrap="square" rtlCol="0" anchor="t"/>
          <a:lstStyle/>
          <a:p>
            <a:pPr marL="0" indent="0">
              <a:buNone/>
            </a:pPr>
            <a:r>
              <a:rPr lang="en-US" sz="1200" dirty="0">
                <a:solidFill>
                  <a:srgbClr val="1A1A2E"/>
                </a:solidFill>
                <a:latin typeface="Calibri" pitchFamily="34" charset="0"/>
                <a:ea typeface="Calibri" pitchFamily="34" charset="-122"/>
                <a:cs typeface="Calibri" pitchFamily="34" charset="-120"/>
              </a:rPr>
              <a:t>Antibiotiques massivement</a:t>
            </a:r>
            <a:endParaRPr lang="en-US" sz="1200" dirty="0"/>
          </a:p>
          <a:p>
            <a:pPr marL="0" indent="0">
              <a:buNone/>
            </a:pPr>
            <a:r>
              <a:rPr lang="en-US" sz="1200" dirty="0">
                <a:solidFill>
                  <a:srgbClr val="1A1A2E"/>
                </a:solidFill>
                <a:latin typeface="Calibri" pitchFamily="34" charset="0"/>
                <a:ea typeface="Calibri" pitchFamily="34" charset="-122"/>
                <a:cs typeface="Calibri" pitchFamily="34" charset="-120"/>
              </a:rPr>
              <a:t>utilisés en élevage</a:t>
            </a:r>
            <a:endParaRPr lang="en-US" sz="1200" dirty="0"/>
          </a:p>
        </p:txBody>
      </p:sp>
      <p:pic>
        <p:nvPicPr>
          <p:cNvPr id="8" name="Image 0" descr="preencoded.png">
            <a:extLst>
              <a:ext uri="{FF2B5EF4-FFF2-40B4-BE49-F238E27FC236}">
                <a16:creationId xmlns:a16="http://schemas.microsoft.com/office/drawing/2014/main" id="{F5816F77-8EAA-84ED-BA16-4B69ACCD0676}"/>
              </a:ext>
            </a:extLst>
          </p:cNvPr>
          <p:cNvPicPr>
            <a:picLocks noChangeAspect="1"/>
          </p:cNvPicPr>
          <p:nvPr/>
        </p:nvPicPr>
        <p:blipFill>
          <a:blip r:embed="rId3"/>
          <a:stretch>
            <a:fillRect/>
          </a:stretch>
        </p:blipFill>
        <p:spPr>
          <a:xfrm>
            <a:off x="3154680" y="1828800"/>
            <a:ext cx="201168" cy="201168"/>
          </a:xfrm>
          <a:prstGeom prst="rect">
            <a:avLst/>
          </a:prstGeom>
        </p:spPr>
      </p:pic>
      <p:sp>
        <p:nvSpPr>
          <p:cNvPr id="10" name="Shape 7">
            <a:extLst>
              <a:ext uri="{FF2B5EF4-FFF2-40B4-BE49-F238E27FC236}">
                <a16:creationId xmlns:a16="http://schemas.microsoft.com/office/drawing/2014/main" id="{0D0BCB4B-0173-B129-E306-08468CA055FF}"/>
              </a:ext>
            </a:extLst>
          </p:cNvPr>
          <p:cNvSpPr/>
          <p:nvPr/>
        </p:nvSpPr>
        <p:spPr>
          <a:xfrm>
            <a:off x="3520440" y="1508760"/>
            <a:ext cx="365760" cy="365760"/>
          </a:xfrm>
          <a:prstGeom prst="ellipse">
            <a:avLst/>
          </a:prstGeom>
          <a:solidFill>
            <a:srgbClr val="0E7C7B"/>
          </a:solidFill>
          <a:ln/>
        </p:spPr>
        <p:txBody>
          <a:bodyPr/>
          <a:lstStyle/>
          <a:p>
            <a:endParaRPr lang="fr-FR"/>
          </a:p>
        </p:txBody>
      </p:sp>
      <p:sp>
        <p:nvSpPr>
          <p:cNvPr id="11" name="Text 8">
            <a:extLst>
              <a:ext uri="{FF2B5EF4-FFF2-40B4-BE49-F238E27FC236}">
                <a16:creationId xmlns:a16="http://schemas.microsoft.com/office/drawing/2014/main" id="{1CDCBD75-79B5-E683-D327-00814087BD0C}"/>
              </a:ext>
            </a:extLst>
          </p:cNvPr>
          <p:cNvSpPr/>
          <p:nvPr/>
        </p:nvSpPr>
        <p:spPr>
          <a:xfrm>
            <a:off x="3520440" y="1508760"/>
            <a:ext cx="365760" cy="365760"/>
          </a:xfrm>
          <a:prstGeom prst="rect">
            <a:avLst/>
          </a:prstGeom>
          <a:noFill/>
          <a:ln/>
        </p:spPr>
        <p:txBody>
          <a:bodyPr wrap="square"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2" name="Text 9">
            <a:extLst>
              <a:ext uri="{FF2B5EF4-FFF2-40B4-BE49-F238E27FC236}">
                <a16:creationId xmlns:a16="http://schemas.microsoft.com/office/drawing/2014/main" id="{05BDF214-7B61-7DDB-662F-57F504E8F03A}"/>
              </a:ext>
            </a:extLst>
          </p:cNvPr>
          <p:cNvSpPr/>
          <p:nvPr/>
        </p:nvSpPr>
        <p:spPr>
          <a:xfrm>
            <a:off x="3977640" y="1508760"/>
            <a:ext cx="1828800" cy="1097280"/>
          </a:xfrm>
          <a:prstGeom prst="rect">
            <a:avLst/>
          </a:prstGeom>
          <a:noFill/>
          <a:ln/>
        </p:spPr>
        <p:txBody>
          <a:bodyPr wrap="square" rtlCol="0" anchor="t"/>
          <a:lstStyle/>
          <a:p>
            <a:pPr marL="0" indent="0">
              <a:buNone/>
            </a:pPr>
            <a:r>
              <a:rPr lang="en-US" sz="1200" dirty="0">
                <a:solidFill>
                  <a:srgbClr val="1A1A2E"/>
                </a:solidFill>
                <a:latin typeface="Calibri" pitchFamily="34" charset="0"/>
                <a:ea typeface="Calibri" pitchFamily="34" charset="-122"/>
                <a:cs typeface="Calibri" pitchFamily="34" charset="-120"/>
              </a:rPr>
              <a:t>Résidus atteignent</a:t>
            </a:r>
            <a:endParaRPr lang="en-US" sz="1200" dirty="0"/>
          </a:p>
          <a:p>
            <a:pPr marL="0" indent="0">
              <a:buNone/>
            </a:pPr>
            <a:r>
              <a:rPr lang="en-US" sz="1200" dirty="0">
                <a:solidFill>
                  <a:srgbClr val="1A1A2E"/>
                </a:solidFill>
                <a:latin typeface="Calibri" pitchFamily="34" charset="0"/>
                <a:ea typeface="Calibri" pitchFamily="34" charset="-122"/>
                <a:cs typeface="Calibri" pitchFamily="34" charset="-120"/>
              </a:rPr>
              <a:t>le côlon</a:t>
            </a:r>
            <a:endParaRPr lang="en-US" sz="1200" dirty="0"/>
          </a:p>
        </p:txBody>
      </p:sp>
      <p:pic>
        <p:nvPicPr>
          <p:cNvPr id="13" name="Image 1" descr="preencoded.png">
            <a:extLst>
              <a:ext uri="{FF2B5EF4-FFF2-40B4-BE49-F238E27FC236}">
                <a16:creationId xmlns:a16="http://schemas.microsoft.com/office/drawing/2014/main" id="{53219A60-6035-229D-FCAD-0FAE4A59696D}"/>
              </a:ext>
            </a:extLst>
          </p:cNvPr>
          <p:cNvPicPr>
            <a:picLocks noChangeAspect="1"/>
          </p:cNvPicPr>
          <p:nvPr/>
        </p:nvPicPr>
        <p:blipFill>
          <a:blip r:embed="rId3"/>
          <a:stretch>
            <a:fillRect/>
          </a:stretch>
        </p:blipFill>
        <p:spPr>
          <a:xfrm>
            <a:off x="5989320" y="1828800"/>
            <a:ext cx="201168" cy="201168"/>
          </a:xfrm>
          <a:prstGeom prst="rect">
            <a:avLst/>
          </a:prstGeom>
        </p:spPr>
      </p:pic>
      <p:sp>
        <p:nvSpPr>
          <p:cNvPr id="15" name="Shape 11">
            <a:extLst>
              <a:ext uri="{FF2B5EF4-FFF2-40B4-BE49-F238E27FC236}">
                <a16:creationId xmlns:a16="http://schemas.microsoft.com/office/drawing/2014/main" id="{BF689937-1E30-4684-14B9-A5CD59D73113}"/>
              </a:ext>
            </a:extLst>
          </p:cNvPr>
          <p:cNvSpPr/>
          <p:nvPr/>
        </p:nvSpPr>
        <p:spPr>
          <a:xfrm>
            <a:off x="6355080" y="1508760"/>
            <a:ext cx="365760" cy="365760"/>
          </a:xfrm>
          <a:prstGeom prst="ellipse">
            <a:avLst/>
          </a:prstGeom>
          <a:solidFill>
            <a:srgbClr val="0E7C7B"/>
          </a:solidFill>
          <a:ln/>
        </p:spPr>
        <p:txBody>
          <a:bodyPr/>
          <a:lstStyle/>
          <a:p>
            <a:endParaRPr lang="fr-FR"/>
          </a:p>
        </p:txBody>
      </p:sp>
      <p:sp>
        <p:nvSpPr>
          <p:cNvPr id="16" name="Text 12">
            <a:extLst>
              <a:ext uri="{FF2B5EF4-FFF2-40B4-BE49-F238E27FC236}">
                <a16:creationId xmlns:a16="http://schemas.microsoft.com/office/drawing/2014/main" id="{D80D4AED-04D2-AB20-11E4-135CC853BFD2}"/>
              </a:ext>
            </a:extLst>
          </p:cNvPr>
          <p:cNvSpPr/>
          <p:nvPr/>
        </p:nvSpPr>
        <p:spPr>
          <a:xfrm>
            <a:off x="6355080" y="1508760"/>
            <a:ext cx="365760" cy="365760"/>
          </a:xfrm>
          <a:prstGeom prst="rect">
            <a:avLst/>
          </a:prstGeom>
          <a:noFill/>
          <a:ln/>
        </p:spPr>
        <p:txBody>
          <a:bodyPr wrap="square"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7" name="Text 13">
            <a:extLst>
              <a:ext uri="{FF2B5EF4-FFF2-40B4-BE49-F238E27FC236}">
                <a16:creationId xmlns:a16="http://schemas.microsoft.com/office/drawing/2014/main" id="{CA5EA2A8-512C-A875-9ECF-8120686DE463}"/>
              </a:ext>
            </a:extLst>
          </p:cNvPr>
          <p:cNvSpPr/>
          <p:nvPr/>
        </p:nvSpPr>
        <p:spPr>
          <a:xfrm>
            <a:off x="6812280" y="1508760"/>
            <a:ext cx="1828800" cy="1097280"/>
          </a:xfrm>
          <a:prstGeom prst="rect">
            <a:avLst/>
          </a:prstGeom>
          <a:noFill/>
          <a:ln/>
        </p:spPr>
        <p:txBody>
          <a:bodyPr wrap="square" rtlCol="0" anchor="t"/>
          <a:lstStyle/>
          <a:p>
            <a:pPr marL="0" indent="0">
              <a:buNone/>
            </a:pPr>
            <a:r>
              <a:rPr lang="en-US" sz="1200" dirty="0">
                <a:solidFill>
                  <a:srgbClr val="1A1A2E"/>
                </a:solidFill>
                <a:latin typeface="Calibri" pitchFamily="34" charset="0"/>
                <a:ea typeface="Calibri" pitchFamily="34" charset="-122"/>
                <a:cs typeface="Calibri" pitchFamily="34" charset="-120"/>
              </a:rPr>
              <a:t>Bactéries sensibles</a:t>
            </a:r>
            <a:endParaRPr lang="en-US" sz="1200" dirty="0"/>
          </a:p>
          <a:p>
            <a:pPr marL="0" indent="0">
              <a:buNone/>
            </a:pPr>
            <a:r>
              <a:rPr lang="en-US" sz="1200" dirty="0">
                <a:solidFill>
                  <a:srgbClr val="1A1A2E"/>
                </a:solidFill>
                <a:latin typeface="Calibri" pitchFamily="34" charset="0"/>
                <a:ea typeface="Calibri" pitchFamily="34" charset="-122"/>
                <a:cs typeface="Calibri" pitchFamily="34" charset="-120"/>
              </a:rPr>
              <a:t>éliminées</a:t>
            </a:r>
            <a:endParaRPr lang="en-US" sz="1200" dirty="0"/>
          </a:p>
        </p:txBody>
      </p:sp>
      <p:sp>
        <p:nvSpPr>
          <p:cNvPr id="19" name="Shape 15">
            <a:extLst>
              <a:ext uri="{FF2B5EF4-FFF2-40B4-BE49-F238E27FC236}">
                <a16:creationId xmlns:a16="http://schemas.microsoft.com/office/drawing/2014/main" id="{36E01B8D-711B-1C14-3E32-CD9AAA859FD2}"/>
              </a:ext>
            </a:extLst>
          </p:cNvPr>
          <p:cNvSpPr/>
          <p:nvPr/>
        </p:nvSpPr>
        <p:spPr>
          <a:xfrm>
            <a:off x="685800" y="3200400"/>
            <a:ext cx="365760" cy="365760"/>
          </a:xfrm>
          <a:prstGeom prst="ellipse">
            <a:avLst/>
          </a:prstGeom>
          <a:solidFill>
            <a:srgbClr val="E07A5F"/>
          </a:solidFill>
          <a:ln/>
        </p:spPr>
        <p:txBody>
          <a:bodyPr/>
          <a:lstStyle/>
          <a:p>
            <a:endParaRPr lang="fr-FR"/>
          </a:p>
        </p:txBody>
      </p:sp>
      <p:sp>
        <p:nvSpPr>
          <p:cNvPr id="20" name="Text 16">
            <a:extLst>
              <a:ext uri="{FF2B5EF4-FFF2-40B4-BE49-F238E27FC236}">
                <a16:creationId xmlns:a16="http://schemas.microsoft.com/office/drawing/2014/main" id="{88A96BB1-D385-D788-D80D-84D50DB8849B}"/>
              </a:ext>
            </a:extLst>
          </p:cNvPr>
          <p:cNvSpPr/>
          <p:nvPr/>
        </p:nvSpPr>
        <p:spPr>
          <a:xfrm>
            <a:off x="685800" y="3200400"/>
            <a:ext cx="365760" cy="365760"/>
          </a:xfrm>
          <a:prstGeom prst="rect">
            <a:avLst/>
          </a:prstGeom>
          <a:noFill/>
          <a:ln/>
        </p:spPr>
        <p:txBody>
          <a:bodyPr wrap="square"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21" name="Text 17">
            <a:extLst>
              <a:ext uri="{FF2B5EF4-FFF2-40B4-BE49-F238E27FC236}">
                <a16:creationId xmlns:a16="http://schemas.microsoft.com/office/drawing/2014/main" id="{A47CB9CD-E610-4AA5-9D94-E68B58D3D74A}"/>
              </a:ext>
            </a:extLst>
          </p:cNvPr>
          <p:cNvSpPr/>
          <p:nvPr/>
        </p:nvSpPr>
        <p:spPr>
          <a:xfrm>
            <a:off x="1143000" y="3200400"/>
            <a:ext cx="1828800" cy="1097280"/>
          </a:xfrm>
          <a:prstGeom prst="rect">
            <a:avLst/>
          </a:prstGeom>
          <a:noFill/>
          <a:ln/>
        </p:spPr>
        <p:txBody>
          <a:bodyPr wrap="square" rtlCol="0" anchor="t"/>
          <a:lstStyle/>
          <a:p>
            <a:pPr marL="0" indent="0">
              <a:buNone/>
            </a:pPr>
            <a:r>
              <a:rPr lang="en-US" sz="1200" dirty="0">
                <a:solidFill>
                  <a:srgbClr val="1A1A2E"/>
                </a:solidFill>
                <a:latin typeface="Calibri" pitchFamily="34" charset="0"/>
                <a:ea typeface="Calibri" pitchFamily="34" charset="-122"/>
                <a:cs typeface="Calibri" pitchFamily="34" charset="-120"/>
              </a:rPr>
              <a:t>Bactéries résistantes</a:t>
            </a:r>
            <a:endParaRPr lang="en-US" sz="1200" dirty="0"/>
          </a:p>
          <a:p>
            <a:pPr marL="0" indent="0">
              <a:buNone/>
            </a:pPr>
            <a:r>
              <a:rPr lang="en-US" sz="1200" dirty="0">
                <a:solidFill>
                  <a:srgbClr val="1A1A2E"/>
                </a:solidFill>
                <a:latin typeface="Calibri" pitchFamily="34" charset="0"/>
                <a:ea typeface="Calibri" pitchFamily="34" charset="-122"/>
                <a:cs typeface="Calibri" pitchFamily="34" charset="-120"/>
              </a:rPr>
              <a:t>colonisent les niches</a:t>
            </a:r>
            <a:endParaRPr lang="en-US" sz="1200" dirty="0"/>
          </a:p>
        </p:txBody>
      </p:sp>
      <p:pic>
        <p:nvPicPr>
          <p:cNvPr id="22" name="Image 2" descr="preencoded.png">
            <a:extLst>
              <a:ext uri="{FF2B5EF4-FFF2-40B4-BE49-F238E27FC236}">
                <a16:creationId xmlns:a16="http://schemas.microsoft.com/office/drawing/2014/main" id="{44792778-2D50-5353-75AA-6A651DACA72A}"/>
              </a:ext>
            </a:extLst>
          </p:cNvPr>
          <p:cNvPicPr>
            <a:picLocks noChangeAspect="1"/>
          </p:cNvPicPr>
          <p:nvPr/>
        </p:nvPicPr>
        <p:blipFill>
          <a:blip r:embed="rId3"/>
          <a:stretch>
            <a:fillRect/>
          </a:stretch>
        </p:blipFill>
        <p:spPr>
          <a:xfrm>
            <a:off x="3154680" y="3520440"/>
            <a:ext cx="201168" cy="201168"/>
          </a:xfrm>
          <a:prstGeom prst="rect">
            <a:avLst/>
          </a:prstGeom>
        </p:spPr>
      </p:pic>
      <p:sp>
        <p:nvSpPr>
          <p:cNvPr id="24" name="Shape 19">
            <a:extLst>
              <a:ext uri="{FF2B5EF4-FFF2-40B4-BE49-F238E27FC236}">
                <a16:creationId xmlns:a16="http://schemas.microsoft.com/office/drawing/2014/main" id="{580399B8-F562-4C14-20EE-0D0AAA2BA777}"/>
              </a:ext>
            </a:extLst>
          </p:cNvPr>
          <p:cNvSpPr/>
          <p:nvPr/>
        </p:nvSpPr>
        <p:spPr>
          <a:xfrm>
            <a:off x="3520440" y="3200400"/>
            <a:ext cx="365760" cy="365760"/>
          </a:xfrm>
          <a:prstGeom prst="ellipse">
            <a:avLst/>
          </a:prstGeom>
          <a:solidFill>
            <a:srgbClr val="E07A5F"/>
          </a:solidFill>
          <a:ln/>
        </p:spPr>
        <p:txBody>
          <a:bodyPr/>
          <a:lstStyle/>
          <a:p>
            <a:endParaRPr lang="fr-FR"/>
          </a:p>
        </p:txBody>
      </p:sp>
      <p:sp>
        <p:nvSpPr>
          <p:cNvPr id="25" name="Text 20">
            <a:extLst>
              <a:ext uri="{FF2B5EF4-FFF2-40B4-BE49-F238E27FC236}">
                <a16:creationId xmlns:a16="http://schemas.microsoft.com/office/drawing/2014/main" id="{CB2B147B-C68D-2564-B9F8-7E35E163E970}"/>
              </a:ext>
            </a:extLst>
          </p:cNvPr>
          <p:cNvSpPr/>
          <p:nvPr/>
        </p:nvSpPr>
        <p:spPr>
          <a:xfrm>
            <a:off x="3520440" y="3200400"/>
            <a:ext cx="365760" cy="365760"/>
          </a:xfrm>
          <a:prstGeom prst="rect">
            <a:avLst/>
          </a:prstGeom>
          <a:noFill/>
          <a:ln/>
        </p:spPr>
        <p:txBody>
          <a:bodyPr wrap="square"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5</a:t>
            </a:r>
            <a:endParaRPr lang="en-US" sz="1400" dirty="0"/>
          </a:p>
        </p:txBody>
      </p:sp>
      <p:sp>
        <p:nvSpPr>
          <p:cNvPr id="26" name="Text 21">
            <a:extLst>
              <a:ext uri="{FF2B5EF4-FFF2-40B4-BE49-F238E27FC236}">
                <a16:creationId xmlns:a16="http://schemas.microsoft.com/office/drawing/2014/main" id="{24D2CDE4-2767-61B0-9431-B490278CD8FE}"/>
              </a:ext>
            </a:extLst>
          </p:cNvPr>
          <p:cNvSpPr/>
          <p:nvPr/>
        </p:nvSpPr>
        <p:spPr>
          <a:xfrm>
            <a:off x="3977640" y="3200400"/>
            <a:ext cx="1828800" cy="1097280"/>
          </a:xfrm>
          <a:prstGeom prst="rect">
            <a:avLst/>
          </a:prstGeom>
          <a:noFill/>
          <a:ln/>
        </p:spPr>
        <p:txBody>
          <a:bodyPr wrap="square" rtlCol="0" anchor="t"/>
          <a:lstStyle/>
          <a:p>
            <a:pPr marL="0" indent="0">
              <a:buNone/>
            </a:pPr>
            <a:r>
              <a:rPr lang="en-US" sz="1200" dirty="0">
                <a:solidFill>
                  <a:srgbClr val="1A1A2E"/>
                </a:solidFill>
                <a:latin typeface="Calibri" pitchFamily="34" charset="0"/>
                <a:ea typeface="Calibri" pitchFamily="34" charset="-122"/>
                <a:cs typeface="Calibri" pitchFamily="34" charset="-120"/>
              </a:rPr>
              <a:t>Excrétion massive</a:t>
            </a:r>
            <a:endParaRPr lang="en-US" sz="1200" dirty="0"/>
          </a:p>
          <a:p>
            <a:pPr marL="0" indent="0">
              <a:buNone/>
            </a:pPr>
            <a:r>
              <a:rPr lang="en-US" sz="1200" dirty="0">
                <a:solidFill>
                  <a:srgbClr val="1A1A2E"/>
                </a:solidFill>
                <a:latin typeface="Calibri" pitchFamily="34" charset="0"/>
                <a:ea typeface="Calibri" pitchFamily="34" charset="-122"/>
                <a:cs typeface="Calibri" pitchFamily="34" charset="-120"/>
              </a:rPr>
              <a:t>dans les fèces</a:t>
            </a:r>
            <a:endParaRPr lang="en-US" sz="1200" dirty="0"/>
          </a:p>
        </p:txBody>
      </p:sp>
      <p:pic>
        <p:nvPicPr>
          <p:cNvPr id="27" name="Image 3" descr="preencoded.png">
            <a:extLst>
              <a:ext uri="{FF2B5EF4-FFF2-40B4-BE49-F238E27FC236}">
                <a16:creationId xmlns:a16="http://schemas.microsoft.com/office/drawing/2014/main" id="{1BDCE16D-9535-3ED2-5ED6-FE1D18ABB0E1}"/>
              </a:ext>
            </a:extLst>
          </p:cNvPr>
          <p:cNvPicPr>
            <a:picLocks noChangeAspect="1"/>
          </p:cNvPicPr>
          <p:nvPr/>
        </p:nvPicPr>
        <p:blipFill>
          <a:blip r:embed="rId3"/>
          <a:stretch>
            <a:fillRect/>
          </a:stretch>
        </p:blipFill>
        <p:spPr>
          <a:xfrm>
            <a:off x="5989320" y="3520440"/>
            <a:ext cx="201168" cy="201168"/>
          </a:xfrm>
          <a:prstGeom prst="rect">
            <a:avLst/>
          </a:prstGeom>
        </p:spPr>
      </p:pic>
      <p:sp>
        <p:nvSpPr>
          <p:cNvPr id="29" name="Shape 23">
            <a:extLst>
              <a:ext uri="{FF2B5EF4-FFF2-40B4-BE49-F238E27FC236}">
                <a16:creationId xmlns:a16="http://schemas.microsoft.com/office/drawing/2014/main" id="{46F19140-E8A5-338F-CBE4-262D10FC3777}"/>
              </a:ext>
            </a:extLst>
          </p:cNvPr>
          <p:cNvSpPr/>
          <p:nvPr/>
        </p:nvSpPr>
        <p:spPr>
          <a:xfrm>
            <a:off x="6355080" y="3200400"/>
            <a:ext cx="365760" cy="365760"/>
          </a:xfrm>
          <a:prstGeom prst="ellipse">
            <a:avLst/>
          </a:prstGeom>
          <a:solidFill>
            <a:srgbClr val="E07A5F"/>
          </a:solidFill>
          <a:ln/>
        </p:spPr>
        <p:txBody>
          <a:bodyPr/>
          <a:lstStyle/>
          <a:p>
            <a:endParaRPr lang="fr-FR"/>
          </a:p>
        </p:txBody>
      </p:sp>
      <p:sp>
        <p:nvSpPr>
          <p:cNvPr id="30" name="Text 24">
            <a:extLst>
              <a:ext uri="{FF2B5EF4-FFF2-40B4-BE49-F238E27FC236}">
                <a16:creationId xmlns:a16="http://schemas.microsoft.com/office/drawing/2014/main" id="{050211E8-9B61-F71F-8545-76CFFB590934}"/>
              </a:ext>
            </a:extLst>
          </p:cNvPr>
          <p:cNvSpPr/>
          <p:nvPr/>
        </p:nvSpPr>
        <p:spPr>
          <a:xfrm>
            <a:off x="6355080" y="3200400"/>
            <a:ext cx="365760" cy="365760"/>
          </a:xfrm>
          <a:prstGeom prst="rect">
            <a:avLst/>
          </a:prstGeom>
          <a:noFill/>
          <a:ln/>
        </p:spPr>
        <p:txBody>
          <a:bodyPr wrap="square"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6</a:t>
            </a:r>
            <a:endParaRPr lang="en-US" sz="1400" dirty="0"/>
          </a:p>
        </p:txBody>
      </p:sp>
      <p:sp>
        <p:nvSpPr>
          <p:cNvPr id="31" name="Text 25">
            <a:extLst>
              <a:ext uri="{FF2B5EF4-FFF2-40B4-BE49-F238E27FC236}">
                <a16:creationId xmlns:a16="http://schemas.microsoft.com/office/drawing/2014/main" id="{49A049EA-2D45-C270-F29E-8972E99DB9A1}"/>
              </a:ext>
            </a:extLst>
          </p:cNvPr>
          <p:cNvSpPr/>
          <p:nvPr/>
        </p:nvSpPr>
        <p:spPr>
          <a:xfrm>
            <a:off x="6812280" y="3200400"/>
            <a:ext cx="1828800" cy="1097280"/>
          </a:xfrm>
          <a:prstGeom prst="rect">
            <a:avLst/>
          </a:prstGeom>
          <a:noFill/>
          <a:ln/>
        </p:spPr>
        <p:txBody>
          <a:bodyPr wrap="square" rtlCol="0" anchor="t"/>
          <a:lstStyle/>
          <a:p>
            <a:pPr marL="0" indent="0">
              <a:buNone/>
            </a:pPr>
            <a:r>
              <a:rPr lang="en-US" sz="1200" dirty="0">
                <a:solidFill>
                  <a:srgbClr val="1A1A2E"/>
                </a:solidFill>
                <a:latin typeface="Calibri" pitchFamily="34" charset="0"/>
                <a:ea typeface="Calibri" pitchFamily="34" charset="-122"/>
                <a:cs typeface="Calibri" pitchFamily="34" charset="-120"/>
              </a:rPr>
              <a:t>Contamination</a:t>
            </a:r>
            <a:endParaRPr lang="en-US" sz="1200" dirty="0"/>
          </a:p>
          <a:p>
            <a:pPr marL="0" indent="0">
              <a:buNone/>
            </a:pPr>
            <a:r>
              <a:rPr lang="en-US" sz="1200" dirty="0">
                <a:solidFill>
                  <a:srgbClr val="1A1A2E"/>
                </a:solidFill>
                <a:latin typeface="Calibri" pitchFamily="34" charset="0"/>
                <a:ea typeface="Calibri" pitchFamily="34" charset="-122"/>
                <a:cs typeface="Calibri" pitchFamily="34" charset="-120"/>
              </a:rPr>
              <a:t>environnement → homme</a:t>
            </a:r>
            <a:endParaRPr lang="en-US" sz="1200" dirty="0"/>
          </a:p>
        </p:txBody>
      </p:sp>
      <p:sp>
        <p:nvSpPr>
          <p:cNvPr id="32" name="Text 26">
            <a:extLst>
              <a:ext uri="{FF2B5EF4-FFF2-40B4-BE49-F238E27FC236}">
                <a16:creationId xmlns:a16="http://schemas.microsoft.com/office/drawing/2014/main" id="{EF7CF687-4FF9-7474-ACA6-FB67D7951525}"/>
              </a:ext>
            </a:extLst>
          </p:cNvPr>
          <p:cNvSpPr/>
          <p:nvPr/>
        </p:nvSpPr>
        <p:spPr>
          <a:xfrm>
            <a:off x="7772400" y="2651760"/>
            <a:ext cx="365760" cy="457200"/>
          </a:xfrm>
          <a:prstGeom prst="rect">
            <a:avLst/>
          </a:prstGeom>
          <a:noFill/>
          <a:ln/>
        </p:spPr>
        <p:txBody>
          <a:bodyPr wrap="square" rtlCol="0" anchor="ctr"/>
          <a:lstStyle/>
          <a:p>
            <a:pPr marL="0" indent="0" algn="ctr">
              <a:buNone/>
            </a:pPr>
            <a:r>
              <a:rPr lang="en-US" sz="2000" dirty="0">
                <a:solidFill>
                  <a:srgbClr val="17A2A2"/>
                </a:solidFill>
              </a:rPr>
              <a:t>↓</a:t>
            </a:r>
            <a:endParaRPr lang="en-US" sz="2000" dirty="0"/>
          </a:p>
        </p:txBody>
      </p:sp>
      <p:pic>
        <p:nvPicPr>
          <p:cNvPr id="34" name="Image 4" descr="preencoded.png">
            <a:extLst>
              <a:ext uri="{FF2B5EF4-FFF2-40B4-BE49-F238E27FC236}">
                <a16:creationId xmlns:a16="http://schemas.microsoft.com/office/drawing/2014/main" id="{CAE5D8DF-A912-6110-437D-A8C654E4E725}"/>
              </a:ext>
            </a:extLst>
          </p:cNvPr>
          <p:cNvPicPr>
            <a:picLocks noChangeAspect="1"/>
          </p:cNvPicPr>
          <p:nvPr/>
        </p:nvPicPr>
        <p:blipFill>
          <a:blip r:embed="rId4"/>
          <a:stretch>
            <a:fillRect/>
          </a:stretch>
        </p:blipFill>
        <p:spPr>
          <a:xfrm>
            <a:off x="685800" y="4590288"/>
            <a:ext cx="320040" cy="320040"/>
          </a:xfrm>
          <a:prstGeom prst="rect">
            <a:avLst/>
          </a:prstGeom>
        </p:spPr>
      </p:pic>
      <p:sp useBgFill="1">
        <p:nvSpPr>
          <p:cNvPr id="36" name="Rectangle 35">
            <a:extLst>
              <a:ext uri="{FF2B5EF4-FFF2-40B4-BE49-F238E27FC236}">
                <a16:creationId xmlns:a16="http://schemas.microsoft.com/office/drawing/2014/main" id="{994896DD-8B2A-299E-FA1B-743FD47DBC1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0"/>
            <a:ext cx="9141714" cy="51435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 name="Text 0">
            <a:extLst>
              <a:ext uri="{FF2B5EF4-FFF2-40B4-BE49-F238E27FC236}">
                <a16:creationId xmlns:a16="http://schemas.microsoft.com/office/drawing/2014/main" id="{89957D71-515F-559F-9C77-907D1F60A57E}"/>
              </a:ext>
            </a:extLst>
          </p:cNvPr>
          <p:cNvSpPr/>
          <p:nvPr/>
        </p:nvSpPr>
        <p:spPr>
          <a:xfrm>
            <a:off x="479160" y="502663"/>
            <a:ext cx="7335912" cy="799377"/>
          </a:xfrm>
          <a:prstGeom prst="rect">
            <a:avLst/>
          </a:prstGeom>
        </p:spPr>
        <p:txBody>
          <a:bodyPr vert="horz" lIns="91440" tIns="45720" rIns="91440" bIns="45720" rtlCol="0" anchor="ctr">
            <a:normAutofit/>
          </a:bodyPr>
          <a:lstStyle/>
          <a:p>
            <a:pPr>
              <a:lnSpc>
                <a:spcPct val="90000"/>
              </a:lnSpc>
              <a:spcBef>
                <a:spcPct val="0"/>
              </a:spcBef>
              <a:spcAft>
                <a:spcPts val="600"/>
              </a:spcAft>
            </a:pPr>
            <a:r>
              <a:rPr lang="en-US" sz="2800" b="1" dirty="0">
                <a:solidFill>
                  <a:srgbClr val="0D4F4F"/>
                </a:solidFill>
                <a:latin typeface="Georgia" pitchFamily="34" charset="0"/>
              </a:rPr>
              <a:t>Mini HPL : Recherche du pivot </a:t>
            </a:r>
          </a:p>
        </p:txBody>
      </p:sp>
      <p:sp>
        <p:nvSpPr>
          <p:cNvPr id="39" name="sketch line">
            <a:extLst>
              <a:ext uri="{FF2B5EF4-FFF2-40B4-BE49-F238E27FC236}">
                <a16:creationId xmlns:a16="http://schemas.microsoft.com/office/drawing/2014/main" id="{D2051D7A-4136-DFB6-8D79-9119107C27B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2542032" y="1350066"/>
            <a:ext cx="4057650" cy="13716"/>
          </a:xfrm>
          <a:custGeom>
            <a:avLst/>
            <a:gdLst>
              <a:gd name="csX0" fmla="*/ 0 w 4057650"/>
              <a:gd name="csY0" fmla="*/ 0 h 13716"/>
              <a:gd name="csX1" fmla="*/ 757428 w 4057650"/>
              <a:gd name="csY1" fmla="*/ 0 h 13716"/>
              <a:gd name="csX2" fmla="*/ 1474279 w 4057650"/>
              <a:gd name="csY2" fmla="*/ 0 h 13716"/>
              <a:gd name="csX3" fmla="*/ 2191131 w 4057650"/>
              <a:gd name="csY3" fmla="*/ 0 h 13716"/>
              <a:gd name="csX4" fmla="*/ 2745676 w 4057650"/>
              <a:gd name="csY4" fmla="*/ 0 h 13716"/>
              <a:gd name="csX5" fmla="*/ 3340798 w 4057650"/>
              <a:gd name="csY5" fmla="*/ 0 h 13716"/>
              <a:gd name="csX6" fmla="*/ 4057650 w 4057650"/>
              <a:gd name="csY6" fmla="*/ 0 h 13716"/>
              <a:gd name="csX7" fmla="*/ 4057650 w 4057650"/>
              <a:gd name="csY7" fmla="*/ 13716 h 13716"/>
              <a:gd name="csX8" fmla="*/ 3381375 w 4057650"/>
              <a:gd name="csY8" fmla="*/ 13716 h 13716"/>
              <a:gd name="csX9" fmla="*/ 2826830 w 4057650"/>
              <a:gd name="csY9" fmla="*/ 13716 h 13716"/>
              <a:gd name="csX10" fmla="*/ 2272284 w 4057650"/>
              <a:gd name="csY10" fmla="*/ 13716 h 13716"/>
              <a:gd name="csX11" fmla="*/ 1555432 w 4057650"/>
              <a:gd name="csY11" fmla="*/ 13716 h 13716"/>
              <a:gd name="csX12" fmla="*/ 960310 w 4057650"/>
              <a:gd name="csY12" fmla="*/ 13716 h 13716"/>
              <a:gd name="csX13" fmla="*/ 0 w 4057650"/>
              <a:gd name="csY13" fmla="*/ 13716 h 13716"/>
              <a:gd name="csX14" fmla="*/ 0 w 4057650"/>
              <a:gd name="csY14" fmla="*/ 0 h 1371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Lst>
            <a:rect l="l" t="t" r="r" b="b"/>
            <a:pathLst>
              <a:path w="4057650" h="13716" fill="none" extrusionOk="0">
                <a:moveTo>
                  <a:pt x="0" y="0"/>
                </a:moveTo>
                <a:cubicBezTo>
                  <a:pt x="371182" y="3227"/>
                  <a:pt x="494372" y="9222"/>
                  <a:pt x="757428" y="0"/>
                </a:cubicBezTo>
                <a:cubicBezTo>
                  <a:pt x="1020484" y="-9222"/>
                  <a:pt x="1116719" y="-4357"/>
                  <a:pt x="1474279" y="0"/>
                </a:cubicBezTo>
                <a:cubicBezTo>
                  <a:pt x="1831839" y="4357"/>
                  <a:pt x="1920973" y="-11809"/>
                  <a:pt x="2191131" y="0"/>
                </a:cubicBezTo>
                <a:cubicBezTo>
                  <a:pt x="2461289" y="11809"/>
                  <a:pt x="2589480" y="-22604"/>
                  <a:pt x="2745676" y="0"/>
                </a:cubicBezTo>
                <a:cubicBezTo>
                  <a:pt x="2901872" y="22604"/>
                  <a:pt x="3136452" y="-12306"/>
                  <a:pt x="3340798" y="0"/>
                </a:cubicBezTo>
                <a:cubicBezTo>
                  <a:pt x="3545144" y="12306"/>
                  <a:pt x="3766934" y="-21556"/>
                  <a:pt x="4057650" y="0"/>
                </a:cubicBezTo>
                <a:cubicBezTo>
                  <a:pt x="4057378" y="4708"/>
                  <a:pt x="4057987" y="7132"/>
                  <a:pt x="4057650" y="13716"/>
                </a:cubicBezTo>
                <a:cubicBezTo>
                  <a:pt x="3743404" y="35553"/>
                  <a:pt x="3625516" y="-19495"/>
                  <a:pt x="3381375" y="13716"/>
                </a:cubicBezTo>
                <a:cubicBezTo>
                  <a:pt x="3137235" y="46927"/>
                  <a:pt x="2946571" y="-4571"/>
                  <a:pt x="2826830" y="13716"/>
                </a:cubicBezTo>
                <a:cubicBezTo>
                  <a:pt x="2707090" y="32003"/>
                  <a:pt x="2402756" y="-3140"/>
                  <a:pt x="2272284" y="13716"/>
                </a:cubicBezTo>
                <a:cubicBezTo>
                  <a:pt x="2141812" y="30572"/>
                  <a:pt x="1895935" y="13627"/>
                  <a:pt x="1555432" y="13716"/>
                </a:cubicBezTo>
                <a:cubicBezTo>
                  <a:pt x="1214929" y="13805"/>
                  <a:pt x="1103072" y="9931"/>
                  <a:pt x="960310" y="13716"/>
                </a:cubicBezTo>
                <a:cubicBezTo>
                  <a:pt x="817548" y="17501"/>
                  <a:pt x="402272" y="-33931"/>
                  <a:pt x="0" y="13716"/>
                </a:cubicBezTo>
                <a:cubicBezTo>
                  <a:pt x="-460" y="10837"/>
                  <a:pt x="38" y="6680"/>
                  <a:pt x="0" y="0"/>
                </a:cubicBezTo>
                <a:close/>
              </a:path>
              <a:path w="4057650" h="13716" stroke="0" extrusionOk="0">
                <a:moveTo>
                  <a:pt x="0" y="0"/>
                </a:moveTo>
                <a:cubicBezTo>
                  <a:pt x="248348" y="13145"/>
                  <a:pt x="486117" y="25042"/>
                  <a:pt x="635698" y="0"/>
                </a:cubicBezTo>
                <a:cubicBezTo>
                  <a:pt x="785279" y="-25042"/>
                  <a:pt x="917762" y="-5537"/>
                  <a:pt x="1190244" y="0"/>
                </a:cubicBezTo>
                <a:cubicBezTo>
                  <a:pt x="1462726" y="5537"/>
                  <a:pt x="1667120" y="-21232"/>
                  <a:pt x="1947672" y="0"/>
                </a:cubicBezTo>
                <a:cubicBezTo>
                  <a:pt x="2228224" y="21232"/>
                  <a:pt x="2280631" y="-21698"/>
                  <a:pt x="2583370" y="0"/>
                </a:cubicBezTo>
                <a:cubicBezTo>
                  <a:pt x="2886109" y="21698"/>
                  <a:pt x="3022941" y="19647"/>
                  <a:pt x="3219069" y="0"/>
                </a:cubicBezTo>
                <a:cubicBezTo>
                  <a:pt x="3415197" y="-19647"/>
                  <a:pt x="3747500" y="26991"/>
                  <a:pt x="4057650" y="0"/>
                </a:cubicBezTo>
                <a:cubicBezTo>
                  <a:pt x="4056980" y="3019"/>
                  <a:pt x="4057134" y="10425"/>
                  <a:pt x="4057650" y="13716"/>
                </a:cubicBezTo>
                <a:cubicBezTo>
                  <a:pt x="3865148" y="-7885"/>
                  <a:pt x="3702543" y="44896"/>
                  <a:pt x="3381375" y="13716"/>
                </a:cubicBezTo>
                <a:cubicBezTo>
                  <a:pt x="3060208" y="-17464"/>
                  <a:pt x="2956571" y="-13250"/>
                  <a:pt x="2826830" y="13716"/>
                </a:cubicBezTo>
                <a:cubicBezTo>
                  <a:pt x="2697089" y="40682"/>
                  <a:pt x="2411031" y="38582"/>
                  <a:pt x="2150555" y="13716"/>
                </a:cubicBezTo>
                <a:cubicBezTo>
                  <a:pt x="1890080" y="-11150"/>
                  <a:pt x="1741827" y="-5187"/>
                  <a:pt x="1474280" y="13716"/>
                </a:cubicBezTo>
                <a:cubicBezTo>
                  <a:pt x="1206734" y="32619"/>
                  <a:pt x="998203" y="28763"/>
                  <a:pt x="838581" y="13716"/>
                </a:cubicBezTo>
                <a:cubicBezTo>
                  <a:pt x="678959" y="-1331"/>
                  <a:pt x="187101" y="-17784"/>
                  <a:pt x="0" y="13716"/>
                </a:cubicBezTo>
                <a:cubicBezTo>
                  <a:pt x="-114" y="7033"/>
                  <a:pt x="103" y="3429"/>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Shape 2">
            <a:extLst>
              <a:ext uri="{FF2B5EF4-FFF2-40B4-BE49-F238E27FC236}">
                <a16:creationId xmlns:a16="http://schemas.microsoft.com/office/drawing/2014/main" id="{1674FDB7-BAF8-312B-24ED-65DB9625C13D}"/>
              </a:ext>
            </a:extLst>
          </p:cNvPr>
          <p:cNvSpPr/>
          <p:nvPr/>
        </p:nvSpPr>
        <p:spPr>
          <a:xfrm>
            <a:off x="342900" y="1411808"/>
            <a:ext cx="3732276" cy="3731692"/>
          </a:xfrm>
          <a:prstGeom prst="rect">
            <a:avLst/>
          </a:prstGeom>
          <a:solidFill>
            <a:srgbClr val="FFFFFF"/>
          </a:solidFill>
          <a:ln/>
          <a:effectLst>
            <a:outerShdw blurRad="50800" dist="25400" dir="8100000" algn="bl" rotWithShape="0">
              <a:srgbClr val="000000">
                <a:alpha val="8000"/>
              </a:srgbClr>
            </a:outerShdw>
          </a:effectLst>
        </p:spPr>
        <p:txBody>
          <a:bodyPr/>
          <a:lstStyle/>
          <a:p>
            <a:r>
              <a:rPr lang="fr-FR" sz="1000" b="1" i="1" dirty="0" err="1"/>
              <a:t>struct</a:t>
            </a:r>
            <a:r>
              <a:rPr lang="fr-FR" sz="1000" b="1" i="1" dirty="0"/>
              <a:t> { double val; </a:t>
            </a:r>
            <a:r>
              <a:rPr lang="fr-FR" sz="1000" b="1" i="1" dirty="0" err="1"/>
              <a:t>int</a:t>
            </a:r>
            <a:r>
              <a:rPr lang="fr-FR" sz="1000" b="1" i="1" dirty="0"/>
              <a:t> </a:t>
            </a:r>
            <a:r>
              <a:rPr lang="fr-FR" sz="1000" b="1" i="1" dirty="0" err="1"/>
              <a:t>idx</a:t>
            </a:r>
            <a:r>
              <a:rPr lang="fr-FR" sz="1000" b="1" i="1" dirty="0"/>
              <a:t>; } </a:t>
            </a:r>
            <a:r>
              <a:rPr lang="fr-FR" sz="1000" b="1" i="1" dirty="0" err="1"/>
              <a:t>local_cand</a:t>
            </a:r>
            <a:r>
              <a:rPr lang="fr-FR" sz="1000" b="1" i="1" dirty="0"/>
              <a:t>, </a:t>
            </a:r>
            <a:r>
              <a:rPr lang="fr-FR" sz="1000" b="1" i="1" dirty="0" err="1"/>
              <a:t>global_cand</a:t>
            </a:r>
            <a:r>
              <a:rPr lang="fr-FR" sz="1000" b="1" i="1" dirty="0"/>
              <a:t>;</a:t>
            </a:r>
          </a:p>
          <a:p>
            <a:endParaRPr lang="fr-FR" sz="1000" b="1" i="1" dirty="0"/>
          </a:p>
          <a:p>
            <a:r>
              <a:rPr lang="fr-FR" sz="1000" b="1" i="1" dirty="0" err="1"/>
              <a:t>local_cand.val</a:t>
            </a:r>
            <a:r>
              <a:rPr lang="fr-FR" sz="1000" b="1" i="1" dirty="0"/>
              <a:t> = 0.0;</a:t>
            </a:r>
          </a:p>
          <a:p>
            <a:r>
              <a:rPr lang="fr-FR" sz="1000" b="1" i="1" dirty="0" err="1"/>
              <a:t>local_cand.idx</a:t>
            </a:r>
            <a:r>
              <a:rPr lang="fr-FR" sz="1000" b="1" i="1" dirty="0"/>
              <a:t> = -1;</a:t>
            </a:r>
          </a:p>
          <a:p>
            <a:endParaRPr lang="fr-FR" sz="1000" b="1" i="1" dirty="0"/>
          </a:p>
          <a:p>
            <a:r>
              <a:rPr lang="fr-FR" sz="1000" b="1" i="1" dirty="0"/>
              <a:t>for (</a:t>
            </a:r>
            <a:r>
              <a:rPr lang="fr-FR" sz="1000" b="1" i="1" dirty="0" err="1"/>
              <a:t>int</a:t>
            </a:r>
            <a:r>
              <a:rPr lang="fr-FR" sz="1000" b="1" i="1" dirty="0"/>
              <a:t> li = 0; li &lt; </a:t>
            </a:r>
            <a:r>
              <a:rPr lang="fr-FR" sz="1000" b="1" i="1" dirty="0" err="1"/>
              <a:t>local_rows</a:t>
            </a:r>
            <a:r>
              <a:rPr lang="fr-FR" sz="1000" b="1" i="1" dirty="0"/>
              <a:t>; li++) {</a:t>
            </a:r>
          </a:p>
          <a:p>
            <a:r>
              <a:rPr lang="fr-FR" sz="1000" b="1" i="1" dirty="0"/>
              <a:t>    // ligne globale gi</a:t>
            </a:r>
          </a:p>
          <a:p>
            <a:r>
              <a:rPr lang="fr-FR" sz="1000" b="1" i="1" dirty="0"/>
              <a:t>    if (gi &lt; k) continue;</a:t>
            </a:r>
          </a:p>
          <a:p>
            <a:endParaRPr lang="fr-FR" sz="1000" b="1" i="1" dirty="0"/>
          </a:p>
          <a:p>
            <a:r>
              <a:rPr lang="fr-FR" sz="1000" b="1" i="1" dirty="0"/>
              <a:t>    double v = </a:t>
            </a:r>
            <a:r>
              <a:rPr lang="fr-FR" sz="1000" b="1" i="1" dirty="0" err="1"/>
              <a:t>fabs</a:t>
            </a:r>
            <a:r>
              <a:rPr lang="fr-FR" sz="1000" b="1" i="1" dirty="0"/>
              <a:t>(A[IDX(li, k, N)]);</a:t>
            </a:r>
          </a:p>
          <a:p>
            <a:r>
              <a:rPr lang="fr-FR" sz="1000" b="1" i="1" dirty="0"/>
              <a:t>    if (v &gt; </a:t>
            </a:r>
            <a:r>
              <a:rPr lang="fr-FR" sz="1000" b="1" i="1" dirty="0" err="1"/>
              <a:t>local_cand.val</a:t>
            </a:r>
            <a:r>
              <a:rPr lang="fr-FR" sz="1000" b="1" i="1" dirty="0"/>
              <a:t>) {</a:t>
            </a:r>
          </a:p>
          <a:p>
            <a:r>
              <a:rPr lang="fr-FR" sz="1000" b="1" i="1" dirty="0"/>
              <a:t>        </a:t>
            </a:r>
            <a:r>
              <a:rPr lang="fr-FR" sz="1000" b="1" i="1" dirty="0" err="1"/>
              <a:t>local_cand.val</a:t>
            </a:r>
            <a:r>
              <a:rPr lang="fr-FR" sz="1000" b="1" i="1" dirty="0"/>
              <a:t> = v;</a:t>
            </a:r>
          </a:p>
          <a:p>
            <a:r>
              <a:rPr lang="fr-FR" sz="1000" b="1" i="1" dirty="0"/>
              <a:t>        </a:t>
            </a:r>
            <a:r>
              <a:rPr lang="fr-FR" sz="1000" b="1" i="1" dirty="0" err="1"/>
              <a:t>local_cand.idx</a:t>
            </a:r>
            <a:r>
              <a:rPr lang="fr-FR" sz="1000" b="1" i="1" dirty="0"/>
              <a:t> = gi;   // indice global</a:t>
            </a:r>
          </a:p>
          <a:p>
            <a:r>
              <a:rPr lang="fr-FR" sz="1000" b="1" i="1" dirty="0"/>
              <a:t>    }</a:t>
            </a:r>
          </a:p>
          <a:p>
            <a:r>
              <a:rPr lang="fr-FR" sz="1000" b="1" i="1" dirty="0"/>
              <a:t>}</a:t>
            </a:r>
          </a:p>
          <a:p>
            <a:endParaRPr lang="fr-FR" sz="1000" b="1" i="1" dirty="0"/>
          </a:p>
          <a:p>
            <a:r>
              <a:rPr lang="fr-FR" sz="1000" b="1" i="1" dirty="0" err="1"/>
              <a:t>MPI_Allreduce</a:t>
            </a:r>
            <a:r>
              <a:rPr lang="fr-FR" sz="1000" b="1" i="1" dirty="0"/>
              <a:t>(&amp;</a:t>
            </a:r>
            <a:r>
              <a:rPr lang="fr-FR" sz="1000" b="1" i="1" dirty="0" err="1"/>
              <a:t>local_cand</a:t>
            </a:r>
            <a:r>
              <a:rPr lang="fr-FR" sz="1000" b="1" i="1" dirty="0"/>
              <a:t>,</a:t>
            </a:r>
          </a:p>
          <a:p>
            <a:r>
              <a:rPr lang="fr-FR" sz="1000" b="1" i="1" dirty="0"/>
              <a:t>              &amp;</a:t>
            </a:r>
            <a:r>
              <a:rPr lang="fr-FR" sz="1000" b="1" i="1" dirty="0" err="1"/>
              <a:t>global_cand</a:t>
            </a:r>
            <a:r>
              <a:rPr lang="fr-FR" sz="1000" b="1" i="1" dirty="0"/>
              <a:t>,</a:t>
            </a:r>
          </a:p>
          <a:p>
            <a:r>
              <a:rPr lang="fr-FR" sz="1000" b="1" i="1" dirty="0"/>
              <a:t>              1,</a:t>
            </a:r>
          </a:p>
          <a:p>
            <a:r>
              <a:rPr lang="fr-FR" sz="1000" b="1" i="1" dirty="0"/>
              <a:t>              MPI_DOUBLE_INT,   // paire {double, </a:t>
            </a:r>
            <a:r>
              <a:rPr lang="fr-FR" sz="1000" b="1" i="1" dirty="0" err="1"/>
              <a:t>int</a:t>
            </a:r>
            <a:r>
              <a:rPr lang="fr-FR" sz="1000" b="1" i="1" dirty="0"/>
              <a:t>}</a:t>
            </a:r>
          </a:p>
          <a:p>
            <a:r>
              <a:rPr lang="fr-FR" sz="1000" b="1" i="1" dirty="0"/>
              <a:t>              MPI_MAXLOC,       // max + position</a:t>
            </a:r>
          </a:p>
          <a:p>
            <a:r>
              <a:rPr lang="fr-FR" sz="1000" b="1" i="1" dirty="0"/>
              <a:t>              MPI_COMM_WORLD);</a:t>
            </a:r>
          </a:p>
          <a:p>
            <a:endParaRPr lang="fr-FR" sz="1000" b="1" i="1" dirty="0"/>
          </a:p>
          <a:p>
            <a:r>
              <a:rPr lang="fr-FR" sz="1000" b="1" i="1" dirty="0" err="1"/>
              <a:t>int</a:t>
            </a:r>
            <a:r>
              <a:rPr lang="fr-FR" sz="1000" b="1" i="1" dirty="0"/>
              <a:t> </a:t>
            </a:r>
            <a:r>
              <a:rPr lang="fr-FR" sz="1000" b="1" i="1" dirty="0" err="1"/>
              <a:t>pivot_gi</a:t>
            </a:r>
            <a:r>
              <a:rPr lang="fr-FR" sz="1000" b="1" i="1" dirty="0"/>
              <a:t> = </a:t>
            </a:r>
            <a:r>
              <a:rPr lang="fr-FR" sz="1000" b="1" i="1" dirty="0" err="1"/>
              <a:t>global_cand.idx</a:t>
            </a:r>
            <a:r>
              <a:rPr lang="fr-FR" sz="1000" b="1" i="1" dirty="0"/>
              <a:t>;</a:t>
            </a:r>
          </a:p>
        </p:txBody>
      </p:sp>
      <p:pic>
        <p:nvPicPr>
          <p:cNvPr id="40" name="Image 0" descr="preencoded.png">
            <a:extLst>
              <a:ext uri="{FF2B5EF4-FFF2-40B4-BE49-F238E27FC236}">
                <a16:creationId xmlns:a16="http://schemas.microsoft.com/office/drawing/2014/main" id="{B122B4AD-236A-CE3D-A0EC-7939DDCBBDB4}"/>
              </a:ext>
            </a:extLst>
          </p:cNvPr>
          <p:cNvPicPr>
            <a:picLocks noChangeAspect="1"/>
          </p:cNvPicPr>
          <p:nvPr/>
        </p:nvPicPr>
        <p:blipFill>
          <a:blip r:embed="rId3"/>
          <a:stretch>
            <a:fillRect/>
          </a:stretch>
        </p:blipFill>
        <p:spPr>
          <a:xfrm>
            <a:off x="4144517" y="3085610"/>
            <a:ext cx="274320" cy="274320"/>
          </a:xfrm>
          <a:prstGeom prst="rect">
            <a:avLst/>
          </a:prstGeom>
        </p:spPr>
      </p:pic>
      <p:sp>
        <p:nvSpPr>
          <p:cNvPr id="45" name="Rectangle 44">
            <a:extLst>
              <a:ext uri="{FF2B5EF4-FFF2-40B4-BE49-F238E27FC236}">
                <a16:creationId xmlns:a16="http://schemas.microsoft.com/office/drawing/2014/main" id="{7C7F88A9-7EBE-1D2D-A353-62156ACBA20C}"/>
              </a:ext>
            </a:extLst>
          </p:cNvPr>
          <p:cNvSpPr/>
          <p:nvPr/>
        </p:nvSpPr>
        <p:spPr>
          <a:xfrm>
            <a:off x="4465320" y="1703070"/>
            <a:ext cx="4572000" cy="301752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a:p>
        </p:txBody>
      </p:sp>
      <p:sp>
        <p:nvSpPr>
          <p:cNvPr id="46" name="TextBox 15">
            <a:extLst>
              <a:ext uri="{FF2B5EF4-FFF2-40B4-BE49-F238E27FC236}">
                <a16:creationId xmlns:a16="http://schemas.microsoft.com/office/drawing/2014/main" id="{A4343F29-A33E-F4D3-217B-F629AE93B70E}"/>
              </a:ext>
            </a:extLst>
          </p:cNvPr>
          <p:cNvSpPr txBox="1"/>
          <p:nvPr/>
        </p:nvSpPr>
        <p:spPr>
          <a:xfrm>
            <a:off x="4556760" y="1840230"/>
            <a:ext cx="4389120" cy="292388"/>
          </a:xfrm>
          <a:prstGeom prst="rect">
            <a:avLst/>
          </a:prstGeom>
          <a:noFill/>
        </p:spPr>
        <p:txBody>
          <a:bodyPr wrap="square">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l"/>
            <a:r>
              <a:rPr lang="fr-FR" sz="1300" b="1" i="0" dirty="0">
                <a:solidFill>
                  <a:srgbClr val="D4A843"/>
                </a:solidFill>
                <a:latin typeface="Calibri"/>
              </a:rPr>
              <a:t>Détails</a:t>
            </a:r>
            <a:endParaRPr sz="1300" b="1" i="0" dirty="0">
              <a:solidFill>
                <a:srgbClr val="D4A843"/>
              </a:solidFill>
              <a:latin typeface="Calibri"/>
            </a:endParaRPr>
          </a:p>
        </p:txBody>
      </p:sp>
      <mc:AlternateContent xmlns:mc="http://schemas.openxmlformats.org/markup-compatibility/2006" xmlns:a14="http://schemas.microsoft.com/office/drawing/2010/main">
        <mc:Choice Requires="a14">
          <p:sp>
            <p:nvSpPr>
              <p:cNvPr id="47" name="TextBox 16">
                <a:extLst>
                  <a:ext uri="{FF2B5EF4-FFF2-40B4-BE49-F238E27FC236}">
                    <a16:creationId xmlns:a16="http://schemas.microsoft.com/office/drawing/2014/main" id="{2D57363E-BC84-0FAD-36C4-52D10FBEC98D}"/>
                  </a:ext>
                </a:extLst>
              </p:cNvPr>
              <p:cNvSpPr txBox="1"/>
              <p:nvPr/>
            </p:nvSpPr>
            <p:spPr>
              <a:xfrm>
                <a:off x="4556760" y="2205990"/>
                <a:ext cx="4389120" cy="2041585"/>
              </a:xfrm>
              <a:prstGeom prst="rect">
                <a:avLst/>
              </a:prstGeom>
              <a:noFill/>
            </p:spPr>
            <p:txBody>
              <a:bodyPr wrap="square">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spcAft>
                    <a:spcPts val="200"/>
                  </a:spcAft>
                </a:pPr>
                <a:r>
                  <a:rPr lang="fr-FR" sz="1000" b="1" dirty="0">
                    <a:solidFill>
                      <a:srgbClr val="0D4F4F"/>
                    </a:solidFill>
                  </a:rPr>
                  <a:t>Chaque processus</a:t>
                </a:r>
                <a:r>
                  <a:rPr lang="fr-FR" sz="1000" dirty="0"/>
                  <a:t> </a:t>
                </a:r>
                <a:r>
                  <a:rPr lang="fr-FR" sz="1000" b="1" dirty="0">
                    <a:solidFill>
                      <a:srgbClr val="0D4F4F"/>
                    </a:solidFill>
                  </a:rPr>
                  <a:t>cherche</a:t>
                </a:r>
                <a:r>
                  <a:rPr lang="fr-FR" sz="1000" dirty="0"/>
                  <a:t> </a:t>
                </a:r>
                <a:r>
                  <a:rPr lang="fr-FR" sz="1000" b="1" dirty="0">
                    <a:solidFill>
                      <a:srgbClr val="0D4F4F"/>
                    </a:solidFill>
                  </a:rPr>
                  <a:t>son</a:t>
                </a:r>
                <a:r>
                  <a:rPr lang="fr-FR" sz="1000" dirty="0"/>
                  <a:t> </a:t>
                </a:r>
                <a:r>
                  <a:rPr lang="fr-FR" sz="1000" b="1" dirty="0">
                    <a:solidFill>
                      <a:srgbClr val="0D4F4F"/>
                    </a:solidFill>
                  </a:rPr>
                  <a:t>pivot</a:t>
                </a:r>
                <a:r>
                  <a:rPr lang="fr-FR" sz="1000" dirty="0"/>
                  <a:t> </a:t>
                </a:r>
                <a:r>
                  <a:rPr lang="fr-FR" sz="1000" b="1" dirty="0" err="1">
                    <a:solidFill>
                      <a:srgbClr val="0D4F4F"/>
                    </a:solidFill>
                  </a:rPr>
                  <a:t>local.</a:t>
                </a:r>
                <a:endParaRPr sz="1000" b="1" dirty="0">
                  <a:solidFill>
                    <a:srgbClr val="0D4F4F"/>
                  </a:solidFill>
                </a:endParaRPr>
              </a:p>
              <a:p>
                <a:pPr>
                  <a:spcAft>
                    <a:spcPts val="200"/>
                  </a:spcAft>
                </a:pPr>
                <a:r>
                  <a:rPr lang="fr-FR" sz="1000" dirty="0">
                    <a:solidFill>
                      <a:srgbClr val="4A4A5A"/>
                    </a:solidFill>
                    <a:latin typeface="Calibri"/>
                  </a:rPr>
                  <a:t>Il parcourt ses lignes et garde la plus grande valeur absolue dans la colonne </a:t>
                </a:r>
                <a14:m>
                  <m:oMath xmlns:m="http://schemas.openxmlformats.org/officeDocument/2006/math">
                    <m:r>
                      <a:rPr lang="fr-FR" sz="1000">
                        <a:solidFill>
                          <a:srgbClr val="4A4A5A"/>
                        </a:solidFill>
                        <a:latin typeface="Cambria Math" panose="02040503050406030204" pitchFamily="18" charset="0"/>
                      </a:rPr>
                      <m:t>𝑘</m:t>
                    </m:r>
                  </m:oMath>
                </a14:m>
                <a:r>
                  <a:rPr lang="fr-FR" sz="1000" dirty="0">
                    <a:solidFill>
                      <a:srgbClr val="4A4A5A"/>
                    </a:solidFill>
                    <a:latin typeface="Calibri"/>
                  </a:rPr>
                  <a:t>.</a:t>
                </a:r>
                <a:endParaRPr sz="1000" dirty="0">
                  <a:solidFill>
                    <a:srgbClr val="4A4A5A"/>
                  </a:solidFill>
                  <a:latin typeface="Calibri"/>
                </a:endParaRPr>
              </a:p>
              <a:p>
                <a:pPr>
                  <a:spcAft>
                    <a:spcPts val="200"/>
                  </a:spcAft>
                </a:pPr>
                <a:endParaRPr sz="1000" b="0" dirty="0">
                  <a:solidFill>
                    <a:srgbClr val="4A4A5A"/>
                  </a:solidFill>
                  <a:latin typeface="Calibri"/>
                </a:endParaRPr>
              </a:p>
              <a:p>
                <a:pPr>
                  <a:spcAft>
                    <a:spcPts val="200"/>
                  </a:spcAft>
                </a:pPr>
                <a:r>
                  <a:rPr lang="fr-FR" sz="1000" b="1" dirty="0">
                    <a:solidFill>
                      <a:srgbClr val="E07A5F"/>
                    </a:solidFill>
                    <a:latin typeface="Calibri"/>
                  </a:rPr>
                  <a:t>L’indice global de la ligne est sauvegardé.</a:t>
                </a:r>
                <a:endParaRPr sz="1000" b="1" dirty="0">
                  <a:solidFill>
                    <a:srgbClr val="E07A5F"/>
                  </a:solidFill>
                  <a:latin typeface="Calibri"/>
                </a:endParaRPr>
              </a:p>
              <a:p>
                <a:pPr>
                  <a:spcAft>
                    <a:spcPts val="200"/>
                  </a:spcAft>
                </a:pPr>
                <a:r>
                  <a:rPr lang="fr-FR" sz="1000" dirty="0">
                    <a:solidFill>
                      <a:srgbClr val="4A4A5A"/>
                    </a:solidFill>
                    <a:latin typeface="Calibri"/>
                  </a:rPr>
                  <a:t>Cela permet d’identifier correctement la ligne pivot</a:t>
                </a:r>
              </a:p>
              <a:p>
                <a:pPr>
                  <a:spcAft>
                    <a:spcPts val="200"/>
                  </a:spcAft>
                </a:pPr>
                <a:endParaRPr sz="1000" dirty="0">
                  <a:solidFill>
                    <a:srgbClr val="4A4A5A"/>
                  </a:solidFill>
                  <a:latin typeface="Calibri"/>
                </a:endParaRPr>
              </a:p>
              <a:p>
                <a:pPr>
                  <a:spcAft>
                    <a:spcPts val="200"/>
                  </a:spcAft>
                </a:pPr>
                <a:r>
                  <a:rPr lang="fr-FR" sz="1000" b="1" dirty="0">
                    <a:solidFill>
                      <a:srgbClr val="0D4F4F"/>
                    </a:solidFill>
                    <a:latin typeface="Calibri"/>
                  </a:rPr>
                  <a:t>Une réduction MPI détermine le pivot global.</a:t>
                </a:r>
                <a:endParaRPr sz="1000" b="1" dirty="0">
                  <a:solidFill>
                    <a:srgbClr val="0D4F4F"/>
                  </a:solidFill>
                  <a:latin typeface="Calibri"/>
                </a:endParaRPr>
              </a:p>
              <a:p>
                <a:pPr>
                  <a:spcAft>
                    <a:spcPts val="200"/>
                  </a:spcAft>
                </a:pPr>
                <a:r>
                  <a:rPr lang="fr-FR" sz="1000" dirty="0" err="1">
                    <a:solidFill>
                      <a:srgbClr val="4A4A5A"/>
                    </a:solidFill>
                    <a:latin typeface="Calibri"/>
                  </a:rPr>
                  <a:t>MPI_Allreduce</a:t>
                </a:r>
                <a:r>
                  <a:rPr lang="fr-FR" sz="1000" dirty="0">
                    <a:solidFill>
                      <a:srgbClr val="4A4A5A"/>
                    </a:solidFill>
                    <a:latin typeface="Calibri"/>
                  </a:rPr>
                  <a:t> avec MPI_MAXLOC retourne la plus grande valeur et sa position.</a:t>
                </a:r>
                <a:endParaRPr sz="1000" dirty="0">
                  <a:solidFill>
                    <a:srgbClr val="4A4A5A"/>
                  </a:solidFill>
                  <a:latin typeface="Calibri"/>
                </a:endParaRPr>
              </a:p>
              <a:p>
                <a:pPr>
                  <a:spcAft>
                    <a:spcPts val="200"/>
                  </a:spcAft>
                </a:pPr>
                <a:endParaRPr sz="1000" b="0" dirty="0">
                  <a:solidFill>
                    <a:srgbClr val="4A4A5A"/>
                  </a:solidFill>
                  <a:latin typeface="Calibri"/>
                </a:endParaRPr>
              </a:p>
              <a:p>
                <a:pPr>
                  <a:spcAft>
                    <a:spcPts val="200"/>
                  </a:spcAft>
                </a:pPr>
                <a:r>
                  <a:rPr lang="fr-FR" sz="1000" b="1" dirty="0">
                    <a:solidFill>
                      <a:srgbClr val="E07A5F"/>
                    </a:solidFill>
                    <a:latin typeface="Calibri"/>
                  </a:rPr>
                  <a:t>Tous les processus connaissent la ligne pivot.</a:t>
                </a:r>
                <a:r>
                  <a:rPr sz="1000" b="1" dirty="0">
                    <a:solidFill>
                      <a:srgbClr val="E07A5F"/>
                    </a:solidFill>
                    <a:latin typeface="Calibri"/>
                  </a:rPr>
                  <a:t> </a:t>
                </a:r>
                <a:endParaRPr lang="fr-FR" sz="1000" b="1" dirty="0">
                  <a:solidFill>
                    <a:srgbClr val="E07A5F"/>
                  </a:solidFill>
                  <a:latin typeface="Calibri"/>
                </a:endParaRPr>
              </a:p>
              <a:p>
                <a:pPr>
                  <a:spcAft>
                    <a:spcPts val="200"/>
                  </a:spcAft>
                </a:pPr>
                <a:r>
                  <a:rPr lang="fr-FR" sz="1000" dirty="0">
                    <a:solidFill>
                      <a:srgbClr val="4A4A5A"/>
                    </a:solidFill>
                    <a:latin typeface="Calibri"/>
                  </a:rPr>
                  <a:t>L’indice global du pivot est disponible partout pour la suite de l’algorithme.</a:t>
                </a:r>
                <a:endParaRPr sz="1000" dirty="0">
                  <a:solidFill>
                    <a:srgbClr val="4A4A5A"/>
                  </a:solidFill>
                  <a:latin typeface="Calibri"/>
                </a:endParaRPr>
              </a:p>
            </p:txBody>
          </p:sp>
        </mc:Choice>
        <mc:Fallback xmlns="">
          <p:sp>
            <p:nvSpPr>
              <p:cNvPr id="47" name="TextBox 16">
                <a:extLst>
                  <a:ext uri="{FF2B5EF4-FFF2-40B4-BE49-F238E27FC236}">
                    <a16:creationId xmlns:a16="http://schemas.microsoft.com/office/drawing/2014/main" id="{2D57363E-BC84-0FAD-36C4-52D10FBEC98D}"/>
                  </a:ext>
                </a:extLst>
              </p:cNvPr>
              <p:cNvSpPr txBox="1">
                <a:spLocks noRot="1" noChangeAspect="1" noMove="1" noResize="1" noEditPoints="1" noAdjustHandles="1" noChangeArrowheads="1" noChangeShapeType="1" noTextEdit="1"/>
              </p:cNvSpPr>
              <p:nvPr/>
            </p:nvSpPr>
            <p:spPr>
              <a:xfrm>
                <a:off x="4556760" y="2205990"/>
                <a:ext cx="4389120" cy="2041585"/>
              </a:xfrm>
              <a:prstGeom prst="rect">
                <a:avLst/>
              </a:prstGeom>
              <a:blipFill>
                <a:blip r:embed="rId5"/>
                <a:stretch>
                  <a:fillRect b="-597"/>
                </a:stretch>
              </a:blipFill>
            </p:spPr>
            <p:txBody>
              <a:bodyPr/>
              <a:lstStyle/>
              <a:p>
                <a:r>
                  <a:rPr lang="fr-FR">
                    <a:noFill/>
                  </a:rPr>
                  <a:t> </a:t>
                </a:r>
              </a:p>
            </p:txBody>
          </p:sp>
        </mc:Fallback>
      </mc:AlternateContent>
      <p:sp>
        <p:nvSpPr>
          <p:cNvPr id="9" name="TextBox 8">
            <a:extLst>
              <a:ext uri="{FF2B5EF4-FFF2-40B4-BE49-F238E27FC236}">
                <a16:creationId xmlns:a16="http://schemas.microsoft.com/office/drawing/2014/main" id="{78D41F85-7454-351A-2B07-314D2E9B7390}"/>
              </a:ext>
            </a:extLst>
          </p:cNvPr>
          <p:cNvSpPr txBox="1"/>
          <p:nvPr/>
        </p:nvSpPr>
        <p:spPr>
          <a:xfrm>
            <a:off x="8394732" y="43934"/>
            <a:ext cx="679994" cy="369332"/>
          </a:xfrm>
          <a:prstGeom prst="rect">
            <a:avLst/>
          </a:prstGeom>
          <a:noFill/>
        </p:spPr>
        <p:txBody>
          <a:bodyPr wrap="none" rtlCol="0">
            <a:spAutoFit/>
          </a:bodyPr>
          <a:lstStyle/>
          <a:p>
            <a:r>
              <a:rPr lang="fr-FR" b="1" dirty="0">
                <a:solidFill>
                  <a:srgbClr val="0D4F4F"/>
                </a:solidFill>
                <a:latin typeface="Georgia"/>
              </a:rPr>
              <a:t>7/21</a:t>
            </a:r>
          </a:p>
        </p:txBody>
      </p:sp>
    </p:spTree>
    <p:extLst>
      <p:ext uri="{BB962C8B-B14F-4D97-AF65-F5344CB8AC3E}">
        <p14:creationId xmlns:p14="http://schemas.microsoft.com/office/powerpoint/2010/main" val="124453492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AF8F0"/>
        </a:solidFill>
        <a:effectLst/>
      </p:bgPr>
    </p:bg>
    <p:spTree>
      <p:nvGrpSpPr>
        <p:cNvPr id="1" name="">
          <a:extLst>
            <a:ext uri="{FF2B5EF4-FFF2-40B4-BE49-F238E27FC236}">
              <a16:creationId xmlns:a16="http://schemas.microsoft.com/office/drawing/2014/main" id="{69FBA8F7-84A5-5284-18F5-40662211F0AB}"/>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ED5C7386-AE44-082F-50FA-E7C0C3479BF4}"/>
              </a:ext>
            </a:extLst>
          </p:cNvPr>
          <p:cNvSpPr/>
          <p:nvPr/>
        </p:nvSpPr>
        <p:spPr>
          <a:xfrm>
            <a:off x="548640" y="228600"/>
            <a:ext cx="8229600" cy="457200"/>
          </a:xfrm>
          <a:prstGeom prst="rect">
            <a:avLst/>
          </a:prstGeom>
          <a:noFill/>
          <a:ln/>
        </p:spPr>
        <p:txBody>
          <a:bodyPr wrap="square" lIns="0" tIns="0" rIns="0" bIns="0" rtlCol="0" anchor="ctr"/>
          <a:lstStyle/>
          <a:p>
            <a:pPr marL="0" indent="0">
              <a:buNone/>
            </a:pPr>
            <a:r>
              <a:rPr lang="en-US" sz="2400" b="1" dirty="0">
                <a:solidFill>
                  <a:srgbClr val="0D4F4F"/>
                </a:solidFill>
                <a:latin typeface="Georgia" pitchFamily="34" charset="0"/>
                <a:ea typeface="Georgia" pitchFamily="34" charset="-122"/>
                <a:cs typeface="Georgia" pitchFamily="34" charset="-120"/>
              </a:rPr>
              <a:t>Le problème : résistance aux antibiotiques</a:t>
            </a:r>
            <a:endParaRPr lang="en-US" sz="2400" dirty="0"/>
          </a:p>
        </p:txBody>
      </p:sp>
      <p:sp>
        <p:nvSpPr>
          <p:cNvPr id="3" name="Text 1">
            <a:extLst>
              <a:ext uri="{FF2B5EF4-FFF2-40B4-BE49-F238E27FC236}">
                <a16:creationId xmlns:a16="http://schemas.microsoft.com/office/drawing/2014/main" id="{0660A8E8-89EF-5C7B-D16E-4326348E316E}"/>
              </a:ext>
            </a:extLst>
          </p:cNvPr>
          <p:cNvSpPr/>
          <p:nvPr/>
        </p:nvSpPr>
        <p:spPr>
          <a:xfrm>
            <a:off x="548640" y="658368"/>
            <a:ext cx="8229600" cy="274320"/>
          </a:xfrm>
          <a:prstGeom prst="rect">
            <a:avLst/>
          </a:prstGeom>
          <a:noFill/>
          <a:ln/>
        </p:spPr>
        <p:txBody>
          <a:bodyPr wrap="square" lIns="0" tIns="0" rIns="0" bIns="0" rtlCol="0" anchor="ctr"/>
          <a:lstStyle/>
          <a:p>
            <a:pPr marL="0" indent="0">
              <a:buNone/>
            </a:pPr>
            <a:r>
              <a:rPr lang="en-US" sz="1200" i="1" dirty="0">
                <a:solidFill>
                  <a:srgbClr val="8A8A9A"/>
                </a:solidFill>
                <a:latin typeface="Calibri" pitchFamily="34" charset="0"/>
                <a:ea typeface="Calibri" pitchFamily="34" charset="-122"/>
                <a:cs typeface="Calibri" pitchFamily="34" charset="-120"/>
              </a:rPr>
              <a:t>L'une des plus grandes menaces pour la santé publique mondiale (OMS, 2014)</a:t>
            </a:r>
            <a:endParaRPr lang="en-US" sz="1200" dirty="0"/>
          </a:p>
        </p:txBody>
      </p:sp>
      <p:sp>
        <p:nvSpPr>
          <p:cNvPr id="5" name="Shape 3">
            <a:extLst>
              <a:ext uri="{FF2B5EF4-FFF2-40B4-BE49-F238E27FC236}">
                <a16:creationId xmlns:a16="http://schemas.microsoft.com/office/drawing/2014/main" id="{3E169F45-08A1-8FE5-9DE7-D4A8B509A582}"/>
              </a:ext>
            </a:extLst>
          </p:cNvPr>
          <p:cNvSpPr/>
          <p:nvPr/>
        </p:nvSpPr>
        <p:spPr>
          <a:xfrm>
            <a:off x="685800" y="1508760"/>
            <a:ext cx="365760" cy="365760"/>
          </a:xfrm>
          <a:prstGeom prst="ellipse">
            <a:avLst/>
          </a:prstGeom>
          <a:solidFill>
            <a:srgbClr val="0E7C7B"/>
          </a:solidFill>
          <a:ln/>
        </p:spPr>
        <p:txBody>
          <a:bodyPr/>
          <a:lstStyle/>
          <a:p>
            <a:endParaRPr lang="fr-FR"/>
          </a:p>
        </p:txBody>
      </p:sp>
      <p:sp>
        <p:nvSpPr>
          <p:cNvPr id="6" name="Text 4">
            <a:extLst>
              <a:ext uri="{FF2B5EF4-FFF2-40B4-BE49-F238E27FC236}">
                <a16:creationId xmlns:a16="http://schemas.microsoft.com/office/drawing/2014/main" id="{88E3C32B-D249-E466-3A8D-B64432C77AF2}"/>
              </a:ext>
            </a:extLst>
          </p:cNvPr>
          <p:cNvSpPr/>
          <p:nvPr/>
        </p:nvSpPr>
        <p:spPr>
          <a:xfrm>
            <a:off x="685800" y="1508760"/>
            <a:ext cx="365760" cy="365760"/>
          </a:xfrm>
          <a:prstGeom prst="rect">
            <a:avLst/>
          </a:prstGeom>
          <a:noFill/>
          <a:ln/>
        </p:spPr>
        <p:txBody>
          <a:bodyPr wrap="square"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7" name="Text 5">
            <a:extLst>
              <a:ext uri="{FF2B5EF4-FFF2-40B4-BE49-F238E27FC236}">
                <a16:creationId xmlns:a16="http://schemas.microsoft.com/office/drawing/2014/main" id="{D99C93DE-EB34-33B4-6892-733D458B3840}"/>
              </a:ext>
            </a:extLst>
          </p:cNvPr>
          <p:cNvSpPr/>
          <p:nvPr/>
        </p:nvSpPr>
        <p:spPr>
          <a:xfrm>
            <a:off x="1143000" y="1508760"/>
            <a:ext cx="1828800" cy="1097280"/>
          </a:xfrm>
          <a:prstGeom prst="rect">
            <a:avLst/>
          </a:prstGeom>
          <a:noFill/>
          <a:ln/>
        </p:spPr>
        <p:txBody>
          <a:bodyPr wrap="square" rtlCol="0" anchor="t"/>
          <a:lstStyle/>
          <a:p>
            <a:pPr marL="0" indent="0">
              <a:buNone/>
            </a:pPr>
            <a:r>
              <a:rPr lang="en-US" sz="1200" dirty="0">
                <a:solidFill>
                  <a:srgbClr val="1A1A2E"/>
                </a:solidFill>
                <a:latin typeface="Calibri" pitchFamily="34" charset="0"/>
                <a:ea typeface="Calibri" pitchFamily="34" charset="-122"/>
                <a:cs typeface="Calibri" pitchFamily="34" charset="-120"/>
              </a:rPr>
              <a:t>Antibiotiques massivement</a:t>
            </a:r>
            <a:endParaRPr lang="en-US" sz="1200" dirty="0"/>
          </a:p>
          <a:p>
            <a:pPr marL="0" indent="0">
              <a:buNone/>
            </a:pPr>
            <a:r>
              <a:rPr lang="en-US" sz="1200" dirty="0">
                <a:solidFill>
                  <a:srgbClr val="1A1A2E"/>
                </a:solidFill>
                <a:latin typeface="Calibri" pitchFamily="34" charset="0"/>
                <a:ea typeface="Calibri" pitchFamily="34" charset="-122"/>
                <a:cs typeface="Calibri" pitchFamily="34" charset="-120"/>
              </a:rPr>
              <a:t>utilisés en élevage</a:t>
            </a:r>
            <a:endParaRPr lang="en-US" sz="1200" dirty="0"/>
          </a:p>
        </p:txBody>
      </p:sp>
      <p:pic>
        <p:nvPicPr>
          <p:cNvPr id="8" name="Image 0" descr="preencoded.png">
            <a:extLst>
              <a:ext uri="{FF2B5EF4-FFF2-40B4-BE49-F238E27FC236}">
                <a16:creationId xmlns:a16="http://schemas.microsoft.com/office/drawing/2014/main" id="{94C231C2-C5A5-FB87-5305-3EC4E9C62FFC}"/>
              </a:ext>
            </a:extLst>
          </p:cNvPr>
          <p:cNvPicPr>
            <a:picLocks noChangeAspect="1"/>
          </p:cNvPicPr>
          <p:nvPr/>
        </p:nvPicPr>
        <p:blipFill>
          <a:blip r:embed="rId3"/>
          <a:stretch>
            <a:fillRect/>
          </a:stretch>
        </p:blipFill>
        <p:spPr>
          <a:xfrm>
            <a:off x="3154680" y="1828800"/>
            <a:ext cx="201168" cy="201168"/>
          </a:xfrm>
          <a:prstGeom prst="rect">
            <a:avLst/>
          </a:prstGeom>
        </p:spPr>
      </p:pic>
      <p:sp>
        <p:nvSpPr>
          <p:cNvPr id="10" name="Shape 7">
            <a:extLst>
              <a:ext uri="{FF2B5EF4-FFF2-40B4-BE49-F238E27FC236}">
                <a16:creationId xmlns:a16="http://schemas.microsoft.com/office/drawing/2014/main" id="{094B8CA7-316B-A8A9-C49B-8EC5486668D6}"/>
              </a:ext>
            </a:extLst>
          </p:cNvPr>
          <p:cNvSpPr/>
          <p:nvPr/>
        </p:nvSpPr>
        <p:spPr>
          <a:xfrm>
            <a:off x="3520440" y="1508760"/>
            <a:ext cx="365760" cy="365760"/>
          </a:xfrm>
          <a:prstGeom prst="ellipse">
            <a:avLst/>
          </a:prstGeom>
          <a:solidFill>
            <a:srgbClr val="0E7C7B"/>
          </a:solidFill>
          <a:ln/>
        </p:spPr>
        <p:txBody>
          <a:bodyPr/>
          <a:lstStyle/>
          <a:p>
            <a:endParaRPr lang="fr-FR"/>
          </a:p>
        </p:txBody>
      </p:sp>
      <p:sp>
        <p:nvSpPr>
          <p:cNvPr id="11" name="Text 8">
            <a:extLst>
              <a:ext uri="{FF2B5EF4-FFF2-40B4-BE49-F238E27FC236}">
                <a16:creationId xmlns:a16="http://schemas.microsoft.com/office/drawing/2014/main" id="{40A70606-2614-79C2-C5E7-09E86F9858C3}"/>
              </a:ext>
            </a:extLst>
          </p:cNvPr>
          <p:cNvSpPr/>
          <p:nvPr/>
        </p:nvSpPr>
        <p:spPr>
          <a:xfrm>
            <a:off x="3520440" y="1508760"/>
            <a:ext cx="365760" cy="365760"/>
          </a:xfrm>
          <a:prstGeom prst="rect">
            <a:avLst/>
          </a:prstGeom>
          <a:noFill/>
          <a:ln/>
        </p:spPr>
        <p:txBody>
          <a:bodyPr wrap="square"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2" name="Text 9">
            <a:extLst>
              <a:ext uri="{FF2B5EF4-FFF2-40B4-BE49-F238E27FC236}">
                <a16:creationId xmlns:a16="http://schemas.microsoft.com/office/drawing/2014/main" id="{49214AB9-A4F1-FAFB-666E-DBB9006B39AA}"/>
              </a:ext>
            </a:extLst>
          </p:cNvPr>
          <p:cNvSpPr/>
          <p:nvPr/>
        </p:nvSpPr>
        <p:spPr>
          <a:xfrm>
            <a:off x="3977640" y="1508760"/>
            <a:ext cx="1828800" cy="1097280"/>
          </a:xfrm>
          <a:prstGeom prst="rect">
            <a:avLst/>
          </a:prstGeom>
          <a:noFill/>
          <a:ln/>
        </p:spPr>
        <p:txBody>
          <a:bodyPr wrap="square" rtlCol="0" anchor="t"/>
          <a:lstStyle/>
          <a:p>
            <a:pPr marL="0" indent="0">
              <a:buNone/>
            </a:pPr>
            <a:r>
              <a:rPr lang="en-US" sz="1200" dirty="0">
                <a:solidFill>
                  <a:srgbClr val="1A1A2E"/>
                </a:solidFill>
                <a:latin typeface="Calibri" pitchFamily="34" charset="0"/>
                <a:ea typeface="Calibri" pitchFamily="34" charset="-122"/>
                <a:cs typeface="Calibri" pitchFamily="34" charset="-120"/>
              </a:rPr>
              <a:t>Résidus atteignent</a:t>
            </a:r>
            <a:endParaRPr lang="en-US" sz="1200" dirty="0"/>
          </a:p>
          <a:p>
            <a:pPr marL="0" indent="0">
              <a:buNone/>
            </a:pPr>
            <a:r>
              <a:rPr lang="en-US" sz="1200" dirty="0">
                <a:solidFill>
                  <a:srgbClr val="1A1A2E"/>
                </a:solidFill>
                <a:latin typeface="Calibri" pitchFamily="34" charset="0"/>
                <a:ea typeface="Calibri" pitchFamily="34" charset="-122"/>
                <a:cs typeface="Calibri" pitchFamily="34" charset="-120"/>
              </a:rPr>
              <a:t>le côlon</a:t>
            </a:r>
            <a:endParaRPr lang="en-US" sz="1200" dirty="0"/>
          </a:p>
        </p:txBody>
      </p:sp>
      <p:pic>
        <p:nvPicPr>
          <p:cNvPr id="13" name="Image 1" descr="preencoded.png">
            <a:extLst>
              <a:ext uri="{FF2B5EF4-FFF2-40B4-BE49-F238E27FC236}">
                <a16:creationId xmlns:a16="http://schemas.microsoft.com/office/drawing/2014/main" id="{6D8A38C1-4BBA-C737-3702-ADF1D4A6CA79}"/>
              </a:ext>
            </a:extLst>
          </p:cNvPr>
          <p:cNvPicPr>
            <a:picLocks noChangeAspect="1"/>
          </p:cNvPicPr>
          <p:nvPr/>
        </p:nvPicPr>
        <p:blipFill>
          <a:blip r:embed="rId3"/>
          <a:stretch>
            <a:fillRect/>
          </a:stretch>
        </p:blipFill>
        <p:spPr>
          <a:xfrm>
            <a:off x="5989320" y="1828800"/>
            <a:ext cx="201168" cy="201168"/>
          </a:xfrm>
          <a:prstGeom prst="rect">
            <a:avLst/>
          </a:prstGeom>
        </p:spPr>
      </p:pic>
      <p:sp>
        <p:nvSpPr>
          <p:cNvPr id="15" name="Shape 11">
            <a:extLst>
              <a:ext uri="{FF2B5EF4-FFF2-40B4-BE49-F238E27FC236}">
                <a16:creationId xmlns:a16="http://schemas.microsoft.com/office/drawing/2014/main" id="{136EC29D-0A08-ACFD-B689-20811799DF09}"/>
              </a:ext>
            </a:extLst>
          </p:cNvPr>
          <p:cNvSpPr/>
          <p:nvPr/>
        </p:nvSpPr>
        <p:spPr>
          <a:xfrm>
            <a:off x="6355080" y="1508760"/>
            <a:ext cx="365760" cy="365760"/>
          </a:xfrm>
          <a:prstGeom prst="ellipse">
            <a:avLst/>
          </a:prstGeom>
          <a:solidFill>
            <a:srgbClr val="0E7C7B"/>
          </a:solidFill>
          <a:ln/>
        </p:spPr>
        <p:txBody>
          <a:bodyPr/>
          <a:lstStyle/>
          <a:p>
            <a:endParaRPr lang="fr-FR"/>
          </a:p>
        </p:txBody>
      </p:sp>
      <p:sp>
        <p:nvSpPr>
          <p:cNvPr id="16" name="Text 12">
            <a:extLst>
              <a:ext uri="{FF2B5EF4-FFF2-40B4-BE49-F238E27FC236}">
                <a16:creationId xmlns:a16="http://schemas.microsoft.com/office/drawing/2014/main" id="{D75FDCD9-76AE-72B6-9F06-FEB26D13BD38}"/>
              </a:ext>
            </a:extLst>
          </p:cNvPr>
          <p:cNvSpPr/>
          <p:nvPr/>
        </p:nvSpPr>
        <p:spPr>
          <a:xfrm>
            <a:off x="6355080" y="1508760"/>
            <a:ext cx="365760" cy="365760"/>
          </a:xfrm>
          <a:prstGeom prst="rect">
            <a:avLst/>
          </a:prstGeom>
          <a:noFill/>
          <a:ln/>
        </p:spPr>
        <p:txBody>
          <a:bodyPr wrap="square"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7" name="Text 13">
            <a:extLst>
              <a:ext uri="{FF2B5EF4-FFF2-40B4-BE49-F238E27FC236}">
                <a16:creationId xmlns:a16="http://schemas.microsoft.com/office/drawing/2014/main" id="{C22AEFA0-212A-A9AF-1C88-2996C541460A}"/>
              </a:ext>
            </a:extLst>
          </p:cNvPr>
          <p:cNvSpPr/>
          <p:nvPr/>
        </p:nvSpPr>
        <p:spPr>
          <a:xfrm>
            <a:off x="6812280" y="1508760"/>
            <a:ext cx="1828800" cy="1097280"/>
          </a:xfrm>
          <a:prstGeom prst="rect">
            <a:avLst/>
          </a:prstGeom>
          <a:noFill/>
          <a:ln/>
        </p:spPr>
        <p:txBody>
          <a:bodyPr wrap="square" rtlCol="0" anchor="t"/>
          <a:lstStyle/>
          <a:p>
            <a:pPr marL="0" indent="0">
              <a:buNone/>
            </a:pPr>
            <a:r>
              <a:rPr lang="en-US" sz="1200" dirty="0">
                <a:solidFill>
                  <a:srgbClr val="1A1A2E"/>
                </a:solidFill>
                <a:latin typeface="Calibri" pitchFamily="34" charset="0"/>
                <a:ea typeface="Calibri" pitchFamily="34" charset="-122"/>
                <a:cs typeface="Calibri" pitchFamily="34" charset="-120"/>
              </a:rPr>
              <a:t>Bactéries sensibles</a:t>
            </a:r>
            <a:endParaRPr lang="en-US" sz="1200" dirty="0"/>
          </a:p>
          <a:p>
            <a:pPr marL="0" indent="0">
              <a:buNone/>
            </a:pPr>
            <a:r>
              <a:rPr lang="en-US" sz="1200" dirty="0">
                <a:solidFill>
                  <a:srgbClr val="1A1A2E"/>
                </a:solidFill>
                <a:latin typeface="Calibri" pitchFamily="34" charset="0"/>
                <a:ea typeface="Calibri" pitchFamily="34" charset="-122"/>
                <a:cs typeface="Calibri" pitchFamily="34" charset="-120"/>
              </a:rPr>
              <a:t>éliminées</a:t>
            </a:r>
            <a:endParaRPr lang="en-US" sz="1200" dirty="0"/>
          </a:p>
        </p:txBody>
      </p:sp>
      <p:sp>
        <p:nvSpPr>
          <p:cNvPr id="19" name="Shape 15">
            <a:extLst>
              <a:ext uri="{FF2B5EF4-FFF2-40B4-BE49-F238E27FC236}">
                <a16:creationId xmlns:a16="http://schemas.microsoft.com/office/drawing/2014/main" id="{05D7B2CF-C1A1-0726-5F13-38FF1A9C3E8C}"/>
              </a:ext>
            </a:extLst>
          </p:cNvPr>
          <p:cNvSpPr/>
          <p:nvPr/>
        </p:nvSpPr>
        <p:spPr>
          <a:xfrm>
            <a:off x="685800" y="3200400"/>
            <a:ext cx="365760" cy="365760"/>
          </a:xfrm>
          <a:prstGeom prst="ellipse">
            <a:avLst/>
          </a:prstGeom>
          <a:solidFill>
            <a:srgbClr val="E07A5F"/>
          </a:solidFill>
          <a:ln/>
        </p:spPr>
        <p:txBody>
          <a:bodyPr/>
          <a:lstStyle/>
          <a:p>
            <a:endParaRPr lang="fr-FR"/>
          </a:p>
        </p:txBody>
      </p:sp>
      <p:sp>
        <p:nvSpPr>
          <p:cNvPr id="20" name="Text 16">
            <a:extLst>
              <a:ext uri="{FF2B5EF4-FFF2-40B4-BE49-F238E27FC236}">
                <a16:creationId xmlns:a16="http://schemas.microsoft.com/office/drawing/2014/main" id="{5A545AF4-5452-2D29-5FCA-F5283EF177FB}"/>
              </a:ext>
            </a:extLst>
          </p:cNvPr>
          <p:cNvSpPr/>
          <p:nvPr/>
        </p:nvSpPr>
        <p:spPr>
          <a:xfrm>
            <a:off x="685800" y="3200400"/>
            <a:ext cx="365760" cy="365760"/>
          </a:xfrm>
          <a:prstGeom prst="rect">
            <a:avLst/>
          </a:prstGeom>
          <a:noFill/>
          <a:ln/>
        </p:spPr>
        <p:txBody>
          <a:bodyPr wrap="square"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21" name="Text 17">
            <a:extLst>
              <a:ext uri="{FF2B5EF4-FFF2-40B4-BE49-F238E27FC236}">
                <a16:creationId xmlns:a16="http://schemas.microsoft.com/office/drawing/2014/main" id="{098263FB-3ACC-BEA9-991B-A6E66F956545}"/>
              </a:ext>
            </a:extLst>
          </p:cNvPr>
          <p:cNvSpPr/>
          <p:nvPr/>
        </p:nvSpPr>
        <p:spPr>
          <a:xfrm>
            <a:off x="1143000" y="3200400"/>
            <a:ext cx="1828800" cy="1097280"/>
          </a:xfrm>
          <a:prstGeom prst="rect">
            <a:avLst/>
          </a:prstGeom>
          <a:noFill/>
          <a:ln/>
        </p:spPr>
        <p:txBody>
          <a:bodyPr wrap="square" rtlCol="0" anchor="t"/>
          <a:lstStyle/>
          <a:p>
            <a:pPr marL="0" indent="0">
              <a:buNone/>
            </a:pPr>
            <a:r>
              <a:rPr lang="en-US" sz="1200" dirty="0">
                <a:solidFill>
                  <a:srgbClr val="1A1A2E"/>
                </a:solidFill>
                <a:latin typeface="Calibri" pitchFamily="34" charset="0"/>
                <a:ea typeface="Calibri" pitchFamily="34" charset="-122"/>
                <a:cs typeface="Calibri" pitchFamily="34" charset="-120"/>
              </a:rPr>
              <a:t>Bactéries résistantes</a:t>
            </a:r>
            <a:endParaRPr lang="en-US" sz="1200" dirty="0"/>
          </a:p>
          <a:p>
            <a:pPr marL="0" indent="0">
              <a:buNone/>
            </a:pPr>
            <a:r>
              <a:rPr lang="en-US" sz="1200" dirty="0">
                <a:solidFill>
                  <a:srgbClr val="1A1A2E"/>
                </a:solidFill>
                <a:latin typeface="Calibri" pitchFamily="34" charset="0"/>
                <a:ea typeface="Calibri" pitchFamily="34" charset="-122"/>
                <a:cs typeface="Calibri" pitchFamily="34" charset="-120"/>
              </a:rPr>
              <a:t>colonisent les niches</a:t>
            </a:r>
            <a:endParaRPr lang="en-US" sz="1200" dirty="0"/>
          </a:p>
        </p:txBody>
      </p:sp>
      <p:pic>
        <p:nvPicPr>
          <p:cNvPr id="22" name="Image 2" descr="preencoded.png">
            <a:extLst>
              <a:ext uri="{FF2B5EF4-FFF2-40B4-BE49-F238E27FC236}">
                <a16:creationId xmlns:a16="http://schemas.microsoft.com/office/drawing/2014/main" id="{D4B60DCD-5652-2C67-369A-D5B1CB0ECA6D}"/>
              </a:ext>
            </a:extLst>
          </p:cNvPr>
          <p:cNvPicPr>
            <a:picLocks noChangeAspect="1"/>
          </p:cNvPicPr>
          <p:nvPr/>
        </p:nvPicPr>
        <p:blipFill>
          <a:blip r:embed="rId3"/>
          <a:stretch>
            <a:fillRect/>
          </a:stretch>
        </p:blipFill>
        <p:spPr>
          <a:xfrm>
            <a:off x="3154680" y="3520440"/>
            <a:ext cx="201168" cy="201168"/>
          </a:xfrm>
          <a:prstGeom prst="rect">
            <a:avLst/>
          </a:prstGeom>
        </p:spPr>
      </p:pic>
      <p:sp>
        <p:nvSpPr>
          <p:cNvPr id="24" name="Shape 19">
            <a:extLst>
              <a:ext uri="{FF2B5EF4-FFF2-40B4-BE49-F238E27FC236}">
                <a16:creationId xmlns:a16="http://schemas.microsoft.com/office/drawing/2014/main" id="{7DFF6EAA-C41D-85FC-FBF3-0A0512B7D87F}"/>
              </a:ext>
            </a:extLst>
          </p:cNvPr>
          <p:cNvSpPr/>
          <p:nvPr/>
        </p:nvSpPr>
        <p:spPr>
          <a:xfrm>
            <a:off x="3520440" y="3200400"/>
            <a:ext cx="365760" cy="365760"/>
          </a:xfrm>
          <a:prstGeom prst="ellipse">
            <a:avLst/>
          </a:prstGeom>
          <a:solidFill>
            <a:srgbClr val="E07A5F"/>
          </a:solidFill>
          <a:ln/>
        </p:spPr>
        <p:txBody>
          <a:bodyPr/>
          <a:lstStyle/>
          <a:p>
            <a:endParaRPr lang="fr-FR"/>
          </a:p>
        </p:txBody>
      </p:sp>
      <p:sp>
        <p:nvSpPr>
          <p:cNvPr id="25" name="Text 20">
            <a:extLst>
              <a:ext uri="{FF2B5EF4-FFF2-40B4-BE49-F238E27FC236}">
                <a16:creationId xmlns:a16="http://schemas.microsoft.com/office/drawing/2014/main" id="{BA066BDE-8004-0466-FB1B-F9BADB4F75A8}"/>
              </a:ext>
            </a:extLst>
          </p:cNvPr>
          <p:cNvSpPr/>
          <p:nvPr/>
        </p:nvSpPr>
        <p:spPr>
          <a:xfrm>
            <a:off x="3520440" y="3200400"/>
            <a:ext cx="365760" cy="365760"/>
          </a:xfrm>
          <a:prstGeom prst="rect">
            <a:avLst/>
          </a:prstGeom>
          <a:noFill/>
          <a:ln/>
        </p:spPr>
        <p:txBody>
          <a:bodyPr wrap="square"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5</a:t>
            </a:r>
            <a:endParaRPr lang="en-US" sz="1400" dirty="0"/>
          </a:p>
        </p:txBody>
      </p:sp>
      <p:sp>
        <p:nvSpPr>
          <p:cNvPr id="26" name="Text 21">
            <a:extLst>
              <a:ext uri="{FF2B5EF4-FFF2-40B4-BE49-F238E27FC236}">
                <a16:creationId xmlns:a16="http://schemas.microsoft.com/office/drawing/2014/main" id="{8D9E9E43-7F03-DEC4-6E0A-C1AE8F7DDF61}"/>
              </a:ext>
            </a:extLst>
          </p:cNvPr>
          <p:cNvSpPr/>
          <p:nvPr/>
        </p:nvSpPr>
        <p:spPr>
          <a:xfrm>
            <a:off x="3977640" y="3200400"/>
            <a:ext cx="1828800" cy="1097280"/>
          </a:xfrm>
          <a:prstGeom prst="rect">
            <a:avLst/>
          </a:prstGeom>
          <a:noFill/>
          <a:ln/>
        </p:spPr>
        <p:txBody>
          <a:bodyPr wrap="square" rtlCol="0" anchor="t"/>
          <a:lstStyle/>
          <a:p>
            <a:pPr marL="0" indent="0">
              <a:buNone/>
            </a:pPr>
            <a:r>
              <a:rPr lang="en-US" sz="1200" dirty="0">
                <a:solidFill>
                  <a:srgbClr val="1A1A2E"/>
                </a:solidFill>
                <a:latin typeface="Calibri" pitchFamily="34" charset="0"/>
                <a:ea typeface="Calibri" pitchFamily="34" charset="-122"/>
                <a:cs typeface="Calibri" pitchFamily="34" charset="-120"/>
              </a:rPr>
              <a:t>Excrétion massive</a:t>
            </a:r>
            <a:endParaRPr lang="en-US" sz="1200" dirty="0"/>
          </a:p>
          <a:p>
            <a:pPr marL="0" indent="0">
              <a:buNone/>
            </a:pPr>
            <a:r>
              <a:rPr lang="en-US" sz="1200" dirty="0">
                <a:solidFill>
                  <a:srgbClr val="1A1A2E"/>
                </a:solidFill>
                <a:latin typeface="Calibri" pitchFamily="34" charset="0"/>
                <a:ea typeface="Calibri" pitchFamily="34" charset="-122"/>
                <a:cs typeface="Calibri" pitchFamily="34" charset="-120"/>
              </a:rPr>
              <a:t>dans les fèces</a:t>
            </a:r>
            <a:endParaRPr lang="en-US" sz="1200" dirty="0"/>
          </a:p>
        </p:txBody>
      </p:sp>
      <p:pic>
        <p:nvPicPr>
          <p:cNvPr id="27" name="Image 3" descr="preencoded.png">
            <a:extLst>
              <a:ext uri="{FF2B5EF4-FFF2-40B4-BE49-F238E27FC236}">
                <a16:creationId xmlns:a16="http://schemas.microsoft.com/office/drawing/2014/main" id="{5F4F71FD-847F-EB86-7C9B-704706BC939E}"/>
              </a:ext>
            </a:extLst>
          </p:cNvPr>
          <p:cNvPicPr>
            <a:picLocks noChangeAspect="1"/>
          </p:cNvPicPr>
          <p:nvPr/>
        </p:nvPicPr>
        <p:blipFill>
          <a:blip r:embed="rId3"/>
          <a:stretch>
            <a:fillRect/>
          </a:stretch>
        </p:blipFill>
        <p:spPr>
          <a:xfrm>
            <a:off x="5989320" y="3520440"/>
            <a:ext cx="201168" cy="201168"/>
          </a:xfrm>
          <a:prstGeom prst="rect">
            <a:avLst/>
          </a:prstGeom>
        </p:spPr>
      </p:pic>
      <p:sp>
        <p:nvSpPr>
          <p:cNvPr id="29" name="Shape 23">
            <a:extLst>
              <a:ext uri="{FF2B5EF4-FFF2-40B4-BE49-F238E27FC236}">
                <a16:creationId xmlns:a16="http://schemas.microsoft.com/office/drawing/2014/main" id="{08BF1A00-FE15-1152-4739-89EDCAC7CFC4}"/>
              </a:ext>
            </a:extLst>
          </p:cNvPr>
          <p:cNvSpPr/>
          <p:nvPr/>
        </p:nvSpPr>
        <p:spPr>
          <a:xfrm>
            <a:off x="6355080" y="3200400"/>
            <a:ext cx="365760" cy="365760"/>
          </a:xfrm>
          <a:prstGeom prst="ellipse">
            <a:avLst/>
          </a:prstGeom>
          <a:solidFill>
            <a:srgbClr val="E07A5F"/>
          </a:solidFill>
          <a:ln/>
        </p:spPr>
        <p:txBody>
          <a:bodyPr/>
          <a:lstStyle/>
          <a:p>
            <a:endParaRPr lang="fr-FR"/>
          </a:p>
        </p:txBody>
      </p:sp>
      <p:sp>
        <p:nvSpPr>
          <p:cNvPr id="30" name="Text 24">
            <a:extLst>
              <a:ext uri="{FF2B5EF4-FFF2-40B4-BE49-F238E27FC236}">
                <a16:creationId xmlns:a16="http://schemas.microsoft.com/office/drawing/2014/main" id="{E008E1E7-7969-569C-B541-84E208EE8434}"/>
              </a:ext>
            </a:extLst>
          </p:cNvPr>
          <p:cNvSpPr/>
          <p:nvPr/>
        </p:nvSpPr>
        <p:spPr>
          <a:xfrm>
            <a:off x="6355080" y="3200400"/>
            <a:ext cx="365760" cy="365760"/>
          </a:xfrm>
          <a:prstGeom prst="rect">
            <a:avLst/>
          </a:prstGeom>
          <a:noFill/>
          <a:ln/>
        </p:spPr>
        <p:txBody>
          <a:bodyPr wrap="square"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6</a:t>
            </a:r>
            <a:endParaRPr lang="en-US" sz="1400" dirty="0"/>
          </a:p>
        </p:txBody>
      </p:sp>
      <p:sp>
        <p:nvSpPr>
          <p:cNvPr id="31" name="Text 25">
            <a:extLst>
              <a:ext uri="{FF2B5EF4-FFF2-40B4-BE49-F238E27FC236}">
                <a16:creationId xmlns:a16="http://schemas.microsoft.com/office/drawing/2014/main" id="{0E5C245F-7A0A-9BF1-4A9E-C24ED723D00B}"/>
              </a:ext>
            </a:extLst>
          </p:cNvPr>
          <p:cNvSpPr/>
          <p:nvPr/>
        </p:nvSpPr>
        <p:spPr>
          <a:xfrm>
            <a:off x="6812280" y="3200400"/>
            <a:ext cx="1828800" cy="1097280"/>
          </a:xfrm>
          <a:prstGeom prst="rect">
            <a:avLst/>
          </a:prstGeom>
          <a:noFill/>
          <a:ln/>
        </p:spPr>
        <p:txBody>
          <a:bodyPr wrap="square" rtlCol="0" anchor="t"/>
          <a:lstStyle/>
          <a:p>
            <a:pPr marL="0" indent="0">
              <a:buNone/>
            </a:pPr>
            <a:r>
              <a:rPr lang="en-US" sz="1200" dirty="0">
                <a:solidFill>
                  <a:srgbClr val="1A1A2E"/>
                </a:solidFill>
                <a:latin typeface="Calibri" pitchFamily="34" charset="0"/>
                <a:ea typeface="Calibri" pitchFamily="34" charset="-122"/>
                <a:cs typeface="Calibri" pitchFamily="34" charset="-120"/>
              </a:rPr>
              <a:t>Contamination</a:t>
            </a:r>
            <a:endParaRPr lang="en-US" sz="1200" dirty="0"/>
          </a:p>
          <a:p>
            <a:pPr marL="0" indent="0">
              <a:buNone/>
            </a:pPr>
            <a:r>
              <a:rPr lang="en-US" sz="1200" dirty="0">
                <a:solidFill>
                  <a:srgbClr val="1A1A2E"/>
                </a:solidFill>
                <a:latin typeface="Calibri" pitchFamily="34" charset="0"/>
                <a:ea typeface="Calibri" pitchFamily="34" charset="-122"/>
                <a:cs typeface="Calibri" pitchFamily="34" charset="-120"/>
              </a:rPr>
              <a:t>environnement → homme</a:t>
            </a:r>
            <a:endParaRPr lang="en-US" sz="1200" dirty="0"/>
          </a:p>
        </p:txBody>
      </p:sp>
      <p:sp>
        <p:nvSpPr>
          <p:cNvPr id="32" name="Text 26">
            <a:extLst>
              <a:ext uri="{FF2B5EF4-FFF2-40B4-BE49-F238E27FC236}">
                <a16:creationId xmlns:a16="http://schemas.microsoft.com/office/drawing/2014/main" id="{6DC10978-49D8-1791-42C0-605A31D78F18}"/>
              </a:ext>
            </a:extLst>
          </p:cNvPr>
          <p:cNvSpPr/>
          <p:nvPr/>
        </p:nvSpPr>
        <p:spPr>
          <a:xfrm>
            <a:off x="7772400" y="2651760"/>
            <a:ext cx="365760" cy="457200"/>
          </a:xfrm>
          <a:prstGeom prst="rect">
            <a:avLst/>
          </a:prstGeom>
          <a:noFill/>
          <a:ln/>
        </p:spPr>
        <p:txBody>
          <a:bodyPr wrap="square" rtlCol="0" anchor="ctr"/>
          <a:lstStyle/>
          <a:p>
            <a:pPr marL="0" indent="0" algn="ctr">
              <a:buNone/>
            </a:pPr>
            <a:r>
              <a:rPr lang="en-US" sz="2000" dirty="0">
                <a:solidFill>
                  <a:srgbClr val="17A2A2"/>
                </a:solidFill>
              </a:rPr>
              <a:t>↓</a:t>
            </a:r>
            <a:endParaRPr lang="en-US" sz="2000" dirty="0"/>
          </a:p>
        </p:txBody>
      </p:sp>
      <p:pic>
        <p:nvPicPr>
          <p:cNvPr id="34" name="Image 4" descr="preencoded.png">
            <a:extLst>
              <a:ext uri="{FF2B5EF4-FFF2-40B4-BE49-F238E27FC236}">
                <a16:creationId xmlns:a16="http://schemas.microsoft.com/office/drawing/2014/main" id="{6F5D7128-FD79-65E8-5060-CDA81A67F16C}"/>
              </a:ext>
            </a:extLst>
          </p:cNvPr>
          <p:cNvPicPr>
            <a:picLocks noChangeAspect="1"/>
          </p:cNvPicPr>
          <p:nvPr/>
        </p:nvPicPr>
        <p:blipFill>
          <a:blip r:embed="rId4"/>
          <a:stretch>
            <a:fillRect/>
          </a:stretch>
        </p:blipFill>
        <p:spPr>
          <a:xfrm>
            <a:off x="685800" y="4590288"/>
            <a:ext cx="320040" cy="320040"/>
          </a:xfrm>
          <a:prstGeom prst="rect">
            <a:avLst/>
          </a:prstGeom>
        </p:spPr>
      </p:pic>
      <p:sp useBgFill="1">
        <p:nvSpPr>
          <p:cNvPr id="36" name="Rectangle 35">
            <a:extLst>
              <a:ext uri="{FF2B5EF4-FFF2-40B4-BE49-F238E27FC236}">
                <a16:creationId xmlns:a16="http://schemas.microsoft.com/office/drawing/2014/main" id="{509AEC25-014A-742F-C9AC-E0BE6B0186B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0"/>
            <a:ext cx="9141714" cy="51435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 name="Text 0">
            <a:extLst>
              <a:ext uri="{FF2B5EF4-FFF2-40B4-BE49-F238E27FC236}">
                <a16:creationId xmlns:a16="http://schemas.microsoft.com/office/drawing/2014/main" id="{26B91196-EDD5-9852-EA29-8F9C024596B2}"/>
              </a:ext>
            </a:extLst>
          </p:cNvPr>
          <p:cNvSpPr/>
          <p:nvPr/>
        </p:nvSpPr>
        <p:spPr>
          <a:xfrm>
            <a:off x="479160" y="502663"/>
            <a:ext cx="7335912" cy="799377"/>
          </a:xfrm>
          <a:prstGeom prst="rect">
            <a:avLst/>
          </a:prstGeom>
        </p:spPr>
        <p:txBody>
          <a:bodyPr vert="horz" lIns="91440" tIns="45720" rIns="91440" bIns="45720" rtlCol="0" anchor="ctr">
            <a:normAutofit/>
          </a:bodyPr>
          <a:lstStyle/>
          <a:p>
            <a:pPr>
              <a:lnSpc>
                <a:spcPct val="90000"/>
              </a:lnSpc>
              <a:spcBef>
                <a:spcPct val="0"/>
              </a:spcBef>
              <a:spcAft>
                <a:spcPts val="600"/>
              </a:spcAft>
            </a:pPr>
            <a:r>
              <a:rPr lang="en-US" sz="2800" b="1" dirty="0">
                <a:solidFill>
                  <a:srgbClr val="0D4F4F"/>
                </a:solidFill>
                <a:latin typeface="Georgia" pitchFamily="34" charset="0"/>
              </a:rPr>
              <a:t>Mini HPL : Echange de </a:t>
            </a:r>
            <a:r>
              <a:rPr lang="en-US" sz="2800" b="1" dirty="0" err="1">
                <a:solidFill>
                  <a:srgbClr val="0D4F4F"/>
                </a:solidFill>
                <a:latin typeface="Georgia" pitchFamily="34" charset="0"/>
              </a:rPr>
              <a:t>lignes</a:t>
            </a:r>
            <a:endParaRPr lang="en-US" sz="2800" b="1" dirty="0">
              <a:solidFill>
                <a:srgbClr val="0D4F4F"/>
              </a:solidFill>
              <a:latin typeface="Georgia" pitchFamily="34" charset="0"/>
            </a:endParaRPr>
          </a:p>
        </p:txBody>
      </p:sp>
      <p:sp>
        <p:nvSpPr>
          <p:cNvPr id="39" name="sketch line">
            <a:extLst>
              <a:ext uri="{FF2B5EF4-FFF2-40B4-BE49-F238E27FC236}">
                <a16:creationId xmlns:a16="http://schemas.microsoft.com/office/drawing/2014/main" id="{7F9CA60E-1C07-7A17-3815-FAA3D0BED06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2542032" y="1350066"/>
            <a:ext cx="4057650" cy="13716"/>
          </a:xfrm>
          <a:custGeom>
            <a:avLst/>
            <a:gdLst>
              <a:gd name="csX0" fmla="*/ 0 w 4057650"/>
              <a:gd name="csY0" fmla="*/ 0 h 13716"/>
              <a:gd name="csX1" fmla="*/ 757428 w 4057650"/>
              <a:gd name="csY1" fmla="*/ 0 h 13716"/>
              <a:gd name="csX2" fmla="*/ 1474279 w 4057650"/>
              <a:gd name="csY2" fmla="*/ 0 h 13716"/>
              <a:gd name="csX3" fmla="*/ 2191131 w 4057650"/>
              <a:gd name="csY3" fmla="*/ 0 h 13716"/>
              <a:gd name="csX4" fmla="*/ 2745676 w 4057650"/>
              <a:gd name="csY4" fmla="*/ 0 h 13716"/>
              <a:gd name="csX5" fmla="*/ 3340798 w 4057650"/>
              <a:gd name="csY5" fmla="*/ 0 h 13716"/>
              <a:gd name="csX6" fmla="*/ 4057650 w 4057650"/>
              <a:gd name="csY6" fmla="*/ 0 h 13716"/>
              <a:gd name="csX7" fmla="*/ 4057650 w 4057650"/>
              <a:gd name="csY7" fmla="*/ 13716 h 13716"/>
              <a:gd name="csX8" fmla="*/ 3381375 w 4057650"/>
              <a:gd name="csY8" fmla="*/ 13716 h 13716"/>
              <a:gd name="csX9" fmla="*/ 2826830 w 4057650"/>
              <a:gd name="csY9" fmla="*/ 13716 h 13716"/>
              <a:gd name="csX10" fmla="*/ 2272284 w 4057650"/>
              <a:gd name="csY10" fmla="*/ 13716 h 13716"/>
              <a:gd name="csX11" fmla="*/ 1555432 w 4057650"/>
              <a:gd name="csY11" fmla="*/ 13716 h 13716"/>
              <a:gd name="csX12" fmla="*/ 960310 w 4057650"/>
              <a:gd name="csY12" fmla="*/ 13716 h 13716"/>
              <a:gd name="csX13" fmla="*/ 0 w 4057650"/>
              <a:gd name="csY13" fmla="*/ 13716 h 13716"/>
              <a:gd name="csX14" fmla="*/ 0 w 4057650"/>
              <a:gd name="csY14" fmla="*/ 0 h 1371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Lst>
            <a:rect l="l" t="t" r="r" b="b"/>
            <a:pathLst>
              <a:path w="4057650" h="13716" fill="none" extrusionOk="0">
                <a:moveTo>
                  <a:pt x="0" y="0"/>
                </a:moveTo>
                <a:cubicBezTo>
                  <a:pt x="371182" y="3227"/>
                  <a:pt x="494372" y="9222"/>
                  <a:pt x="757428" y="0"/>
                </a:cubicBezTo>
                <a:cubicBezTo>
                  <a:pt x="1020484" y="-9222"/>
                  <a:pt x="1116719" y="-4357"/>
                  <a:pt x="1474279" y="0"/>
                </a:cubicBezTo>
                <a:cubicBezTo>
                  <a:pt x="1831839" y="4357"/>
                  <a:pt x="1920973" y="-11809"/>
                  <a:pt x="2191131" y="0"/>
                </a:cubicBezTo>
                <a:cubicBezTo>
                  <a:pt x="2461289" y="11809"/>
                  <a:pt x="2589480" y="-22604"/>
                  <a:pt x="2745676" y="0"/>
                </a:cubicBezTo>
                <a:cubicBezTo>
                  <a:pt x="2901872" y="22604"/>
                  <a:pt x="3136452" y="-12306"/>
                  <a:pt x="3340798" y="0"/>
                </a:cubicBezTo>
                <a:cubicBezTo>
                  <a:pt x="3545144" y="12306"/>
                  <a:pt x="3766934" y="-21556"/>
                  <a:pt x="4057650" y="0"/>
                </a:cubicBezTo>
                <a:cubicBezTo>
                  <a:pt x="4057378" y="4708"/>
                  <a:pt x="4057987" y="7132"/>
                  <a:pt x="4057650" y="13716"/>
                </a:cubicBezTo>
                <a:cubicBezTo>
                  <a:pt x="3743404" y="35553"/>
                  <a:pt x="3625516" y="-19495"/>
                  <a:pt x="3381375" y="13716"/>
                </a:cubicBezTo>
                <a:cubicBezTo>
                  <a:pt x="3137235" y="46927"/>
                  <a:pt x="2946571" y="-4571"/>
                  <a:pt x="2826830" y="13716"/>
                </a:cubicBezTo>
                <a:cubicBezTo>
                  <a:pt x="2707090" y="32003"/>
                  <a:pt x="2402756" y="-3140"/>
                  <a:pt x="2272284" y="13716"/>
                </a:cubicBezTo>
                <a:cubicBezTo>
                  <a:pt x="2141812" y="30572"/>
                  <a:pt x="1895935" y="13627"/>
                  <a:pt x="1555432" y="13716"/>
                </a:cubicBezTo>
                <a:cubicBezTo>
                  <a:pt x="1214929" y="13805"/>
                  <a:pt x="1103072" y="9931"/>
                  <a:pt x="960310" y="13716"/>
                </a:cubicBezTo>
                <a:cubicBezTo>
                  <a:pt x="817548" y="17501"/>
                  <a:pt x="402272" y="-33931"/>
                  <a:pt x="0" y="13716"/>
                </a:cubicBezTo>
                <a:cubicBezTo>
                  <a:pt x="-460" y="10837"/>
                  <a:pt x="38" y="6680"/>
                  <a:pt x="0" y="0"/>
                </a:cubicBezTo>
                <a:close/>
              </a:path>
              <a:path w="4057650" h="13716" stroke="0" extrusionOk="0">
                <a:moveTo>
                  <a:pt x="0" y="0"/>
                </a:moveTo>
                <a:cubicBezTo>
                  <a:pt x="248348" y="13145"/>
                  <a:pt x="486117" y="25042"/>
                  <a:pt x="635698" y="0"/>
                </a:cubicBezTo>
                <a:cubicBezTo>
                  <a:pt x="785279" y="-25042"/>
                  <a:pt x="917762" y="-5537"/>
                  <a:pt x="1190244" y="0"/>
                </a:cubicBezTo>
                <a:cubicBezTo>
                  <a:pt x="1462726" y="5537"/>
                  <a:pt x="1667120" y="-21232"/>
                  <a:pt x="1947672" y="0"/>
                </a:cubicBezTo>
                <a:cubicBezTo>
                  <a:pt x="2228224" y="21232"/>
                  <a:pt x="2280631" y="-21698"/>
                  <a:pt x="2583370" y="0"/>
                </a:cubicBezTo>
                <a:cubicBezTo>
                  <a:pt x="2886109" y="21698"/>
                  <a:pt x="3022941" y="19647"/>
                  <a:pt x="3219069" y="0"/>
                </a:cubicBezTo>
                <a:cubicBezTo>
                  <a:pt x="3415197" y="-19647"/>
                  <a:pt x="3747500" y="26991"/>
                  <a:pt x="4057650" y="0"/>
                </a:cubicBezTo>
                <a:cubicBezTo>
                  <a:pt x="4056980" y="3019"/>
                  <a:pt x="4057134" y="10425"/>
                  <a:pt x="4057650" y="13716"/>
                </a:cubicBezTo>
                <a:cubicBezTo>
                  <a:pt x="3865148" y="-7885"/>
                  <a:pt x="3702543" y="44896"/>
                  <a:pt x="3381375" y="13716"/>
                </a:cubicBezTo>
                <a:cubicBezTo>
                  <a:pt x="3060208" y="-17464"/>
                  <a:pt x="2956571" y="-13250"/>
                  <a:pt x="2826830" y="13716"/>
                </a:cubicBezTo>
                <a:cubicBezTo>
                  <a:pt x="2697089" y="40682"/>
                  <a:pt x="2411031" y="38582"/>
                  <a:pt x="2150555" y="13716"/>
                </a:cubicBezTo>
                <a:cubicBezTo>
                  <a:pt x="1890080" y="-11150"/>
                  <a:pt x="1741827" y="-5187"/>
                  <a:pt x="1474280" y="13716"/>
                </a:cubicBezTo>
                <a:cubicBezTo>
                  <a:pt x="1206734" y="32619"/>
                  <a:pt x="998203" y="28763"/>
                  <a:pt x="838581" y="13716"/>
                </a:cubicBezTo>
                <a:cubicBezTo>
                  <a:pt x="678959" y="-1331"/>
                  <a:pt x="187101" y="-17784"/>
                  <a:pt x="0" y="13716"/>
                </a:cubicBezTo>
                <a:cubicBezTo>
                  <a:pt x="-114" y="7033"/>
                  <a:pt x="103" y="3429"/>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Shape 2">
            <a:extLst>
              <a:ext uri="{FF2B5EF4-FFF2-40B4-BE49-F238E27FC236}">
                <a16:creationId xmlns:a16="http://schemas.microsoft.com/office/drawing/2014/main" id="{29A1502C-6161-AAAA-178E-2E0D100FAAA2}"/>
              </a:ext>
            </a:extLst>
          </p:cNvPr>
          <p:cNvSpPr/>
          <p:nvPr/>
        </p:nvSpPr>
        <p:spPr>
          <a:xfrm>
            <a:off x="290322" y="1411808"/>
            <a:ext cx="3732276" cy="3731692"/>
          </a:xfrm>
          <a:prstGeom prst="rect">
            <a:avLst/>
          </a:prstGeom>
          <a:solidFill>
            <a:srgbClr val="FFFFFF"/>
          </a:solidFill>
          <a:ln/>
          <a:effectLst>
            <a:outerShdw blurRad="50800" dist="25400" dir="8100000" algn="bl" rotWithShape="0">
              <a:srgbClr val="000000">
                <a:alpha val="8000"/>
              </a:srgbClr>
            </a:outerShdw>
          </a:effectLst>
        </p:spPr>
        <p:txBody>
          <a:bodyPr/>
          <a:lstStyle/>
          <a:p>
            <a:r>
              <a:rPr lang="fr-FR" sz="1000" b="1" i="1" dirty="0"/>
              <a:t>if (</a:t>
            </a:r>
            <a:r>
              <a:rPr lang="fr-FR" sz="1000" b="1" i="1" dirty="0" err="1"/>
              <a:t>pivot_gi</a:t>
            </a:r>
            <a:r>
              <a:rPr lang="fr-FR" sz="1000" b="1" i="1" dirty="0"/>
              <a:t> != k) {</a:t>
            </a:r>
          </a:p>
          <a:p>
            <a:endParaRPr lang="fr-FR" sz="1000" b="1" i="1" dirty="0"/>
          </a:p>
          <a:p>
            <a:r>
              <a:rPr lang="fr-FR" sz="1000" b="1" i="1" dirty="0"/>
              <a:t>    if (</a:t>
            </a:r>
            <a:r>
              <a:rPr lang="fr-FR" sz="1000" b="1" i="1" dirty="0" err="1"/>
              <a:t>rank</a:t>
            </a:r>
            <a:r>
              <a:rPr lang="fr-FR" sz="1000" b="1" i="1" dirty="0"/>
              <a:t> == </a:t>
            </a:r>
            <a:r>
              <a:rPr lang="fr-FR" sz="1000" b="1" i="1" dirty="0" err="1"/>
              <a:t>k_owner</a:t>
            </a:r>
            <a:r>
              <a:rPr lang="fr-FR" sz="1000" b="1" i="1" dirty="0"/>
              <a:t> &amp;&amp; </a:t>
            </a:r>
            <a:r>
              <a:rPr lang="fr-FR" sz="1000" b="1" i="1" dirty="0" err="1"/>
              <a:t>rank</a:t>
            </a:r>
            <a:r>
              <a:rPr lang="fr-FR" sz="1000" b="1" i="1" dirty="0"/>
              <a:t> == </a:t>
            </a:r>
            <a:r>
              <a:rPr lang="fr-FR" sz="1000" b="1" i="1" dirty="0" err="1"/>
              <a:t>pivot_owner</a:t>
            </a:r>
            <a:r>
              <a:rPr lang="fr-FR" sz="1000" b="1" i="1" dirty="0"/>
              <a:t>) {</a:t>
            </a:r>
          </a:p>
          <a:p>
            <a:r>
              <a:rPr lang="fr-FR" sz="1000" b="1" i="1" dirty="0"/>
              <a:t>        // Même processus : swap local</a:t>
            </a:r>
          </a:p>
          <a:p>
            <a:r>
              <a:rPr lang="fr-FR" sz="1000" b="1" i="1" dirty="0"/>
              <a:t>        for (</a:t>
            </a:r>
            <a:r>
              <a:rPr lang="fr-FR" sz="1000" b="1" i="1" dirty="0" err="1"/>
              <a:t>int</a:t>
            </a:r>
            <a:r>
              <a:rPr lang="fr-FR" sz="1000" b="1" i="1" dirty="0"/>
              <a:t> j = 0; j &lt; N; j++) {</a:t>
            </a:r>
          </a:p>
          <a:p>
            <a:r>
              <a:rPr lang="fr-FR" sz="1000" b="1" i="1" dirty="0"/>
              <a:t>            double </a:t>
            </a:r>
            <a:r>
              <a:rPr lang="fr-FR" sz="1000" b="1" i="1" dirty="0" err="1"/>
              <a:t>tmp</a:t>
            </a:r>
            <a:r>
              <a:rPr lang="fr-FR" sz="1000" b="1" i="1" dirty="0"/>
              <a:t> = A[IDX(</a:t>
            </a:r>
            <a:r>
              <a:rPr lang="fr-FR" sz="1000" b="1" i="1" dirty="0" err="1"/>
              <a:t>k_li</a:t>
            </a:r>
            <a:r>
              <a:rPr lang="fr-FR" sz="1000" b="1" i="1" dirty="0"/>
              <a:t>, j, N)];</a:t>
            </a:r>
          </a:p>
          <a:p>
            <a:r>
              <a:rPr lang="fr-FR" sz="1000" b="1" i="1" dirty="0"/>
              <a:t>            A[IDX(</a:t>
            </a:r>
            <a:r>
              <a:rPr lang="fr-FR" sz="1000" b="1" i="1" dirty="0" err="1"/>
              <a:t>k_li</a:t>
            </a:r>
            <a:r>
              <a:rPr lang="fr-FR" sz="1000" b="1" i="1" dirty="0"/>
              <a:t>, j, N)] = A[IDX(</a:t>
            </a:r>
            <a:r>
              <a:rPr lang="fr-FR" sz="1000" b="1" i="1" dirty="0" err="1"/>
              <a:t>pivot_li</a:t>
            </a:r>
            <a:r>
              <a:rPr lang="fr-FR" sz="1000" b="1" i="1" dirty="0"/>
              <a:t>, j, N)];</a:t>
            </a:r>
          </a:p>
          <a:p>
            <a:r>
              <a:rPr lang="fr-FR" sz="1000" b="1" i="1" dirty="0"/>
              <a:t>            A[IDX(</a:t>
            </a:r>
            <a:r>
              <a:rPr lang="fr-FR" sz="1000" b="1" i="1" dirty="0" err="1"/>
              <a:t>pivot_li</a:t>
            </a:r>
            <a:r>
              <a:rPr lang="fr-FR" sz="1000" b="1" i="1" dirty="0"/>
              <a:t>, j, N)] = </a:t>
            </a:r>
            <a:r>
              <a:rPr lang="fr-FR" sz="1000" b="1" i="1" dirty="0" err="1"/>
              <a:t>tmp</a:t>
            </a:r>
            <a:r>
              <a:rPr lang="fr-FR" sz="1000" b="1" i="1" dirty="0"/>
              <a:t>;</a:t>
            </a:r>
          </a:p>
          <a:p>
            <a:r>
              <a:rPr lang="fr-FR" sz="1000" b="1" i="1" dirty="0"/>
              <a:t>        }</a:t>
            </a:r>
          </a:p>
          <a:p>
            <a:endParaRPr lang="fr-FR" sz="1000" b="1" i="1" dirty="0"/>
          </a:p>
          <a:p>
            <a:r>
              <a:rPr lang="fr-FR" sz="1000" b="1" i="1" dirty="0"/>
              <a:t>    } </a:t>
            </a:r>
            <a:r>
              <a:rPr lang="fr-FR" sz="1000" b="1" i="1" dirty="0" err="1"/>
              <a:t>else</a:t>
            </a:r>
            <a:r>
              <a:rPr lang="fr-FR" sz="1000" b="1" i="1" dirty="0"/>
              <a:t> if (</a:t>
            </a:r>
            <a:r>
              <a:rPr lang="fr-FR" sz="1000" b="1" i="1" dirty="0" err="1"/>
              <a:t>rank</a:t>
            </a:r>
            <a:r>
              <a:rPr lang="fr-FR" sz="1000" b="1" i="1" dirty="0"/>
              <a:t> == </a:t>
            </a:r>
            <a:r>
              <a:rPr lang="fr-FR" sz="1000" b="1" i="1" dirty="0" err="1"/>
              <a:t>k_owner</a:t>
            </a:r>
            <a:r>
              <a:rPr lang="fr-FR" sz="1000" b="1" i="1" dirty="0"/>
              <a:t>) {</a:t>
            </a:r>
          </a:p>
          <a:p>
            <a:endParaRPr lang="fr-FR" sz="1000" b="1" i="1" dirty="0"/>
          </a:p>
          <a:p>
            <a:r>
              <a:rPr lang="fr-FR" sz="1000" b="1" i="1" dirty="0"/>
              <a:t>        </a:t>
            </a:r>
            <a:r>
              <a:rPr lang="fr-FR" sz="1000" b="1" i="1" dirty="0" err="1"/>
              <a:t>memcpy</a:t>
            </a:r>
            <a:r>
              <a:rPr lang="fr-FR" sz="1000" b="1" i="1" dirty="0"/>
              <a:t>(</a:t>
            </a:r>
            <a:r>
              <a:rPr lang="fr-FR" sz="1000" b="1" i="1" dirty="0" err="1"/>
              <a:t>tmp_row</a:t>
            </a:r>
            <a:r>
              <a:rPr lang="fr-FR" sz="1000" b="1" i="1" dirty="0"/>
              <a:t>, &amp;A[IDX(</a:t>
            </a:r>
            <a:r>
              <a:rPr lang="fr-FR" sz="1000" b="1" i="1" dirty="0" err="1"/>
              <a:t>k_li</a:t>
            </a:r>
            <a:r>
              <a:rPr lang="fr-FR" sz="1000" b="1" i="1" dirty="0"/>
              <a:t>, 0, N)], N * </a:t>
            </a:r>
            <a:r>
              <a:rPr lang="fr-FR" sz="1000" b="1" i="1" dirty="0" err="1"/>
              <a:t>sizeof</a:t>
            </a:r>
            <a:r>
              <a:rPr lang="fr-FR" sz="1000" b="1" i="1" dirty="0"/>
              <a:t>(double));</a:t>
            </a:r>
          </a:p>
          <a:p>
            <a:r>
              <a:rPr lang="fr-FR" sz="1000" b="1" i="1" dirty="0"/>
              <a:t>        </a:t>
            </a:r>
            <a:r>
              <a:rPr lang="fr-FR" sz="1000" b="1" i="1" dirty="0" err="1"/>
              <a:t>tmp_row</a:t>
            </a:r>
            <a:r>
              <a:rPr lang="fr-FR" sz="1000" b="1" i="1" dirty="0"/>
              <a:t>[N] = </a:t>
            </a:r>
            <a:r>
              <a:rPr lang="fr-FR" sz="1000" b="1" i="1" dirty="0" err="1"/>
              <a:t>b_vec</a:t>
            </a:r>
            <a:r>
              <a:rPr lang="fr-FR" sz="1000" b="1" i="1" dirty="0"/>
              <a:t>[</a:t>
            </a:r>
            <a:r>
              <a:rPr lang="fr-FR" sz="1000" b="1" i="1" dirty="0" err="1"/>
              <a:t>k_li</a:t>
            </a:r>
            <a:r>
              <a:rPr lang="fr-FR" sz="1000" b="1" i="1" dirty="0"/>
              <a:t>];   // b embarqué !</a:t>
            </a:r>
          </a:p>
          <a:p>
            <a:endParaRPr lang="fr-FR" sz="1000" b="1" i="1" dirty="0"/>
          </a:p>
          <a:p>
            <a:r>
              <a:rPr lang="fr-FR" sz="1000" b="1" i="1" dirty="0"/>
              <a:t>        </a:t>
            </a:r>
            <a:r>
              <a:rPr lang="fr-FR" sz="1000" b="1" i="1" dirty="0" err="1"/>
              <a:t>MPI_Sendrecv</a:t>
            </a:r>
            <a:r>
              <a:rPr lang="fr-FR" sz="1000" b="1" i="1" dirty="0"/>
              <a:t>(</a:t>
            </a:r>
            <a:r>
              <a:rPr lang="fr-FR" sz="1000" b="1" i="1" dirty="0" err="1"/>
              <a:t>tmp_row</a:t>
            </a:r>
            <a:r>
              <a:rPr lang="fr-FR" sz="1000" b="1" i="1" dirty="0"/>
              <a:t>,   N+1, MPI_DOUBLE, </a:t>
            </a:r>
            <a:r>
              <a:rPr lang="fr-FR" sz="1000" b="1" i="1" dirty="0" err="1"/>
              <a:t>pivot_owner</a:t>
            </a:r>
            <a:r>
              <a:rPr lang="fr-FR" sz="1000" b="1" i="1" dirty="0"/>
              <a:t>, 0,</a:t>
            </a:r>
          </a:p>
          <a:p>
            <a:r>
              <a:rPr lang="fr-FR" sz="1000" b="1" i="1" dirty="0"/>
              <a:t>                     </a:t>
            </a:r>
            <a:r>
              <a:rPr lang="fr-FR" sz="1000" b="1" i="1" dirty="0" err="1"/>
              <a:t>pivot_row</a:t>
            </a:r>
            <a:r>
              <a:rPr lang="fr-FR" sz="1000" b="1" i="1" dirty="0"/>
              <a:t>, N+1, MPI_DOUBLE, </a:t>
            </a:r>
            <a:r>
              <a:rPr lang="fr-FR" sz="1000" b="1" i="1" dirty="0" err="1"/>
              <a:t>pivot_owner</a:t>
            </a:r>
            <a:r>
              <a:rPr lang="fr-FR" sz="1000" b="1" i="1" dirty="0"/>
              <a:t>, 0,</a:t>
            </a:r>
          </a:p>
          <a:p>
            <a:r>
              <a:rPr lang="fr-FR" sz="1000" b="1" i="1" dirty="0"/>
              <a:t>                     MPI_COMM_WORLD, MPI_STATUS_IGNORE);</a:t>
            </a:r>
          </a:p>
          <a:p>
            <a:endParaRPr lang="fr-FR" sz="1000" b="1" i="1" dirty="0"/>
          </a:p>
          <a:p>
            <a:r>
              <a:rPr lang="fr-FR" sz="1000" b="1" i="1" dirty="0"/>
              <a:t>        </a:t>
            </a:r>
            <a:r>
              <a:rPr lang="fr-FR" sz="1000" b="1" i="1" dirty="0" err="1"/>
              <a:t>memcpy</a:t>
            </a:r>
            <a:r>
              <a:rPr lang="fr-FR" sz="1000" b="1" i="1" dirty="0"/>
              <a:t>(&amp;A[IDX(</a:t>
            </a:r>
            <a:r>
              <a:rPr lang="fr-FR" sz="1000" b="1" i="1" dirty="0" err="1"/>
              <a:t>k_li</a:t>
            </a:r>
            <a:r>
              <a:rPr lang="fr-FR" sz="1000" b="1" i="1" dirty="0"/>
              <a:t>, 0, N)], </a:t>
            </a:r>
            <a:r>
              <a:rPr lang="fr-FR" sz="1000" b="1" i="1" dirty="0" err="1"/>
              <a:t>pivot_row</a:t>
            </a:r>
            <a:r>
              <a:rPr lang="fr-FR" sz="1000" b="1" i="1" dirty="0"/>
              <a:t>, N * </a:t>
            </a:r>
            <a:r>
              <a:rPr lang="fr-FR" sz="1000" b="1" i="1" dirty="0" err="1"/>
              <a:t>sizeof</a:t>
            </a:r>
            <a:r>
              <a:rPr lang="fr-FR" sz="1000" b="1" i="1" dirty="0"/>
              <a:t>(double));</a:t>
            </a:r>
          </a:p>
          <a:p>
            <a:r>
              <a:rPr lang="fr-FR" sz="1000" b="1" i="1" dirty="0"/>
              <a:t>        </a:t>
            </a:r>
            <a:r>
              <a:rPr lang="fr-FR" sz="1000" b="1" i="1" dirty="0" err="1"/>
              <a:t>b_vec</a:t>
            </a:r>
            <a:r>
              <a:rPr lang="fr-FR" sz="1000" b="1" i="1" dirty="0"/>
              <a:t>[</a:t>
            </a:r>
            <a:r>
              <a:rPr lang="fr-FR" sz="1000" b="1" i="1" dirty="0" err="1"/>
              <a:t>k_li</a:t>
            </a:r>
            <a:r>
              <a:rPr lang="fr-FR" sz="1000" b="1" i="1" dirty="0"/>
              <a:t>] = </a:t>
            </a:r>
            <a:r>
              <a:rPr lang="fr-FR" sz="1000" b="1" i="1" dirty="0" err="1"/>
              <a:t>pivot_row</a:t>
            </a:r>
            <a:r>
              <a:rPr lang="fr-FR" sz="1000" b="1" i="1" dirty="0"/>
              <a:t>[N];</a:t>
            </a:r>
          </a:p>
          <a:p>
            <a:endParaRPr lang="fr-FR" sz="1000" b="1" i="1" dirty="0"/>
          </a:p>
          <a:p>
            <a:r>
              <a:rPr lang="fr-FR" sz="1000" b="1" i="1" dirty="0"/>
              <a:t>    }</a:t>
            </a:r>
          </a:p>
          <a:p>
            <a:r>
              <a:rPr lang="fr-FR" sz="1000" b="1" i="1" dirty="0"/>
              <a:t>}</a:t>
            </a:r>
          </a:p>
        </p:txBody>
      </p:sp>
      <p:pic>
        <p:nvPicPr>
          <p:cNvPr id="40" name="Image 0" descr="preencoded.png">
            <a:extLst>
              <a:ext uri="{FF2B5EF4-FFF2-40B4-BE49-F238E27FC236}">
                <a16:creationId xmlns:a16="http://schemas.microsoft.com/office/drawing/2014/main" id="{B73F06FC-4BA6-8C05-17C2-F8CD2902E1BC}"/>
              </a:ext>
            </a:extLst>
          </p:cNvPr>
          <p:cNvPicPr>
            <a:picLocks noChangeAspect="1"/>
          </p:cNvPicPr>
          <p:nvPr/>
        </p:nvPicPr>
        <p:blipFill>
          <a:blip r:embed="rId3"/>
          <a:stretch>
            <a:fillRect/>
          </a:stretch>
        </p:blipFill>
        <p:spPr>
          <a:xfrm>
            <a:off x="4121657" y="3085610"/>
            <a:ext cx="274320" cy="274320"/>
          </a:xfrm>
          <a:prstGeom prst="rect">
            <a:avLst/>
          </a:prstGeom>
        </p:spPr>
      </p:pic>
      <p:sp>
        <p:nvSpPr>
          <p:cNvPr id="18" name="Rectangle 17">
            <a:extLst>
              <a:ext uri="{FF2B5EF4-FFF2-40B4-BE49-F238E27FC236}">
                <a16:creationId xmlns:a16="http://schemas.microsoft.com/office/drawing/2014/main" id="{6846FAA4-EFEB-3D9A-B197-5270CA01D1F7}"/>
              </a:ext>
            </a:extLst>
          </p:cNvPr>
          <p:cNvSpPr/>
          <p:nvPr/>
        </p:nvSpPr>
        <p:spPr>
          <a:xfrm>
            <a:off x="4465320" y="1703070"/>
            <a:ext cx="4572000" cy="301752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a:p>
        </p:txBody>
      </p:sp>
      <p:sp>
        <p:nvSpPr>
          <p:cNvPr id="23" name="TextBox 15">
            <a:extLst>
              <a:ext uri="{FF2B5EF4-FFF2-40B4-BE49-F238E27FC236}">
                <a16:creationId xmlns:a16="http://schemas.microsoft.com/office/drawing/2014/main" id="{F19EBE58-4A37-6750-9B7E-FF0BDB05BB94}"/>
              </a:ext>
            </a:extLst>
          </p:cNvPr>
          <p:cNvSpPr txBox="1"/>
          <p:nvPr/>
        </p:nvSpPr>
        <p:spPr>
          <a:xfrm>
            <a:off x="4556760" y="1840230"/>
            <a:ext cx="4389120" cy="292388"/>
          </a:xfrm>
          <a:prstGeom prst="rect">
            <a:avLst/>
          </a:prstGeom>
          <a:noFill/>
        </p:spPr>
        <p:txBody>
          <a:bodyPr wrap="square">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l"/>
            <a:r>
              <a:rPr lang="fr-FR" sz="1300" b="1" i="0" dirty="0">
                <a:solidFill>
                  <a:srgbClr val="D4A843"/>
                </a:solidFill>
                <a:latin typeface="Calibri"/>
              </a:rPr>
              <a:t>Détails</a:t>
            </a:r>
            <a:endParaRPr sz="1300" b="1" i="0" dirty="0">
              <a:solidFill>
                <a:srgbClr val="D4A843"/>
              </a:solidFill>
              <a:latin typeface="Calibri"/>
            </a:endParaRPr>
          </a:p>
        </p:txBody>
      </p:sp>
      <mc:AlternateContent xmlns:mc="http://schemas.openxmlformats.org/markup-compatibility/2006" xmlns:a14="http://schemas.microsoft.com/office/drawing/2010/main">
        <mc:Choice Requires="a14">
          <p:sp>
            <p:nvSpPr>
              <p:cNvPr id="28" name="TextBox 16">
                <a:extLst>
                  <a:ext uri="{FF2B5EF4-FFF2-40B4-BE49-F238E27FC236}">
                    <a16:creationId xmlns:a16="http://schemas.microsoft.com/office/drawing/2014/main" id="{EC1E9F45-BF48-853D-2A46-180EE756D845}"/>
                  </a:ext>
                </a:extLst>
              </p:cNvPr>
              <p:cNvSpPr txBox="1"/>
              <p:nvPr/>
            </p:nvSpPr>
            <p:spPr>
              <a:xfrm>
                <a:off x="4556760" y="2205990"/>
                <a:ext cx="4389120" cy="2349361"/>
              </a:xfrm>
              <a:prstGeom prst="rect">
                <a:avLst/>
              </a:prstGeom>
              <a:noFill/>
            </p:spPr>
            <p:txBody>
              <a:bodyPr wrap="square">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spcAft>
                    <a:spcPts val="200"/>
                  </a:spcAft>
                </a:pPr>
                <a:r>
                  <a:rPr lang="fr-FR" sz="1000" b="1" dirty="0">
                    <a:solidFill>
                      <a:srgbClr val="0D4F4F"/>
                    </a:solidFill>
                  </a:rPr>
                  <a:t>On vérifie si un échange de lignes est nécessaire.</a:t>
                </a:r>
              </a:p>
              <a:p>
                <a:pPr>
                  <a:spcAft>
                    <a:spcPts val="200"/>
                  </a:spcAft>
                </a:pPr>
                <a:r>
                  <a:rPr lang="fr-FR" sz="1000" dirty="0">
                    <a:solidFill>
                      <a:srgbClr val="4A4A5A"/>
                    </a:solidFill>
                    <a:latin typeface="Calibri"/>
                  </a:rPr>
                  <a:t> Si la ligne pivot globale est différente de la ligne courante </a:t>
                </a:r>
                <a14:m>
                  <m:oMath xmlns:m="http://schemas.openxmlformats.org/officeDocument/2006/math">
                    <m:r>
                      <a:rPr lang="fr-FR" sz="1000">
                        <a:solidFill>
                          <a:srgbClr val="4A4A5A"/>
                        </a:solidFill>
                        <a:latin typeface="Cambria Math" panose="02040503050406030204" pitchFamily="18" charset="0"/>
                      </a:rPr>
                      <m:t>𝑘</m:t>
                    </m:r>
                  </m:oMath>
                </a14:m>
                <a:r>
                  <a:rPr lang="fr-FR" sz="1000" dirty="0">
                    <a:solidFill>
                      <a:srgbClr val="4A4A5A"/>
                    </a:solidFill>
                    <a:latin typeface="Calibri"/>
                  </a:rPr>
                  <a:t>, un swap est requis. </a:t>
                </a:r>
                <a:endParaRPr sz="1000" dirty="0">
                  <a:solidFill>
                    <a:srgbClr val="4A4A5A"/>
                  </a:solidFill>
                  <a:latin typeface="Calibri"/>
                </a:endParaRPr>
              </a:p>
              <a:p>
                <a:pPr>
                  <a:spcAft>
                    <a:spcPts val="200"/>
                  </a:spcAft>
                </a:pPr>
                <a:endParaRPr lang="fr-FR" sz="1000" b="1" dirty="0">
                  <a:solidFill>
                    <a:srgbClr val="E07A5F"/>
                  </a:solidFill>
                  <a:latin typeface="Calibri"/>
                </a:endParaRPr>
              </a:p>
              <a:p>
                <a:pPr>
                  <a:spcAft>
                    <a:spcPts val="200"/>
                  </a:spcAft>
                </a:pPr>
                <a:r>
                  <a:rPr lang="fr-FR" sz="1000" b="1" dirty="0">
                    <a:solidFill>
                      <a:srgbClr val="E07A5F"/>
                    </a:solidFill>
                    <a:latin typeface="Calibri"/>
                  </a:rPr>
                  <a:t>Si les deux lignes sont sur le même processus, le swap est local.</a:t>
                </a:r>
                <a:r>
                  <a:rPr sz="1000" b="1" dirty="0">
                    <a:solidFill>
                      <a:srgbClr val="E07A5F"/>
                    </a:solidFill>
                    <a:latin typeface="Calibri"/>
                  </a:rPr>
                  <a:t> </a:t>
                </a:r>
                <a:endParaRPr lang="fr-FR" sz="1000" b="1" dirty="0">
                  <a:solidFill>
                    <a:srgbClr val="E07A5F"/>
                  </a:solidFill>
                  <a:latin typeface="Calibri"/>
                </a:endParaRPr>
              </a:p>
              <a:p>
                <a:pPr>
                  <a:spcAft>
                    <a:spcPts val="200"/>
                  </a:spcAft>
                </a:pPr>
                <a:r>
                  <a:rPr lang="fr-FR" sz="1000" dirty="0">
                    <a:solidFill>
                      <a:srgbClr val="4A4A5A"/>
                    </a:solidFill>
                    <a:latin typeface="Calibri"/>
                  </a:rPr>
                  <a:t>Les lignes sont échangées directement en mémoire sans communication MPI.</a:t>
                </a:r>
              </a:p>
              <a:p>
                <a:pPr>
                  <a:spcAft>
                    <a:spcPts val="200"/>
                  </a:spcAft>
                </a:pPr>
                <a:endParaRPr lang="fr-FR" sz="1000" b="1" dirty="0">
                  <a:solidFill>
                    <a:srgbClr val="0D4F4F"/>
                  </a:solidFill>
                  <a:latin typeface="Calibri"/>
                </a:endParaRPr>
              </a:p>
              <a:p>
                <a:pPr>
                  <a:spcAft>
                    <a:spcPts val="200"/>
                  </a:spcAft>
                </a:pPr>
                <a:r>
                  <a:rPr lang="fr-FR" sz="1000" b="1" dirty="0">
                    <a:solidFill>
                      <a:srgbClr val="0D4F4F"/>
                    </a:solidFill>
                    <a:latin typeface="Calibri"/>
                  </a:rPr>
                  <a:t>Si les lignes sont sur deux processus différents, on utilise </a:t>
                </a:r>
                <a:r>
                  <a:rPr lang="fr-FR" sz="1000" b="1" dirty="0" err="1">
                    <a:solidFill>
                      <a:srgbClr val="0D4F4F"/>
                    </a:solidFill>
                    <a:latin typeface="Calibri"/>
                  </a:rPr>
                  <a:t>MPI_Sendrecv</a:t>
                </a:r>
                <a:r>
                  <a:rPr lang="fr-FR" sz="1000" b="1" dirty="0">
                    <a:solidFill>
                      <a:srgbClr val="0D4F4F"/>
                    </a:solidFill>
                    <a:latin typeface="Calibri"/>
                  </a:rPr>
                  <a:t>.</a:t>
                </a:r>
                <a:endParaRPr sz="1000" b="1" dirty="0">
                  <a:solidFill>
                    <a:srgbClr val="0D4F4F"/>
                  </a:solidFill>
                  <a:latin typeface="Calibri"/>
                </a:endParaRPr>
              </a:p>
              <a:p>
                <a:pPr>
                  <a:spcAft>
                    <a:spcPts val="200"/>
                  </a:spcAft>
                </a:pPr>
                <a:r>
                  <a:rPr lang="fr-FR" sz="1000" dirty="0">
                    <a:solidFill>
                      <a:srgbClr val="4A4A5A"/>
                    </a:solidFill>
                    <a:latin typeface="Calibri"/>
                  </a:rPr>
                  <a:t>Les deux processus échangent simultanément leurs lignes pour éviter un deadlock.</a:t>
                </a:r>
                <a:endParaRPr sz="1000" dirty="0">
                  <a:solidFill>
                    <a:srgbClr val="4A4A5A"/>
                  </a:solidFill>
                  <a:latin typeface="Calibri"/>
                </a:endParaRPr>
              </a:p>
              <a:p>
                <a:pPr>
                  <a:spcAft>
                    <a:spcPts val="200"/>
                  </a:spcAft>
                </a:pPr>
                <a:endParaRPr lang="fr-FR" sz="1000" b="1" dirty="0">
                  <a:solidFill>
                    <a:srgbClr val="E07A5F"/>
                  </a:solidFill>
                  <a:latin typeface="Calibri"/>
                </a:endParaRPr>
              </a:p>
              <a:p>
                <a:pPr>
                  <a:spcAft>
                    <a:spcPts val="200"/>
                  </a:spcAft>
                </a:pPr>
                <a:r>
                  <a:rPr lang="fr-FR" sz="1000" b="1" dirty="0">
                    <a:solidFill>
                      <a:srgbClr val="E07A5F"/>
                    </a:solidFill>
                    <a:latin typeface="Calibri"/>
                  </a:rPr>
                  <a:t>La ligne et le second membre </a:t>
                </a:r>
                <a14:m>
                  <m:oMath xmlns:m="http://schemas.openxmlformats.org/officeDocument/2006/math">
                    <m:r>
                      <a:rPr lang="fr-FR" sz="1000" b="1">
                        <a:solidFill>
                          <a:srgbClr val="E07A5F"/>
                        </a:solidFill>
                        <a:latin typeface="Cambria Math" panose="02040503050406030204" pitchFamily="18" charset="0"/>
                      </a:rPr>
                      <m:t>𝑏</m:t>
                    </m:r>
                  </m:oMath>
                </a14:m>
                <a:r>
                  <a:rPr lang="fr-FR" sz="1000" b="1" dirty="0">
                    <a:solidFill>
                      <a:srgbClr val="E07A5F"/>
                    </a:solidFill>
                    <a:latin typeface="Calibri"/>
                  </a:rPr>
                  <a:t>sont échangés ensemble.</a:t>
                </a:r>
              </a:p>
              <a:p>
                <a:pPr>
                  <a:spcAft>
                    <a:spcPts val="200"/>
                  </a:spcAft>
                </a:pPr>
                <a:r>
                  <a:rPr lang="fr-FR" sz="1000" b="1" dirty="0">
                    <a:solidFill>
                      <a:srgbClr val="E07A5F"/>
                    </a:solidFill>
                    <a:latin typeface="Calibri"/>
                  </a:rPr>
                  <a:t> </a:t>
                </a:r>
                <a:r>
                  <a:rPr lang="fr-FR" sz="1000" dirty="0">
                    <a:solidFill>
                      <a:srgbClr val="4A4A5A"/>
                    </a:solidFill>
                    <a:latin typeface="Calibri"/>
                  </a:rPr>
                  <a:t>Le vecteur </a:t>
                </a:r>
                <a14:m>
                  <m:oMath xmlns:m="http://schemas.openxmlformats.org/officeDocument/2006/math">
                    <m:r>
                      <a:rPr lang="fr-FR" sz="1000">
                        <a:solidFill>
                          <a:srgbClr val="4A4A5A"/>
                        </a:solidFill>
                        <a:latin typeface="Cambria Math" panose="02040503050406030204" pitchFamily="18" charset="0"/>
                      </a:rPr>
                      <m:t>𝑏</m:t>
                    </m:r>
                  </m:oMath>
                </a14:m>
                <a:r>
                  <a:rPr lang="fr-FR" sz="1000" dirty="0">
                    <a:solidFill>
                      <a:srgbClr val="4A4A5A"/>
                    </a:solidFill>
                    <a:latin typeface="Calibri"/>
                  </a:rPr>
                  <a:t>est embarqué avec la ligne pour réduire le nombre de communications.</a:t>
                </a:r>
                <a:endParaRPr sz="1000" dirty="0">
                  <a:solidFill>
                    <a:srgbClr val="4A4A5A"/>
                  </a:solidFill>
                  <a:latin typeface="Calibri"/>
                </a:endParaRPr>
              </a:p>
            </p:txBody>
          </p:sp>
        </mc:Choice>
        <mc:Fallback xmlns="">
          <p:sp>
            <p:nvSpPr>
              <p:cNvPr id="28" name="TextBox 16">
                <a:extLst>
                  <a:ext uri="{FF2B5EF4-FFF2-40B4-BE49-F238E27FC236}">
                    <a16:creationId xmlns:a16="http://schemas.microsoft.com/office/drawing/2014/main" id="{EC1E9F45-BF48-853D-2A46-180EE756D845}"/>
                  </a:ext>
                </a:extLst>
              </p:cNvPr>
              <p:cNvSpPr txBox="1">
                <a:spLocks noRot="1" noChangeAspect="1" noMove="1" noResize="1" noEditPoints="1" noAdjustHandles="1" noChangeArrowheads="1" noChangeShapeType="1" noTextEdit="1"/>
              </p:cNvSpPr>
              <p:nvPr/>
            </p:nvSpPr>
            <p:spPr>
              <a:xfrm>
                <a:off x="4556760" y="2205990"/>
                <a:ext cx="4389120" cy="2349361"/>
              </a:xfrm>
              <a:prstGeom prst="rect">
                <a:avLst/>
              </a:prstGeom>
              <a:blipFill>
                <a:blip r:embed="rId5"/>
                <a:stretch>
                  <a:fillRect b="-519"/>
                </a:stretch>
              </a:blipFill>
            </p:spPr>
            <p:txBody>
              <a:bodyPr/>
              <a:lstStyle/>
              <a:p>
                <a:r>
                  <a:rPr lang="fr-FR">
                    <a:noFill/>
                  </a:rPr>
                  <a:t> </a:t>
                </a:r>
              </a:p>
            </p:txBody>
          </p:sp>
        </mc:Fallback>
      </mc:AlternateContent>
      <p:sp>
        <p:nvSpPr>
          <p:cNvPr id="9" name="TextBox 8">
            <a:extLst>
              <a:ext uri="{FF2B5EF4-FFF2-40B4-BE49-F238E27FC236}">
                <a16:creationId xmlns:a16="http://schemas.microsoft.com/office/drawing/2014/main" id="{9B88FEFD-220E-13A0-BF7B-9B3295FE6093}"/>
              </a:ext>
            </a:extLst>
          </p:cNvPr>
          <p:cNvSpPr txBox="1"/>
          <p:nvPr/>
        </p:nvSpPr>
        <p:spPr>
          <a:xfrm>
            <a:off x="8394732" y="43934"/>
            <a:ext cx="707245" cy="369332"/>
          </a:xfrm>
          <a:prstGeom prst="rect">
            <a:avLst/>
          </a:prstGeom>
          <a:noFill/>
        </p:spPr>
        <p:txBody>
          <a:bodyPr wrap="none" rtlCol="0">
            <a:spAutoFit/>
          </a:bodyPr>
          <a:lstStyle/>
          <a:p>
            <a:r>
              <a:rPr lang="fr-FR" b="1" dirty="0">
                <a:solidFill>
                  <a:srgbClr val="0D4F4F"/>
                </a:solidFill>
                <a:latin typeface="Georgia"/>
              </a:rPr>
              <a:t>8/21</a:t>
            </a:r>
          </a:p>
        </p:txBody>
      </p:sp>
    </p:spTree>
    <p:extLst>
      <p:ext uri="{BB962C8B-B14F-4D97-AF65-F5344CB8AC3E}">
        <p14:creationId xmlns:p14="http://schemas.microsoft.com/office/powerpoint/2010/main" val="199196285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AF8F0"/>
        </a:solidFill>
        <a:effectLst/>
      </p:bgPr>
    </p:bg>
    <p:spTree>
      <p:nvGrpSpPr>
        <p:cNvPr id="1" name="">
          <a:extLst>
            <a:ext uri="{FF2B5EF4-FFF2-40B4-BE49-F238E27FC236}">
              <a16:creationId xmlns:a16="http://schemas.microsoft.com/office/drawing/2014/main" id="{1E22CAC4-AF05-A371-8CCF-161757EE8FDD}"/>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6DA14BBF-22E0-3C00-6E0A-C44C1100B279}"/>
              </a:ext>
            </a:extLst>
          </p:cNvPr>
          <p:cNvSpPr/>
          <p:nvPr/>
        </p:nvSpPr>
        <p:spPr>
          <a:xfrm>
            <a:off x="548640" y="228600"/>
            <a:ext cx="8229600" cy="457200"/>
          </a:xfrm>
          <a:prstGeom prst="rect">
            <a:avLst/>
          </a:prstGeom>
          <a:noFill/>
          <a:ln/>
        </p:spPr>
        <p:txBody>
          <a:bodyPr wrap="square" lIns="0" tIns="0" rIns="0" bIns="0" rtlCol="0" anchor="ctr"/>
          <a:lstStyle/>
          <a:p>
            <a:pPr marL="0" indent="0">
              <a:buNone/>
            </a:pPr>
            <a:r>
              <a:rPr lang="en-US" sz="2400" b="1" dirty="0">
                <a:solidFill>
                  <a:srgbClr val="0D4F4F"/>
                </a:solidFill>
                <a:latin typeface="Georgia" pitchFamily="34" charset="0"/>
                <a:ea typeface="Georgia" pitchFamily="34" charset="-122"/>
                <a:cs typeface="Georgia" pitchFamily="34" charset="-120"/>
              </a:rPr>
              <a:t>Le problème : résistance aux antibiotiques</a:t>
            </a:r>
            <a:endParaRPr lang="en-US" sz="2400" dirty="0"/>
          </a:p>
        </p:txBody>
      </p:sp>
      <p:sp>
        <p:nvSpPr>
          <p:cNvPr id="3" name="Text 1">
            <a:extLst>
              <a:ext uri="{FF2B5EF4-FFF2-40B4-BE49-F238E27FC236}">
                <a16:creationId xmlns:a16="http://schemas.microsoft.com/office/drawing/2014/main" id="{C78501E3-A363-D69B-1591-1D0586258C9E}"/>
              </a:ext>
            </a:extLst>
          </p:cNvPr>
          <p:cNvSpPr/>
          <p:nvPr/>
        </p:nvSpPr>
        <p:spPr>
          <a:xfrm>
            <a:off x="548640" y="658368"/>
            <a:ext cx="8229600" cy="274320"/>
          </a:xfrm>
          <a:prstGeom prst="rect">
            <a:avLst/>
          </a:prstGeom>
          <a:noFill/>
          <a:ln/>
        </p:spPr>
        <p:txBody>
          <a:bodyPr wrap="square" lIns="0" tIns="0" rIns="0" bIns="0" rtlCol="0" anchor="ctr"/>
          <a:lstStyle/>
          <a:p>
            <a:pPr marL="0" indent="0">
              <a:buNone/>
            </a:pPr>
            <a:r>
              <a:rPr lang="en-US" sz="1200" i="1" dirty="0">
                <a:solidFill>
                  <a:srgbClr val="8A8A9A"/>
                </a:solidFill>
                <a:latin typeface="Calibri" pitchFamily="34" charset="0"/>
                <a:ea typeface="Calibri" pitchFamily="34" charset="-122"/>
                <a:cs typeface="Calibri" pitchFamily="34" charset="-120"/>
              </a:rPr>
              <a:t>L'une des plus grandes menaces pour la santé publique mondiale (OMS, 2014)</a:t>
            </a:r>
            <a:endParaRPr lang="en-US" sz="1200" dirty="0"/>
          </a:p>
        </p:txBody>
      </p:sp>
      <p:sp>
        <p:nvSpPr>
          <p:cNvPr id="5" name="Shape 3">
            <a:extLst>
              <a:ext uri="{FF2B5EF4-FFF2-40B4-BE49-F238E27FC236}">
                <a16:creationId xmlns:a16="http://schemas.microsoft.com/office/drawing/2014/main" id="{88EE9A4B-B7D5-9612-C96F-473014F00536}"/>
              </a:ext>
            </a:extLst>
          </p:cNvPr>
          <p:cNvSpPr/>
          <p:nvPr/>
        </p:nvSpPr>
        <p:spPr>
          <a:xfrm>
            <a:off x="685800" y="1508760"/>
            <a:ext cx="365760" cy="365760"/>
          </a:xfrm>
          <a:prstGeom prst="ellipse">
            <a:avLst/>
          </a:prstGeom>
          <a:solidFill>
            <a:srgbClr val="0E7C7B"/>
          </a:solidFill>
          <a:ln/>
        </p:spPr>
        <p:txBody>
          <a:bodyPr/>
          <a:lstStyle/>
          <a:p>
            <a:endParaRPr lang="fr-FR"/>
          </a:p>
        </p:txBody>
      </p:sp>
      <p:sp>
        <p:nvSpPr>
          <p:cNvPr id="6" name="Text 4">
            <a:extLst>
              <a:ext uri="{FF2B5EF4-FFF2-40B4-BE49-F238E27FC236}">
                <a16:creationId xmlns:a16="http://schemas.microsoft.com/office/drawing/2014/main" id="{09AC608A-7389-9108-8229-B01FDAB199BF}"/>
              </a:ext>
            </a:extLst>
          </p:cNvPr>
          <p:cNvSpPr/>
          <p:nvPr/>
        </p:nvSpPr>
        <p:spPr>
          <a:xfrm>
            <a:off x="685800" y="1508760"/>
            <a:ext cx="365760" cy="365760"/>
          </a:xfrm>
          <a:prstGeom prst="rect">
            <a:avLst/>
          </a:prstGeom>
          <a:noFill/>
          <a:ln/>
        </p:spPr>
        <p:txBody>
          <a:bodyPr wrap="square"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7" name="Text 5">
            <a:extLst>
              <a:ext uri="{FF2B5EF4-FFF2-40B4-BE49-F238E27FC236}">
                <a16:creationId xmlns:a16="http://schemas.microsoft.com/office/drawing/2014/main" id="{6794A449-3574-20F5-546E-0F4B4C6CD139}"/>
              </a:ext>
            </a:extLst>
          </p:cNvPr>
          <p:cNvSpPr/>
          <p:nvPr/>
        </p:nvSpPr>
        <p:spPr>
          <a:xfrm>
            <a:off x="1143000" y="1508760"/>
            <a:ext cx="1828800" cy="1097280"/>
          </a:xfrm>
          <a:prstGeom prst="rect">
            <a:avLst/>
          </a:prstGeom>
          <a:noFill/>
          <a:ln/>
        </p:spPr>
        <p:txBody>
          <a:bodyPr wrap="square" rtlCol="0" anchor="t"/>
          <a:lstStyle/>
          <a:p>
            <a:pPr marL="0" indent="0">
              <a:buNone/>
            </a:pPr>
            <a:r>
              <a:rPr lang="en-US" sz="1200" dirty="0">
                <a:solidFill>
                  <a:srgbClr val="1A1A2E"/>
                </a:solidFill>
                <a:latin typeface="Calibri" pitchFamily="34" charset="0"/>
                <a:ea typeface="Calibri" pitchFamily="34" charset="-122"/>
                <a:cs typeface="Calibri" pitchFamily="34" charset="-120"/>
              </a:rPr>
              <a:t>Antibiotiques massivement</a:t>
            </a:r>
            <a:endParaRPr lang="en-US" sz="1200" dirty="0"/>
          </a:p>
          <a:p>
            <a:pPr marL="0" indent="0">
              <a:buNone/>
            </a:pPr>
            <a:r>
              <a:rPr lang="en-US" sz="1200" dirty="0">
                <a:solidFill>
                  <a:srgbClr val="1A1A2E"/>
                </a:solidFill>
                <a:latin typeface="Calibri" pitchFamily="34" charset="0"/>
                <a:ea typeface="Calibri" pitchFamily="34" charset="-122"/>
                <a:cs typeface="Calibri" pitchFamily="34" charset="-120"/>
              </a:rPr>
              <a:t>utilisés en élevage</a:t>
            </a:r>
            <a:endParaRPr lang="en-US" sz="1200" dirty="0"/>
          </a:p>
        </p:txBody>
      </p:sp>
      <p:pic>
        <p:nvPicPr>
          <p:cNvPr id="8" name="Image 0" descr="preencoded.png">
            <a:extLst>
              <a:ext uri="{FF2B5EF4-FFF2-40B4-BE49-F238E27FC236}">
                <a16:creationId xmlns:a16="http://schemas.microsoft.com/office/drawing/2014/main" id="{E083313F-774F-69E6-1B46-6F5ECD3B1B6A}"/>
              </a:ext>
            </a:extLst>
          </p:cNvPr>
          <p:cNvPicPr>
            <a:picLocks noChangeAspect="1"/>
          </p:cNvPicPr>
          <p:nvPr/>
        </p:nvPicPr>
        <p:blipFill>
          <a:blip r:embed="rId3"/>
          <a:stretch>
            <a:fillRect/>
          </a:stretch>
        </p:blipFill>
        <p:spPr>
          <a:xfrm>
            <a:off x="3154680" y="1828800"/>
            <a:ext cx="201168" cy="201168"/>
          </a:xfrm>
          <a:prstGeom prst="rect">
            <a:avLst/>
          </a:prstGeom>
        </p:spPr>
      </p:pic>
      <p:sp>
        <p:nvSpPr>
          <p:cNvPr id="10" name="Shape 7">
            <a:extLst>
              <a:ext uri="{FF2B5EF4-FFF2-40B4-BE49-F238E27FC236}">
                <a16:creationId xmlns:a16="http://schemas.microsoft.com/office/drawing/2014/main" id="{37E478A6-83FD-D21E-3442-79CA7D242E2C}"/>
              </a:ext>
            </a:extLst>
          </p:cNvPr>
          <p:cNvSpPr/>
          <p:nvPr/>
        </p:nvSpPr>
        <p:spPr>
          <a:xfrm>
            <a:off x="3520440" y="1508760"/>
            <a:ext cx="365760" cy="365760"/>
          </a:xfrm>
          <a:prstGeom prst="ellipse">
            <a:avLst/>
          </a:prstGeom>
          <a:solidFill>
            <a:srgbClr val="0E7C7B"/>
          </a:solidFill>
          <a:ln/>
        </p:spPr>
        <p:txBody>
          <a:bodyPr/>
          <a:lstStyle/>
          <a:p>
            <a:endParaRPr lang="fr-FR"/>
          </a:p>
        </p:txBody>
      </p:sp>
      <p:sp>
        <p:nvSpPr>
          <p:cNvPr id="11" name="Text 8">
            <a:extLst>
              <a:ext uri="{FF2B5EF4-FFF2-40B4-BE49-F238E27FC236}">
                <a16:creationId xmlns:a16="http://schemas.microsoft.com/office/drawing/2014/main" id="{7281A658-D8F2-053F-3566-A43F6FA6FF74}"/>
              </a:ext>
            </a:extLst>
          </p:cNvPr>
          <p:cNvSpPr/>
          <p:nvPr/>
        </p:nvSpPr>
        <p:spPr>
          <a:xfrm>
            <a:off x="3520440" y="1508760"/>
            <a:ext cx="365760" cy="365760"/>
          </a:xfrm>
          <a:prstGeom prst="rect">
            <a:avLst/>
          </a:prstGeom>
          <a:noFill/>
          <a:ln/>
        </p:spPr>
        <p:txBody>
          <a:bodyPr wrap="square"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2" name="Text 9">
            <a:extLst>
              <a:ext uri="{FF2B5EF4-FFF2-40B4-BE49-F238E27FC236}">
                <a16:creationId xmlns:a16="http://schemas.microsoft.com/office/drawing/2014/main" id="{99320714-B074-A0BF-7BB0-0E576DB9DAB8}"/>
              </a:ext>
            </a:extLst>
          </p:cNvPr>
          <p:cNvSpPr/>
          <p:nvPr/>
        </p:nvSpPr>
        <p:spPr>
          <a:xfrm>
            <a:off x="3977640" y="1508760"/>
            <a:ext cx="1828800" cy="1097280"/>
          </a:xfrm>
          <a:prstGeom prst="rect">
            <a:avLst/>
          </a:prstGeom>
          <a:noFill/>
          <a:ln/>
        </p:spPr>
        <p:txBody>
          <a:bodyPr wrap="square" rtlCol="0" anchor="t"/>
          <a:lstStyle/>
          <a:p>
            <a:pPr marL="0" indent="0">
              <a:buNone/>
            </a:pPr>
            <a:r>
              <a:rPr lang="en-US" sz="1200" dirty="0">
                <a:solidFill>
                  <a:srgbClr val="1A1A2E"/>
                </a:solidFill>
                <a:latin typeface="Calibri" pitchFamily="34" charset="0"/>
                <a:ea typeface="Calibri" pitchFamily="34" charset="-122"/>
                <a:cs typeface="Calibri" pitchFamily="34" charset="-120"/>
              </a:rPr>
              <a:t>Résidus atteignent</a:t>
            </a:r>
            <a:endParaRPr lang="en-US" sz="1200" dirty="0"/>
          </a:p>
          <a:p>
            <a:pPr marL="0" indent="0">
              <a:buNone/>
            </a:pPr>
            <a:r>
              <a:rPr lang="en-US" sz="1200" dirty="0">
                <a:solidFill>
                  <a:srgbClr val="1A1A2E"/>
                </a:solidFill>
                <a:latin typeface="Calibri" pitchFamily="34" charset="0"/>
                <a:ea typeface="Calibri" pitchFamily="34" charset="-122"/>
                <a:cs typeface="Calibri" pitchFamily="34" charset="-120"/>
              </a:rPr>
              <a:t>le côlon</a:t>
            </a:r>
            <a:endParaRPr lang="en-US" sz="1200" dirty="0"/>
          </a:p>
        </p:txBody>
      </p:sp>
      <p:pic>
        <p:nvPicPr>
          <p:cNvPr id="13" name="Image 1" descr="preencoded.png">
            <a:extLst>
              <a:ext uri="{FF2B5EF4-FFF2-40B4-BE49-F238E27FC236}">
                <a16:creationId xmlns:a16="http://schemas.microsoft.com/office/drawing/2014/main" id="{5BF19E49-D2A3-88EC-6E22-88AC748E6BD9}"/>
              </a:ext>
            </a:extLst>
          </p:cNvPr>
          <p:cNvPicPr>
            <a:picLocks noChangeAspect="1"/>
          </p:cNvPicPr>
          <p:nvPr/>
        </p:nvPicPr>
        <p:blipFill>
          <a:blip r:embed="rId3"/>
          <a:stretch>
            <a:fillRect/>
          </a:stretch>
        </p:blipFill>
        <p:spPr>
          <a:xfrm>
            <a:off x="5989320" y="1828800"/>
            <a:ext cx="201168" cy="201168"/>
          </a:xfrm>
          <a:prstGeom prst="rect">
            <a:avLst/>
          </a:prstGeom>
        </p:spPr>
      </p:pic>
      <p:sp>
        <p:nvSpPr>
          <p:cNvPr id="15" name="Shape 11">
            <a:extLst>
              <a:ext uri="{FF2B5EF4-FFF2-40B4-BE49-F238E27FC236}">
                <a16:creationId xmlns:a16="http://schemas.microsoft.com/office/drawing/2014/main" id="{DB1DAA35-1173-3FDB-60F0-A460BE6F7973}"/>
              </a:ext>
            </a:extLst>
          </p:cNvPr>
          <p:cNvSpPr/>
          <p:nvPr/>
        </p:nvSpPr>
        <p:spPr>
          <a:xfrm>
            <a:off x="6355080" y="1508760"/>
            <a:ext cx="365760" cy="365760"/>
          </a:xfrm>
          <a:prstGeom prst="ellipse">
            <a:avLst/>
          </a:prstGeom>
          <a:solidFill>
            <a:srgbClr val="0E7C7B"/>
          </a:solidFill>
          <a:ln/>
        </p:spPr>
        <p:txBody>
          <a:bodyPr/>
          <a:lstStyle/>
          <a:p>
            <a:endParaRPr lang="fr-FR"/>
          </a:p>
        </p:txBody>
      </p:sp>
      <p:sp>
        <p:nvSpPr>
          <p:cNvPr id="16" name="Text 12">
            <a:extLst>
              <a:ext uri="{FF2B5EF4-FFF2-40B4-BE49-F238E27FC236}">
                <a16:creationId xmlns:a16="http://schemas.microsoft.com/office/drawing/2014/main" id="{34FF7BBD-B625-2F1F-05B8-50BAD6903428}"/>
              </a:ext>
            </a:extLst>
          </p:cNvPr>
          <p:cNvSpPr/>
          <p:nvPr/>
        </p:nvSpPr>
        <p:spPr>
          <a:xfrm>
            <a:off x="6355080" y="1508760"/>
            <a:ext cx="365760" cy="365760"/>
          </a:xfrm>
          <a:prstGeom prst="rect">
            <a:avLst/>
          </a:prstGeom>
          <a:noFill/>
          <a:ln/>
        </p:spPr>
        <p:txBody>
          <a:bodyPr wrap="square"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7" name="Text 13">
            <a:extLst>
              <a:ext uri="{FF2B5EF4-FFF2-40B4-BE49-F238E27FC236}">
                <a16:creationId xmlns:a16="http://schemas.microsoft.com/office/drawing/2014/main" id="{613D44C0-1E48-C48B-6964-075BB02CF7E3}"/>
              </a:ext>
            </a:extLst>
          </p:cNvPr>
          <p:cNvSpPr/>
          <p:nvPr/>
        </p:nvSpPr>
        <p:spPr>
          <a:xfrm>
            <a:off x="6812280" y="1508760"/>
            <a:ext cx="1828800" cy="1097280"/>
          </a:xfrm>
          <a:prstGeom prst="rect">
            <a:avLst/>
          </a:prstGeom>
          <a:noFill/>
          <a:ln/>
        </p:spPr>
        <p:txBody>
          <a:bodyPr wrap="square" rtlCol="0" anchor="t"/>
          <a:lstStyle/>
          <a:p>
            <a:pPr marL="0" indent="0">
              <a:buNone/>
            </a:pPr>
            <a:r>
              <a:rPr lang="en-US" sz="1200" dirty="0">
                <a:solidFill>
                  <a:srgbClr val="1A1A2E"/>
                </a:solidFill>
                <a:latin typeface="Calibri" pitchFamily="34" charset="0"/>
                <a:ea typeface="Calibri" pitchFamily="34" charset="-122"/>
                <a:cs typeface="Calibri" pitchFamily="34" charset="-120"/>
              </a:rPr>
              <a:t>Bactéries sensibles</a:t>
            </a:r>
            <a:endParaRPr lang="en-US" sz="1200" dirty="0"/>
          </a:p>
          <a:p>
            <a:pPr marL="0" indent="0">
              <a:buNone/>
            </a:pPr>
            <a:r>
              <a:rPr lang="en-US" sz="1200" dirty="0">
                <a:solidFill>
                  <a:srgbClr val="1A1A2E"/>
                </a:solidFill>
                <a:latin typeface="Calibri" pitchFamily="34" charset="0"/>
                <a:ea typeface="Calibri" pitchFamily="34" charset="-122"/>
                <a:cs typeface="Calibri" pitchFamily="34" charset="-120"/>
              </a:rPr>
              <a:t>éliminées</a:t>
            </a:r>
            <a:endParaRPr lang="en-US" sz="1200" dirty="0"/>
          </a:p>
        </p:txBody>
      </p:sp>
      <p:sp>
        <p:nvSpPr>
          <p:cNvPr id="19" name="Shape 15">
            <a:extLst>
              <a:ext uri="{FF2B5EF4-FFF2-40B4-BE49-F238E27FC236}">
                <a16:creationId xmlns:a16="http://schemas.microsoft.com/office/drawing/2014/main" id="{9355DB4F-1434-09E8-7EE7-7582B2B4F29E}"/>
              </a:ext>
            </a:extLst>
          </p:cNvPr>
          <p:cNvSpPr/>
          <p:nvPr/>
        </p:nvSpPr>
        <p:spPr>
          <a:xfrm>
            <a:off x="685800" y="3200400"/>
            <a:ext cx="365760" cy="365760"/>
          </a:xfrm>
          <a:prstGeom prst="ellipse">
            <a:avLst/>
          </a:prstGeom>
          <a:solidFill>
            <a:srgbClr val="E07A5F"/>
          </a:solidFill>
          <a:ln/>
        </p:spPr>
        <p:txBody>
          <a:bodyPr/>
          <a:lstStyle/>
          <a:p>
            <a:endParaRPr lang="fr-FR"/>
          </a:p>
        </p:txBody>
      </p:sp>
      <p:sp>
        <p:nvSpPr>
          <p:cNvPr id="20" name="Text 16">
            <a:extLst>
              <a:ext uri="{FF2B5EF4-FFF2-40B4-BE49-F238E27FC236}">
                <a16:creationId xmlns:a16="http://schemas.microsoft.com/office/drawing/2014/main" id="{5F1811C5-5972-AF71-3447-D6D723D51104}"/>
              </a:ext>
            </a:extLst>
          </p:cNvPr>
          <p:cNvSpPr/>
          <p:nvPr/>
        </p:nvSpPr>
        <p:spPr>
          <a:xfrm>
            <a:off x="685800" y="3200400"/>
            <a:ext cx="365760" cy="365760"/>
          </a:xfrm>
          <a:prstGeom prst="rect">
            <a:avLst/>
          </a:prstGeom>
          <a:noFill/>
          <a:ln/>
        </p:spPr>
        <p:txBody>
          <a:bodyPr wrap="square"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21" name="Text 17">
            <a:extLst>
              <a:ext uri="{FF2B5EF4-FFF2-40B4-BE49-F238E27FC236}">
                <a16:creationId xmlns:a16="http://schemas.microsoft.com/office/drawing/2014/main" id="{EFE385A6-632C-C0AB-E6E9-D4C843E29C74}"/>
              </a:ext>
            </a:extLst>
          </p:cNvPr>
          <p:cNvSpPr/>
          <p:nvPr/>
        </p:nvSpPr>
        <p:spPr>
          <a:xfrm>
            <a:off x="1143000" y="3200400"/>
            <a:ext cx="1828800" cy="1097280"/>
          </a:xfrm>
          <a:prstGeom prst="rect">
            <a:avLst/>
          </a:prstGeom>
          <a:noFill/>
          <a:ln/>
        </p:spPr>
        <p:txBody>
          <a:bodyPr wrap="square" rtlCol="0" anchor="t"/>
          <a:lstStyle/>
          <a:p>
            <a:pPr marL="0" indent="0">
              <a:buNone/>
            </a:pPr>
            <a:r>
              <a:rPr lang="en-US" sz="1200" dirty="0">
                <a:solidFill>
                  <a:srgbClr val="1A1A2E"/>
                </a:solidFill>
                <a:latin typeface="Calibri" pitchFamily="34" charset="0"/>
                <a:ea typeface="Calibri" pitchFamily="34" charset="-122"/>
                <a:cs typeface="Calibri" pitchFamily="34" charset="-120"/>
              </a:rPr>
              <a:t>Bactéries résistantes</a:t>
            </a:r>
            <a:endParaRPr lang="en-US" sz="1200" dirty="0"/>
          </a:p>
          <a:p>
            <a:pPr marL="0" indent="0">
              <a:buNone/>
            </a:pPr>
            <a:r>
              <a:rPr lang="en-US" sz="1200" dirty="0">
                <a:solidFill>
                  <a:srgbClr val="1A1A2E"/>
                </a:solidFill>
                <a:latin typeface="Calibri" pitchFamily="34" charset="0"/>
                <a:ea typeface="Calibri" pitchFamily="34" charset="-122"/>
                <a:cs typeface="Calibri" pitchFamily="34" charset="-120"/>
              </a:rPr>
              <a:t>colonisent les niches</a:t>
            </a:r>
            <a:endParaRPr lang="en-US" sz="1200" dirty="0"/>
          </a:p>
        </p:txBody>
      </p:sp>
      <p:pic>
        <p:nvPicPr>
          <p:cNvPr id="22" name="Image 2" descr="preencoded.png">
            <a:extLst>
              <a:ext uri="{FF2B5EF4-FFF2-40B4-BE49-F238E27FC236}">
                <a16:creationId xmlns:a16="http://schemas.microsoft.com/office/drawing/2014/main" id="{4DBC1FDE-4407-FC04-7D49-A85000529711}"/>
              </a:ext>
            </a:extLst>
          </p:cNvPr>
          <p:cNvPicPr>
            <a:picLocks noChangeAspect="1"/>
          </p:cNvPicPr>
          <p:nvPr/>
        </p:nvPicPr>
        <p:blipFill>
          <a:blip r:embed="rId3"/>
          <a:stretch>
            <a:fillRect/>
          </a:stretch>
        </p:blipFill>
        <p:spPr>
          <a:xfrm>
            <a:off x="3154680" y="3520440"/>
            <a:ext cx="201168" cy="201168"/>
          </a:xfrm>
          <a:prstGeom prst="rect">
            <a:avLst/>
          </a:prstGeom>
        </p:spPr>
      </p:pic>
      <p:sp>
        <p:nvSpPr>
          <p:cNvPr id="24" name="Shape 19">
            <a:extLst>
              <a:ext uri="{FF2B5EF4-FFF2-40B4-BE49-F238E27FC236}">
                <a16:creationId xmlns:a16="http://schemas.microsoft.com/office/drawing/2014/main" id="{561AA22E-A6B8-4E44-F38A-7671BA21020A}"/>
              </a:ext>
            </a:extLst>
          </p:cNvPr>
          <p:cNvSpPr/>
          <p:nvPr/>
        </p:nvSpPr>
        <p:spPr>
          <a:xfrm>
            <a:off x="3520440" y="3200400"/>
            <a:ext cx="365760" cy="365760"/>
          </a:xfrm>
          <a:prstGeom prst="ellipse">
            <a:avLst/>
          </a:prstGeom>
          <a:solidFill>
            <a:srgbClr val="E07A5F"/>
          </a:solidFill>
          <a:ln/>
        </p:spPr>
        <p:txBody>
          <a:bodyPr/>
          <a:lstStyle/>
          <a:p>
            <a:endParaRPr lang="fr-FR"/>
          </a:p>
        </p:txBody>
      </p:sp>
      <p:sp>
        <p:nvSpPr>
          <p:cNvPr id="25" name="Text 20">
            <a:extLst>
              <a:ext uri="{FF2B5EF4-FFF2-40B4-BE49-F238E27FC236}">
                <a16:creationId xmlns:a16="http://schemas.microsoft.com/office/drawing/2014/main" id="{BB2B7902-1E26-AEA1-730C-E120C80D7F50}"/>
              </a:ext>
            </a:extLst>
          </p:cNvPr>
          <p:cNvSpPr/>
          <p:nvPr/>
        </p:nvSpPr>
        <p:spPr>
          <a:xfrm>
            <a:off x="3520440" y="3200400"/>
            <a:ext cx="365760" cy="365760"/>
          </a:xfrm>
          <a:prstGeom prst="rect">
            <a:avLst/>
          </a:prstGeom>
          <a:noFill/>
          <a:ln/>
        </p:spPr>
        <p:txBody>
          <a:bodyPr wrap="square"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5</a:t>
            </a:r>
            <a:endParaRPr lang="en-US" sz="1400" dirty="0"/>
          </a:p>
        </p:txBody>
      </p:sp>
      <p:sp>
        <p:nvSpPr>
          <p:cNvPr id="26" name="Text 21">
            <a:extLst>
              <a:ext uri="{FF2B5EF4-FFF2-40B4-BE49-F238E27FC236}">
                <a16:creationId xmlns:a16="http://schemas.microsoft.com/office/drawing/2014/main" id="{59BF3CA6-1F91-5765-9A43-47394F0763F3}"/>
              </a:ext>
            </a:extLst>
          </p:cNvPr>
          <p:cNvSpPr/>
          <p:nvPr/>
        </p:nvSpPr>
        <p:spPr>
          <a:xfrm>
            <a:off x="3977640" y="3200400"/>
            <a:ext cx="1828800" cy="1097280"/>
          </a:xfrm>
          <a:prstGeom prst="rect">
            <a:avLst/>
          </a:prstGeom>
          <a:noFill/>
          <a:ln/>
        </p:spPr>
        <p:txBody>
          <a:bodyPr wrap="square" rtlCol="0" anchor="t"/>
          <a:lstStyle/>
          <a:p>
            <a:pPr marL="0" indent="0">
              <a:buNone/>
            </a:pPr>
            <a:r>
              <a:rPr lang="en-US" sz="1200" dirty="0">
                <a:solidFill>
                  <a:srgbClr val="1A1A2E"/>
                </a:solidFill>
                <a:latin typeface="Calibri" pitchFamily="34" charset="0"/>
                <a:ea typeface="Calibri" pitchFamily="34" charset="-122"/>
                <a:cs typeface="Calibri" pitchFamily="34" charset="-120"/>
              </a:rPr>
              <a:t>Excrétion massive</a:t>
            </a:r>
            <a:endParaRPr lang="en-US" sz="1200" dirty="0"/>
          </a:p>
          <a:p>
            <a:pPr marL="0" indent="0">
              <a:buNone/>
            </a:pPr>
            <a:r>
              <a:rPr lang="en-US" sz="1200" dirty="0">
                <a:solidFill>
                  <a:srgbClr val="1A1A2E"/>
                </a:solidFill>
                <a:latin typeface="Calibri" pitchFamily="34" charset="0"/>
                <a:ea typeface="Calibri" pitchFamily="34" charset="-122"/>
                <a:cs typeface="Calibri" pitchFamily="34" charset="-120"/>
              </a:rPr>
              <a:t>dans les fèces</a:t>
            </a:r>
            <a:endParaRPr lang="en-US" sz="1200" dirty="0"/>
          </a:p>
        </p:txBody>
      </p:sp>
      <p:pic>
        <p:nvPicPr>
          <p:cNvPr id="27" name="Image 3" descr="preencoded.png">
            <a:extLst>
              <a:ext uri="{FF2B5EF4-FFF2-40B4-BE49-F238E27FC236}">
                <a16:creationId xmlns:a16="http://schemas.microsoft.com/office/drawing/2014/main" id="{30A89174-8E95-E966-4FC3-FA6FF6B1E5E6}"/>
              </a:ext>
            </a:extLst>
          </p:cNvPr>
          <p:cNvPicPr>
            <a:picLocks noChangeAspect="1"/>
          </p:cNvPicPr>
          <p:nvPr/>
        </p:nvPicPr>
        <p:blipFill>
          <a:blip r:embed="rId3"/>
          <a:stretch>
            <a:fillRect/>
          </a:stretch>
        </p:blipFill>
        <p:spPr>
          <a:xfrm>
            <a:off x="5989320" y="3520440"/>
            <a:ext cx="201168" cy="201168"/>
          </a:xfrm>
          <a:prstGeom prst="rect">
            <a:avLst/>
          </a:prstGeom>
        </p:spPr>
      </p:pic>
      <p:sp>
        <p:nvSpPr>
          <p:cNvPr id="29" name="Shape 23">
            <a:extLst>
              <a:ext uri="{FF2B5EF4-FFF2-40B4-BE49-F238E27FC236}">
                <a16:creationId xmlns:a16="http://schemas.microsoft.com/office/drawing/2014/main" id="{76FC3264-932B-9D4C-5DC3-647DA8B9B847}"/>
              </a:ext>
            </a:extLst>
          </p:cNvPr>
          <p:cNvSpPr/>
          <p:nvPr/>
        </p:nvSpPr>
        <p:spPr>
          <a:xfrm>
            <a:off x="6355080" y="3200400"/>
            <a:ext cx="365760" cy="365760"/>
          </a:xfrm>
          <a:prstGeom prst="ellipse">
            <a:avLst/>
          </a:prstGeom>
          <a:solidFill>
            <a:srgbClr val="E07A5F"/>
          </a:solidFill>
          <a:ln/>
        </p:spPr>
        <p:txBody>
          <a:bodyPr/>
          <a:lstStyle/>
          <a:p>
            <a:endParaRPr lang="fr-FR"/>
          </a:p>
        </p:txBody>
      </p:sp>
      <p:sp>
        <p:nvSpPr>
          <p:cNvPr id="30" name="Text 24">
            <a:extLst>
              <a:ext uri="{FF2B5EF4-FFF2-40B4-BE49-F238E27FC236}">
                <a16:creationId xmlns:a16="http://schemas.microsoft.com/office/drawing/2014/main" id="{836A9244-7593-3AEA-663D-91B1D1F27CF4}"/>
              </a:ext>
            </a:extLst>
          </p:cNvPr>
          <p:cNvSpPr/>
          <p:nvPr/>
        </p:nvSpPr>
        <p:spPr>
          <a:xfrm>
            <a:off x="6355080" y="3200400"/>
            <a:ext cx="365760" cy="365760"/>
          </a:xfrm>
          <a:prstGeom prst="rect">
            <a:avLst/>
          </a:prstGeom>
          <a:noFill/>
          <a:ln/>
        </p:spPr>
        <p:txBody>
          <a:bodyPr wrap="square"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6</a:t>
            </a:r>
            <a:endParaRPr lang="en-US" sz="1400" dirty="0"/>
          </a:p>
        </p:txBody>
      </p:sp>
      <p:sp>
        <p:nvSpPr>
          <p:cNvPr id="31" name="Text 25">
            <a:extLst>
              <a:ext uri="{FF2B5EF4-FFF2-40B4-BE49-F238E27FC236}">
                <a16:creationId xmlns:a16="http://schemas.microsoft.com/office/drawing/2014/main" id="{6E0C4227-283A-04FC-8D42-1EFBAF28AABB}"/>
              </a:ext>
            </a:extLst>
          </p:cNvPr>
          <p:cNvSpPr/>
          <p:nvPr/>
        </p:nvSpPr>
        <p:spPr>
          <a:xfrm>
            <a:off x="6812280" y="3200400"/>
            <a:ext cx="1828800" cy="1097280"/>
          </a:xfrm>
          <a:prstGeom prst="rect">
            <a:avLst/>
          </a:prstGeom>
          <a:noFill/>
          <a:ln/>
        </p:spPr>
        <p:txBody>
          <a:bodyPr wrap="square" rtlCol="0" anchor="t"/>
          <a:lstStyle/>
          <a:p>
            <a:pPr marL="0" indent="0">
              <a:buNone/>
            </a:pPr>
            <a:r>
              <a:rPr lang="en-US" sz="1200" dirty="0">
                <a:solidFill>
                  <a:srgbClr val="1A1A2E"/>
                </a:solidFill>
                <a:latin typeface="Calibri" pitchFamily="34" charset="0"/>
                <a:ea typeface="Calibri" pitchFamily="34" charset="-122"/>
                <a:cs typeface="Calibri" pitchFamily="34" charset="-120"/>
              </a:rPr>
              <a:t>Contamination</a:t>
            </a:r>
            <a:endParaRPr lang="en-US" sz="1200" dirty="0"/>
          </a:p>
          <a:p>
            <a:pPr marL="0" indent="0">
              <a:buNone/>
            </a:pPr>
            <a:r>
              <a:rPr lang="en-US" sz="1200" dirty="0">
                <a:solidFill>
                  <a:srgbClr val="1A1A2E"/>
                </a:solidFill>
                <a:latin typeface="Calibri" pitchFamily="34" charset="0"/>
                <a:ea typeface="Calibri" pitchFamily="34" charset="-122"/>
                <a:cs typeface="Calibri" pitchFamily="34" charset="-120"/>
              </a:rPr>
              <a:t>environnement → homme</a:t>
            </a:r>
            <a:endParaRPr lang="en-US" sz="1200" dirty="0"/>
          </a:p>
        </p:txBody>
      </p:sp>
      <p:sp>
        <p:nvSpPr>
          <p:cNvPr id="32" name="Text 26">
            <a:extLst>
              <a:ext uri="{FF2B5EF4-FFF2-40B4-BE49-F238E27FC236}">
                <a16:creationId xmlns:a16="http://schemas.microsoft.com/office/drawing/2014/main" id="{0D2D1EDC-591F-0634-0629-A7EAF0B28A6A}"/>
              </a:ext>
            </a:extLst>
          </p:cNvPr>
          <p:cNvSpPr/>
          <p:nvPr/>
        </p:nvSpPr>
        <p:spPr>
          <a:xfrm>
            <a:off x="7772400" y="2651760"/>
            <a:ext cx="365760" cy="457200"/>
          </a:xfrm>
          <a:prstGeom prst="rect">
            <a:avLst/>
          </a:prstGeom>
          <a:noFill/>
          <a:ln/>
        </p:spPr>
        <p:txBody>
          <a:bodyPr wrap="square" rtlCol="0" anchor="ctr"/>
          <a:lstStyle/>
          <a:p>
            <a:pPr marL="0" indent="0" algn="ctr">
              <a:buNone/>
            </a:pPr>
            <a:r>
              <a:rPr lang="en-US" sz="2000" dirty="0">
                <a:solidFill>
                  <a:srgbClr val="17A2A2"/>
                </a:solidFill>
              </a:rPr>
              <a:t>↓</a:t>
            </a:r>
            <a:endParaRPr lang="en-US" sz="2000" dirty="0"/>
          </a:p>
        </p:txBody>
      </p:sp>
      <p:pic>
        <p:nvPicPr>
          <p:cNvPr id="34" name="Image 4" descr="preencoded.png">
            <a:extLst>
              <a:ext uri="{FF2B5EF4-FFF2-40B4-BE49-F238E27FC236}">
                <a16:creationId xmlns:a16="http://schemas.microsoft.com/office/drawing/2014/main" id="{6F8CF153-472D-3642-CA96-4EC43FF18EC2}"/>
              </a:ext>
            </a:extLst>
          </p:cNvPr>
          <p:cNvPicPr>
            <a:picLocks noChangeAspect="1"/>
          </p:cNvPicPr>
          <p:nvPr/>
        </p:nvPicPr>
        <p:blipFill>
          <a:blip r:embed="rId4"/>
          <a:stretch>
            <a:fillRect/>
          </a:stretch>
        </p:blipFill>
        <p:spPr>
          <a:xfrm>
            <a:off x="685800" y="4590288"/>
            <a:ext cx="320040" cy="320040"/>
          </a:xfrm>
          <a:prstGeom prst="rect">
            <a:avLst/>
          </a:prstGeom>
        </p:spPr>
      </p:pic>
      <p:sp useBgFill="1">
        <p:nvSpPr>
          <p:cNvPr id="36" name="Rectangle 35">
            <a:extLst>
              <a:ext uri="{FF2B5EF4-FFF2-40B4-BE49-F238E27FC236}">
                <a16:creationId xmlns:a16="http://schemas.microsoft.com/office/drawing/2014/main" id="{2635093A-F649-E417-5776-FBE367EE302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0"/>
            <a:ext cx="9141714" cy="51435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 name="Text 0">
            <a:extLst>
              <a:ext uri="{FF2B5EF4-FFF2-40B4-BE49-F238E27FC236}">
                <a16:creationId xmlns:a16="http://schemas.microsoft.com/office/drawing/2014/main" id="{01B062FD-79FD-0723-DCE2-162241E7B2D6}"/>
              </a:ext>
            </a:extLst>
          </p:cNvPr>
          <p:cNvSpPr/>
          <p:nvPr/>
        </p:nvSpPr>
        <p:spPr>
          <a:xfrm>
            <a:off x="479160" y="502663"/>
            <a:ext cx="8139060" cy="799377"/>
          </a:xfrm>
          <a:prstGeom prst="rect">
            <a:avLst/>
          </a:prstGeom>
        </p:spPr>
        <p:txBody>
          <a:bodyPr vert="horz" lIns="91440" tIns="45720" rIns="91440" bIns="45720" rtlCol="0" anchor="ctr">
            <a:normAutofit/>
          </a:bodyPr>
          <a:lstStyle/>
          <a:p>
            <a:pPr>
              <a:lnSpc>
                <a:spcPct val="90000"/>
              </a:lnSpc>
              <a:spcBef>
                <a:spcPct val="0"/>
              </a:spcBef>
              <a:spcAft>
                <a:spcPts val="600"/>
              </a:spcAft>
            </a:pPr>
            <a:r>
              <a:rPr lang="en-US" sz="2800" b="1" dirty="0">
                <a:solidFill>
                  <a:srgbClr val="0D4F4F"/>
                </a:solidFill>
                <a:latin typeface="Georgia" pitchFamily="34" charset="0"/>
              </a:rPr>
              <a:t>Mini HPL : Broadcast</a:t>
            </a:r>
          </a:p>
        </p:txBody>
      </p:sp>
      <p:sp>
        <p:nvSpPr>
          <p:cNvPr id="39" name="sketch line">
            <a:extLst>
              <a:ext uri="{FF2B5EF4-FFF2-40B4-BE49-F238E27FC236}">
                <a16:creationId xmlns:a16="http://schemas.microsoft.com/office/drawing/2014/main" id="{CCA70BE5-91A8-0296-800F-6ABA06863A1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2542032" y="1350066"/>
            <a:ext cx="4057650" cy="13716"/>
          </a:xfrm>
          <a:custGeom>
            <a:avLst/>
            <a:gdLst>
              <a:gd name="csX0" fmla="*/ 0 w 4057650"/>
              <a:gd name="csY0" fmla="*/ 0 h 13716"/>
              <a:gd name="csX1" fmla="*/ 757428 w 4057650"/>
              <a:gd name="csY1" fmla="*/ 0 h 13716"/>
              <a:gd name="csX2" fmla="*/ 1474279 w 4057650"/>
              <a:gd name="csY2" fmla="*/ 0 h 13716"/>
              <a:gd name="csX3" fmla="*/ 2191131 w 4057650"/>
              <a:gd name="csY3" fmla="*/ 0 h 13716"/>
              <a:gd name="csX4" fmla="*/ 2745676 w 4057650"/>
              <a:gd name="csY4" fmla="*/ 0 h 13716"/>
              <a:gd name="csX5" fmla="*/ 3340798 w 4057650"/>
              <a:gd name="csY5" fmla="*/ 0 h 13716"/>
              <a:gd name="csX6" fmla="*/ 4057650 w 4057650"/>
              <a:gd name="csY6" fmla="*/ 0 h 13716"/>
              <a:gd name="csX7" fmla="*/ 4057650 w 4057650"/>
              <a:gd name="csY7" fmla="*/ 13716 h 13716"/>
              <a:gd name="csX8" fmla="*/ 3381375 w 4057650"/>
              <a:gd name="csY8" fmla="*/ 13716 h 13716"/>
              <a:gd name="csX9" fmla="*/ 2826830 w 4057650"/>
              <a:gd name="csY9" fmla="*/ 13716 h 13716"/>
              <a:gd name="csX10" fmla="*/ 2272284 w 4057650"/>
              <a:gd name="csY10" fmla="*/ 13716 h 13716"/>
              <a:gd name="csX11" fmla="*/ 1555432 w 4057650"/>
              <a:gd name="csY11" fmla="*/ 13716 h 13716"/>
              <a:gd name="csX12" fmla="*/ 960310 w 4057650"/>
              <a:gd name="csY12" fmla="*/ 13716 h 13716"/>
              <a:gd name="csX13" fmla="*/ 0 w 4057650"/>
              <a:gd name="csY13" fmla="*/ 13716 h 13716"/>
              <a:gd name="csX14" fmla="*/ 0 w 4057650"/>
              <a:gd name="csY14" fmla="*/ 0 h 1371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Lst>
            <a:rect l="l" t="t" r="r" b="b"/>
            <a:pathLst>
              <a:path w="4057650" h="13716" fill="none" extrusionOk="0">
                <a:moveTo>
                  <a:pt x="0" y="0"/>
                </a:moveTo>
                <a:cubicBezTo>
                  <a:pt x="371182" y="3227"/>
                  <a:pt x="494372" y="9222"/>
                  <a:pt x="757428" y="0"/>
                </a:cubicBezTo>
                <a:cubicBezTo>
                  <a:pt x="1020484" y="-9222"/>
                  <a:pt x="1116719" y="-4357"/>
                  <a:pt x="1474279" y="0"/>
                </a:cubicBezTo>
                <a:cubicBezTo>
                  <a:pt x="1831839" y="4357"/>
                  <a:pt x="1920973" y="-11809"/>
                  <a:pt x="2191131" y="0"/>
                </a:cubicBezTo>
                <a:cubicBezTo>
                  <a:pt x="2461289" y="11809"/>
                  <a:pt x="2589480" y="-22604"/>
                  <a:pt x="2745676" y="0"/>
                </a:cubicBezTo>
                <a:cubicBezTo>
                  <a:pt x="2901872" y="22604"/>
                  <a:pt x="3136452" y="-12306"/>
                  <a:pt x="3340798" y="0"/>
                </a:cubicBezTo>
                <a:cubicBezTo>
                  <a:pt x="3545144" y="12306"/>
                  <a:pt x="3766934" y="-21556"/>
                  <a:pt x="4057650" y="0"/>
                </a:cubicBezTo>
                <a:cubicBezTo>
                  <a:pt x="4057378" y="4708"/>
                  <a:pt x="4057987" y="7132"/>
                  <a:pt x="4057650" y="13716"/>
                </a:cubicBezTo>
                <a:cubicBezTo>
                  <a:pt x="3743404" y="35553"/>
                  <a:pt x="3625516" y="-19495"/>
                  <a:pt x="3381375" y="13716"/>
                </a:cubicBezTo>
                <a:cubicBezTo>
                  <a:pt x="3137235" y="46927"/>
                  <a:pt x="2946571" y="-4571"/>
                  <a:pt x="2826830" y="13716"/>
                </a:cubicBezTo>
                <a:cubicBezTo>
                  <a:pt x="2707090" y="32003"/>
                  <a:pt x="2402756" y="-3140"/>
                  <a:pt x="2272284" y="13716"/>
                </a:cubicBezTo>
                <a:cubicBezTo>
                  <a:pt x="2141812" y="30572"/>
                  <a:pt x="1895935" y="13627"/>
                  <a:pt x="1555432" y="13716"/>
                </a:cubicBezTo>
                <a:cubicBezTo>
                  <a:pt x="1214929" y="13805"/>
                  <a:pt x="1103072" y="9931"/>
                  <a:pt x="960310" y="13716"/>
                </a:cubicBezTo>
                <a:cubicBezTo>
                  <a:pt x="817548" y="17501"/>
                  <a:pt x="402272" y="-33931"/>
                  <a:pt x="0" y="13716"/>
                </a:cubicBezTo>
                <a:cubicBezTo>
                  <a:pt x="-460" y="10837"/>
                  <a:pt x="38" y="6680"/>
                  <a:pt x="0" y="0"/>
                </a:cubicBezTo>
                <a:close/>
              </a:path>
              <a:path w="4057650" h="13716" stroke="0" extrusionOk="0">
                <a:moveTo>
                  <a:pt x="0" y="0"/>
                </a:moveTo>
                <a:cubicBezTo>
                  <a:pt x="248348" y="13145"/>
                  <a:pt x="486117" y="25042"/>
                  <a:pt x="635698" y="0"/>
                </a:cubicBezTo>
                <a:cubicBezTo>
                  <a:pt x="785279" y="-25042"/>
                  <a:pt x="917762" y="-5537"/>
                  <a:pt x="1190244" y="0"/>
                </a:cubicBezTo>
                <a:cubicBezTo>
                  <a:pt x="1462726" y="5537"/>
                  <a:pt x="1667120" y="-21232"/>
                  <a:pt x="1947672" y="0"/>
                </a:cubicBezTo>
                <a:cubicBezTo>
                  <a:pt x="2228224" y="21232"/>
                  <a:pt x="2280631" y="-21698"/>
                  <a:pt x="2583370" y="0"/>
                </a:cubicBezTo>
                <a:cubicBezTo>
                  <a:pt x="2886109" y="21698"/>
                  <a:pt x="3022941" y="19647"/>
                  <a:pt x="3219069" y="0"/>
                </a:cubicBezTo>
                <a:cubicBezTo>
                  <a:pt x="3415197" y="-19647"/>
                  <a:pt x="3747500" y="26991"/>
                  <a:pt x="4057650" y="0"/>
                </a:cubicBezTo>
                <a:cubicBezTo>
                  <a:pt x="4056980" y="3019"/>
                  <a:pt x="4057134" y="10425"/>
                  <a:pt x="4057650" y="13716"/>
                </a:cubicBezTo>
                <a:cubicBezTo>
                  <a:pt x="3865148" y="-7885"/>
                  <a:pt x="3702543" y="44896"/>
                  <a:pt x="3381375" y="13716"/>
                </a:cubicBezTo>
                <a:cubicBezTo>
                  <a:pt x="3060208" y="-17464"/>
                  <a:pt x="2956571" y="-13250"/>
                  <a:pt x="2826830" y="13716"/>
                </a:cubicBezTo>
                <a:cubicBezTo>
                  <a:pt x="2697089" y="40682"/>
                  <a:pt x="2411031" y="38582"/>
                  <a:pt x="2150555" y="13716"/>
                </a:cubicBezTo>
                <a:cubicBezTo>
                  <a:pt x="1890080" y="-11150"/>
                  <a:pt x="1741827" y="-5187"/>
                  <a:pt x="1474280" y="13716"/>
                </a:cubicBezTo>
                <a:cubicBezTo>
                  <a:pt x="1206734" y="32619"/>
                  <a:pt x="998203" y="28763"/>
                  <a:pt x="838581" y="13716"/>
                </a:cubicBezTo>
                <a:cubicBezTo>
                  <a:pt x="678959" y="-1331"/>
                  <a:pt x="187101" y="-17784"/>
                  <a:pt x="0" y="13716"/>
                </a:cubicBezTo>
                <a:cubicBezTo>
                  <a:pt x="-114" y="7033"/>
                  <a:pt x="103" y="3429"/>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Shape 2">
            <a:extLst>
              <a:ext uri="{FF2B5EF4-FFF2-40B4-BE49-F238E27FC236}">
                <a16:creationId xmlns:a16="http://schemas.microsoft.com/office/drawing/2014/main" id="{1C46BDEB-1CCD-4EA4-F868-D499E2E0F725}"/>
              </a:ext>
            </a:extLst>
          </p:cNvPr>
          <p:cNvSpPr/>
          <p:nvPr/>
        </p:nvSpPr>
        <p:spPr>
          <a:xfrm>
            <a:off x="342900" y="1508760"/>
            <a:ext cx="3732276" cy="3599104"/>
          </a:xfrm>
          <a:prstGeom prst="rect">
            <a:avLst/>
          </a:prstGeom>
          <a:solidFill>
            <a:srgbClr val="FFFFFF"/>
          </a:solidFill>
          <a:ln/>
          <a:effectLst>
            <a:outerShdw blurRad="50800" dist="25400" dir="8100000" algn="bl" rotWithShape="0">
              <a:srgbClr val="000000">
                <a:alpha val="8000"/>
              </a:srgbClr>
            </a:outerShdw>
          </a:effectLst>
        </p:spPr>
        <p:txBody>
          <a:bodyPr/>
          <a:lstStyle/>
          <a:p>
            <a:r>
              <a:rPr lang="fr-FR" sz="1300" b="1" i="1" dirty="0"/>
              <a:t>for (</a:t>
            </a:r>
            <a:r>
              <a:rPr lang="fr-FR" sz="1300" b="1" i="1" dirty="0" err="1"/>
              <a:t>int</a:t>
            </a:r>
            <a:r>
              <a:rPr lang="fr-FR" sz="1300" b="1" i="1" dirty="0"/>
              <a:t> li = 0; li &lt; </a:t>
            </a:r>
            <a:r>
              <a:rPr lang="fr-FR" sz="1300" b="1" i="1" dirty="0" err="1"/>
              <a:t>local_rows</a:t>
            </a:r>
            <a:r>
              <a:rPr lang="fr-FR" sz="1300" b="1" i="1" dirty="0"/>
              <a:t>; li++) {</a:t>
            </a:r>
          </a:p>
          <a:p>
            <a:endParaRPr lang="fr-FR" sz="1300" b="1" i="1" dirty="0"/>
          </a:p>
          <a:p>
            <a:r>
              <a:rPr lang="fr-FR" sz="1300" b="1" i="1" dirty="0"/>
              <a:t>    // Reconstituer la ligne globale gi</a:t>
            </a:r>
          </a:p>
          <a:p>
            <a:r>
              <a:rPr lang="fr-FR" sz="1300" b="1" i="1" dirty="0"/>
              <a:t>    if (gi &lt;= k) continue;   // uniquement sous le pivot</a:t>
            </a:r>
          </a:p>
          <a:p>
            <a:endParaRPr lang="fr-FR" sz="1300" b="1" i="1" dirty="0"/>
          </a:p>
          <a:p>
            <a:r>
              <a:rPr lang="fr-FR" sz="1300" b="1" i="1" dirty="0"/>
              <a:t>    double factor = A[IDX(li, k, N)] / </a:t>
            </a:r>
            <a:r>
              <a:rPr lang="fr-FR" sz="1300" b="1" i="1" dirty="0" err="1"/>
              <a:t>pivot_val</a:t>
            </a:r>
            <a:r>
              <a:rPr lang="fr-FR" sz="1300" b="1" i="1" dirty="0"/>
              <a:t>;</a:t>
            </a:r>
          </a:p>
          <a:p>
            <a:endParaRPr lang="fr-FR" sz="1300" b="1" i="1" dirty="0"/>
          </a:p>
          <a:p>
            <a:r>
              <a:rPr lang="fr-FR" sz="1300" b="1" i="1" dirty="0"/>
              <a:t>    // SAXPY : </a:t>
            </a:r>
            <a:r>
              <a:rPr lang="fr-FR" sz="1300" b="1" i="1" dirty="0" err="1"/>
              <a:t>L_i</a:t>
            </a:r>
            <a:r>
              <a:rPr lang="fr-FR" sz="1300" b="1" i="1" dirty="0"/>
              <a:t> = </a:t>
            </a:r>
            <a:r>
              <a:rPr lang="fr-FR" sz="1300" b="1" i="1" dirty="0" err="1"/>
              <a:t>L_i</a:t>
            </a:r>
            <a:r>
              <a:rPr lang="fr-FR" sz="1300" b="1" i="1" dirty="0"/>
              <a:t> - factor * pivot</a:t>
            </a:r>
          </a:p>
          <a:p>
            <a:r>
              <a:rPr lang="fr-FR" sz="1300" b="1" i="1" dirty="0"/>
              <a:t>    for (</a:t>
            </a:r>
            <a:r>
              <a:rPr lang="fr-FR" sz="1300" b="1" i="1" dirty="0" err="1"/>
              <a:t>int</a:t>
            </a:r>
            <a:r>
              <a:rPr lang="fr-FR" sz="1300" b="1" i="1" dirty="0"/>
              <a:t> j = k; j &lt; N; j++) {</a:t>
            </a:r>
          </a:p>
          <a:p>
            <a:r>
              <a:rPr lang="fr-FR" sz="1300" b="1" i="1" dirty="0"/>
              <a:t>        A[IDX(li, j, N)] -= factor * </a:t>
            </a:r>
            <a:r>
              <a:rPr lang="fr-FR" sz="1300" b="1" i="1" dirty="0" err="1"/>
              <a:t>pivot_row</a:t>
            </a:r>
            <a:r>
              <a:rPr lang="fr-FR" sz="1300" b="1" i="1" dirty="0"/>
              <a:t>[j];</a:t>
            </a:r>
          </a:p>
          <a:p>
            <a:r>
              <a:rPr lang="fr-FR" sz="1300" b="1" i="1" dirty="0"/>
              <a:t>    }</a:t>
            </a:r>
          </a:p>
          <a:p>
            <a:endParaRPr lang="fr-FR" sz="1300" b="1" i="1" dirty="0"/>
          </a:p>
          <a:p>
            <a:r>
              <a:rPr lang="fr-FR" sz="1300" b="1" i="1" dirty="0"/>
              <a:t>    </a:t>
            </a:r>
            <a:r>
              <a:rPr lang="fr-FR" sz="1300" b="1" i="1" dirty="0" err="1"/>
              <a:t>b_vec</a:t>
            </a:r>
            <a:r>
              <a:rPr lang="fr-FR" sz="1300" b="1" i="1" dirty="0"/>
              <a:t>[li] -= factor * </a:t>
            </a:r>
            <a:r>
              <a:rPr lang="fr-FR" sz="1300" b="1" i="1" dirty="0" err="1"/>
              <a:t>pivot_row</a:t>
            </a:r>
            <a:r>
              <a:rPr lang="fr-FR" sz="1300" b="1" i="1" dirty="0"/>
              <a:t>[N];</a:t>
            </a:r>
          </a:p>
          <a:p>
            <a:endParaRPr lang="fr-FR" sz="1300" b="1" i="1" dirty="0"/>
          </a:p>
          <a:p>
            <a:r>
              <a:rPr lang="fr-FR" sz="1300" b="1" i="1" dirty="0"/>
              <a:t>    // Stocker le multiplicateur L </a:t>
            </a:r>
            <a:r>
              <a:rPr lang="fr-FR" sz="1300" b="1" i="1" dirty="0" err="1"/>
              <a:t>in-place</a:t>
            </a:r>
            <a:r>
              <a:rPr lang="fr-FR" sz="1300" b="1" i="1" dirty="0"/>
              <a:t> (LU)</a:t>
            </a:r>
          </a:p>
          <a:p>
            <a:r>
              <a:rPr lang="fr-FR" sz="1300" b="1" i="1" dirty="0"/>
              <a:t>    A[IDX(li, k, N)] = factor;</a:t>
            </a:r>
          </a:p>
          <a:p>
            <a:r>
              <a:rPr lang="fr-FR" sz="1300" b="1" i="1" dirty="0"/>
              <a:t>}</a:t>
            </a:r>
          </a:p>
        </p:txBody>
      </p:sp>
      <p:pic>
        <p:nvPicPr>
          <p:cNvPr id="40" name="Image 0" descr="preencoded.png">
            <a:extLst>
              <a:ext uri="{FF2B5EF4-FFF2-40B4-BE49-F238E27FC236}">
                <a16:creationId xmlns:a16="http://schemas.microsoft.com/office/drawing/2014/main" id="{72711257-E43E-944A-9495-5CCFB37BDB47}"/>
              </a:ext>
            </a:extLst>
          </p:cNvPr>
          <p:cNvPicPr>
            <a:picLocks noChangeAspect="1"/>
          </p:cNvPicPr>
          <p:nvPr/>
        </p:nvPicPr>
        <p:blipFill>
          <a:blip r:embed="rId3"/>
          <a:stretch>
            <a:fillRect/>
          </a:stretch>
        </p:blipFill>
        <p:spPr>
          <a:xfrm>
            <a:off x="4129277" y="3085610"/>
            <a:ext cx="274320" cy="274320"/>
          </a:xfrm>
          <a:prstGeom prst="rect">
            <a:avLst/>
          </a:prstGeom>
        </p:spPr>
      </p:pic>
      <p:sp>
        <p:nvSpPr>
          <p:cNvPr id="18" name="Rectangle 17">
            <a:extLst>
              <a:ext uri="{FF2B5EF4-FFF2-40B4-BE49-F238E27FC236}">
                <a16:creationId xmlns:a16="http://schemas.microsoft.com/office/drawing/2014/main" id="{25414571-2BD4-9F6E-AF9D-AD2053F74D53}"/>
              </a:ext>
            </a:extLst>
          </p:cNvPr>
          <p:cNvSpPr/>
          <p:nvPr/>
        </p:nvSpPr>
        <p:spPr>
          <a:xfrm>
            <a:off x="4465320" y="2274466"/>
            <a:ext cx="4572000" cy="228392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a:p>
        </p:txBody>
      </p:sp>
      <p:sp>
        <p:nvSpPr>
          <p:cNvPr id="23" name="TextBox 15">
            <a:extLst>
              <a:ext uri="{FF2B5EF4-FFF2-40B4-BE49-F238E27FC236}">
                <a16:creationId xmlns:a16="http://schemas.microsoft.com/office/drawing/2014/main" id="{AE8D7C1A-3DAA-456E-A6C0-17A31CBF1898}"/>
              </a:ext>
            </a:extLst>
          </p:cNvPr>
          <p:cNvSpPr txBox="1"/>
          <p:nvPr/>
        </p:nvSpPr>
        <p:spPr>
          <a:xfrm>
            <a:off x="4556760" y="2297430"/>
            <a:ext cx="4389120" cy="292388"/>
          </a:xfrm>
          <a:prstGeom prst="rect">
            <a:avLst/>
          </a:prstGeom>
          <a:noFill/>
        </p:spPr>
        <p:txBody>
          <a:bodyPr wrap="square">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l"/>
            <a:r>
              <a:rPr lang="fr-FR" sz="1300" b="1" i="0" dirty="0">
                <a:solidFill>
                  <a:srgbClr val="D4A843"/>
                </a:solidFill>
                <a:latin typeface="Calibri"/>
              </a:rPr>
              <a:t>Détails</a:t>
            </a:r>
            <a:endParaRPr sz="1300" b="1" i="0" dirty="0">
              <a:solidFill>
                <a:srgbClr val="D4A843"/>
              </a:solidFill>
              <a:latin typeface="Calibri"/>
            </a:endParaRPr>
          </a:p>
        </p:txBody>
      </p:sp>
      <mc:AlternateContent xmlns:mc="http://schemas.openxmlformats.org/markup-compatibility/2006" xmlns:a14="http://schemas.microsoft.com/office/drawing/2010/main">
        <mc:Choice Requires="a14">
          <p:sp>
            <p:nvSpPr>
              <p:cNvPr id="28" name="TextBox 16">
                <a:extLst>
                  <a:ext uri="{FF2B5EF4-FFF2-40B4-BE49-F238E27FC236}">
                    <a16:creationId xmlns:a16="http://schemas.microsoft.com/office/drawing/2014/main" id="{949DCCCB-5D38-D485-1D94-16728FC71EBA}"/>
                  </a:ext>
                </a:extLst>
              </p:cNvPr>
              <p:cNvSpPr txBox="1"/>
              <p:nvPr/>
            </p:nvSpPr>
            <p:spPr>
              <a:xfrm>
                <a:off x="4556760" y="2663190"/>
                <a:ext cx="4389120" cy="1862048"/>
              </a:xfrm>
              <a:prstGeom prst="rect">
                <a:avLst/>
              </a:prstGeom>
              <a:noFill/>
            </p:spPr>
            <p:txBody>
              <a:bodyPr wrap="square">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spcAft>
                    <a:spcPts val="200"/>
                  </a:spcAft>
                </a:pPr>
                <a:r>
                  <a:rPr lang="fr-FR" sz="1000" b="1" dirty="0">
                    <a:solidFill>
                      <a:srgbClr val="0D4F4F"/>
                    </a:solidFill>
                  </a:rPr>
                  <a:t>Chaque processus met à jour ses lignes locales sous le pivot.</a:t>
                </a:r>
                <a:r>
                  <a:rPr sz="1000" b="1" dirty="0">
                    <a:solidFill>
                      <a:srgbClr val="0D4F4F"/>
                    </a:solidFill>
                  </a:rPr>
                  <a:t> </a:t>
                </a:r>
                <a:endParaRPr lang="fr-FR" sz="1000" b="1" dirty="0">
                  <a:solidFill>
                    <a:srgbClr val="0D4F4F"/>
                  </a:solidFill>
                </a:endParaRPr>
              </a:p>
              <a:p>
                <a:pPr>
                  <a:spcAft>
                    <a:spcPts val="200"/>
                  </a:spcAft>
                </a:pPr>
                <a:r>
                  <a:rPr lang="fr-FR" sz="1000" dirty="0">
                    <a:solidFill>
                      <a:srgbClr val="4A4A5A"/>
                    </a:solidFill>
                    <a:latin typeface="Calibri"/>
                  </a:rPr>
                  <a:t>On ne traite que les lignes globales </a:t>
                </a:r>
                <a14:m>
                  <m:oMath xmlns:m="http://schemas.openxmlformats.org/officeDocument/2006/math">
                    <m:r>
                      <a:rPr lang="fr-FR" sz="1000">
                        <a:solidFill>
                          <a:srgbClr val="4A4A5A"/>
                        </a:solidFill>
                        <a:latin typeface="Cambria Math" panose="02040503050406030204" pitchFamily="18" charset="0"/>
                      </a:rPr>
                      <m:t>𝑖</m:t>
                    </m:r>
                    <m:r>
                      <a:rPr lang="fr-FR" sz="1000">
                        <a:solidFill>
                          <a:srgbClr val="4A4A5A"/>
                        </a:solidFill>
                        <a:latin typeface="Cambria Math" panose="02040503050406030204" pitchFamily="18" charset="0"/>
                      </a:rPr>
                      <m:t>&gt;</m:t>
                    </m:r>
                    <m:r>
                      <a:rPr lang="fr-FR" sz="1000">
                        <a:solidFill>
                          <a:srgbClr val="4A4A5A"/>
                        </a:solidFill>
                        <a:latin typeface="Cambria Math" panose="02040503050406030204" pitchFamily="18" charset="0"/>
                      </a:rPr>
                      <m:t>𝑘</m:t>
                    </m:r>
                  </m:oMath>
                </a14:m>
                <a:r>
                  <a:rPr lang="fr-FR" sz="1000" dirty="0">
                    <a:solidFill>
                      <a:srgbClr val="4A4A5A"/>
                    </a:solidFill>
                    <a:latin typeface="Calibri"/>
                  </a:rPr>
                  <a:t>.</a:t>
                </a:r>
                <a:endParaRPr sz="1000" dirty="0">
                  <a:solidFill>
                    <a:srgbClr val="4A4A5A"/>
                  </a:solidFill>
                  <a:latin typeface="Calibri"/>
                </a:endParaRPr>
              </a:p>
              <a:p>
                <a:pPr>
                  <a:spcAft>
                    <a:spcPts val="200"/>
                  </a:spcAft>
                </a:pPr>
                <a:endParaRPr lang="fr-FR" sz="1000" b="1" dirty="0">
                  <a:solidFill>
                    <a:srgbClr val="E07A5F"/>
                  </a:solidFill>
                  <a:latin typeface="Calibri"/>
                </a:endParaRPr>
              </a:p>
              <a:p>
                <a:pPr>
                  <a:spcAft>
                    <a:spcPts val="200"/>
                  </a:spcAft>
                </a:pPr>
                <a:r>
                  <a:rPr lang="fr-FR" sz="1000" b="1" dirty="0">
                    <a:solidFill>
                      <a:srgbClr val="E07A5F"/>
                    </a:solidFill>
                    <a:latin typeface="Calibri"/>
                  </a:rPr>
                  <a:t>On calcule le multiplicateur d’élimination.</a:t>
                </a:r>
                <a:endParaRPr sz="1000" b="1" dirty="0">
                  <a:solidFill>
                    <a:srgbClr val="E07A5F"/>
                  </a:solidFill>
                  <a:latin typeface="Calibri"/>
                </a:endParaRPr>
              </a:p>
              <a:p>
                <a:pPr>
                  <a:spcAft>
                    <a:spcPts val="200"/>
                  </a:spcAft>
                </a:pPr>
                <a:endParaRPr lang="fr-FR" sz="1000" b="1" dirty="0">
                  <a:solidFill>
                    <a:srgbClr val="0D4F4F"/>
                  </a:solidFill>
                  <a:latin typeface="Calibri"/>
                </a:endParaRPr>
              </a:p>
              <a:p>
                <a:pPr>
                  <a:spcAft>
                    <a:spcPts val="200"/>
                  </a:spcAft>
                </a:pPr>
                <a:r>
                  <a:rPr lang="fr-FR" sz="1000" b="1" dirty="0">
                    <a:solidFill>
                      <a:srgbClr val="0D4F4F"/>
                    </a:solidFill>
                    <a:latin typeface="Calibri"/>
                  </a:rPr>
                  <a:t>On applique l’opération SAXPY sur la ligne.</a:t>
                </a:r>
                <a:endParaRPr sz="1000" b="1" dirty="0">
                  <a:solidFill>
                    <a:srgbClr val="0D4F4F"/>
                  </a:solidFill>
                  <a:latin typeface="Calibri"/>
                </a:endParaRPr>
              </a:p>
              <a:p>
                <a:pPr>
                  <a:spcAft>
                    <a:spcPts val="200"/>
                  </a:spcAft>
                </a:pPr>
                <a:r>
                  <a:rPr lang="fr-FR" sz="1000" dirty="0">
                    <a:solidFill>
                      <a:srgbClr val="4A4A5A"/>
                    </a:solidFill>
                    <a:latin typeface="Calibri"/>
                  </a:rPr>
                  <a:t>La ligne devient </a:t>
                </a:r>
                <a14:m>
                  <m:oMath xmlns:m="http://schemas.openxmlformats.org/officeDocument/2006/math">
                    <m:sSub>
                      <m:sSubPr>
                        <m:ctrlPr>
                          <a:rPr lang="ar-TN" sz="1000" i="1">
                            <a:solidFill>
                              <a:srgbClr val="4A4A5A"/>
                            </a:solidFill>
                            <a:latin typeface="Cambria Math" panose="02040503050406030204" pitchFamily="18" charset="0"/>
                          </a:rPr>
                        </m:ctrlPr>
                      </m:sSubPr>
                      <m:e>
                        <m:r>
                          <a:rPr lang="ar-TN" sz="1000">
                            <a:solidFill>
                              <a:srgbClr val="4A4A5A"/>
                            </a:solidFill>
                            <a:latin typeface="Cambria Math" panose="02040503050406030204" pitchFamily="18" charset="0"/>
                          </a:rPr>
                          <m:t>𝐿</m:t>
                        </m:r>
                      </m:e>
                      <m:sub>
                        <m:r>
                          <a:rPr lang="ar-TN" sz="1000">
                            <a:solidFill>
                              <a:srgbClr val="4A4A5A"/>
                            </a:solidFill>
                            <a:latin typeface="Cambria Math" panose="02040503050406030204" pitchFamily="18" charset="0"/>
                          </a:rPr>
                          <m:t>𝑖</m:t>
                        </m:r>
                      </m:sub>
                    </m:sSub>
                    <m:r>
                      <a:rPr lang="ar-TN" sz="1000">
                        <a:solidFill>
                          <a:srgbClr val="4A4A5A"/>
                        </a:solidFill>
                        <a:latin typeface="Cambria Math" panose="02040503050406030204" pitchFamily="18" charset="0"/>
                      </a:rPr>
                      <m:t>←</m:t>
                    </m:r>
                    <m:sSub>
                      <m:sSubPr>
                        <m:ctrlPr>
                          <a:rPr lang="ar-TN" sz="1000" i="1">
                            <a:solidFill>
                              <a:srgbClr val="4A4A5A"/>
                            </a:solidFill>
                            <a:latin typeface="Cambria Math" panose="02040503050406030204" pitchFamily="18" charset="0"/>
                          </a:rPr>
                        </m:ctrlPr>
                      </m:sSubPr>
                      <m:e>
                        <m:r>
                          <a:rPr lang="ar-TN" sz="1000">
                            <a:solidFill>
                              <a:srgbClr val="4A4A5A"/>
                            </a:solidFill>
                            <a:latin typeface="Cambria Math" panose="02040503050406030204" pitchFamily="18" charset="0"/>
                          </a:rPr>
                          <m:t>𝐿</m:t>
                        </m:r>
                      </m:e>
                      <m:sub>
                        <m:r>
                          <a:rPr lang="ar-TN" sz="1000">
                            <a:solidFill>
                              <a:srgbClr val="4A4A5A"/>
                            </a:solidFill>
                            <a:latin typeface="Cambria Math" panose="02040503050406030204" pitchFamily="18" charset="0"/>
                          </a:rPr>
                          <m:t>𝑖</m:t>
                        </m:r>
                      </m:sub>
                    </m:sSub>
                    <m:r>
                      <a:rPr lang="ar-TN" sz="1000">
                        <a:solidFill>
                          <a:srgbClr val="4A4A5A"/>
                        </a:solidFill>
                        <a:latin typeface="Cambria Math" panose="02040503050406030204" pitchFamily="18" charset="0"/>
                      </a:rPr>
                      <m:t>−</m:t>
                    </m:r>
                    <m:r>
                      <m:rPr>
                        <m:nor/>
                      </m:rPr>
                      <a:rPr lang="fr-FR" sz="1000">
                        <a:solidFill>
                          <a:srgbClr val="4A4A5A"/>
                        </a:solidFill>
                        <a:latin typeface="Calibri"/>
                      </a:rPr>
                      <m:t>factor</m:t>
                    </m:r>
                    <m:r>
                      <a:rPr lang="fr-FR" sz="1000">
                        <a:solidFill>
                          <a:srgbClr val="4A4A5A"/>
                        </a:solidFill>
                        <a:latin typeface="Cambria Math" panose="02040503050406030204" pitchFamily="18" charset="0"/>
                      </a:rPr>
                      <m:t>×</m:t>
                    </m:r>
                    <m:sSub>
                      <m:sSubPr>
                        <m:ctrlPr>
                          <a:rPr lang="ar-TN" sz="1000" i="1">
                            <a:solidFill>
                              <a:srgbClr val="4A4A5A"/>
                            </a:solidFill>
                            <a:latin typeface="Cambria Math" panose="02040503050406030204" pitchFamily="18" charset="0"/>
                          </a:rPr>
                        </m:ctrlPr>
                      </m:sSubPr>
                      <m:e>
                        <m:r>
                          <a:rPr lang="ar-TN" sz="1000">
                            <a:solidFill>
                              <a:srgbClr val="4A4A5A"/>
                            </a:solidFill>
                            <a:latin typeface="Cambria Math" panose="02040503050406030204" pitchFamily="18" charset="0"/>
                          </a:rPr>
                          <m:t>𝐿</m:t>
                        </m:r>
                      </m:e>
                      <m:sub>
                        <m:r>
                          <a:rPr lang="ar-TN" sz="1000">
                            <a:solidFill>
                              <a:srgbClr val="4A4A5A"/>
                            </a:solidFill>
                            <a:latin typeface="Cambria Math" panose="02040503050406030204" pitchFamily="18" charset="0"/>
                          </a:rPr>
                          <m:t>𝑘</m:t>
                        </m:r>
                      </m:sub>
                    </m:sSub>
                  </m:oMath>
                </a14:m>
                <a:r>
                  <a:rPr lang="ar-TN" sz="1000" dirty="0">
                    <a:solidFill>
                      <a:srgbClr val="4A4A5A"/>
                    </a:solidFill>
                    <a:latin typeface="Calibri"/>
                  </a:rPr>
                  <a:t>.</a:t>
                </a:r>
                <a:endParaRPr sz="1000" dirty="0">
                  <a:solidFill>
                    <a:srgbClr val="4A4A5A"/>
                  </a:solidFill>
                  <a:latin typeface="Calibri"/>
                </a:endParaRPr>
              </a:p>
              <a:p>
                <a:pPr>
                  <a:spcAft>
                    <a:spcPts val="200"/>
                  </a:spcAft>
                </a:pPr>
                <a:endParaRPr lang="fr-FR" sz="1000" b="1" dirty="0">
                  <a:solidFill>
                    <a:srgbClr val="E07A5F"/>
                  </a:solidFill>
                  <a:latin typeface="Calibri"/>
                </a:endParaRPr>
              </a:p>
              <a:p>
                <a:pPr>
                  <a:spcAft>
                    <a:spcPts val="200"/>
                  </a:spcAft>
                </a:pPr>
                <a:r>
                  <a:rPr lang="fr-FR" sz="1000" b="1" dirty="0">
                    <a:solidFill>
                      <a:srgbClr val="E07A5F"/>
                    </a:solidFill>
                    <a:latin typeface="Calibri"/>
                  </a:rPr>
                  <a:t>Le multiplicateur est stocké pour la factorisation LU. </a:t>
                </a:r>
              </a:p>
              <a:p>
                <a:pPr>
                  <a:spcAft>
                    <a:spcPts val="200"/>
                  </a:spcAft>
                </a:pPr>
                <a:r>
                  <a:rPr lang="fr-FR" sz="1000" dirty="0">
                    <a:solidFill>
                      <a:srgbClr val="4A4A5A"/>
                    </a:solidFill>
                    <a:latin typeface="Calibri"/>
                  </a:rPr>
                  <a:t>La valeur factor est conservée dans la matrice (stockage </a:t>
                </a:r>
                <a:r>
                  <a:rPr lang="fr-FR" sz="1000" dirty="0" err="1">
                    <a:solidFill>
                      <a:srgbClr val="4A4A5A"/>
                    </a:solidFill>
                    <a:latin typeface="Calibri"/>
                  </a:rPr>
                  <a:t>in-place</a:t>
                </a:r>
                <a:r>
                  <a:rPr lang="fr-FR" sz="1000" dirty="0">
                    <a:solidFill>
                      <a:srgbClr val="4A4A5A"/>
                    </a:solidFill>
                    <a:latin typeface="Calibri"/>
                  </a:rPr>
                  <a:t>).</a:t>
                </a:r>
                <a:endParaRPr sz="1000" dirty="0">
                  <a:solidFill>
                    <a:srgbClr val="4A4A5A"/>
                  </a:solidFill>
                  <a:latin typeface="Calibri"/>
                </a:endParaRPr>
              </a:p>
            </p:txBody>
          </p:sp>
        </mc:Choice>
        <mc:Fallback xmlns="">
          <p:sp>
            <p:nvSpPr>
              <p:cNvPr id="28" name="TextBox 16">
                <a:extLst>
                  <a:ext uri="{FF2B5EF4-FFF2-40B4-BE49-F238E27FC236}">
                    <a16:creationId xmlns:a16="http://schemas.microsoft.com/office/drawing/2014/main" id="{949DCCCB-5D38-D485-1D94-16728FC71EBA}"/>
                  </a:ext>
                </a:extLst>
              </p:cNvPr>
              <p:cNvSpPr txBox="1">
                <a:spLocks noRot="1" noChangeAspect="1" noMove="1" noResize="1" noEditPoints="1" noAdjustHandles="1" noChangeArrowheads="1" noChangeShapeType="1" noTextEdit="1"/>
              </p:cNvSpPr>
              <p:nvPr/>
            </p:nvSpPr>
            <p:spPr>
              <a:xfrm>
                <a:off x="4556760" y="2663190"/>
                <a:ext cx="4389120" cy="1862048"/>
              </a:xfrm>
              <a:prstGeom prst="rect">
                <a:avLst/>
              </a:prstGeom>
              <a:blipFill>
                <a:blip r:embed="rId5"/>
                <a:stretch>
                  <a:fillRect b="-984"/>
                </a:stretch>
              </a:blipFill>
            </p:spPr>
            <p:txBody>
              <a:bodyPr/>
              <a:lstStyle/>
              <a:p>
                <a:r>
                  <a:rPr lang="fr-FR">
                    <a:noFill/>
                  </a:rPr>
                  <a:t> </a:t>
                </a:r>
              </a:p>
            </p:txBody>
          </p:sp>
        </mc:Fallback>
      </mc:AlternateContent>
      <p:sp>
        <p:nvSpPr>
          <p:cNvPr id="9" name="TextBox 8">
            <a:extLst>
              <a:ext uri="{FF2B5EF4-FFF2-40B4-BE49-F238E27FC236}">
                <a16:creationId xmlns:a16="http://schemas.microsoft.com/office/drawing/2014/main" id="{63800A8E-0895-9745-2CB9-BF3A25846ABA}"/>
              </a:ext>
            </a:extLst>
          </p:cNvPr>
          <p:cNvSpPr txBox="1"/>
          <p:nvPr/>
        </p:nvSpPr>
        <p:spPr>
          <a:xfrm>
            <a:off x="8394732" y="43934"/>
            <a:ext cx="700833" cy="369332"/>
          </a:xfrm>
          <a:prstGeom prst="rect">
            <a:avLst/>
          </a:prstGeom>
          <a:noFill/>
        </p:spPr>
        <p:txBody>
          <a:bodyPr wrap="none" rtlCol="0">
            <a:spAutoFit/>
          </a:bodyPr>
          <a:lstStyle/>
          <a:p>
            <a:r>
              <a:rPr lang="fr-FR" b="1" dirty="0">
                <a:solidFill>
                  <a:srgbClr val="0D4F4F"/>
                </a:solidFill>
                <a:latin typeface="Georgia"/>
              </a:rPr>
              <a:t>9/21</a:t>
            </a:r>
          </a:p>
        </p:txBody>
      </p:sp>
    </p:spTree>
    <p:extLst>
      <p:ext uri="{BB962C8B-B14F-4D97-AF65-F5344CB8AC3E}">
        <p14:creationId xmlns:p14="http://schemas.microsoft.com/office/powerpoint/2010/main" val="13660181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AF8F0"/>
        </a:solidFill>
        <a:effectLst/>
      </p:bgPr>
    </p:bg>
    <p:spTree>
      <p:nvGrpSpPr>
        <p:cNvPr id="1" name="">
          <a:extLst>
            <a:ext uri="{FF2B5EF4-FFF2-40B4-BE49-F238E27FC236}">
              <a16:creationId xmlns:a16="http://schemas.microsoft.com/office/drawing/2014/main" id="{D232A9A5-D10A-C620-CA45-0F4E64EC9BE7}"/>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6C874E9D-91C0-38D0-A635-635388AD3F08}"/>
              </a:ext>
            </a:extLst>
          </p:cNvPr>
          <p:cNvSpPr/>
          <p:nvPr/>
        </p:nvSpPr>
        <p:spPr>
          <a:xfrm>
            <a:off x="548640" y="228600"/>
            <a:ext cx="8229600" cy="457200"/>
          </a:xfrm>
          <a:prstGeom prst="rect">
            <a:avLst/>
          </a:prstGeom>
          <a:noFill/>
          <a:ln/>
        </p:spPr>
        <p:txBody>
          <a:bodyPr wrap="square" lIns="0" tIns="0" rIns="0" bIns="0" rtlCol="0" anchor="ctr"/>
          <a:lstStyle/>
          <a:p>
            <a:pPr marL="0" indent="0">
              <a:buNone/>
            </a:pPr>
            <a:r>
              <a:rPr lang="en-US" sz="2400" b="1" dirty="0">
                <a:solidFill>
                  <a:srgbClr val="0D4F4F"/>
                </a:solidFill>
                <a:latin typeface="Georgia" pitchFamily="34" charset="0"/>
                <a:ea typeface="Georgia" pitchFamily="34" charset="-122"/>
                <a:cs typeface="Georgia" pitchFamily="34" charset="-120"/>
              </a:rPr>
              <a:t>Le problème : résistance aux antibiotiques</a:t>
            </a:r>
            <a:endParaRPr lang="en-US" sz="2400" dirty="0"/>
          </a:p>
        </p:txBody>
      </p:sp>
      <p:sp>
        <p:nvSpPr>
          <p:cNvPr id="3" name="Text 1">
            <a:extLst>
              <a:ext uri="{FF2B5EF4-FFF2-40B4-BE49-F238E27FC236}">
                <a16:creationId xmlns:a16="http://schemas.microsoft.com/office/drawing/2014/main" id="{A1BC2E7F-340F-F21B-5280-61FA0E7E51C7}"/>
              </a:ext>
            </a:extLst>
          </p:cNvPr>
          <p:cNvSpPr/>
          <p:nvPr/>
        </p:nvSpPr>
        <p:spPr>
          <a:xfrm>
            <a:off x="548640" y="658368"/>
            <a:ext cx="8229600" cy="274320"/>
          </a:xfrm>
          <a:prstGeom prst="rect">
            <a:avLst/>
          </a:prstGeom>
          <a:noFill/>
          <a:ln/>
        </p:spPr>
        <p:txBody>
          <a:bodyPr wrap="square" lIns="0" tIns="0" rIns="0" bIns="0" rtlCol="0" anchor="ctr"/>
          <a:lstStyle/>
          <a:p>
            <a:pPr marL="0" indent="0">
              <a:buNone/>
            </a:pPr>
            <a:r>
              <a:rPr lang="en-US" sz="1200" i="1" dirty="0">
                <a:solidFill>
                  <a:srgbClr val="8A8A9A"/>
                </a:solidFill>
                <a:latin typeface="Calibri" pitchFamily="34" charset="0"/>
                <a:ea typeface="Calibri" pitchFamily="34" charset="-122"/>
                <a:cs typeface="Calibri" pitchFamily="34" charset="-120"/>
              </a:rPr>
              <a:t>L'une des plus grandes menaces pour la santé publique mondiale (OMS, 2014)</a:t>
            </a:r>
            <a:endParaRPr lang="en-US" sz="1200" dirty="0"/>
          </a:p>
        </p:txBody>
      </p:sp>
      <p:sp>
        <p:nvSpPr>
          <p:cNvPr id="5" name="Shape 3">
            <a:extLst>
              <a:ext uri="{FF2B5EF4-FFF2-40B4-BE49-F238E27FC236}">
                <a16:creationId xmlns:a16="http://schemas.microsoft.com/office/drawing/2014/main" id="{3BB4157E-4E0D-85ED-F5FB-C735219F9B9B}"/>
              </a:ext>
            </a:extLst>
          </p:cNvPr>
          <p:cNvSpPr/>
          <p:nvPr/>
        </p:nvSpPr>
        <p:spPr>
          <a:xfrm>
            <a:off x="685800" y="1508760"/>
            <a:ext cx="365760" cy="365760"/>
          </a:xfrm>
          <a:prstGeom prst="ellipse">
            <a:avLst/>
          </a:prstGeom>
          <a:solidFill>
            <a:srgbClr val="0E7C7B"/>
          </a:solidFill>
          <a:ln/>
        </p:spPr>
        <p:txBody>
          <a:bodyPr/>
          <a:lstStyle/>
          <a:p>
            <a:endParaRPr lang="fr-FR"/>
          </a:p>
        </p:txBody>
      </p:sp>
      <p:sp>
        <p:nvSpPr>
          <p:cNvPr id="6" name="Text 4">
            <a:extLst>
              <a:ext uri="{FF2B5EF4-FFF2-40B4-BE49-F238E27FC236}">
                <a16:creationId xmlns:a16="http://schemas.microsoft.com/office/drawing/2014/main" id="{80507567-2374-4F03-0F16-F496FD1D82EE}"/>
              </a:ext>
            </a:extLst>
          </p:cNvPr>
          <p:cNvSpPr/>
          <p:nvPr/>
        </p:nvSpPr>
        <p:spPr>
          <a:xfrm>
            <a:off x="685800" y="1508760"/>
            <a:ext cx="365760" cy="365760"/>
          </a:xfrm>
          <a:prstGeom prst="rect">
            <a:avLst/>
          </a:prstGeom>
          <a:noFill/>
          <a:ln/>
        </p:spPr>
        <p:txBody>
          <a:bodyPr wrap="square"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7" name="Text 5">
            <a:extLst>
              <a:ext uri="{FF2B5EF4-FFF2-40B4-BE49-F238E27FC236}">
                <a16:creationId xmlns:a16="http://schemas.microsoft.com/office/drawing/2014/main" id="{7748E3F8-14E6-6484-BD71-C30B8FEF4E57}"/>
              </a:ext>
            </a:extLst>
          </p:cNvPr>
          <p:cNvSpPr/>
          <p:nvPr/>
        </p:nvSpPr>
        <p:spPr>
          <a:xfrm>
            <a:off x="1143000" y="1508760"/>
            <a:ext cx="1828800" cy="1097280"/>
          </a:xfrm>
          <a:prstGeom prst="rect">
            <a:avLst/>
          </a:prstGeom>
          <a:noFill/>
          <a:ln/>
        </p:spPr>
        <p:txBody>
          <a:bodyPr wrap="square" rtlCol="0" anchor="t"/>
          <a:lstStyle/>
          <a:p>
            <a:pPr marL="0" indent="0">
              <a:buNone/>
            </a:pPr>
            <a:r>
              <a:rPr lang="en-US" sz="1200" dirty="0">
                <a:solidFill>
                  <a:srgbClr val="1A1A2E"/>
                </a:solidFill>
                <a:latin typeface="Calibri" pitchFamily="34" charset="0"/>
                <a:ea typeface="Calibri" pitchFamily="34" charset="-122"/>
                <a:cs typeface="Calibri" pitchFamily="34" charset="-120"/>
              </a:rPr>
              <a:t>Antibiotiques massivement</a:t>
            </a:r>
            <a:endParaRPr lang="en-US" sz="1200" dirty="0"/>
          </a:p>
          <a:p>
            <a:pPr marL="0" indent="0">
              <a:buNone/>
            </a:pPr>
            <a:r>
              <a:rPr lang="en-US" sz="1200" dirty="0">
                <a:solidFill>
                  <a:srgbClr val="1A1A2E"/>
                </a:solidFill>
                <a:latin typeface="Calibri" pitchFamily="34" charset="0"/>
                <a:ea typeface="Calibri" pitchFamily="34" charset="-122"/>
                <a:cs typeface="Calibri" pitchFamily="34" charset="-120"/>
              </a:rPr>
              <a:t>utilisés en élevage</a:t>
            </a:r>
            <a:endParaRPr lang="en-US" sz="1200" dirty="0"/>
          </a:p>
        </p:txBody>
      </p:sp>
      <p:pic>
        <p:nvPicPr>
          <p:cNvPr id="8" name="Image 0" descr="preencoded.png">
            <a:extLst>
              <a:ext uri="{FF2B5EF4-FFF2-40B4-BE49-F238E27FC236}">
                <a16:creationId xmlns:a16="http://schemas.microsoft.com/office/drawing/2014/main" id="{5C0D37ED-B006-2971-1FE6-363B256E8F34}"/>
              </a:ext>
            </a:extLst>
          </p:cNvPr>
          <p:cNvPicPr>
            <a:picLocks noChangeAspect="1"/>
          </p:cNvPicPr>
          <p:nvPr/>
        </p:nvPicPr>
        <p:blipFill>
          <a:blip r:embed="rId3"/>
          <a:stretch>
            <a:fillRect/>
          </a:stretch>
        </p:blipFill>
        <p:spPr>
          <a:xfrm>
            <a:off x="3154680" y="1828800"/>
            <a:ext cx="201168" cy="201168"/>
          </a:xfrm>
          <a:prstGeom prst="rect">
            <a:avLst/>
          </a:prstGeom>
        </p:spPr>
      </p:pic>
      <p:sp>
        <p:nvSpPr>
          <p:cNvPr id="10" name="Shape 7">
            <a:extLst>
              <a:ext uri="{FF2B5EF4-FFF2-40B4-BE49-F238E27FC236}">
                <a16:creationId xmlns:a16="http://schemas.microsoft.com/office/drawing/2014/main" id="{0952C185-2F9F-3A42-B3F0-BA95BF062409}"/>
              </a:ext>
            </a:extLst>
          </p:cNvPr>
          <p:cNvSpPr/>
          <p:nvPr/>
        </p:nvSpPr>
        <p:spPr>
          <a:xfrm>
            <a:off x="3520440" y="1508760"/>
            <a:ext cx="365760" cy="365760"/>
          </a:xfrm>
          <a:prstGeom prst="ellipse">
            <a:avLst/>
          </a:prstGeom>
          <a:solidFill>
            <a:srgbClr val="0E7C7B"/>
          </a:solidFill>
          <a:ln/>
        </p:spPr>
        <p:txBody>
          <a:bodyPr/>
          <a:lstStyle/>
          <a:p>
            <a:endParaRPr lang="fr-FR"/>
          </a:p>
        </p:txBody>
      </p:sp>
      <p:sp>
        <p:nvSpPr>
          <p:cNvPr id="11" name="Text 8">
            <a:extLst>
              <a:ext uri="{FF2B5EF4-FFF2-40B4-BE49-F238E27FC236}">
                <a16:creationId xmlns:a16="http://schemas.microsoft.com/office/drawing/2014/main" id="{005C341B-D985-9136-A355-B4552DCC3CC2}"/>
              </a:ext>
            </a:extLst>
          </p:cNvPr>
          <p:cNvSpPr/>
          <p:nvPr/>
        </p:nvSpPr>
        <p:spPr>
          <a:xfrm>
            <a:off x="3520440" y="1508760"/>
            <a:ext cx="365760" cy="365760"/>
          </a:xfrm>
          <a:prstGeom prst="rect">
            <a:avLst/>
          </a:prstGeom>
          <a:noFill/>
          <a:ln/>
        </p:spPr>
        <p:txBody>
          <a:bodyPr wrap="square"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2" name="Text 9">
            <a:extLst>
              <a:ext uri="{FF2B5EF4-FFF2-40B4-BE49-F238E27FC236}">
                <a16:creationId xmlns:a16="http://schemas.microsoft.com/office/drawing/2014/main" id="{897A5E47-49EF-FA66-354C-89C143470CF2}"/>
              </a:ext>
            </a:extLst>
          </p:cNvPr>
          <p:cNvSpPr/>
          <p:nvPr/>
        </p:nvSpPr>
        <p:spPr>
          <a:xfrm>
            <a:off x="3977640" y="1508760"/>
            <a:ext cx="1828800" cy="1097280"/>
          </a:xfrm>
          <a:prstGeom prst="rect">
            <a:avLst/>
          </a:prstGeom>
          <a:noFill/>
          <a:ln/>
        </p:spPr>
        <p:txBody>
          <a:bodyPr wrap="square" rtlCol="0" anchor="t"/>
          <a:lstStyle/>
          <a:p>
            <a:pPr marL="0" indent="0">
              <a:buNone/>
            </a:pPr>
            <a:r>
              <a:rPr lang="en-US" sz="1200" dirty="0">
                <a:solidFill>
                  <a:srgbClr val="1A1A2E"/>
                </a:solidFill>
                <a:latin typeface="Calibri" pitchFamily="34" charset="0"/>
                <a:ea typeface="Calibri" pitchFamily="34" charset="-122"/>
                <a:cs typeface="Calibri" pitchFamily="34" charset="-120"/>
              </a:rPr>
              <a:t>Résidus atteignent</a:t>
            </a:r>
            <a:endParaRPr lang="en-US" sz="1200" dirty="0"/>
          </a:p>
          <a:p>
            <a:pPr marL="0" indent="0">
              <a:buNone/>
            </a:pPr>
            <a:r>
              <a:rPr lang="en-US" sz="1200" dirty="0">
                <a:solidFill>
                  <a:srgbClr val="1A1A2E"/>
                </a:solidFill>
                <a:latin typeface="Calibri" pitchFamily="34" charset="0"/>
                <a:ea typeface="Calibri" pitchFamily="34" charset="-122"/>
                <a:cs typeface="Calibri" pitchFamily="34" charset="-120"/>
              </a:rPr>
              <a:t>le côlon</a:t>
            </a:r>
            <a:endParaRPr lang="en-US" sz="1200" dirty="0"/>
          </a:p>
        </p:txBody>
      </p:sp>
      <p:pic>
        <p:nvPicPr>
          <p:cNvPr id="13" name="Image 1" descr="preencoded.png">
            <a:extLst>
              <a:ext uri="{FF2B5EF4-FFF2-40B4-BE49-F238E27FC236}">
                <a16:creationId xmlns:a16="http://schemas.microsoft.com/office/drawing/2014/main" id="{A0FD7A2C-5F4F-7F4A-75E1-9635FEA566E0}"/>
              </a:ext>
            </a:extLst>
          </p:cNvPr>
          <p:cNvPicPr>
            <a:picLocks noChangeAspect="1"/>
          </p:cNvPicPr>
          <p:nvPr/>
        </p:nvPicPr>
        <p:blipFill>
          <a:blip r:embed="rId3"/>
          <a:stretch>
            <a:fillRect/>
          </a:stretch>
        </p:blipFill>
        <p:spPr>
          <a:xfrm>
            <a:off x="5989320" y="1828800"/>
            <a:ext cx="201168" cy="201168"/>
          </a:xfrm>
          <a:prstGeom prst="rect">
            <a:avLst/>
          </a:prstGeom>
        </p:spPr>
      </p:pic>
      <p:sp>
        <p:nvSpPr>
          <p:cNvPr id="15" name="Shape 11">
            <a:extLst>
              <a:ext uri="{FF2B5EF4-FFF2-40B4-BE49-F238E27FC236}">
                <a16:creationId xmlns:a16="http://schemas.microsoft.com/office/drawing/2014/main" id="{50E9180D-CAD1-AF9D-88EE-A4E62723B78D}"/>
              </a:ext>
            </a:extLst>
          </p:cNvPr>
          <p:cNvSpPr/>
          <p:nvPr/>
        </p:nvSpPr>
        <p:spPr>
          <a:xfrm>
            <a:off x="6355080" y="1508760"/>
            <a:ext cx="365760" cy="365760"/>
          </a:xfrm>
          <a:prstGeom prst="ellipse">
            <a:avLst/>
          </a:prstGeom>
          <a:solidFill>
            <a:srgbClr val="0E7C7B"/>
          </a:solidFill>
          <a:ln/>
        </p:spPr>
        <p:txBody>
          <a:bodyPr/>
          <a:lstStyle/>
          <a:p>
            <a:endParaRPr lang="fr-FR"/>
          </a:p>
        </p:txBody>
      </p:sp>
      <p:sp>
        <p:nvSpPr>
          <p:cNvPr id="16" name="Text 12">
            <a:extLst>
              <a:ext uri="{FF2B5EF4-FFF2-40B4-BE49-F238E27FC236}">
                <a16:creationId xmlns:a16="http://schemas.microsoft.com/office/drawing/2014/main" id="{97992A27-33D3-57A7-C9F4-4F5439BEC767}"/>
              </a:ext>
            </a:extLst>
          </p:cNvPr>
          <p:cNvSpPr/>
          <p:nvPr/>
        </p:nvSpPr>
        <p:spPr>
          <a:xfrm>
            <a:off x="6355080" y="1508760"/>
            <a:ext cx="365760" cy="365760"/>
          </a:xfrm>
          <a:prstGeom prst="rect">
            <a:avLst/>
          </a:prstGeom>
          <a:noFill/>
          <a:ln/>
        </p:spPr>
        <p:txBody>
          <a:bodyPr wrap="square"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7" name="Text 13">
            <a:extLst>
              <a:ext uri="{FF2B5EF4-FFF2-40B4-BE49-F238E27FC236}">
                <a16:creationId xmlns:a16="http://schemas.microsoft.com/office/drawing/2014/main" id="{DEF36C68-DD5F-2543-04BC-B4A23284D45F}"/>
              </a:ext>
            </a:extLst>
          </p:cNvPr>
          <p:cNvSpPr/>
          <p:nvPr/>
        </p:nvSpPr>
        <p:spPr>
          <a:xfrm>
            <a:off x="6812280" y="1508760"/>
            <a:ext cx="1828800" cy="1097280"/>
          </a:xfrm>
          <a:prstGeom prst="rect">
            <a:avLst/>
          </a:prstGeom>
          <a:noFill/>
          <a:ln/>
        </p:spPr>
        <p:txBody>
          <a:bodyPr wrap="square" rtlCol="0" anchor="t"/>
          <a:lstStyle/>
          <a:p>
            <a:pPr marL="0" indent="0">
              <a:buNone/>
            </a:pPr>
            <a:r>
              <a:rPr lang="en-US" sz="1200" dirty="0">
                <a:solidFill>
                  <a:srgbClr val="1A1A2E"/>
                </a:solidFill>
                <a:latin typeface="Calibri" pitchFamily="34" charset="0"/>
                <a:ea typeface="Calibri" pitchFamily="34" charset="-122"/>
                <a:cs typeface="Calibri" pitchFamily="34" charset="-120"/>
              </a:rPr>
              <a:t>Bactéries sensibles</a:t>
            </a:r>
            <a:endParaRPr lang="en-US" sz="1200" dirty="0"/>
          </a:p>
          <a:p>
            <a:pPr marL="0" indent="0">
              <a:buNone/>
            </a:pPr>
            <a:r>
              <a:rPr lang="en-US" sz="1200" dirty="0">
                <a:solidFill>
                  <a:srgbClr val="1A1A2E"/>
                </a:solidFill>
                <a:latin typeface="Calibri" pitchFamily="34" charset="0"/>
                <a:ea typeface="Calibri" pitchFamily="34" charset="-122"/>
                <a:cs typeface="Calibri" pitchFamily="34" charset="-120"/>
              </a:rPr>
              <a:t>éliminées</a:t>
            </a:r>
            <a:endParaRPr lang="en-US" sz="1200" dirty="0"/>
          </a:p>
        </p:txBody>
      </p:sp>
      <p:sp>
        <p:nvSpPr>
          <p:cNvPr id="19" name="Shape 15">
            <a:extLst>
              <a:ext uri="{FF2B5EF4-FFF2-40B4-BE49-F238E27FC236}">
                <a16:creationId xmlns:a16="http://schemas.microsoft.com/office/drawing/2014/main" id="{C0A649A3-52AF-82BB-67FE-9AFA144E3A2B}"/>
              </a:ext>
            </a:extLst>
          </p:cNvPr>
          <p:cNvSpPr/>
          <p:nvPr/>
        </p:nvSpPr>
        <p:spPr>
          <a:xfrm>
            <a:off x="685800" y="3200400"/>
            <a:ext cx="365760" cy="365760"/>
          </a:xfrm>
          <a:prstGeom prst="ellipse">
            <a:avLst/>
          </a:prstGeom>
          <a:solidFill>
            <a:srgbClr val="E07A5F"/>
          </a:solidFill>
          <a:ln/>
        </p:spPr>
        <p:txBody>
          <a:bodyPr/>
          <a:lstStyle/>
          <a:p>
            <a:endParaRPr lang="fr-FR"/>
          </a:p>
        </p:txBody>
      </p:sp>
      <p:sp>
        <p:nvSpPr>
          <p:cNvPr id="20" name="Text 16">
            <a:extLst>
              <a:ext uri="{FF2B5EF4-FFF2-40B4-BE49-F238E27FC236}">
                <a16:creationId xmlns:a16="http://schemas.microsoft.com/office/drawing/2014/main" id="{237A5D45-C13B-763C-D149-BB3256A82040}"/>
              </a:ext>
            </a:extLst>
          </p:cNvPr>
          <p:cNvSpPr/>
          <p:nvPr/>
        </p:nvSpPr>
        <p:spPr>
          <a:xfrm>
            <a:off x="685800" y="3200400"/>
            <a:ext cx="365760" cy="365760"/>
          </a:xfrm>
          <a:prstGeom prst="rect">
            <a:avLst/>
          </a:prstGeom>
          <a:noFill/>
          <a:ln/>
        </p:spPr>
        <p:txBody>
          <a:bodyPr wrap="square"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21" name="Text 17">
            <a:extLst>
              <a:ext uri="{FF2B5EF4-FFF2-40B4-BE49-F238E27FC236}">
                <a16:creationId xmlns:a16="http://schemas.microsoft.com/office/drawing/2014/main" id="{4E1240C2-C132-40B5-C918-6DFE02A9793A}"/>
              </a:ext>
            </a:extLst>
          </p:cNvPr>
          <p:cNvSpPr/>
          <p:nvPr/>
        </p:nvSpPr>
        <p:spPr>
          <a:xfrm>
            <a:off x="1143000" y="3200400"/>
            <a:ext cx="1828800" cy="1097280"/>
          </a:xfrm>
          <a:prstGeom prst="rect">
            <a:avLst/>
          </a:prstGeom>
          <a:noFill/>
          <a:ln/>
        </p:spPr>
        <p:txBody>
          <a:bodyPr wrap="square" rtlCol="0" anchor="t"/>
          <a:lstStyle/>
          <a:p>
            <a:pPr marL="0" indent="0">
              <a:buNone/>
            </a:pPr>
            <a:r>
              <a:rPr lang="en-US" sz="1200" dirty="0">
                <a:solidFill>
                  <a:srgbClr val="1A1A2E"/>
                </a:solidFill>
                <a:latin typeface="Calibri" pitchFamily="34" charset="0"/>
                <a:ea typeface="Calibri" pitchFamily="34" charset="-122"/>
                <a:cs typeface="Calibri" pitchFamily="34" charset="-120"/>
              </a:rPr>
              <a:t>Bactéries résistantes</a:t>
            </a:r>
            <a:endParaRPr lang="en-US" sz="1200" dirty="0"/>
          </a:p>
          <a:p>
            <a:pPr marL="0" indent="0">
              <a:buNone/>
            </a:pPr>
            <a:r>
              <a:rPr lang="en-US" sz="1200" dirty="0">
                <a:solidFill>
                  <a:srgbClr val="1A1A2E"/>
                </a:solidFill>
                <a:latin typeface="Calibri" pitchFamily="34" charset="0"/>
                <a:ea typeface="Calibri" pitchFamily="34" charset="-122"/>
                <a:cs typeface="Calibri" pitchFamily="34" charset="-120"/>
              </a:rPr>
              <a:t>colonisent les niches</a:t>
            </a:r>
            <a:endParaRPr lang="en-US" sz="1200" dirty="0"/>
          </a:p>
        </p:txBody>
      </p:sp>
      <p:pic>
        <p:nvPicPr>
          <p:cNvPr id="22" name="Image 2" descr="preencoded.png">
            <a:extLst>
              <a:ext uri="{FF2B5EF4-FFF2-40B4-BE49-F238E27FC236}">
                <a16:creationId xmlns:a16="http://schemas.microsoft.com/office/drawing/2014/main" id="{B65D286B-CAE8-D4A8-F0AC-94FF13DD8B83}"/>
              </a:ext>
            </a:extLst>
          </p:cNvPr>
          <p:cNvPicPr>
            <a:picLocks noChangeAspect="1"/>
          </p:cNvPicPr>
          <p:nvPr/>
        </p:nvPicPr>
        <p:blipFill>
          <a:blip r:embed="rId3"/>
          <a:stretch>
            <a:fillRect/>
          </a:stretch>
        </p:blipFill>
        <p:spPr>
          <a:xfrm>
            <a:off x="3154680" y="3520440"/>
            <a:ext cx="201168" cy="201168"/>
          </a:xfrm>
          <a:prstGeom prst="rect">
            <a:avLst/>
          </a:prstGeom>
        </p:spPr>
      </p:pic>
      <p:sp>
        <p:nvSpPr>
          <p:cNvPr id="24" name="Shape 19">
            <a:extLst>
              <a:ext uri="{FF2B5EF4-FFF2-40B4-BE49-F238E27FC236}">
                <a16:creationId xmlns:a16="http://schemas.microsoft.com/office/drawing/2014/main" id="{834FB631-00F6-7E77-255A-F89E69A3D7F6}"/>
              </a:ext>
            </a:extLst>
          </p:cNvPr>
          <p:cNvSpPr/>
          <p:nvPr/>
        </p:nvSpPr>
        <p:spPr>
          <a:xfrm>
            <a:off x="3520440" y="3200400"/>
            <a:ext cx="365760" cy="365760"/>
          </a:xfrm>
          <a:prstGeom prst="ellipse">
            <a:avLst/>
          </a:prstGeom>
          <a:solidFill>
            <a:srgbClr val="E07A5F"/>
          </a:solidFill>
          <a:ln/>
        </p:spPr>
        <p:txBody>
          <a:bodyPr/>
          <a:lstStyle/>
          <a:p>
            <a:endParaRPr lang="fr-FR"/>
          </a:p>
        </p:txBody>
      </p:sp>
      <p:sp>
        <p:nvSpPr>
          <p:cNvPr id="25" name="Text 20">
            <a:extLst>
              <a:ext uri="{FF2B5EF4-FFF2-40B4-BE49-F238E27FC236}">
                <a16:creationId xmlns:a16="http://schemas.microsoft.com/office/drawing/2014/main" id="{6DDC7074-20A4-6B38-7EF8-FBF02CB3D4AA}"/>
              </a:ext>
            </a:extLst>
          </p:cNvPr>
          <p:cNvSpPr/>
          <p:nvPr/>
        </p:nvSpPr>
        <p:spPr>
          <a:xfrm>
            <a:off x="3520440" y="3200400"/>
            <a:ext cx="365760" cy="365760"/>
          </a:xfrm>
          <a:prstGeom prst="rect">
            <a:avLst/>
          </a:prstGeom>
          <a:noFill/>
          <a:ln/>
        </p:spPr>
        <p:txBody>
          <a:bodyPr wrap="square"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5</a:t>
            </a:r>
            <a:endParaRPr lang="en-US" sz="1400" dirty="0"/>
          </a:p>
        </p:txBody>
      </p:sp>
      <p:sp>
        <p:nvSpPr>
          <p:cNvPr id="26" name="Text 21">
            <a:extLst>
              <a:ext uri="{FF2B5EF4-FFF2-40B4-BE49-F238E27FC236}">
                <a16:creationId xmlns:a16="http://schemas.microsoft.com/office/drawing/2014/main" id="{69DBE56D-CD6A-68C1-51B9-64F3F2D54571}"/>
              </a:ext>
            </a:extLst>
          </p:cNvPr>
          <p:cNvSpPr/>
          <p:nvPr/>
        </p:nvSpPr>
        <p:spPr>
          <a:xfrm>
            <a:off x="3977640" y="3200400"/>
            <a:ext cx="1828800" cy="1097280"/>
          </a:xfrm>
          <a:prstGeom prst="rect">
            <a:avLst/>
          </a:prstGeom>
          <a:noFill/>
          <a:ln/>
        </p:spPr>
        <p:txBody>
          <a:bodyPr wrap="square" rtlCol="0" anchor="t"/>
          <a:lstStyle/>
          <a:p>
            <a:pPr marL="0" indent="0">
              <a:buNone/>
            </a:pPr>
            <a:r>
              <a:rPr lang="en-US" sz="1200" dirty="0">
                <a:solidFill>
                  <a:srgbClr val="1A1A2E"/>
                </a:solidFill>
                <a:latin typeface="Calibri" pitchFamily="34" charset="0"/>
                <a:ea typeface="Calibri" pitchFamily="34" charset="-122"/>
                <a:cs typeface="Calibri" pitchFamily="34" charset="-120"/>
              </a:rPr>
              <a:t>Excrétion massive</a:t>
            </a:r>
            <a:endParaRPr lang="en-US" sz="1200" dirty="0"/>
          </a:p>
          <a:p>
            <a:pPr marL="0" indent="0">
              <a:buNone/>
            </a:pPr>
            <a:r>
              <a:rPr lang="en-US" sz="1200" dirty="0">
                <a:solidFill>
                  <a:srgbClr val="1A1A2E"/>
                </a:solidFill>
                <a:latin typeface="Calibri" pitchFamily="34" charset="0"/>
                <a:ea typeface="Calibri" pitchFamily="34" charset="-122"/>
                <a:cs typeface="Calibri" pitchFamily="34" charset="-120"/>
              </a:rPr>
              <a:t>dans les fèces</a:t>
            </a:r>
            <a:endParaRPr lang="en-US" sz="1200" dirty="0"/>
          </a:p>
        </p:txBody>
      </p:sp>
      <p:pic>
        <p:nvPicPr>
          <p:cNvPr id="27" name="Image 3" descr="preencoded.png">
            <a:extLst>
              <a:ext uri="{FF2B5EF4-FFF2-40B4-BE49-F238E27FC236}">
                <a16:creationId xmlns:a16="http://schemas.microsoft.com/office/drawing/2014/main" id="{F883EE66-FFBC-04C9-B3A4-3A00746166FE}"/>
              </a:ext>
            </a:extLst>
          </p:cNvPr>
          <p:cNvPicPr>
            <a:picLocks noChangeAspect="1"/>
          </p:cNvPicPr>
          <p:nvPr/>
        </p:nvPicPr>
        <p:blipFill>
          <a:blip r:embed="rId3"/>
          <a:stretch>
            <a:fillRect/>
          </a:stretch>
        </p:blipFill>
        <p:spPr>
          <a:xfrm>
            <a:off x="5989320" y="3520440"/>
            <a:ext cx="201168" cy="201168"/>
          </a:xfrm>
          <a:prstGeom prst="rect">
            <a:avLst/>
          </a:prstGeom>
        </p:spPr>
      </p:pic>
      <p:sp>
        <p:nvSpPr>
          <p:cNvPr id="29" name="Shape 23">
            <a:extLst>
              <a:ext uri="{FF2B5EF4-FFF2-40B4-BE49-F238E27FC236}">
                <a16:creationId xmlns:a16="http://schemas.microsoft.com/office/drawing/2014/main" id="{EC88E962-C8F7-99EC-06A3-E8EEE401EB36}"/>
              </a:ext>
            </a:extLst>
          </p:cNvPr>
          <p:cNvSpPr/>
          <p:nvPr/>
        </p:nvSpPr>
        <p:spPr>
          <a:xfrm>
            <a:off x="6355080" y="3200400"/>
            <a:ext cx="365760" cy="365760"/>
          </a:xfrm>
          <a:prstGeom prst="ellipse">
            <a:avLst/>
          </a:prstGeom>
          <a:solidFill>
            <a:srgbClr val="E07A5F"/>
          </a:solidFill>
          <a:ln/>
        </p:spPr>
        <p:txBody>
          <a:bodyPr/>
          <a:lstStyle/>
          <a:p>
            <a:endParaRPr lang="fr-FR"/>
          </a:p>
        </p:txBody>
      </p:sp>
      <p:sp>
        <p:nvSpPr>
          <p:cNvPr id="30" name="Text 24">
            <a:extLst>
              <a:ext uri="{FF2B5EF4-FFF2-40B4-BE49-F238E27FC236}">
                <a16:creationId xmlns:a16="http://schemas.microsoft.com/office/drawing/2014/main" id="{42E68BDC-9628-7D64-8808-3694CB884947}"/>
              </a:ext>
            </a:extLst>
          </p:cNvPr>
          <p:cNvSpPr/>
          <p:nvPr/>
        </p:nvSpPr>
        <p:spPr>
          <a:xfrm>
            <a:off x="6355080" y="3200400"/>
            <a:ext cx="365760" cy="365760"/>
          </a:xfrm>
          <a:prstGeom prst="rect">
            <a:avLst/>
          </a:prstGeom>
          <a:noFill/>
          <a:ln/>
        </p:spPr>
        <p:txBody>
          <a:bodyPr wrap="square"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6</a:t>
            </a:r>
            <a:endParaRPr lang="en-US" sz="1400" dirty="0"/>
          </a:p>
        </p:txBody>
      </p:sp>
      <p:sp>
        <p:nvSpPr>
          <p:cNvPr id="31" name="Text 25">
            <a:extLst>
              <a:ext uri="{FF2B5EF4-FFF2-40B4-BE49-F238E27FC236}">
                <a16:creationId xmlns:a16="http://schemas.microsoft.com/office/drawing/2014/main" id="{3A62B759-3895-6111-CE70-D243B6B61541}"/>
              </a:ext>
            </a:extLst>
          </p:cNvPr>
          <p:cNvSpPr/>
          <p:nvPr/>
        </p:nvSpPr>
        <p:spPr>
          <a:xfrm>
            <a:off x="6812280" y="3200400"/>
            <a:ext cx="1828800" cy="1097280"/>
          </a:xfrm>
          <a:prstGeom prst="rect">
            <a:avLst/>
          </a:prstGeom>
          <a:noFill/>
          <a:ln/>
        </p:spPr>
        <p:txBody>
          <a:bodyPr wrap="square" rtlCol="0" anchor="t"/>
          <a:lstStyle/>
          <a:p>
            <a:pPr marL="0" indent="0">
              <a:buNone/>
            </a:pPr>
            <a:r>
              <a:rPr lang="en-US" sz="1200" dirty="0">
                <a:solidFill>
                  <a:srgbClr val="1A1A2E"/>
                </a:solidFill>
                <a:latin typeface="Calibri" pitchFamily="34" charset="0"/>
                <a:ea typeface="Calibri" pitchFamily="34" charset="-122"/>
                <a:cs typeface="Calibri" pitchFamily="34" charset="-120"/>
              </a:rPr>
              <a:t>Contamination</a:t>
            </a:r>
            <a:endParaRPr lang="en-US" sz="1200" dirty="0"/>
          </a:p>
          <a:p>
            <a:pPr marL="0" indent="0">
              <a:buNone/>
            </a:pPr>
            <a:r>
              <a:rPr lang="en-US" sz="1200" dirty="0">
                <a:solidFill>
                  <a:srgbClr val="1A1A2E"/>
                </a:solidFill>
                <a:latin typeface="Calibri" pitchFamily="34" charset="0"/>
                <a:ea typeface="Calibri" pitchFamily="34" charset="-122"/>
                <a:cs typeface="Calibri" pitchFamily="34" charset="-120"/>
              </a:rPr>
              <a:t>environnement → homme</a:t>
            </a:r>
            <a:endParaRPr lang="en-US" sz="1200" dirty="0"/>
          </a:p>
        </p:txBody>
      </p:sp>
      <p:sp>
        <p:nvSpPr>
          <p:cNvPr id="32" name="Text 26">
            <a:extLst>
              <a:ext uri="{FF2B5EF4-FFF2-40B4-BE49-F238E27FC236}">
                <a16:creationId xmlns:a16="http://schemas.microsoft.com/office/drawing/2014/main" id="{7382AEB0-3E95-4B17-E7F3-F27D3FE95B21}"/>
              </a:ext>
            </a:extLst>
          </p:cNvPr>
          <p:cNvSpPr/>
          <p:nvPr/>
        </p:nvSpPr>
        <p:spPr>
          <a:xfrm>
            <a:off x="7772400" y="2651760"/>
            <a:ext cx="365760" cy="457200"/>
          </a:xfrm>
          <a:prstGeom prst="rect">
            <a:avLst/>
          </a:prstGeom>
          <a:noFill/>
          <a:ln/>
        </p:spPr>
        <p:txBody>
          <a:bodyPr wrap="square" rtlCol="0" anchor="ctr"/>
          <a:lstStyle/>
          <a:p>
            <a:pPr marL="0" indent="0" algn="ctr">
              <a:buNone/>
            </a:pPr>
            <a:r>
              <a:rPr lang="en-US" sz="2000" dirty="0">
                <a:solidFill>
                  <a:srgbClr val="17A2A2"/>
                </a:solidFill>
              </a:rPr>
              <a:t>↓</a:t>
            </a:r>
            <a:endParaRPr lang="en-US" sz="2000" dirty="0"/>
          </a:p>
        </p:txBody>
      </p:sp>
      <p:pic>
        <p:nvPicPr>
          <p:cNvPr id="34" name="Image 4" descr="preencoded.png">
            <a:extLst>
              <a:ext uri="{FF2B5EF4-FFF2-40B4-BE49-F238E27FC236}">
                <a16:creationId xmlns:a16="http://schemas.microsoft.com/office/drawing/2014/main" id="{6D39D863-7AF7-9906-4A01-5C803ECADB49}"/>
              </a:ext>
            </a:extLst>
          </p:cNvPr>
          <p:cNvPicPr>
            <a:picLocks noChangeAspect="1"/>
          </p:cNvPicPr>
          <p:nvPr/>
        </p:nvPicPr>
        <p:blipFill>
          <a:blip r:embed="rId4"/>
          <a:stretch>
            <a:fillRect/>
          </a:stretch>
        </p:blipFill>
        <p:spPr>
          <a:xfrm>
            <a:off x="685800" y="4590288"/>
            <a:ext cx="320040" cy="320040"/>
          </a:xfrm>
          <a:prstGeom prst="rect">
            <a:avLst/>
          </a:prstGeom>
        </p:spPr>
      </p:pic>
      <p:sp useBgFill="1">
        <p:nvSpPr>
          <p:cNvPr id="36" name="Rectangle 35">
            <a:extLst>
              <a:ext uri="{FF2B5EF4-FFF2-40B4-BE49-F238E27FC236}">
                <a16:creationId xmlns:a16="http://schemas.microsoft.com/office/drawing/2014/main" id="{6D1D8DAA-B4F9-60ED-AE7E-7D960AC563A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0"/>
            <a:ext cx="9141714" cy="51435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 name="Text 0">
            <a:extLst>
              <a:ext uri="{FF2B5EF4-FFF2-40B4-BE49-F238E27FC236}">
                <a16:creationId xmlns:a16="http://schemas.microsoft.com/office/drawing/2014/main" id="{B9A44878-8282-98FD-86B4-54FF62E56C15}"/>
              </a:ext>
            </a:extLst>
          </p:cNvPr>
          <p:cNvSpPr/>
          <p:nvPr/>
        </p:nvSpPr>
        <p:spPr>
          <a:xfrm>
            <a:off x="479160" y="502663"/>
            <a:ext cx="7335912" cy="799377"/>
          </a:xfrm>
          <a:prstGeom prst="rect">
            <a:avLst/>
          </a:prstGeom>
        </p:spPr>
        <p:txBody>
          <a:bodyPr vert="horz" lIns="91440" tIns="45720" rIns="91440" bIns="45720" rtlCol="0" anchor="ctr">
            <a:normAutofit/>
          </a:bodyPr>
          <a:lstStyle/>
          <a:p>
            <a:pPr>
              <a:lnSpc>
                <a:spcPct val="90000"/>
              </a:lnSpc>
              <a:spcBef>
                <a:spcPct val="0"/>
              </a:spcBef>
              <a:spcAft>
                <a:spcPts val="600"/>
              </a:spcAft>
            </a:pPr>
            <a:r>
              <a:rPr lang="en-US" sz="2800" b="1" dirty="0">
                <a:solidFill>
                  <a:srgbClr val="0D4F4F"/>
                </a:solidFill>
                <a:latin typeface="Georgia" pitchFamily="34" charset="0"/>
              </a:rPr>
              <a:t>Mini HPL : Mise à jour </a:t>
            </a:r>
          </a:p>
        </p:txBody>
      </p:sp>
      <p:sp>
        <p:nvSpPr>
          <p:cNvPr id="39" name="sketch line">
            <a:extLst>
              <a:ext uri="{FF2B5EF4-FFF2-40B4-BE49-F238E27FC236}">
                <a16:creationId xmlns:a16="http://schemas.microsoft.com/office/drawing/2014/main" id="{AB1349C7-1580-AABA-6CF6-4746090922D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2542032" y="1350066"/>
            <a:ext cx="4057650" cy="13716"/>
          </a:xfrm>
          <a:custGeom>
            <a:avLst/>
            <a:gdLst>
              <a:gd name="csX0" fmla="*/ 0 w 4057650"/>
              <a:gd name="csY0" fmla="*/ 0 h 13716"/>
              <a:gd name="csX1" fmla="*/ 757428 w 4057650"/>
              <a:gd name="csY1" fmla="*/ 0 h 13716"/>
              <a:gd name="csX2" fmla="*/ 1474279 w 4057650"/>
              <a:gd name="csY2" fmla="*/ 0 h 13716"/>
              <a:gd name="csX3" fmla="*/ 2191131 w 4057650"/>
              <a:gd name="csY3" fmla="*/ 0 h 13716"/>
              <a:gd name="csX4" fmla="*/ 2745676 w 4057650"/>
              <a:gd name="csY4" fmla="*/ 0 h 13716"/>
              <a:gd name="csX5" fmla="*/ 3340798 w 4057650"/>
              <a:gd name="csY5" fmla="*/ 0 h 13716"/>
              <a:gd name="csX6" fmla="*/ 4057650 w 4057650"/>
              <a:gd name="csY6" fmla="*/ 0 h 13716"/>
              <a:gd name="csX7" fmla="*/ 4057650 w 4057650"/>
              <a:gd name="csY7" fmla="*/ 13716 h 13716"/>
              <a:gd name="csX8" fmla="*/ 3381375 w 4057650"/>
              <a:gd name="csY8" fmla="*/ 13716 h 13716"/>
              <a:gd name="csX9" fmla="*/ 2826830 w 4057650"/>
              <a:gd name="csY9" fmla="*/ 13716 h 13716"/>
              <a:gd name="csX10" fmla="*/ 2272284 w 4057650"/>
              <a:gd name="csY10" fmla="*/ 13716 h 13716"/>
              <a:gd name="csX11" fmla="*/ 1555432 w 4057650"/>
              <a:gd name="csY11" fmla="*/ 13716 h 13716"/>
              <a:gd name="csX12" fmla="*/ 960310 w 4057650"/>
              <a:gd name="csY12" fmla="*/ 13716 h 13716"/>
              <a:gd name="csX13" fmla="*/ 0 w 4057650"/>
              <a:gd name="csY13" fmla="*/ 13716 h 13716"/>
              <a:gd name="csX14" fmla="*/ 0 w 4057650"/>
              <a:gd name="csY14" fmla="*/ 0 h 1371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Lst>
            <a:rect l="l" t="t" r="r" b="b"/>
            <a:pathLst>
              <a:path w="4057650" h="13716" fill="none" extrusionOk="0">
                <a:moveTo>
                  <a:pt x="0" y="0"/>
                </a:moveTo>
                <a:cubicBezTo>
                  <a:pt x="371182" y="3227"/>
                  <a:pt x="494372" y="9222"/>
                  <a:pt x="757428" y="0"/>
                </a:cubicBezTo>
                <a:cubicBezTo>
                  <a:pt x="1020484" y="-9222"/>
                  <a:pt x="1116719" y="-4357"/>
                  <a:pt x="1474279" y="0"/>
                </a:cubicBezTo>
                <a:cubicBezTo>
                  <a:pt x="1831839" y="4357"/>
                  <a:pt x="1920973" y="-11809"/>
                  <a:pt x="2191131" y="0"/>
                </a:cubicBezTo>
                <a:cubicBezTo>
                  <a:pt x="2461289" y="11809"/>
                  <a:pt x="2589480" y="-22604"/>
                  <a:pt x="2745676" y="0"/>
                </a:cubicBezTo>
                <a:cubicBezTo>
                  <a:pt x="2901872" y="22604"/>
                  <a:pt x="3136452" y="-12306"/>
                  <a:pt x="3340798" y="0"/>
                </a:cubicBezTo>
                <a:cubicBezTo>
                  <a:pt x="3545144" y="12306"/>
                  <a:pt x="3766934" y="-21556"/>
                  <a:pt x="4057650" y="0"/>
                </a:cubicBezTo>
                <a:cubicBezTo>
                  <a:pt x="4057378" y="4708"/>
                  <a:pt x="4057987" y="7132"/>
                  <a:pt x="4057650" y="13716"/>
                </a:cubicBezTo>
                <a:cubicBezTo>
                  <a:pt x="3743404" y="35553"/>
                  <a:pt x="3625516" y="-19495"/>
                  <a:pt x="3381375" y="13716"/>
                </a:cubicBezTo>
                <a:cubicBezTo>
                  <a:pt x="3137235" y="46927"/>
                  <a:pt x="2946571" y="-4571"/>
                  <a:pt x="2826830" y="13716"/>
                </a:cubicBezTo>
                <a:cubicBezTo>
                  <a:pt x="2707090" y="32003"/>
                  <a:pt x="2402756" y="-3140"/>
                  <a:pt x="2272284" y="13716"/>
                </a:cubicBezTo>
                <a:cubicBezTo>
                  <a:pt x="2141812" y="30572"/>
                  <a:pt x="1895935" y="13627"/>
                  <a:pt x="1555432" y="13716"/>
                </a:cubicBezTo>
                <a:cubicBezTo>
                  <a:pt x="1214929" y="13805"/>
                  <a:pt x="1103072" y="9931"/>
                  <a:pt x="960310" y="13716"/>
                </a:cubicBezTo>
                <a:cubicBezTo>
                  <a:pt x="817548" y="17501"/>
                  <a:pt x="402272" y="-33931"/>
                  <a:pt x="0" y="13716"/>
                </a:cubicBezTo>
                <a:cubicBezTo>
                  <a:pt x="-460" y="10837"/>
                  <a:pt x="38" y="6680"/>
                  <a:pt x="0" y="0"/>
                </a:cubicBezTo>
                <a:close/>
              </a:path>
              <a:path w="4057650" h="13716" stroke="0" extrusionOk="0">
                <a:moveTo>
                  <a:pt x="0" y="0"/>
                </a:moveTo>
                <a:cubicBezTo>
                  <a:pt x="248348" y="13145"/>
                  <a:pt x="486117" y="25042"/>
                  <a:pt x="635698" y="0"/>
                </a:cubicBezTo>
                <a:cubicBezTo>
                  <a:pt x="785279" y="-25042"/>
                  <a:pt x="917762" y="-5537"/>
                  <a:pt x="1190244" y="0"/>
                </a:cubicBezTo>
                <a:cubicBezTo>
                  <a:pt x="1462726" y="5537"/>
                  <a:pt x="1667120" y="-21232"/>
                  <a:pt x="1947672" y="0"/>
                </a:cubicBezTo>
                <a:cubicBezTo>
                  <a:pt x="2228224" y="21232"/>
                  <a:pt x="2280631" y="-21698"/>
                  <a:pt x="2583370" y="0"/>
                </a:cubicBezTo>
                <a:cubicBezTo>
                  <a:pt x="2886109" y="21698"/>
                  <a:pt x="3022941" y="19647"/>
                  <a:pt x="3219069" y="0"/>
                </a:cubicBezTo>
                <a:cubicBezTo>
                  <a:pt x="3415197" y="-19647"/>
                  <a:pt x="3747500" y="26991"/>
                  <a:pt x="4057650" y="0"/>
                </a:cubicBezTo>
                <a:cubicBezTo>
                  <a:pt x="4056980" y="3019"/>
                  <a:pt x="4057134" y="10425"/>
                  <a:pt x="4057650" y="13716"/>
                </a:cubicBezTo>
                <a:cubicBezTo>
                  <a:pt x="3865148" y="-7885"/>
                  <a:pt x="3702543" y="44896"/>
                  <a:pt x="3381375" y="13716"/>
                </a:cubicBezTo>
                <a:cubicBezTo>
                  <a:pt x="3060208" y="-17464"/>
                  <a:pt x="2956571" y="-13250"/>
                  <a:pt x="2826830" y="13716"/>
                </a:cubicBezTo>
                <a:cubicBezTo>
                  <a:pt x="2697089" y="40682"/>
                  <a:pt x="2411031" y="38582"/>
                  <a:pt x="2150555" y="13716"/>
                </a:cubicBezTo>
                <a:cubicBezTo>
                  <a:pt x="1890080" y="-11150"/>
                  <a:pt x="1741827" y="-5187"/>
                  <a:pt x="1474280" y="13716"/>
                </a:cubicBezTo>
                <a:cubicBezTo>
                  <a:pt x="1206734" y="32619"/>
                  <a:pt x="998203" y="28763"/>
                  <a:pt x="838581" y="13716"/>
                </a:cubicBezTo>
                <a:cubicBezTo>
                  <a:pt x="678959" y="-1331"/>
                  <a:pt x="187101" y="-17784"/>
                  <a:pt x="0" y="13716"/>
                </a:cubicBezTo>
                <a:cubicBezTo>
                  <a:pt x="-114" y="7033"/>
                  <a:pt x="103" y="3429"/>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Shape 2">
            <a:extLst>
              <a:ext uri="{FF2B5EF4-FFF2-40B4-BE49-F238E27FC236}">
                <a16:creationId xmlns:a16="http://schemas.microsoft.com/office/drawing/2014/main" id="{791B23AD-A849-5AB0-B9EA-2CB671DA39EF}"/>
              </a:ext>
            </a:extLst>
          </p:cNvPr>
          <p:cNvSpPr/>
          <p:nvPr/>
        </p:nvSpPr>
        <p:spPr>
          <a:xfrm>
            <a:off x="342900" y="1508760"/>
            <a:ext cx="3732276" cy="3599104"/>
          </a:xfrm>
          <a:prstGeom prst="rect">
            <a:avLst/>
          </a:prstGeom>
          <a:solidFill>
            <a:srgbClr val="FFFFFF"/>
          </a:solidFill>
          <a:ln/>
          <a:effectLst>
            <a:outerShdw blurRad="50800" dist="25400" dir="8100000" algn="bl" rotWithShape="0">
              <a:srgbClr val="000000">
                <a:alpha val="8000"/>
              </a:srgbClr>
            </a:outerShdw>
          </a:effectLst>
        </p:spPr>
        <p:txBody>
          <a:bodyPr/>
          <a:lstStyle/>
          <a:p>
            <a:r>
              <a:rPr lang="fr-FR" sz="1000" b="1" i="1" dirty="0"/>
              <a:t>double *</a:t>
            </a:r>
            <a:r>
              <a:rPr lang="fr-FR" sz="1000" b="1" i="1" dirty="0" err="1"/>
              <a:t>x_global</a:t>
            </a:r>
            <a:r>
              <a:rPr lang="fr-FR" sz="1000" b="1" i="1" dirty="0"/>
              <a:t> = </a:t>
            </a:r>
            <a:r>
              <a:rPr lang="fr-FR" sz="1000" b="1" i="1" dirty="0" err="1"/>
              <a:t>calloc</a:t>
            </a:r>
            <a:r>
              <a:rPr lang="fr-FR" sz="1000" b="1" i="1" dirty="0"/>
              <a:t>(N, </a:t>
            </a:r>
            <a:r>
              <a:rPr lang="fr-FR" sz="1000" b="1" i="1" dirty="0" err="1"/>
              <a:t>sizeof</a:t>
            </a:r>
            <a:r>
              <a:rPr lang="fr-FR" sz="1000" b="1" i="1" dirty="0"/>
              <a:t>(double));</a:t>
            </a:r>
          </a:p>
          <a:p>
            <a:endParaRPr lang="fr-FR" sz="1000" b="1" i="1" dirty="0"/>
          </a:p>
          <a:p>
            <a:r>
              <a:rPr lang="fr-FR" sz="1000" b="1" i="1" dirty="0"/>
              <a:t>/* De k = N-1 jusqu'à 0 */</a:t>
            </a:r>
          </a:p>
          <a:p>
            <a:r>
              <a:rPr lang="fr-FR" sz="1000" b="1" i="1" dirty="0"/>
              <a:t>for (</a:t>
            </a:r>
            <a:r>
              <a:rPr lang="fr-FR" sz="1000" b="1" i="1" dirty="0" err="1"/>
              <a:t>int</a:t>
            </a:r>
            <a:r>
              <a:rPr lang="fr-FR" sz="1000" b="1" i="1" dirty="0"/>
              <a:t> k = N - 1; k &gt;= 0; k--) {</a:t>
            </a:r>
          </a:p>
          <a:p>
            <a:endParaRPr lang="fr-FR" sz="1000" b="1" i="1" dirty="0"/>
          </a:p>
          <a:p>
            <a:r>
              <a:rPr lang="fr-FR" sz="1000" b="1" i="1" dirty="0"/>
              <a:t>    </a:t>
            </a:r>
            <a:r>
              <a:rPr lang="fr-FR" sz="1000" b="1" i="1" dirty="0" err="1"/>
              <a:t>int</a:t>
            </a:r>
            <a:r>
              <a:rPr lang="fr-FR" sz="1000" b="1" i="1" dirty="0"/>
              <a:t> </a:t>
            </a:r>
            <a:r>
              <a:rPr lang="fr-FR" sz="1000" b="1" i="1" dirty="0" err="1"/>
              <a:t>k_owner</a:t>
            </a:r>
            <a:r>
              <a:rPr lang="fr-FR" sz="1000" b="1" i="1" dirty="0"/>
              <a:t> = OWNER(k);</a:t>
            </a:r>
          </a:p>
          <a:p>
            <a:r>
              <a:rPr lang="fr-FR" sz="1000" b="1" i="1" dirty="0"/>
              <a:t>    </a:t>
            </a:r>
            <a:r>
              <a:rPr lang="fr-FR" sz="1000" b="1" i="1" dirty="0" err="1"/>
              <a:t>int</a:t>
            </a:r>
            <a:r>
              <a:rPr lang="fr-FR" sz="1000" b="1" i="1" dirty="0"/>
              <a:t> </a:t>
            </a:r>
            <a:r>
              <a:rPr lang="fr-FR" sz="1000" b="1" i="1" dirty="0" err="1"/>
              <a:t>k_li</a:t>
            </a:r>
            <a:r>
              <a:rPr lang="fr-FR" sz="1000" b="1" i="1" dirty="0"/>
              <a:t>    = LOCAL_LI(k);</a:t>
            </a:r>
          </a:p>
          <a:p>
            <a:r>
              <a:rPr lang="fr-FR" sz="1000" b="1" i="1" dirty="0"/>
              <a:t>    double </a:t>
            </a:r>
            <a:r>
              <a:rPr lang="fr-FR" sz="1000" b="1" i="1" dirty="0" err="1"/>
              <a:t>x_k</a:t>
            </a:r>
            <a:r>
              <a:rPr lang="fr-FR" sz="1000" b="1" i="1" dirty="0"/>
              <a:t>  = 0.0;</a:t>
            </a:r>
          </a:p>
          <a:p>
            <a:endParaRPr lang="fr-FR" sz="1000" b="1" i="1" dirty="0"/>
          </a:p>
          <a:p>
            <a:r>
              <a:rPr lang="fr-FR" sz="1000" b="1" i="1" dirty="0"/>
              <a:t>    if (</a:t>
            </a:r>
            <a:r>
              <a:rPr lang="fr-FR" sz="1000" b="1" i="1" dirty="0" err="1"/>
              <a:t>rank</a:t>
            </a:r>
            <a:r>
              <a:rPr lang="fr-FR" sz="1000" b="1" i="1" dirty="0"/>
              <a:t> == </a:t>
            </a:r>
            <a:r>
              <a:rPr lang="fr-FR" sz="1000" b="1" i="1" dirty="0" err="1"/>
              <a:t>k_owner</a:t>
            </a:r>
            <a:r>
              <a:rPr lang="fr-FR" sz="1000" b="1" i="1" dirty="0"/>
              <a:t>) {</a:t>
            </a:r>
          </a:p>
          <a:p>
            <a:r>
              <a:rPr lang="fr-FR" sz="1000" b="1" i="1" dirty="0"/>
              <a:t>        double s = </a:t>
            </a:r>
            <a:r>
              <a:rPr lang="fr-FR" sz="1000" b="1" i="1" dirty="0" err="1"/>
              <a:t>b_vec</a:t>
            </a:r>
            <a:r>
              <a:rPr lang="fr-FR" sz="1000" b="1" i="1" dirty="0"/>
              <a:t>[</a:t>
            </a:r>
            <a:r>
              <a:rPr lang="fr-FR" sz="1000" b="1" i="1" dirty="0" err="1"/>
              <a:t>k_li</a:t>
            </a:r>
            <a:r>
              <a:rPr lang="fr-FR" sz="1000" b="1" i="1" dirty="0"/>
              <a:t>];</a:t>
            </a:r>
          </a:p>
          <a:p>
            <a:endParaRPr lang="fr-FR" sz="1000" b="1" i="1" dirty="0"/>
          </a:p>
          <a:p>
            <a:r>
              <a:rPr lang="fr-FR" sz="1000" b="1" i="1" dirty="0"/>
              <a:t>        for (</a:t>
            </a:r>
            <a:r>
              <a:rPr lang="fr-FR" sz="1000" b="1" i="1" dirty="0" err="1"/>
              <a:t>int</a:t>
            </a:r>
            <a:r>
              <a:rPr lang="fr-FR" sz="1000" b="1" i="1" dirty="0"/>
              <a:t> j = k + 1; j &lt; N; j++) {</a:t>
            </a:r>
          </a:p>
          <a:p>
            <a:r>
              <a:rPr lang="fr-FR" sz="1000" b="1" i="1" dirty="0"/>
              <a:t>            s -= A[IDX(</a:t>
            </a:r>
            <a:r>
              <a:rPr lang="fr-FR" sz="1000" b="1" i="1" dirty="0" err="1"/>
              <a:t>k_li</a:t>
            </a:r>
            <a:r>
              <a:rPr lang="fr-FR" sz="1000" b="1" i="1" dirty="0"/>
              <a:t>, j, N)] * </a:t>
            </a:r>
            <a:r>
              <a:rPr lang="fr-FR" sz="1000" b="1" i="1" dirty="0" err="1"/>
              <a:t>x_global</a:t>
            </a:r>
            <a:r>
              <a:rPr lang="fr-FR" sz="1000" b="1" i="1" dirty="0"/>
              <a:t>[j];</a:t>
            </a:r>
          </a:p>
          <a:p>
            <a:r>
              <a:rPr lang="fr-FR" sz="1000" b="1" i="1" dirty="0"/>
              <a:t>        }</a:t>
            </a:r>
          </a:p>
          <a:p>
            <a:r>
              <a:rPr lang="fr-FR" sz="1000" b="1" i="1" dirty="0"/>
              <a:t>        </a:t>
            </a:r>
            <a:r>
              <a:rPr lang="fr-FR" sz="1000" b="1" i="1" dirty="0" err="1"/>
              <a:t>x_k</a:t>
            </a:r>
            <a:r>
              <a:rPr lang="fr-FR" sz="1000" b="1" i="1" dirty="0"/>
              <a:t> = s / A[IDX(</a:t>
            </a:r>
            <a:r>
              <a:rPr lang="fr-FR" sz="1000" b="1" i="1" dirty="0" err="1"/>
              <a:t>k_li</a:t>
            </a:r>
            <a:r>
              <a:rPr lang="fr-FR" sz="1000" b="1" i="1" dirty="0"/>
              <a:t>, k, N)];</a:t>
            </a:r>
          </a:p>
          <a:p>
            <a:r>
              <a:rPr lang="fr-FR" sz="1000" b="1" i="1" dirty="0"/>
              <a:t>    }</a:t>
            </a:r>
          </a:p>
          <a:p>
            <a:r>
              <a:rPr lang="fr-FR" sz="1000" b="1" i="1" dirty="0"/>
              <a:t>    /* Diffusion de </a:t>
            </a:r>
            <a:r>
              <a:rPr lang="fr-FR" sz="1000" b="1" i="1" dirty="0" err="1"/>
              <a:t>x_k</a:t>
            </a:r>
            <a:r>
              <a:rPr lang="fr-FR" sz="1000" b="1" i="1" dirty="0"/>
              <a:t> à tous les processus */</a:t>
            </a:r>
          </a:p>
          <a:p>
            <a:r>
              <a:rPr lang="fr-FR" sz="1000" b="1" i="1" dirty="0"/>
              <a:t>    </a:t>
            </a:r>
            <a:r>
              <a:rPr lang="fr-FR" sz="1000" b="1" i="1" dirty="0" err="1"/>
              <a:t>MPI_Bcast</a:t>
            </a:r>
            <a:r>
              <a:rPr lang="fr-FR" sz="1000" b="1" i="1" dirty="0"/>
              <a:t>(&amp;</a:t>
            </a:r>
            <a:r>
              <a:rPr lang="fr-FR" sz="1000" b="1" i="1" dirty="0" err="1"/>
              <a:t>x_k</a:t>
            </a:r>
            <a:r>
              <a:rPr lang="fr-FR" sz="1000" b="1" i="1" dirty="0"/>
              <a:t>, 1, MPI_DOUBLE,</a:t>
            </a:r>
          </a:p>
          <a:p>
            <a:r>
              <a:rPr lang="fr-FR" sz="1000" b="1" i="1" dirty="0"/>
              <a:t>              </a:t>
            </a:r>
            <a:r>
              <a:rPr lang="fr-FR" sz="1000" b="1" i="1" dirty="0" err="1"/>
              <a:t>k_owner</a:t>
            </a:r>
            <a:r>
              <a:rPr lang="fr-FR" sz="1000" b="1" i="1" dirty="0"/>
              <a:t>, MPI_COMM_WORLD);</a:t>
            </a:r>
          </a:p>
          <a:p>
            <a:endParaRPr lang="fr-FR" sz="1000" b="1" i="1" dirty="0"/>
          </a:p>
          <a:p>
            <a:r>
              <a:rPr lang="fr-FR" sz="1000" b="1" i="1" dirty="0"/>
              <a:t>    </a:t>
            </a:r>
            <a:r>
              <a:rPr lang="fr-FR" sz="1000" b="1" i="1" dirty="0" err="1"/>
              <a:t>x_global</a:t>
            </a:r>
            <a:r>
              <a:rPr lang="fr-FR" sz="1000" b="1" i="1" dirty="0"/>
              <a:t>[k] = </a:t>
            </a:r>
            <a:r>
              <a:rPr lang="fr-FR" sz="1000" b="1" i="1" dirty="0" err="1"/>
              <a:t>x_k</a:t>
            </a:r>
            <a:r>
              <a:rPr lang="fr-FR" sz="1000" b="1" i="1" dirty="0"/>
              <a:t>;</a:t>
            </a:r>
          </a:p>
          <a:p>
            <a:r>
              <a:rPr lang="fr-FR" sz="1000" b="1" i="1" dirty="0"/>
              <a:t>}</a:t>
            </a:r>
          </a:p>
        </p:txBody>
      </p:sp>
      <p:pic>
        <p:nvPicPr>
          <p:cNvPr id="40" name="Image 0" descr="preencoded.png">
            <a:extLst>
              <a:ext uri="{FF2B5EF4-FFF2-40B4-BE49-F238E27FC236}">
                <a16:creationId xmlns:a16="http://schemas.microsoft.com/office/drawing/2014/main" id="{E4816BCF-705D-C010-0A80-867645D557CF}"/>
              </a:ext>
            </a:extLst>
          </p:cNvPr>
          <p:cNvPicPr>
            <a:picLocks noChangeAspect="1"/>
          </p:cNvPicPr>
          <p:nvPr/>
        </p:nvPicPr>
        <p:blipFill>
          <a:blip r:embed="rId3"/>
          <a:stretch>
            <a:fillRect/>
          </a:stretch>
        </p:blipFill>
        <p:spPr>
          <a:xfrm>
            <a:off x="4136897" y="3085610"/>
            <a:ext cx="274320" cy="274320"/>
          </a:xfrm>
          <a:prstGeom prst="rect">
            <a:avLst/>
          </a:prstGeom>
        </p:spPr>
      </p:pic>
      <p:sp>
        <p:nvSpPr>
          <p:cNvPr id="9" name="Rectangle 8">
            <a:extLst>
              <a:ext uri="{FF2B5EF4-FFF2-40B4-BE49-F238E27FC236}">
                <a16:creationId xmlns:a16="http://schemas.microsoft.com/office/drawing/2014/main" id="{048B99DC-991A-3886-45CE-0B60D453388B}"/>
              </a:ext>
            </a:extLst>
          </p:cNvPr>
          <p:cNvSpPr/>
          <p:nvPr/>
        </p:nvSpPr>
        <p:spPr>
          <a:xfrm>
            <a:off x="4465320" y="2420398"/>
            <a:ext cx="4572000" cy="190319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a:p>
        </p:txBody>
      </p:sp>
      <p:sp>
        <p:nvSpPr>
          <p:cNvPr id="14" name="TextBox 15">
            <a:extLst>
              <a:ext uri="{FF2B5EF4-FFF2-40B4-BE49-F238E27FC236}">
                <a16:creationId xmlns:a16="http://schemas.microsoft.com/office/drawing/2014/main" id="{716D5312-E73C-2E00-DBDB-3B79E3EAB3BD}"/>
              </a:ext>
            </a:extLst>
          </p:cNvPr>
          <p:cNvSpPr txBox="1"/>
          <p:nvPr/>
        </p:nvSpPr>
        <p:spPr>
          <a:xfrm>
            <a:off x="4556760" y="2442210"/>
            <a:ext cx="4389120" cy="292388"/>
          </a:xfrm>
          <a:prstGeom prst="rect">
            <a:avLst/>
          </a:prstGeom>
          <a:noFill/>
        </p:spPr>
        <p:txBody>
          <a:bodyPr wrap="square">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l"/>
            <a:r>
              <a:rPr lang="fr-FR" sz="1300" b="1" dirty="0">
                <a:solidFill>
                  <a:srgbClr val="D4A843"/>
                </a:solidFill>
                <a:latin typeface="Calibri"/>
              </a:rPr>
              <a:t>Détails</a:t>
            </a:r>
            <a:endParaRPr sz="1300" b="1" i="0" dirty="0">
              <a:solidFill>
                <a:srgbClr val="D4A843"/>
              </a:solidFill>
              <a:latin typeface="Calibri"/>
            </a:endParaRPr>
          </a:p>
        </p:txBody>
      </p:sp>
      <mc:AlternateContent xmlns:mc="http://schemas.openxmlformats.org/markup-compatibility/2006" xmlns:a14="http://schemas.microsoft.com/office/drawing/2010/main">
        <mc:Choice Requires="a14">
          <p:sp>
            <p:nvSpPr>
              <p:cNvPr id="18" name="TextBox 16">
                <a:extLst>
                  <a:ext uri="{FF2B5EF4-FFF2-40B4-BE49-F238E27FC236}">
                    <a16:creationId xmlns:a16="http://schemas.microsoft.com/office/drawing/2014/main" id="{EB3159C9-8241-F42D-AA6F-544D28C0B9AD}"/>
                  </a:ext>
                </a:extLst>
              </p:cNvPr>
              <p:cNvSpPr txBox="1"/>
              <p:nvPr/>
            </p:nvSpPr>
            <p:spPr>
              <a:xfrm>
                <a:off x="4556760" y="2807970"/>
                <a:ext cx="4389120" cy="1323439"/>
              </a:xfrm>
              <a:prstGeom prst="rect">
                <a:avLst/>
              </a:prstGeom>
              <a:noFill/>
            </p:spPr>
            <p:txBody>
              <a:bodyPr wrap="square">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spcAft>
                    <a:spcPts val="200"/>
                  </a:spcAft>
                </a:pPr>
                <a:r>
                  <a:rPr lang="fr-FR" sz="1000" b="1" dirty="0">
                    <a:solidFill>
                      <a:srgbClr val="0D4F4F"/>
                    </a:solidFill>
                  </a:rPr>
                  <a:t>On résout le système triangulaire supérieur de bas en haut.</a:t>
                </a:r>
              </a:p>
              <a:p>
                <a:pPr>
                  <a:spcAft>
                    <a:spcPts val="200"/>
                  </a:spcAft>
                </a:pPr>
                <a:endParaRPr lang="fr-FR" sz="1000" b="1" dirty="0">
                  <a:solidFill>
                    <a:srgbClr val="E07A5F"/>
                  </a:solidFill>
                  <a:latin typeface="Calibri"/>
                </a:endParaRPr>
              </a:p>
              <a:p>
                <a:pPr>
                  <a:spcAft>
                    <a:spcPts val="200"/>
                  </a:spcAft>
                </a:pPr>
                <a:r>
                  <a:rPr lang="fr-FR" sz="1000" b="1" dirty="0">
                    <a:solidFill>
                      <a:srgbClr val="E07A5F"/>
                    </a:solidFill>
                    <a:latin typeface="Calibri"/>
                  </a:rPr>
                  <a:t>Le processus propriétaire calcule </a:t>
                </a:r>
                <a14:m>
                  <m:oMath xmlns:m="http://schemas.openxmlformats.org/officeDocument/2006/math">
                    <m:sSub>
                      <m:sSubPr>
                        <m:ctrlPr>
                          <a:rPr lang="ar-TN" sz="1000" b="1" i="1">
                            <a:solidFill>
                              <a:srgbClr val="E07A5F"/>
                            </a:solidFill>
                            <a:latin typeface="Cambria Math" panose="02040503050406030204" pitchFamily="18" charset="0"/>
                          </a:rPr>
                        </m:ctrlPr>
                      </m:sSubPr>
                      <m:e>
                        <m:r>
                          <a:rPr lang="ar-TN" sz="1000" b="1">
                            <a:solidFill>
                              <a:srgbClr val="E07A5F"/>
                            </a:solidFill>
                            <a:latin typeface="Cambria Math" panose="02040503050406030204" pitchFamily="18" charset="0"/>
                          </a:rPr>
                          <m:t>𝑥</m:t>
                        </m:r>
                      </m:e>
                      <m:sub>
                        <m:r>
                          <a:rPr lang="ar-TN" sz="1000" b="1">
                            <a:solidFill>
                              <a:srgbClr val="E07A5F"/>
                            </a:solidFill>
                            <a:latin typeface="Cambria Math" panose="02040503050406030204" pitchFamily="18" charset="0"/>
                          </a:rPr>
                          <m:t>𝑘</m:t>
                        </m:r>
                      </m:sub>
                    </m:sSub>
                  </m:oMath>
                </a14:m>
                <a:r>
                  <a:rPr lang="ar-TN" sz="1000" b="1" dirty="0">
                    <a:solidFill>
                      <a:srgbClr val="E07A5F"/>
                    </a:solidFill>
                    <a:latin typeface="Calibri"/>
                  </a:rPr>
                  <a:t>.</a:t>
                </a:r>
                <a:endParaRPr lang="fr-FR" sz="1000" b="1" dirty="0">
                  <a:solidFill>
                    <a:srgbClr val="E07A5F"/>
                  </a:solidFill>
                  <a:latin typeface="Calibri"/>
                </a:endParaRPr>
              </a:p>
              <a:p>
                <a:pPr>
                  <a:spcAft>
                    <a:spcPts val="200"/>
                  </a:spcAft>
                </a:pPr>
                <a:endParaRPr sz="1000" dirty="0">
                  <a:solidFill>
                    <a:srgbClr val="4A4A5A"/>
                  </a:solidFill>
                  <a:latin typeface="Calibri"/>
                </a:endParaRPr>
              </a:p>
              <a:p>
                <a:pPr>
                  <a:spcAft>
                    <a:spcPts val="200"/>
                  </a:spcAft>
                </a:pPr>
                <a:r>
                  <a:rPr lang="fr-FR" sz="1000" b="1" dirty="0">
                    <a:solidFill>
                      <a:srgbClr val="0D4F4F"/>
                    </a:solidFill>
                    <a:latin typeface="Calibri"/>
                  </a:rPr>
                  <a:t>Une réduction MPI détermine le pivot global. On diffuse </a:t>
                </a:r>
                <a14:m>
                  <m:oMath xmlns:m="http://schemas.openxmlformats.org/officeDocument/2006/math">
                    <m:sSub>
                      <m:sSubPr>
                        <m:ctrlPr>
                          <a:rPr lang="ar-TN" sz="1000" b="1" i="1">
                            <a:solidFill>
                              <a:srgbClr val="0D4F4F"/>
                            </a:solidFill>
                            <a:latin typeface="Cambria Math" panose="02040503050406030204" pitchFamily="18" charset="0"/>
                          </a:rPr>
                        </m:ctrlPr>
                      </m:sSubPr>
                      <m:e>
                        <m:r>
                          <a:rPr lang="ar-TN" sz="1000" b="1">
                            <a:solidFill>
                              <a:srgbClr val="0D4F4F"/>
                            </a:solidFill>
                            <a:latin typeface="Cambria Math" panose="02040503050406030204" pitchFamily="18" charset="0"/>
                          </a:rPr>
                          <m:t>𝑥</m:t>
                        </m:r>
                      </m:e>
                      <m:sub>
                        <m:r>
                          <a:rPr lang="ar-TN" sz="1000" b="1">
                            <a:solidFill>
                              <a:srgbClr val="0D4F4F"/>
                            </a:solidFill>
                            <a:latin typeface="Cambria Math" panose="02040503050406030204" pitchFamily="18" charset="0"/>
                          </a:rPr>
                          <m:t>𝑘</m:t>
                        </m:r>
                      </m:sub>
                    </m:sSub>
                  </m:oMath>
                </a14:m>
                <a:r>
                  <a:rPr lang="fr-FR" sz="1000" b="1" dirty="0">
                    <a:solidFill>
                      <a:srgbClr val="0D4F4F"/>
                    </a:solidFill>
                    <a:latin typeface="Calibri"/>
                  </a:rPr>
                  <a:t>à tous les processus.</a:t>
                </a:r>
                <a:endParaRPr sz="1000" b="1" dirty="0">
                  <a:solidFill>
                    <a:srgbClr val="0D4F4F"/>
                  </a:solidFill>
                  <a:latin typeface="Calibri"/>
                </a:endParaRPr>
              </a:p>
              <a:p>
                <a:pPr>
                  <a:spcAft>
                    <a:spcPts val="200"/>
                  </a:spcAft>
                </a:pPr>
                <a:endParaRPr lang="fr-FR" sz="1000" b="1" dirty="0">
                  <a:solidFill>
                    <a:srgbClr val="E07A5F"/>
                  </a:solidFill>
                  <a:latin typeface="Calibri"/>
                </a:endParaRPr>
              </a:p>
              <a:p>
                <a:pPr>
                  <a:spcAft>
                    <a:spcPts val="200"/>
                  </a:spcAft>
                </a:pPr>
                <a:r>
                  <a:rPr lang="fr-FR" sz="1000" b="1" dirty="0">
                    <a:solidFill>
                      <a:srgbClr val="E07A5F"/>
                    </a:solidFill>
                    <a:latin typeface="Calibri"/>
                  </a:rPr>
                  <a:t>Tous construisent le même vecteur solution global.</a:t>
                </a:r>
                <a:endParaRPr sz="1000" dirty="0">
                  <a:solidFill>
                    <a:srgbClr val="4A4A5A"/>
                  </a:solidFill>
                  <a:latin typeface="Calibri"/>
                </a:endParaRPr>
              </a:p>
            </p:txBody>
          </p:sp>
        </mc:Choice>
        <mc:Fallback xmlns="">
          <p:sp>
            <p:nvSpPr>
              <p:cNvPr id="18" name="TextBox 16">
                <a:extLst>
                  <a:ext uri="{FF2B5EF4-FFF2-40B4-BE49-F238E27FC236}">
                    <a16:creationId xmlns:a16="http://schemas.microsoft.com/office/drawing/2014/main" id="{EB3159C9-8241-F42D-AA6F-544D28C0B9AD}"/>
                  </a:ext>
                </a:extLst>
              </p:cNvPr>
              <p:cNvSpPr txBox="1">
                <a:spLocks noRot="1" noChangeAspect="1" noMove="1" noResize="1" noEditPoints="1" noAdjustHandles="1" noChangeArrowheads="1" noChangeShapeType="1" noTextEdit="1"/>
              </p:cNvSpPr>
              <p:nvPr/>
            </p:nvSpPr>
            <p:spPr>
              <a:xfrm>
                <a:off x="4556760" y="2807970"/>
                <a:ext cx="4389120" cy="1323439"/>
              </a:xfrm>
              <a:prstGeom prst="rect">
                <a:avLst/>
              </a:prstGeom>
              <a:blipFill>
                <a:blip r:embed="rId5"/>
                <a:stretch>
                  <a:fillRect b="-1843"/>
                </a:stretch>
              </a:blipFill>
            </p:spPr>
            <p:txBody>
              <a:bodyPr/>
              <a:lstStyle/>
              <a:p>
                <a:r>
                  <a:rPr lang="fr-FR">
                    <a:noFill/>
                  </a:rPr>
                  <a:t> </a:t>
                </a:r>
              </a:p>
            </p:txBody>
          </p:sp>
        </mc:Fallback>
      </mc:AlternateContent>
      <p:sp>
        <p:nvSpPr>
          <p:cNvPr id="23" name="TextBox 22">
            <a:extLst>
              <a:ext uri="{FF2B5EF4-FFF2-40B4-BE49-F238E27FC236}">
                <a16:creationId xmlns:a16="http://schemas.microsoft.com/office/drawing/2014/main" id="{BCD3078A-8F19-4387-98E0-861490D71C0D}"/>
              </a:ext>
            </a:extLst>
          </p:cNvPr>
          <p:cNvSpPr txBox="1"/>
          <p:nvPr/>
        </p:nvSpPr>
        <p:spPr>
          <a:xfrm>
            <a:off x="8363201" y="36051"/>
            <a:ext cx="827471" cy="369332"/>
          </a:xfrm>
          <a:prstGeom prst="rect">
            <a:avLst/>
          </a:prstGeom>
          <a:noFill/>
        </p:spPr>
        <p:txBody>
          <a:bodyPr wrap="none" rtlCol="0">
            <a:spAutoFit/>
          </a:bodyPr>
          <a:lstStyle/>
          <a:p>
            <a:r>
              <a:rPr lang="fr-FR" b="1" dirty="0">
                <a:solidFill>
                  <a:srgbClr val="0D4F4F"/>
                </a:solidFill>
                <a:latin typeface="Georgia"/>
              </a:rPr>
              <a:t>10/21</a:t>
            </a:r>
          </a:p>
        </p:txBody>
      </p:sp>
    </p:spTree>
    <p:extLst>
      <p:ext uri="{BB962C8B-B14F-4D97-AF65-F5344CB8AC3E}">
        <p14:creationId xmlns:p14="http://schemas.microsoft.com/office/powerpoint/2010/main" val="251339511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AF8F0"/>
        </a:solidFill>
        <a:effectLst/>
      </p:bgPr>
    </p:bg>
    <p:spTree>
      <p:nvGrpSpPr>
        <p:cNvPr id="1" name="">
          <a:extLst>
            <a:ext uri="{FF2B5EF4-FFF2-40B4-BE49-F238E27FC236}">
              <a16:creationId xmlns:a16="http://schemas.microsoft.com/office/drawing/2014/main" id="{CC356A2E-1DCC-69F2-B07A-48B0740CFCA7}"/>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A6C2B1CF-749A-F43A-8EDE-C57148B776C0}"/>
              </a:ext>
            </a:extLst>
          </p:cNvPr>
          <p:cNvSpPr/>
          <p:nvPr/>
        </p:nvSpPr>
        <p:spPr>
          <a:xfrm>
            <a:off x="548640" y="228600"/>
            <a:ext cx="8229600" cy="457200"/>
          </a:xfrm>
          <a:prstGeom prst="rect">
            <a:avLst/>
          </a:prstGeom>
          <a:noFill/>
          <a:ln/>
        </p:spPr>
        <p:txBody>
          <a:bodyPr wrap="square" lIns="0" tIns="0" rIns="0" bIns="0" rtlCol="0" anchor="ctr"/>
          <a:lstStyle/>
          <a:p>
            <a:pPr marL="0" indent="0">
              <a:buNone/>
            </a:pPr>
            <a:r>
              <a:rPr lang="en-US" sz="2400" b="1" dirty="0">
                <a:solidFill>
                  <a:srgbClr val="0D4F4F"/>
                </a:solidFill>
                <a:latin typeface="Georgia" pitchFamily="34" charset="0"/>
                <a:ea typeface="Georgia" pitchFamily="34" charset="-122"/>
                <a:cs typeface="Georgia" pitchFamily="34" charset="-120"/>
              </a:rPr>
              <a:t>Le problème : résistance aux antibiotiques</a:t>
            </a:r>
            <a:endParaRPr lang="en-US" sz="2400" dirty="0"/>
          </a:p>
        </p:txBody>
      </p:sp>
      <p:sp>
        <p:nvSpPr>
          <p:cNvPr id="3" name="Text 1">
            <a:extLst>
              <a:ext uri="{FF2B5EF4-FFF2-40B4-BE49-F238E27FC236}">
                <a16:creationId xmlns:a16="http://schemas.microsoft.com/office/drawing/2014/main" id="{95A30AB1-42C9-8A06-438E-D9094839E278}"/>
              </a:ext>
            </a:extLst>
          </p:cNvPr>
          <p:cNvSpPr/>
          <p:nvPr/>
        </p:nvSpPr>
        <p:spPr>
          <a:xfrm>
            <a:off x="548640" y="658368"/>
            <a:ext cx="8229600" cy="274320"/>
          </a:xfrm>
          <a:prstGeom prst="rect">
            <a:avLst/>
          </a:prstGeom>
          <a:noFill/>
          <a:ln/>
        </p:spPr>
        <p:txBody>
          <a:bodyPr wrap="square" lIns="0" tIns="0" rIns="0" bIns="0" rtlCol="0" anchor="ctr"/>
          <a:lstStyle/>
          <a:p>
            <a:pPr marL="0" indent="0">
              <a:buNone/>
            </a:pPr>
            <a:r>
              <a:rPr lang="en-US" sz="1200" i="1" dirty="0">
                <a:solidFill>
                  <a:srgbClr val="8A8A9A"/>
                </a:solidFill>
                <a:latin typeface="Calibri" pitchFamily="34" charset="0"/>
                <a:ea typeface="Calibri" pitchFamily="34" charset="-122"/>
                <a:cs typeface="Calibri" pitchFamily="34" charset="-120"/>
              </a:rPr>
              <a:t>L'une des plus grandes menaces pour la santé publique mondiale (OMS, 2014)</a:t>
            </a:r>
            <a:endParaRPr lang="en-US" sz="1200" dirty="0"/>
          </a:p>
        </p:txBody>
      </p:sp>
      <p:sp>
        <p:nvSpPr>
          <p:cNvPr id="5" name="Shape 3">
            <a:extLst>
              <a:ext uri="{FF2B5EF4-FFF2-40B4-BE49-F238E27FC236}">
                <a16:creationId xmlns:a16="http://schemas.microsoft.com/office/drawing/2014/main" id="{0ACAEFE9-78A8-876B-713C-079DF6689E67}"/>
              </a:ext>
            </a:extLst>
          </p:cNvPr>
          <p:cNvSpPr/>
          <p:nvPr/>
        </p:nvSpPr>
        <p:spPr>
          <a:xfrm>
            <a:off x="685800" y="1508760"/>
            <a:ext cx="365760" cy="365760"/>
          </a:xfrm>
          <a:prstGeom prst="ellipse">
            <a:avLst/>
          </a:prstGeom>
          <a:solidFill>
            <a:srgbClr val="0E7C7B"/>
          </a:solidFill>
          <a:ln/>
        </p:spPr>
        <p:txBody>
          <a:bodyPr/>
          <a:lstStyle/>
          <a:p>
            <a:endParaRPr lang="fr-FR"/>
          </a:p>
        </p:txBody>
      </p:sp>
      <p:sp>
        <p:nvSpPr>
          <p:cNvPr id="6" name="Text 4">
            <a:extLst>
              <a:ext uri="{FF2B5EF4-FFF2-40B4-BE49-F238E27FC236}">
                <a16:creationId xmlns:a16="http://schemas.microsoft.com/office/drawing/2014/main" id="{D4905F36-38BF-ADFE-5653-5FF28BC7973F}"/>
              </a:ext>
            </a:extLst>
          </p:cNvPr>
          <p:cNvSpPr/>
          <p:nvPr/>
        </p:nvSpPr>
        <p:spPr>
          <a:xfrm>
            <a:off x="685800" y="1508760"/>
            <a:ext cx="365760" cy="365760"/>
          </a:xfrm>
          <a:prstGeom prst="rect">
            <a:avLst/>
          </a:prstGeom>
          <a:noFill/>
          <a:ln/>
        </p:spPr>
        <p:txBody>
          <a:bodyPr wrap="square"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7" name="Text 5">
            <a:extLst>
              <a:ext uri="{FF2B5EF4-FFF2-40B4-BE49-F238E27FC236}">
                <a16:creationId xmlns:a16="http://schemas.microsoft.com/office/drawing/2014/main" id="{1971D8BE-2908-2B70-1A6A-9976B2A76DB5}"/>
              </a:ext>
            </a:extLst>
          </p:cNvPr>
          <p:cNvSpPr/>
          <p:nvPr/>
        </p:nvSpPr>
        <p:spPr>
          <a:xfrm>
            <a:off x="1143000" y="1508760"/>
            <a:ext cx="1828800" cy="1097280"/>
          </a:xfrm>
          <a:prstGeom prst="rect">
            <a:avLst/>
          </a:prstGeom>
          <a:noFill/>
          <a:ln/>
        </p:spPr>
        <p:txBody>
          <a:bodyPr wrap="square" rtlCol="0" anchor="t"/>
          <a:lstStyle/>
          <a:p>
            <a:pPr marL="0" indent="0">
              <a:buNone/>
            </a:pPr>
            <a:r>
              <a:rPr lang="en-US" sz="1200" dirty="0">
                <a:solidFill>
                  <a:srgbClr val="1A1A2E"/>
                </a:solidFill>
                <a:latin typeface="Calibri" pitchFamily="34" charset="0"/>
                <a:ea typeface="Calibri" pitchFamily="34" charset="-122"/>
                <a:cs typeface="Calibri" pitchFamily="34" charset="-120"/>
              </a:rPr>
              <a:t>Antibiotiques massivement</a:t>
            </a:r>
            <a:endParaRPr lang="en-US" sz="1200" dirty="0"/>
          </a:p>
          <a:p>
            <a:pPr marL="0" indent="0">
              <a:buNone/>
            </a:pPr>
            <a:r>
              <a:rPr lang="en-US" sz="1200" dirty="0">
                <a:solidFill>
                  <a:srgbClr val="1A1A2E"/>
                </a:solidFill>
                <a:latin typeface="Calibri" pitchFamily="34" charset="0"/>
                <a:ea typeface="Calibri" pitchFamily="34" charset="-122"/>
                <a:cs typeface="Calibri" pitchFamily="34" charset="-120"/>
              </a:rPr>
              <a:t>utilisés en élevage</a:t>
            </a:r>
            <a:endParaRPr lang="en-US" sz="1200" dirty="0"/>
          </a:p>
        </p:txBody>
      </p:sp>
      <p:pic>
        <p:nvPicPr>
          <p:cNvPr id="8" name="Image 0" descr="preencoded.png">
            <a:extLst>
              <a:ext uri="{FF2B5EF4-FFF2-40B4-BE49-F238E27FC236}">
                <a16:creationId xmlns:a16="http://schemas.microsoft.com/office/drawing/2014/main" id="{D6407916-90C7-42CC-14F4-DCC440E967CB}"/>
              </a:ext>
            </a:extLst>
          </p:cNvPr>
          <p:cNvPicPr>
            <a:picLocks noChangeAspect="1"/>
          </p:cNvPicPr>
          <p:nvPr/>
        </p:nvPicPr>
        <p:blipFill>
          <a:blip r:embed="rId3"/>
          <a:stretch>
            <a:fillRect/>
          </a:stretch>
        </p:blipFill>
        <p:spPr>
          <a:xfrm>
            <a:off x="3154680" y="1828800"/>
            <a:ext cx="201168" cy="201168"/>
          </a:xfrm>
          <a:prstGeom prst="rect">
            <a:avLst/>
          </a:prstGeom>
        </p:spPr>
      </p:pic>
      <p:sp>
        <p:nvSpPr>
          <p:cNvPr id="10" name="Shape 7">
            <a:extLst>
              <a:ext uri="{FF2B5EF4-FFF2-40B4-BE49-F238E27FC236}">
                <a16:creationId xmlns:a16="http://schemas.microsoft.com/office/drawing/2014/main" id="{C553361E-02BF-3848-72A6-2AA921C72E7B}"/>
              </a:ext>
            </a:extLst>
          </p:cNvPr>
          <p:cNvSpPr/>
          <p:nvPr/>
        </p:nvSpPr>
        <p:spPr>
          <a:xfrm>
            <a:off x="3520440" y="1508760"/>
            <a:ext cx="365760" cy="365760"/>
          </a:xfrm>
          <a:prstGeom prst="ellipse">
            <a:avLst/>
          </a:prstGeom>
          <a:solidFill>
            <a:srgbClr val="0E7C7B"/>
          </a:solidFill>
          <a:ln/>
        </p:spPr>
        <p:txBody>
          <a:bodyPr/>
          <a:lstStyle/>
          <a:p>
            <a:endParaRPr lang="fr-FR"/>
          </a:p>
        </p:txBody>
      </p:sp>
      <p:sp>
        <p:nvSpPr>
          <p:cNvPr id="11" name="Text 8">
            <a:extLst>
              <a:ext uri="{FF2B5EF4-FFF2-40B4-BE49-F238E27FC236}">
                <a16:creationId xmlns:a16="http://schemas.microsoft.com/office/drawing/2014/main" id="{D67A2433-01EA-37F9-8C7B-522D413BBCE2}"/>
              </a:ext>
            </a:extLst>
          </p:cNvPr>
          <p:cNvSpPr/>
          <p:nvPr/>
        </p:nvSpPr>
        <p:spPr>
          <a:xfrm>
            <a:off x="3520440" y="1508760"/>
            <a:ext cx="365760" cy="365760"/>
          </a:xfrm>
          <a:prstGeom prst="rect">
            <a:avLst/>
          </a:prstGeom>
          <a:noFill/>
          <a:ln/>
        </p:spPr>
        <p:txBody>
          <a:bodyPr wrap="square"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2" name="Text 9">
            <a:extLst>
              <a:ext uri="{FF2B5EF4-FFF2-40B4-BE49-F238E27FC236}">
                <a16:creationId xmlns:a16="http://schemas.microsoft.com/office/drawing/2014/main" id="{0CE45AD8-5CEF-6074-7C2B-D23D8C80FC6A}"/>
              </a:ext>
            </a:extLst>
          </p:cNvPr>
          <p:cNvSpPr/>
          <p:nvPr/>
        </p:nvSpPr>
        <p:spPr>
          <a:xfrm>
            <a:off x="3977640" y="1508760"/>
            <a:ext cx="1828800" cy="1097280"/>
          </a:xfrm>
          <a:prstGeom prst="rect">
            <a:avLst/>
          </a:prstGeom>
          <a:noFill/>
          <a:ln/>
        </p:spPr>
        <p:txBody>
          <a:bodyPr wrap="square" rtlCol="0" anchor="t"/>
          <a:lstStyle/>
          <a:p>
            <a:pPr marL="0" indent="0">
              <a:buNone/>
            </a:pPr>
            <a:r>
              <a:rPr lang="en-US" sz="1200" dirty="0">
                <a:solidFill>
                  <a:srgbClr val="1A1A2E"/>
                </a:solidFill>
                <a:latin typeface="Calibri" pitchFamily="34" charset="0"/>
                <a:ea typeface="Calibri" pitchFamily="34" charset="-122"/>
                <a:cs typeface="Calibri" pitchFamily="34" charset="-120"/>
              </a:rPr>
              <a:t>Résidus atteignent</a:t>
            </a:r>
            <a:endParaRPr lang="en-US" sz="1200" dirty="0"/>
          </a:p>
          <a:p>
            <a:pPr marL="0" indent="0">
              <a:buNone/>
            </a:pPr>
            <a:r>
              <a:rPr lang="en-US" sz="1200" dirty="0">
                <a:solidFill>
                  <a:srgbClr val="1A1A2E"/>
                </a:solidFill>
                <a:latin typeface="Calibri" pitchFamily="34" charset="0"/>
                <a:ea typeface="Calibri" pitchFamily="34" charset="-122"/>
                <a:cs typeface="Calibri" pitchFamily="34" charset="-120"/>
              </a:rPr>
              <a:t>le côlon</a:t>
            </a:r>
            <a:endParaRPr lang="en-US" sz="1200" dirty="0"/>
          </a:p>
        </p:txBody>
      </p:sp>
      <p:pic>
        <p:nvPicPr>
          <p:cNvPr id="13" name="Image 1" descr="preencoded.png">
            <a:extLst>
              <a:ext uri="{FF2B5EF4-FFF2-40B4-BE49-F238E27FC236}">
                <a16:creationId xmlns:a16="http://schemas.microsoft.com/office/drawing/2014/main" id="{F0A04F3D-AA24-1924-0E66-7B02078C643D}"/>
              </a:ext>
            </a:extLst>
          </p:cNvPr>
          <p:cNvPicPr>
            <a:picLocks noChangeAspect="1"/>
          </p:cNvPicPr>
          <p:nvPr/>
        </p:nvPicPr>
        <p:blipFill>
          <a:blip r:embed="rId3"/>
          <a:stretch>
            <a:fillRect/>
          </a:stretch>
        </p:blipFill>
        <p:spPr>
          <a:xfrm>
            <a:off x="5989320" y="1828800"/>
            <a:ext cx="201168" cy="201168"/>
          </a:xfrm>
          <a:prstGeom prst="rect">
            <a:avLst/>
          </a:prstGeom>
        </p:spPr>
      </p:pic>
      <p:sp>
        <p:nvSpPr>
          <p:cNvPr id="15" name="Shape 11">
            <a:extLst>
              <a:ext uri="{FF2B5EF4-FFF2-40B4-BE49-F238E27FC236}">
                <a16:creationId xmlns:a16="http://schemas.microsoft.com/office/drawing/2014/main" id="{516296F8-80BF-EABE-235C-D07E7900512B}"/>
              </a:ext>
            </a:extLst>
          </p:cNvPr>
          <p:cNvSpPr/>
          <p:nvPr/>
        </p:nvSpPr>
        <p:spPr>
          <a:xfrm>
            <a:off x="6355080" y="1508760"/>
            <a:ext cx="365760" cy="365760"/>
          </a:xfrm>
          <a:prstGeom prst="ellipse">
            <a:avLst/>
          </a:prstGeom>
          <a:solidFill>
            <a:srgbClr val="0E7C7B"/>
          </a:solidFill>
          <a:ln/>
        </p:spPr>
        <p:txBody>
          <a:bodyPr/>
          <a:lstStyle/>
          <a:p>
            <a:endParaRPr lang="fr-FR"/>
          </a:p>
        </p:txBody>
      </p:sp>
      <p:sp>
        <p:nvSpPr>
          <p:cNvPr id="16" name="Text 12">
            <a:extLst>
              <a:ext uri="{FF2B5EF4-FFF2-40B4-BE49-F238E27FC236}">
                <a16:creationId xmlns:a16="http://schemas.microsoft.com/office/drawing/2014/main" id="{918FA330-9830-4E04-2128-8163060A7ED1}"/>
              </a:ext>
            </a:extLst>
          </p:cNvPr>
          <p:cNvSpPr/>
          <p:nvPr/>
        </p:nvSpPr>
        <p:spPr>
          <a:xfrm>
            <a:off x="6355080" y="1508760"/>
            <a:ext cx="365760" cy="365760"/>
          </a:xfrm>
          <a:prstGeom prst="rect">
            <a:avLst/>
          </a:prstGeom>
          <a:noFill/>
          <a:ln/>
        </p:spPr>
        <p:txBody>
          <a:bodyPr wrap="square"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7" name="Text 13">
            <a:extLst>
              <a:ext uri="{FF2B5EF4-FFF2-40B4-BE49-F238E27FC236}">
                <a16:creationId xmlns:a16="http://schemas.microsoft.com/office/drawing/2014/main" id="{06281530-9EEC-C1E0-D3C1-EE0F3BE40493}"/>
              </a:ext>
            </a:extLst>
          </p:cNvPr>
          <p:cNvSpPr/>
          <p:nvPr/>
        </p:nvSpPr>
        <p:spPr>
          <a:xfrm>
            <a:off x="6812280" y="1508760"/>
            <a:ext cx="1828800" cy="1097280"/>
          </a:xfrm>
          <a:prstGeom prst="rect">
            <a:avLst/>
          </a:prstGeom>
          <a:noFill/>
          <a:ln/>
        </p:spPr>
        <p:txBody>
          <a:bodyPr wrap="square" rtlCol="0" anchor="t"/>
          <a:lstStyle/>
          <a:p>
            <a:pPr marL="0" indent="0">
              <a:buNone/>
            </a:pPr>
            <a:r>
              <a:rPr lang="en-US" sz="1200" dirty="0">
                <a:solidFill>
                  <a:srgbClr val="1A1A2E"/>
                </a:solidFill>
                <a:latin typeface="Calibri" pitchFamily="34" charset="0"/>
                <a:ea typeface="Calibri" pitchFamily="34" charset="-122"/>
                <a:cs typeface="Calibri" pitchFamily="34" charset="-120"/>
              </a:rPr>
              <a:t>Bactéries sensibles</a:t>
            </a:r>
            <a:endParaRPr lang="en-US" sz="1200" dirty="0"/>
          </a:p>
          <a:p>
            <a:pPr marL="0" indent="0">
              <a:buNone/>
            </a:pPr>
            <a:r>
              <a:rPr lang="en-US" sz="1200" dirty="0">
                <a:solidFill>
                  <a:srgbClr val="1A1A2E"/>
                </a:solidFill>
                <a:latin typeface="Calibri" pitchFamily="34" charset="0"/>
                <a:ea typeface="Calibri" pitchFamily="34" charset="-122"/>
                <a:cs typeface="Calibri" pitchFamily="34" charset="-120"/>
              </a:rPr>
              <a:t>éliminées</a:t>
            </a:r>
            <a:endParaRPr lang="en-US" sz="1200" dirty="0"/>
          </a:p>
        </p:txBody>
      </p:sp>
      <p:sp>
        <p:nvSpPr>
          <p:cNvPr id="19" name="Shape 15">
            <a:extLst>
              <a:ext uri="{FF2B5EF4-FFF2-40B4-BE49-F238E27FC236}">
                <a16:creationId xmlns:a16="http://schemas.microsoft.com/office/drawing/2014/main" id="{4BD6117C-083D-185D-BE39-A5DF80F60D7A}"/>
              </a:ext>
            </a:extLst>
          </p:cNvPr>
          <p:cNvSpPr/>
          <p:nvPr/>
        </p:nvSpPr>
        <p:spPr>
          <a:xfrm>
            <a:off x="685800" y="3200400"/>
            <a:ext cx="365760" cy="365760"/>
          </a:xfrm>
          <a:prstGeom prst="ellipse">
            <a:avLst/>
          </a:prstGeom>
          <a:solidFill>
            <a:srgbClr val="E07A5F"/>
          </a:solidFill>
          <a:ln/>
        </p:spPr>
        <p:txBody>
          <a:bodyPr/>
          <a:lstStyle/>
          <a:p>
            <a:endParaRPr lang="fr-FR"/>
          </a:p>
        </p:txBody>
      </p:sp>
      <p:sp>
        <p:nvSpPr>
          <p:cNvPr id="20" name="Text 16">
            <a:extLst>
              <a:ext uri="{FF2B5EF4-FFF2-40B4-BE49-F238E27FC236}">
                <a16:creationId xmlns:a16="http://schemas.microsoft.com/office/drawing/2014/main" id="{C36A61CD-3D7F-9A21-A791-A2D774C95412}"/>
              </a:ext>
            </a:extLst>
          </p:cNvPr>
          <p:cNvSpPr/>
          <p:nvPr/>
        </p:nvSpPr>
        <p:spPr>
          <a:xfrm>
            <a:off x="685800" y="3200400"/>
            <a:ext cx="365760" cy="365760"/>
          </a:xfrm>
          <a:prstGeom prst="rect">
            <a:avLst/>
          </a:prstGeom>
          <a:noFill/>
          <a:ln/>
        </p:spPr>
        <p:txBody>
          <a:bodyPr wrap="square"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21" name="Text 17">
            <a:extLst>
              <a:ext uri="{FF2B5EF4-FFF2-40B4-BE49-F238E27FC236}">
                <a16:creationId xmlns:a16="http://schemas.microsoft.com/office/drawing/2014/main" id="{6054359B-CC4D-F051-4187-C5BFBDA21E1F}"/>
              </a:ext>
            </a:extLst>
          </p:cNvPr>
          <p:cNvSpPr/>
          <p:nvPr/>
        </p:nvSpPr>
        <p:spPr>
          <a:xfrm>
            <a:off x="1143000" y="3200400"/>
            <a:ext cx="1828800" cy="1097280"/>
          </a:xfrm>
          <a:prstGeom prst="rect">
            <a:avLst/>
          </a:prstGeom>
          <a:noFill/>
          <a:ln/>
        </p:spPr>
        <p:txBody>
          <a:bodyPr wrap="square" rtlCol="0" anchor="t"/>
          <a:lstStyle/>
          <a:p>
            <a:pPr marL="0" indent="0">
              <a:buNone/>
            </a:pPr>
            <a:r>
              <a:rPr lang="en-US" sz="1200" dirty="0">
                <a:solidFill>
                  <a:srgbClr val="1A1A2E"/>
                </a:solidFill>
                <a:latin typeface="Calibri" pitchFamily="34" charset="0"/>
                <a:ea typeface="Calibri" pitchFamily="34" charset="-122"/>
                <a:cs typeface="Calibri" pitchFamily="34" charset="-120"/>
              </a:rPr>
              <a:t>Bactéries résistantes</a:t>
            </a:r>
            <a:endParaRPr lang="en-US" sz="1200" dirty="0"/>
          </a:p>
          <a:p>
            <a:pPr marL="0" indent="0">
              <a:buNone/>
            </a:pPr>
            <a:r>
              <a:rPr lang="en-US" sz="1200" dirty="0">
                <a:solidFill>
                  <a:srgbClr val="1A1A2E"/>
                </a:solidFill>
                <a:latin typeface="Calibri" pitchFamily="34" charset="0"/>
                <a:ea typeface="Calibri" pitchFamily="34" charset="-122"/>
                <a:cs typeface="Calibri" pitchFamily="34" charset="-120"/>
              </a:rPr>
              <a:t>colonisent les niches</a:t>
            </a:r>
            <a:endParaRPr lang="en-US" sz="1200" dirty="0"/>
          </a:p>
        </p:txBody>
      </p:sp>
      <p:pic>
        <p:nvPicPr>
          <p:cNvPr id="22" name="Image 2" descr="preencoded.png">
            <a:extLst>
              <a:ext uri="{FF2B5EF4-FFF2-40B4-BE49-F238E27FC236}">
                <a16:creationId xmlns:a16="http://schemas.microsoft.com/office/drawing/2014/main" id="{573294CD-C454-4371-199C-6C20E10DC568}"/>
              </a:ext>
            </a:extLst>
          </p:cNvPr>
          <p:cNvPicPr>
            <a:picLocks noChangeAspect="1"/>
          </p:cNvPicPr>
          <p:nvPr/>
        </p:nvPicPr>
        <p:blipFill>
          <a:blip r:embed="rId3"/>
          <a:stretch>
            <a:fillRect/>
          </a:stretch>
        </p:blipFill>
        <p:spPr>
          <a:xfrm>
            <a:off x="3154680" y="3520440"/>
            <a:ext cx="201168" cy="201168"/>
          </a:xfrm>
          <a:prstGeom prst="rect">
            <a:avLst/>
          </a:prstGeom>
        </p:spPr>
      </p:pic>
      <p:sp>
        <p:nvSpPr>
          <p:cNvPr id="24" name="Shape 19">
            <a:extLst>
              <a:ext uri="{FF2B5EF4-FFF2-40B4-BE49-F238E27FC236}">
                <a16:creationId xmlns:a16="http://schemas.microsoft.com/office/drawing/2014/main" id="{22E49802-C267-0078-31C6-9C4BF303CA78}"/>
              </a:ext>
            </a:extLst>
          </p:cNvPr>
          <p:cNvSpPr/>
          <p:nvPr/>
        </p:nvSpPr>
        <p:spPr>
          <a:xfrm>
            <a:off x="3520440" y="3200400"/>
            <a:ext cx="365760" cy="365760"/>
          </a:xfrm>
          <a:prstGeom prst="ellipse">
            <a:avLst/>
          </a:prstGeom>
          <a:solidFill>
            <a:srgbClr val="E07A5F"/>
          </a:solidFill>
          <a:ln/>
        </p:spPr>
        <p:txBody>
          <a:bodyPr/>
          <a:lstStyle/>
          <a:p>
            <a:endParaRPr lang="fr-FR"/>
          </a:p>
        </p:txBody>
      </p:sp>
      <p:sp>
        <p:nvSpPr>
          <p:cNvPr id="25" name="Text 20">
            <a:extLst>
              <a:ext uri="{FF2B5EF4-FFF2-40B4-BE49-F238E27FC236}">
                <a16:creationId xmlns:a16="http://schemas.microsoft.com/office/drawing/2014/main" id="{18AAAC6E-5142-2704-53E6-DC95B1155A89}"/>
              </a:ext>
            </a:extLst>
          </p:cNvPr>
          <p:cNvSpPr/>
          <p:nvPr/>
        </p:nvSpPr>
        <p:spPr>
          <a:xfrm>
            <a:off x="3520440" y="3200400"/>
            <a:ext cx="365760" cy="365760"/>
          </a:xfrm>
          <a:prstGeom prst="rect">
            <a:avLst/>
          </a:prstGeom>
          <a:noFill/>
          <a:ln/>
        </p:spPr>
        <p:txBody>
          <a:bodyPr wrap="square"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5</a:t>
            </a:r>
            <a:endParaRPr lang="en-US" sz="1400" dirty="0"/>
          </a:p>
        </p:txBody>
      </p:sp>
      <p:sp>
        <p:nvSpPr>
          <p:cNvPr id="26" name="Text 21">
            <a:extLst>
              <a:ext uri="{FF2B5EF4-FFF2-40B4-BE49-F238E27FC236}">
                <a16:creationId xmlns:a16="http://schemas.microsoft.com/office/drawing/2014/main" id="{40F3A0C8-497D-E5D9-DA0F-DC4E4DFED5C9}"/>
              </a:ext>
            </a:extLst>
          </p:cNvPr>
          <p:cNvSpPr/>
          <p:nvPr/>
        </p:nvSpPr>
        <p:spPr>
          <a:xfrm>
            <a:off x="3977640" y="3200400"/>
            <a:ext cx="1828800" cy="1097280"/>
          </a:xfrm>
          <a:prstGeom prst="rect">
            <a:avLst/>
          </a:prstGeom>
          <a:noFill/>
          <a:ln/>
        </p:spPr>
        <p:txBody>
          <a:bodyPr wrap="square" rtlCol="0" anchor="t"/>
          <a:lstStyle/>
          <a:p>
            <a:pPr marL="0" indent="0">
              <a:buNone/>
            </a:pPr>
            <a:r>
              <a:rPr lang="en-US" sz="1200" dirty="0">
                <a:solidFill>
                  <a:srgbClr val="1A1A2E"/>
                </a:solidFill>
                <a:latin typeface="Calibri" pitchFamily="34" charset="0"/>
                <a:ea typeface="Calibri" pitchFamily="34" charset="-122"/>
                <a:cs typeface="Calibri" pitchFamily="34" charset="-120"/>
              </a:rPr>
              <a:t>Excrétion massive</a:t>
            </a:r>
            <a:endParaRPr lang="en-US" sz="1200" dirty="0"/>
          </a:p>
          <a:p>
            <a:pPr marL="0" indent="0">
              <a:buNone/>
            </a:pPr>
            <a:r>
              <a:rPr lang="en-US" sz="1200" dirty="0">
                <a:solidFill>
                  <a:srgbClr val="1A1A2E"/>
                </a:solidFill>
                <a:latin typeface="Calibri" pitchFamily="34" charset="0"/>
                <a:ea typeface="Calibri" pitchFamily="34" charset="-122"/>
                <a:cs typeface="Calibri" pitchFamily="34" charset="-120"/>
              </a:rPr>
              <a:t>dans les fèces</a:t>
            </a:r>
            <a:endParaRPr lang="en-US" sz="1200" dirty="0"/>
          </a:p>
        </p:txBody>
      </p:sp>
      <p:pic>
        <p:nvPicPr>
          <p:cNvPr id="27" name="Image 3" descr="preencoded.png">
            <a:extLst>
              <a:ext uri="{FF2B5EF4-FFF2-40B4-BE49-F238E27FC236}">
                <a16:creationId xmlns:a16="http://schemas.microsoft.com/office/drawing/2014/main" id="{8C93E01C-7282-94EE-4118-C4B3CE360E2F}"/>
              </a:ext>
            </a:extLst>
          </p:cNvPr>
          <p:cNvPicPr>
            <a:picLocks noChangeAspect="1"/>
          </p:cNvPicPr>
          <p:nvPr/>
        </p:nvPicPr>
        <p:blipFill>
          <a:blip r:embed="rId3"/>
          <a:stretch>
            <a:fillRect/>
          </a:stretch>
        </p:blipFill>
        <p:spPr>
          <a:xfrm>
            <a:off x="5989320" y="3520440"/>
            <a:ext cx="201168" cy="201168"/>
          </a:xfrm>
          <a:prstGeom prst="rect">
            <a:avLst/>
          </a:prstGeom>
        </p:spPr>
      </p:pic>
      <p:sp>
        <p:nvSpPr>
          <p:cNvPr id="29" name="Shape 23">
            <a:extLst>
              <a:ext uri="{FF2B5EF4-FFF2-40B4-BE49-F238E27FC236}">
                <a16:creationId xmlns:a16="http://schemas.microsoft.com/office/drawing/2014/main" id="{6D6D7DE2-D85F-AC45-507F-6CFDAA4D2E2D}"/>
              </a:ext>
            </a:extLst>
          </p:cNvPr>
          <p:cNvSpPr/>
          <p:nvPr/>
        </p:nvSpPr>
        <p:spPr>
          <a:xfrm>
            <a:off x="6355080" y="3200400"/>
            <a:ext cx="365760" cy="365760"/>
          </a:xfrm>
          <a:prstGeom prst="ellipse">
            <a:avLst/>
          </a:prstGeom>
          <a:solidFill>
            <a:srgbClr val="E07A5F"/>
          </a:solidFill>
          <a:ln/>
        </p:spPr>
        <p:txBody>
          <a:bodyPr/>
          <a:lstStyle/>
          <a:p>
            <a:endParaRPr lang="fr-FR"/>
          </a:p>
        </p:txBody>
      </p:sp>
      <p:sp>
        <p:nvSpPr>
          <p:cNvPr id="30" name="Text 24">
            <a:extLst>
              <a:ext uri="{FF2B5EF4-FFF2-40B4-BE49-F238E27FC236}">
                <a16:creationId xmlns:a16="http://schemas.microsoft.com/office/drawing/2014/main" id="{876FF476-3658-69D9-E2BA-D3068D3096C1}"/>
              </a:ext>
            </a:extLst>
          </p:cNvPr>
          <p:cNvSpPr/>
          <p:nvPr/>
        </p:nvSpPr>
        <p:spPr>
          <a:xfrm>
            <a:off x="6355080" y="3200400"/>
            <a:ext cx="365760" cy="365760"/>
          </a:xfrm>
          <a:prstGeom prst="rect">
            <a:avLst/>
          </a:prstGeom>
          <a:noFill/>
          <a:ln/>
        </p:spPr>
        <p:txBody>
          <a:bodyPr wrap="square"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6</a:t>
            </a:r>
            <a:endParaRPr lang="en-US" sz="1400" dirty="0"/>
          </a:p>
        </p:txBody>
      </p:sp>
      <p:sp>
        <p:nvSpPr>
          <p:cNvPr id="31" name="Text 25">
            <a:extLst>
              <a:ext uri="{FF2B5EF4-FFF2-40B4-BE49-F238E27FC236}">
                <a16:creationId xmlns:a16="http://schemas.microsoft.com/office/drawing/2014/main" id="{C4A52349-5365-773C-84D1-B33BAE254619}"/>
              </a:ext>
            </a:extLst>
          </p:cNvPr>
          <p:cNvSpPr/>
          <p:nvPr/>
        </p:nvSpPr>
        <p:spPr>
          <a:xfrm>
            <a:off x="6812280" y="3200400"/>
            <a:ext cx="1828800" cy="1097280"/>
          </a:xfrm>
          <a:prstGeom prst="rect">
            <a:avLst/>
          </a:prstGeom>
          <a:noFill/>
          <a:ln/>
        </p:spPr>
        <p:txBody>
          <a:bodyPr wrap="square" rtlCol="0" anchor="t"/>
          <a:lstStyle/>
          <a:p>
            <a:pPr marL="0" indent="0">
              <a:buNone/>
            </a:pPr>
            <a:r>
              <a:rPr lang="en-US" sz="1200" dirty="0">
                <a:solidFill>
                  <a:srgbClr val="1A1A2E"/>
                </a:solidFill>
                <a:latin typeface="Calibri" pitchFamily="34" charset="0"/>
                <a:ea typeface="Calibri" pitchFamily="34" charset="-122"/>
                <a:cs typeface="Calibri" pitchFamily="34" charset="-120"/>
              </a:rPr>
              <a:t>Contamination</a:t>
            </a:r>
            <a:endParaRPr lang="en-US" sz="1200" dirty="0"/>
          </a:p>
          <a:p>
            <a:pPr marL="0" indent="0">
              <a:buNone/>
            </a:pPr>
            <a:r>
              <a:rPr lang="en-US" sz="1200" dirty="0">
                <a:solidFill>
                  <a:srgbClr val="1A1A2E"/>
                </a:solidFill>
                <a:latin typeface="Calibri" pitchFamily="34" charset="0"/>
                <a:ea typeface="Calibri" pitchFamily="34" charset="-122"/>
                <a:cs typeface="Calibri" pitchFamily="34" charset="-120"/>
              </a:rPr>
              <a:t>environnement → homme</a:t>
            </a:r>
            <a:endParaRPr lang="en-US" sz="1200" dirty="0"/>
          </a:p>
        </p:txBody>
      </p:sp>
      <p:sp>
        <p:nvSpPr>
          <p:cNvPr id="32" name="Text 26">
            <a:extLst>
              <a:ext uri="{FF2B5EF4-FFF2-40B4-BE49-F238E27FC236}">
                <a16:creationId xmlns:a16="http://schemas.microsoft.com/office/drawing/2014/main" id="{2A11A9DD-422E-C1D6-078E-128544E192AF}"/>
              </a:ext>
            </a:extLst>
          </p:cNvPr>
          <p:cNvSpPr/>
          <p:nvPr/>
        </p:nvSpPr>
        <p:spPr>
          <a:xfrm>
            <a:off x="7772400" y="2651760"/>
            <a:ext cx="365760" cy="457200"/>
          </a:xfrm>
          <a:prstGeom prst="rect">
            <a:avLst/>
          </a:prstGeom>
          <a:noFill/>
          <a:ln/>
        </p:spPr>
        <p:txBody>
          <a:bodyPr wrap="square" rtlCol="0" anchor="ctr"/>
          <a:lstStyle/>
          <a:p>
            <a:pPr marL="0" indent="0" algn="ctr">
              <a:buNone/>
            </a:pPr>
            <a:r>
              <a:rPr lang="en-US" sz="2000" dirty="0">
                <a:solidFill>
                  <a:srgbClr val="17A2A2"/>
                </a:solidFill>
              </a:rPr>
              <a:t>↓</a:t>
            </a:r>
            <a:endParaRPr lang="en-US" sz="2000" dirty="0"/>
          </a:p>
        </p:txBody>
      </p:sp>
      <p:pic>
        <p:nvPicPr>
          <p:cNvPr id="34" name="Image 4" descr="preencoded.png">
            <a:extLst>
              <a:ext uri="{FF2B5EF4-FFF2-40B4-BE49-F238E27FC236}">
                <a16:creationId xmlns:a16="http://schemas.microsoft.com/office/drawing/2014/main" id="{124A9C9B-8932-DE9C-86D5-786713C9D5F5}"/>
              </a:ext>
            </a:extLst>
          </p:cNvPr>
          <p:cNvPicPr>
            <a:picLocks noChangeAspect="1"/>
          </p:cNvPicPr>
          <p:nvPr/>
        </p:nvPicPr>
        <p:blipFill>
          <a:blip r:embed="rId4"/>
          <a:stretch>
            <a:fillRect/>
          </a:stretch>
        </p:blipFill>
        <p:spPr>
          <a:xfrm>
            <a:off x="685800" y="4590288"/>
            <a:ext cx="320040" cy="320040"/>
          </a:xfrm>
          <a:prstGeom prst="rect">
            <a:avLst/>
          </a:prstGeom>
        </p:spPr>
      </p:pic>
      <p:sp useBgFill="1">
        <p:nvSpPr>
          <p:cNvPr id="36" name="Rectangle 35">
            <a:extLst>
              <a:ext uri="{FF2B5EF4-FFF2-40B4-BE49-F238E27FC236}">
                <a16:creationId xmlns:a16="http://schemas.microsoft.com/office/drawing/2014/main" id="{9F35B79F-5BD6-5F26-27E8-6A6EC60FB31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0"/>
            <a:ext cx="9141714" cy="51435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 name="Text 0">
            <a:extLst>
              <a:ext uri="{FF2B5EF4-FFF2-40B4-BE49-F238E27FC236}">
                <a16:creationId xmlns:a16="http://schemas.microsoft.com/office/drawing/2014/main" id="{4862209E-B90F-DF6C-8001-A1BEC7589B32}"/>
              </a:ext>
            </a:extLst>
          </p:cNvPr>
          <p:cNvSpPr/>
          <p:nvPr/>
        </p:nvSpPr>
        <p:spPr>
          <a:xfrm>
            <a:off x="479160" y="502663"/>
            <a:ext cx="7335912" cy="799377"/>
          </a:xfrm>
          <a:prstGeom prst="rect">
            <a:avLst/>
          </a:prstGeom>
        </p:spPr>
        <p:txBody>
          <a:bodyPr vert="horz" lIns="91440" tIns="45720" rIns="91440" bIns="45720" rtlCol="0" anchor="ctr">
            <a:normAutofit/>
          </a:bodyPr>
          <a:lstStyle/>
          <a:p>
            <a:pPr>
              <a:lnSpc>
                <a:spcPct val="90000"/>
              </a:lnSpc>
              <a:spcBef>
                <a:spcPct val="0"/>
              </a:spcBef>
              <a:spcAft>
                <a:spcPts val="600"/>
              </a:spcAft>
            </a:pPr>
            <a:r>
              <a:rPr lang="en-US" sz="2800" b="1" dirty="0">
                <a:solidFill>
                  <a:srgbClr val="0D4F4F"/>
                </a:solidFill>
                <a:latin typeface="Georgia" pitchFamily="34" charset="0"/>
              </a:rPr>
              <a:t>Mini HPL : Back-substitution </a:t>
            </a:r>
            <a:r>
              <a:rPr lang="en-US" sz="2800" b="1" dirty="0" err="1">
                <a:solidFill>
                  <a:srgbClr val="0D4F4F"/>
                </a:solidFill>
                <a:latin typeface="Georgia" pitchFamily="34" charset="0"/>
              </a:rPr>
              <a:t>parallèle</a:t>
            </a:r>
            <a:endParaRPr lang="en-US" sz="2800" b="1" dirty="0">
              <a:solidFill>
                <a:srgbClr val="0D4F4F"/>
              </a:solidFill>
              <a:latin typeface="Georgia" pitchFamily="34" charset="0"/>
            </a:endParaRPr>
          </a:p>
        </p:txBody>
      </p:sp>
      <p:sp>
        <p:nvSpPr>
          <p:cNvPr id="39" name="sketch line">
            <a:extLst>
              <a:ext uri="{FF2B5EF4-FFF2-40B4-BE49-F238E27FC236}">
                <a16:creationId xmlns:a16="http://schemas.microsoft.com/office/drawing/2014/main" id="{0164F1E5-CC46-8CC7-938B-346D71C4107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2542032" y="1350066"/>
            <a:ext cx="4057650" cy="13716"/>
          </a:xfrm>
          <a:custGeom>
            <a:avLst/>
            <a:gdLst>
              <a:gd name="csX0" fmla="*/ 0 w 4057650"/>
              <a:gd name="csY0" fmla="*/ 0 h 13716"/>
              <a:gd name="csX1" fmla="*/ 757428 w 4057650"/>
              <a:gd name="csY1" fmla="*/ 0 h 13716"/>
              <a:gd name="csX2" fmla="*/ 1474279 w 4057650"/>
              <a:gd name="csY2" fmla="*/ 0 h 13716"/>
              <a:gd name="csX3" fmla="*/ 2191131 w 4057650"/>
              <a:gd name="csY3" fmla="*/ 0 h 13716"/>
              <a:gd name="csX4" fmla="*/ 2745676 w 4057650"/>
              <a:gd name="csY4" fmla="*/ 0 h 13716"/>
              <a:gd name="csX5" fmla="*/ 3340798 w 4057650"/>
              <a:gd name="csY5" fmla="*/ 0 h 13716"/>
              <a:gd name="csX6" fmla="*/ 4057650 w 4057650"/>
              <a:gd name="csY6" fmla="*/ 0 h 13716"/>
              <a:gd name="csX7" fmla="*/ 4057650 w 4057650"/>
              <a:gd name="csY7" fmla="*/ 13716 h 13716"/>
              <a:gd name="csX8" fmla="*/ 3381375 w 4057650"/>
              <a:gd name="csY8" fmla="*/ 13716 h 13716"/>
              <a:gd name="csX9" fmla="*/ 2826830 w 4057650"/>
              <a:gd name="csY9" fmla="*/ 13716 h 13716"/>
              <a:gd name="csX10" fmla="*/ 2272284 w 4057650"/>
              <a:gd name="csY10" fmla="*/ 13716 h 13716"/>
              <a:gd name="csX11" fmla="*/ 1555432 w 4057650"/>
              <a:gd name="csY11" fmla="*/ 13716 h 13716"/>
              <a:gd name="csX12" fmla="*/ 960310 w 4057650"/>
              <a:gd name="csY12" fmla="*/ 13716 h 13716"/>
              <a:gd name="csX13" fmla="*/ 0 w 4057650"/>
              <a:gd name="csY13" fmla="*/ 13716 h 13716"/>
              <a:gd name="csX14" fmla="*/ 0 w 4057650"/>
              <a:gd name="csY14" fmla="*/ 0 h 1371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Lst>
            <a:rect l="l" t="t" r="r" b="b"/>
            <a:pathLst>
              <a:path w="4057650" h="13716" fill="none" extrusionOk="0">
                <a:moveTo>
                  <a:pt x="0" y="0"/>
                </a:moveTo>
                <a:cubicBezTo>
                  <a:pt x="371182" y="3227"/>
                  <a:pt x="494372" y="9222"/>
                  <a:pt x="757428" y="0"/>
                </a:cubicBezTo>
                <a:cubicBezTo>
                  <a:pt x="1020484" y="-9222"/>
                  <a:pt x="1116719" y="-4357"/>
                  <a:pt x="1474279" y="0"/>
                </a:cubicBezTo>
                <a:cubicBezTo>
                  <a:pt x="1831839" y="4357"/>
                  <a:pt x="1920973" y="-11809"/>
                  <a:pt x="2191131" y="0"/>
                </a:cubicBezTo>
                <a:cubicBezTo>
                  <a:pt x="2461289" y="11809"/>
                  <a:pt x="2589480" y="-22604"/>
                  <a:pt x="2745676" y="0"/>
                </a:cubicBezTo>
                <a:cubicBezTo>
                  <a:pt x="2901872" y="22604"/>
                  <a:pt x="3136452" y="-12306"/>
                  <a:pt x="3340798" y="0"/>
                </a:cubicBezTo>
                <a:cubicBezTo>
                  <a:pt x="3545144" y="12306"/>
                  <a:pt x="3766934" y="-21556"/>
                  <a:pt x="4057650" y="0"/>
                </a:cubicBezTo>
                <a:cubicBezTo>
                  <a:pt x="4057378" y="4708"/>
                  <a:pt x="4057987" y="7132"/>
                  <a:pt x="4057650" y="13716"/>
                </a:cubicBezTo>
                <a:cubicBezTo>
                  <a:pt x="3743404" y="35553"/>
                  <a:pt x="3625516" y="-19495"/>
                  <a:pt x="3381375" y="13716"/>
                </a:cubicBezTo>
                <a:cubicBezTo>
                  <a:pt x="3137235" y="46927"/>
                  <a:pt x="2946571" y="-4571"/>
                  <a:pt x="2826830" y="13716"/>
                </a:cubicBezTo>
                <a:cubicBezTo>
                  <a:pt x="2707090" y="32003"/>
                  <a:pt x="2402756" y="-3140"/>
                  <a:pt x="2272284" y="13716"/>
                </a:cubicBezTo>
                <a:cubicBezTo>
                  <a:pt x="2141812" y="30572"/>
                  <a:pt x="1895935" y="13627"/>
                  <a:pt x="1555432" y="13716"/>
                </a:cubicBezTo>
                <a:cubicBezTo>
                  <a:pt x="1214929" y="13805"/>
                  <a:pt x="1103072" y="9931"/>
                  <a:pt x="960310" y="13716"/>
                </a:cubicBezTo>
                <a:cubicBezTo>
                  <a:pt x="817548" y="17501"/>
                  <a:pt x="402272" y="-33931"/>
                  <a:pt x="0" y="13716"/>
                </a:cubicBezTo>
                <a:cubicBezTo>
                  <a:pt x="-460" y="10837"/>
                  <a:pt x="38" y="6680"/>
                  <a:pt x="0" y="0"/>
                </a:cubicBezTo>
                <a:close/>
              </a:path>
              <a:path w="4057650" h="13716" stroke="0" extrusionOk="0">
                <a:moveTo>
                  <a:pt x="0" y="0"/>
                </a:moveTo>
                <a:cubicBezTo>
                  <a:pt x="248348" y="13145"/>
                  <a:pt x="486117" y="25042"/>
                  <a:pt x="635698" y="0"/>
                </a:cubicBezTo>
                <a:cubicBezTo>
                  <a:pt x="785279" y="-25042"/>
                  <a:pt x="917762" y="-5537"/>
                  <a:pt x="1190244" y="0"/>
                </a:cubicBezTo>
                <a:cubicBezTo>
                  <a:pt x="1462726" y="5537"/>
                  <a:pt x="1667120" y="-21232"/>
                  <a:pt x="1947672" y="0"/>
                </a:cubicBezTo>
                <a:cubicBezTo>
                  <a:pt x="2228224" y="21232"/>
                  <a:pt x="2280631" y="-21698"/>
                  <a:pt x="2583370" y="0"/>
                </a:cubicBezTo>
                <a:cubicBezTo>
                  <a:pt x="2886109" y="21698"/>
                  <a:pt x="3022941" y="19647"/>
                  <a:pt x="3219069" y="0"/>
                </a:cubicBezTo>
                <a:cubicBezTo>
                  <a:pt x="3415197" y="-19647"/>
                  <a:pt x="3747500" y="26991"/>
                  <a:pt x="4057650" y="0"/>
                </a:cubicBezTo>
                <a:cubicBezTo>
                  <a:pt x="4056980" y="3019"/>
                  <a:pt x="4057134" y="10425"/>
                  <a:pt x="4057650" y="13716"/>
                </a:cubicBezTo>
                <a:cubicBezTo>
                  <a:pt x="3865148" y="-7885"/>
                  <a:pt x="3702543" y="44896"/>
                  <a:pt x="3381375" y="13716"/>
                </a:cubicBezTo>
                <a:cubicBezTo>
                  <a:pt x="3060208" y="-17464"/>
                  <a:pt x="2956571" y="-13250"/>
                  <a:pt x="2826830" y="13716"/>
                </a:cubicBezTo>
                <a:cubicBezTo>
                  <a:pt x="2697089" y="40682"/>
                  <a:pt x="2411031" y="38582"/>
                  <a:pt x="2150555" y="13716"/>
                </a:cubicBezTo>
                <a:cubicBezTo>
                  <a:pt x="1890080" y="-11150"/>
                  <a:pt x="1741827" y="-5187"/>
                  <a:pt x="1474280" y="13716"/>
                </a:cubicBezTo>
                <a:cubicBezTo>
                  <a:pt x="1206734" y="32619"/>
                  <a:pt x="998203" y="28763"/>
                  <a:pt x="838581" y="13716"/>
                </a:cubicBezTo>
                <a:cubicBezTo>
                  <a:pt x="678959" y="-1331"/>
                  <a:pt x="187101" y="-17784"/>
                  <a:pt x="0" y="13716"/>
                </a:cubicBezTo>
                <a:cubicBezTo>
                  <a:pt x="-114" y="7033"/>
                  <a:pt x="103" y="3429"/>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Shape 2">
            <a:extLst>
              <a:ext uri="{FF2B5EF4-FFF2-40B4-BE49-F238E27FC236}">
                <a16:creationId xmlns:a16="http://schemas.microsoft.com/office/drawing/2014/main" id="{1E53FDDF-9E7D-D9F5-2A5D-BD1A5B571B20}"/>
              </a:ext>
            </a:extLst>
          </p:cNvPr>
          <p:cNvSpPr/>
          <p:nvPr/>
        </p:nvSpPr>
        <p:spPr>
          <a:xfrm>
            <a:off x="342900" y="1508760"/>
            <a:ext cx="3732276" cy="3599104"/>
          </a:xfrm>
          <a:prstGeom prst="rect">
            <a:avLst/>
          </a:prstGeom>
          <a:solidFill>
            <a:srgbClr val="FFFFFF"/>
          </a:solidFill>
          <a:ln/>
          <a:effectLst>
            <a:outerShdw blurRad="50800" dist="25400" dir="8100000" algn="bl" rotWithShape="0">
              <a:srgbClr val="000000">
                <a:alpha val="8000"/>
              </a:srgbClr>
            </a:outerShdw>
          </a:effectLst>
        </p:spPr>
        <p:txBody>
          <a:bodyPr/>
          <a:lstStyle/>
          <a:p>
            <a:r>
              <a:rPr lang="fr-FR" sz="1000" b="1" i="1" dirty="0"/>
              <a:t>double *</a:t>
            </a:r>
            <a:r>
              <a:rPr lang="fr-FR" sz="1000" b="1" i="1" dirty="0" err="1"/>
              <a:t>x_global</a:t>
            </a:r>
            <a:r>
              <a:rPr lang="fr-FR" sz="1000" b="1" i="1" dirty="0"/>
              <a:t> = </a:t>
            </a:r>
            <a:r>
              <a:rPr lang="fr-FR" sz="1000" b="1" i="1" dirty="0" err="1"/>
              <a:t>calloc</a:t>
            </a:r>
            <a:r>
              <a:rPr lang="fr-FR" sz="1000" b="1" i="1" dirty="0"/>
              <a:t>(N, </a:t>
            </a:r>
            <a:r>
              <a:rPr lang="fr-FR" sz="1000" b="1" i="1" dirty="0" err="1"/>
              <a:t>sizeof</a:t>
            </a:r>
            <a:r>
              <a:rPr lang="fr-FR" sz="1000" b="1" i="1" dirty="0"/>
              <a:t>(double));</a:t>
            </a:r>
          </a:p>
          <a:p>
            <a:endParaRPr lang="fr-FR" sz="1000" b="1" i="1" dirty="0"/>
          </a:p>
          <a:p>
            <a:r>
              <a:rPr lang="fr-FR" sz="1000" b="1" i="1" dirty="0"/>
              <a:t>/* De k = N-1 jusqu'à 0 */</a:t>
            </a:r>
          </a:p>
          <a:p>
            <a:r>
              <a:rPr lang="fr-FR" sz="1000" b="1" i="1" dirty="0"/>
              <a:t>for (</a:t>
            </a:r>
            <a:r>
              <a:rPr lang="fr-FR" sz="1000" b="1" i="1" dirty="0" err="1"/>
              <a:t>int</a:t>
            </a:r>
            <a:r>
              <a:rPr lang="fr-FR" sz="1000" b="1" i="1" dirty="0"/>
              <a:t> k = N - 1; k &gt;= 0; k--) {</a:t>
            </a:r>
          </a:p>
          <a:p>
            <a:r>
              <a:rPr lang="fr-FR" sz="1000" b="1" i="1" dirty="0"/>
              <a:t>    </a:t>
            </a:r>
            <a:r>
              <a:rPr lang="fr-FR" sz="1000" b="1" i="1" dirty="0" err="1"/>
              <a:t>int</a:t>
            </a:r>
            <a:r>
              <a:rPr lang="fr-FR" sz="1000" b="1" i="1" dirty="0"/>
              <a:t> </a:t>
            </a:r>
            <a:r>
              <a:rPr lang="fr-FR" sz="1000" b="1" i="1" dirty="0" err="1"/>
              <a:t>k_owner</a:t>
            </a:r>
            <a:r>
              <a:rPr lang="fr-FR" sz="1000" b="1" i="1" dirty="0"/>
              <a:t> = OWNER(k);</a:t>
            </a:r>
          </a:p>
          <a:p>
            <a:r>
              <a:rPr lang="fr-FR" sz="1000" b="1" i="1" dirty="0"/>
              <a:t>    </a:t>
            </a:r>
            <a:r>
              <a:rPr lang="fr-FR" sz="1000" b="1" i="1" dirty="0" err="1"/>
              <a:t>int</a:t>
            </a:r>
            <a:r>
              <a:rPr lang="fr-FR" sz="1000" b="1" i="1" dirty="0"/>
              <a:t> </a:t>
            </a:r>
            <a:r>
              <a:rPr lang="fr-FR" sz="1000" b="1" i="1" dirty="0" err="1"/>
              <a:t>k_li</a:t>
            </a:r>
            <a:r>
              <a:rPr lang="fr-FR" sz="1000" b="1" i="1" dirty="0"/>
              <a:t>    = LOCAL_LI(k);</a:t>
            </a:r>
          </a:p>
          <a:p>
            <a:r>
              <a:rPr lang="fr-FR" sz="1000" b="1" i="1" dirty="0"/>
              <a:t>    double </a:t>
            </a:r>
            <a:r>
              <a:rPr lang="fr-FR" sz="1000" b="1" i="1" dirty="0" err="1"/>
              <a:t>x_k</a:t>
            </a:r>
            <a:r>
              <a:rPr lang="fr-FR" sz="1000" b="1" i="1" dirty="0"/>
              <a:t>  = 0.0;</a:t>
            </a:r>
          </a:p>
          <a:p>
            <a:r>
              <a:rPr lang="fr-FR" sz="1000" b="1" i="1" dirty="0"/>
              <a:t>    if (</a:t>
            </a:r>
            <a:r>
              <a:rPr lang="fr-FR" sz="1000" b="1" i="1" dirty="0" err="1"/>
              <a:t>rank</a:t>
            </a:r>
            <a:r>
              <a:rPr lang="fr-FR" sz="1000" b="1" i="1" dirty="0"/>
              <a:t> == </a:t>
            </a:r>
            <a:r>
              <a:rPr lang="fr-FR" sz="1000" b="1" i="1" dirty="0" err="1"/>
              <a:t>k_owner</a:t>
            </a:r>
            <a:r>
              <a:rPr lang="fr-FR" sz="1000" b="1" i="1" dirty="0"/>
              <a:t>) {</a:t>
            </a:r>
          </a:p>
          <a:p>
            <a:r>
              <a:rPr lang="fr-FR" sz="1000" b="1" i="1" dirty="0"/>
              <a:t>        double s = </a:t>
            </a:r>
            <a:r>
              <a:rPr lang="fr-FR" sz="1000" b="1" i="1" dirty="0" err="1"/>
              <a:t>b_vec</a:t>
            </a:r>
            <a:r>
              <a:rPr lang="fr-FR" sz="1000" b="1" i="1" dirty="0"/>
              <a:t>[</a:t>
            </a:r>
            <a:r>
              <a:rPr lang="fr-FR" sz="1000" b="1" i="1" dirty="0" err="1"/>
              <a:t>k_li</a:t>
            </a:r>
            <a:r>
              <a:rPr lang="fr-FR" sz="1000" b="1" i="1" dirty="0"/>
              <a:t>];</a:t>
            </a:r>
          </a:p>
          <a:p>
            <a:r>
              <a:rPr lang="fr-FR" sz="1000" b="1" i="1" dirty="0"/>
              <a:t>        for (</a:t>
            </a:r>
            <a:r>
              <a:rPr lang="fr-FR" sz="1000" b="1" i="1" dirty="0" err="1"/>
              <a:t>int</a:t>
            </a:r>
            <a:r>
              <a:rPr lang="fr-FR" sz="1000" b="1" i="1" dirty="0"/>
              <a:t> j = k + 1; j &lt; N; j++) {</a:t>
            </a:r>
          </a:p>
          <a:p>
            <a:r>
              <a:rPr lang="fr-FR" sz="1000" b="1" i="1" dirty="0"/>
              <a:t>            s -= A[IDX(</a:t>
            </a:r>
            <a:r>
              <a:rPr lang="fr-FR" sz="1000" b="1" i="1" dirty="0" err="1"/>
              <a:t>k_li</a:t>
            </a:r>
            <a:r>
              <a:rPr lang="fr-FR" sz="1000" b="1" i="1" dirty="0"/>
              <a:t>, j, N)] * </a:t>
            </a:r>
            <a:r>
              <a:rPr lang="fr-FR" sz="1000" b="1" i="1" dirty="0" err="1"/>
              <a:t>x_global</a:t>
            </a:r>
            <a:r>
              <a:rPr lang="fr-FR" sz="1000" b="1" i="1" dirty="0"/>
              <a:t>[j];</a:t>
            </a:r>
          </a:p>
          <a:p>
            <a:r>
              <a:rPr lang="fr-FR" sz="1000" b="1" i="1" dirty="0"/>
              <a:t>        }</a:t>
            </a:r>
          </a:p>
          <a:p>
            <a:r>
              <a:rPr lang="fr-FR" sz="1000" b="1" i="1" dirty="0"/>
              <a:t>        </a:t>
            </a:r>
            <a:r>
              <a:rPr lang="fr-FR" sz="1000" b="1" i="1" dirty="0" err="1"/>
              <a:t>x_k</a:t>
            </a:r>
            <a:r>
              <a:rPr lang="fr-FR" sz="1000" b="1" i="1" dirty="0"/>
              <a:t> = s / A[IDX(</a:t>
            </a:r>
            <a:r>
              <a:rPr lang="fr-FR" sz="1000" b="1" i="1" dirty="0" err="1"/>
              <a:t>k_li</a:t>
            </a:r>
            <a:r>
              <a:rPr lang="fr-FR" sz="1000" b="1" i="1" dirty="0"/>
              <a:t>, k, N)];</a:t>
            </a:r>
          </a:p>
          <a:p>
            <a:r>
              <a:rPr lang="fr-FR" sz="1000" b="1" i="1" dirty="0"/>
              <a:t>    }</a:t>
            </a:r>
          </a:p>
          <a:p>
            <a:r>
              <a:rPr lang="fr-FR" sz="1000" b="1" i="1" dirty="0"/>
              <a:t>    /* Diffuser </a:t>
            </a:r>
            <a:r>
              <a:rPr lang="fr-FR" sz="1000" b="1" i="1" dirty="0" err="1"/>
              <a:t>x_k</a:t>
            </a:r>
            <a:r>
              <a:rPr lang="fr-FR" sz="1000" b="1" i="1" dirty="0"/>
              <a:t> à tous */</a:t>
            </a:r>
          </a:p>
          <a:p>
            <a:r>
              <a:rPr lang="fr-FR" sz="1000" b="1" i="1" dirty="0"/>
              <a:t>    </a:t>
            </a:r>
            <a:r>
              <a:rPr lang="fr-FR" sz="1000" b="1" i="1" dirty="0" err="1"/>
              <a:t>MPI_Bcast</a:t>
            </a:r>
            <a:r>
              <a:rPr lang="fr-FR" sz="1000" b="1" i="1" dirty="0"/>
              <a:t>(&amp;</a:t>
            </a:r>
            <a:r>
              <a:rPr lang="fr-FR" sz="1000" b="1" i="1" dirty="0" err="1"/>
              <a:t>x_k</a:t>
            </a:r>
            <a:r>
              <a:rPr lang="fr-FR" sz="1000" b="1" i="1" dirty="0"/>
              <a:t>,</a:t>
            </a:r>
          </a:p>
          <a:p>
            <a:r>
              <a:rPr lang="fr-FR" sz="1000" b="1" i="1" dirty="0"/>
              <a:t>              1,</a:t>
            </a:r>
          </a:p>
          <a:p>
            <a:r>
              <a:rPr lang="fr-FR" sz="1000" b="1" i="1" dirty="0"/>
              <a:t>              MPI_DOUBLE,</a:t>
            </a:r>
          </a:p>
          <a:p>
            <a:r>
              <a:rPr lang="fr-FR" sz="1000" b="1" i="1" dirty="0"/>
              <a:t>              </a:t>
            </a:r>
            <a:r>
              <a:rPr lang="fr-FR" sz="1000" b="1" i="1" dirty="0" err="1"/>
              <a:t>k_owner</a:t>
            </a:r>
            <a:r>
              <a:rPr lang="fr-FR" sz="1000" b="1" i="1" dirty="0"/>
              <a:t>,</a:t>
            </a:r>
          </a:p>
          <a:p>
            <a:r>
              <a:rPr lang="fr-FR" sz="1000" b="1" i="1" dirty="0"/>
              <a:t>              MPI_COMM_WORLD);</a:t>
            </a:r>
          </a:p>
          <a:p>
            <a:endParaRPr lang="fr-FR" sz="1000" b="1" i="1" dirty="0"/>
          </a:p>
          <a:p>
            <a:r>
              <a:rPr lang="fr-FR" sz="1000" b="1" i="1" dirty="0"/>
              <a:t>    </a:t>
            </a:r>
            <a:r>
              <a:rPr lang="fr-FR" sz="1000" b="1" i="1" dirty="0" err="1"/>
              <a:t>x_global</a:t>
            </a:r>
            <a:r>
              <a:rPr lang="fr-FR" sz="1000" b="1" i="1" dirty="0"/>
              <a:t>[k] = </a:t>
            </a:r>
            <a:r>
              <a:rPr lang="fr-FR" sz="1000" b="1" i="1" dirty="0" err="1"/>
              <a:t>x_k</a:t>
            </a:r>
            <a:r>
              <a:rPr lang="fr-FR" sz="1000" b="1" i="1" dirty="0"/>
              <a:t>;</a:t>
            </a:r>
          </a:p>
          <a:p>
            <a:r>
              <a:rPr lang="fr-FR" sz="1000" b="1" i="1" dirty="0"/>
              <a:t>}</a:t>
            </a:r>
          </a:p>
        </p:txBody>
      </p:sp>
      <p:pic>
        <p:nvPicPr>
          <p:cNvPr id="40" name="Image 0" descr="preencoded.png">
            <a:extLst>
              <a:ext uri="{FF2B5EF4-FFF2-40B4-BE49-F238E27FC236}">
                <a16:creationId xmlns:a16="http://schemas.microsoft.com/office/drawing/2014/main" id="{F990C2A9-F64D-DE9C-6A44-B67C822F3021}"/>
              </a:ext>
            </a:extLst>
          </p:cNvPr>
          <p:cNvPicPr>
            <a:picLocks noChangeAspect="1"/>
          </p:cNvPicPr>
          <p:nvPr/>
        </p:nvPicPr>
        <p:blipFill>
          <a:blip r:embed="rId3"/>
          <a:stretch>
            <a:fillRect/>
          </a:stretch>
        </p:blipFill>
        <p:spPr>
          <a:xfrm>
            <a:off x="4144517" y="3085610"/>
            <a:ext cx="274320" cy="274320"/>
          </a:xfrm>
          <a:prstGeom prst="rect">
            <a:avLst/>
          </a:prstGeom>
        </p:spPr>
      </p:pic>
      <p:sp>
        <p:nvSpPr>
          <p:cNvPr id="9" name="Rectangle 8">
            <a:extLst>
              <a:ext uri="{FF2B5EF4-FFF2-40B4-BE49-F238E27FC236}">
                <a16:creationId xmlns:a16="http://schemas.microsoft.com/office/drawing/2014/main" id="{B32635F2-8B64-3E15-23D2-E601BFDF79E0}"/>
              </a:ext>
            </a:extLst>
          </p:cNvPr>
          <p:cNvSpPr/>
          <p:nvPr/>
        </p:nvSpPr>
        <p:spPr>
          <a:xfrm>
            <a:off x="4465320" y="1772956"/>
            <a:ext cx="4572000" cy="2524724"/>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a:p>
        </p:txBody>
      </p:sp>
      <p:sp>
        <p:nvSpPr>
          <p:cNvPr id="14" name="TextBox 15">
            <a:extLst>
              <a:ext uri="{FF2B5EF4-FFF2-40B4-BE49-F238E27FC236}">
                <a16:creationId xmlns:a16="http://schemas.microsoft.com/office/drawing/2014/main" id="{6425D164-9B88-C9CC-871E-2040379055E8}"/>
              </a:ext>
            </a:extLst>
          </p:cNvPr>
          <p:cNvSpPr txBox="1"/>
          <p:nvPr/>
        </p:nvSpPr>
        <p:spPr>
          <a:xfrm>
            <a:off x="4556760" y="1840230"/>
            <a:ext cx="4389120" cy="292388"/>
          </a:xfrm>
          <a:prstGeom prst="rect">
            <a:avLst/>
          </a:prstGeom>
          <a:noFill/>
        </p:spPr>
        <p:txBody>
          <a:bodyPr wrap="square">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l"/>
            <a:r>
              <a:rPr lang="fr-FR" sz="1300" b="1" i="0" dirty="0">
                <a:solidFill>
                  <a:srgbClr val="D4A843"/>
                </a:solidFill>
                <a:latin typeface="Calibri"/>
              </a:rPr>
              <a:t>Détails</a:t>
            </a:r>
            <a:endParaRPr sz="1300" b="1" i="0" dirty="0">
              <a:solidFill>
                <a:srgbClr val="D4A843"/>
              </a:solidFill>
              <a:latin typeface="Calibri"/>
            </a:endParaRPr>
          </a:p>
        </p:txBody>
      </p:sp>
      <mc:AlternateContent xmlns:mc="http://schemas.openxmlformats.org/markup-compatibility/2006" xmlns:a14="http://schemas.microsoft.com/office/drawing/2010/main">
        <mc:Choice Requires="a14">
          <p:sp>
            <p:nvSpPr>
              <p:cNvPr id="18" name="TextBox 16">
                <a:extLst>
                  <a:ext uri="{FF2B5EF4-FFF2-40B4-BE49-F238E27FC236}">
                    <a16:creationId xmlns:a16="http://schemas.microsoft.com/office/drawing/2014/main" id="{C4065130-6A7E-FF0F-66A2-A9A517EC411D}"/>
                  </a:ext>
                </a:extLst>
              </p:cNvPr>
              <p:cNvSpPr txBox="1"/>
              <p:nvPr/>
            </p:nvSpPr>
            <p:spPr>
              <a:xfrm>
                <a:off x="4556760" y="2205990"/>
                <a:ext cx="4389120" cy="2041585"/>
              </a:xfrm>
              <a:prstGeom prst="rect">
                <a:avLst/>
              </a:prstGeom>
              <a:noFill/>
            </p:spPr>
            <p:txBody>
              <a:bodyPr wrap="square">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spcAft>
                    <a:spcPts val="200"/>
                  </a:spcAft>
                </a:pPr>
                <a:r>
                  <a:rPr lang="fr-FR" sz="1000" b="1" dirty="0">
                    <a:solidFill>
                      <a:srgbClr val="0D4F4F"/>
                    </a:solidFill>
                  </a:rPr>
                  <a:t>On initialise le vecteur solution global.</a:t>
                </a:r>
                <a:r>
                  <a:rPr sz="1000" b="1" dirty="0">
                    <a:solidFill>
                      <a:srgbClr val="0D4F4F"/>
                    </a:solidFill>
                  </a:rPr>
                  <a:t> </a:t>
                </a:r>
                <a:endParaRPr lang="fr-FR" sz="1000" b="1" dirty="0">
                  <a:solidFill>
                    <a:srgbClr val="0D4F4F"/>
                  </a:solidFill>
                </a:endParaRPr>
              </a:p>
              <a:p>
                <a:pPr>
                  <a:spcAft>
                    <a:spcPts val="200"/>
                  </a:spcAft>
                </a:pPr>
                <a:r>
                  <a:rPr lang="fr-FR" sz="1000" dirty="0" err="1">
                    <a:solidFill>
                      <a:srgbClr val="4A4A5A"/>
                    </a:solidFill>
                    <a:latin typeface="Calibri"/>
                  </a:rPr>
                  <a:t>x_global</a:t>
                </a:r>
                <a:r>
                  <a:rPr lang="fr-FR" sz="1000" dirty="0">
                    <a:solidFill>
                      <a:srgbClr val="4A4A5A"/>
                    </a:solidFill>
                    <a:latin typeface="Calibri"/>
                  </a:rPr>
                  <a:t> stocke la solution finale </a:t>
                </a:r>
                <a14:m>
                  <m:oMath xmlns:m="http://schemas.openxmlformats.org/officeDocument/2006/math">
                    <m:r>
                      <a:rPr lang="fr-FR" sz="1000">
                        <a:solidFill>
                          <a:srgbClr val="4A4A5A"/>
                        </a:solidFill>
                        <a:latin typeface="Cambria Math" panose="02040503050406030204" pitchFamily="18" charset="0"/>
                      </a:rPr>
                      <m:t>𝑥</m:t>
                    </m:r>
                  </m:oMath>
                </a14:m>
                <a:r>
                  <a:rPr lang="fr-FR" sz="1000" dirty="0">
                    <a:solidFill>
                      <a:srgbClr val="4A4A5A"/>
                    </a:solidFill>
                    <a:latin typeface="Calibri"/>
                  </a:rPr>
                  <a:t>sur tous les processus.</a:t>
                </a:r>
              </a:p>
              <a:p>
                <a:pPr>
                  <a:spcAft>
                    <a:spcPts val="200"/>
                  </a:spcAft>
                </a:pPr>
                <a:endParaRPr sz="1000" dirty="0">
                  <a:solidFill>
                    <a:srgbClr val="4A4A5A"/>
                  </a:solidFill>
                  <a:latin typeface="Calibri"/>
                </a:endParaRPr>
              </a:p>
              <a:p>
                <a:pPr>
                  <a:spcAft>
                    <a:spcPts val="200"/>
                  </a:spcAft>
                </a:pPr>
                <a:endParaRPr sz="1000" b="0" dirty="0">
                  <a:solidFill>
                    <a:srgbClr val="4A4A5A"/>
                  </a:solidFill>
                  <a:latin typeface="Calibri"/>
                </a:endParaRPr>
              </a:p>
              <a:p>
                <a:pPr>
                  <a:spcAft>
                    <a:spcPts val="200"/>
                  </a:spcAft>
                </a:pPr>
                <a:r>
                  <a:rPr lang="fr-FR" sz="1000" b="1" dirty="0">
                    <a:solidFill>
                      <a:srgbClr val="E07A5F"/>
                    </a:solidFill>
                    <a:latin typeface="Calibri"/>
                  </a:rPr>
                  <a:t>On parcourt les inconnues de N-1 à 0. </a:t>
                </a:r>
              </a:p>
              <a:p>
                <a:pPr>
                  <a:spcAft>
                    <a:spcPts val="200"/>
                  </a:spcAft>
                </a:pPr>
                <a:r>
                  <a:rPr lang="fr-FR" sz="1000" dirty="0">
                    <a:solidFill>
                      <a:srgbClr val="4A4A5A"/>
                    </a:solidFill>
                    <a:latin typeface="Calibri"/>
                  </a:rPr>
                  <a:t>La back-substitution d’un système triangulaire supérieur </a:t>
                </a:r>
                <a14:m>
                  <m:oMath xmlns:m="http://schemas.openxmlformats.org/officeDocument/2006/math">
                    <m:r>
                      <a:rPr lang="fr-FR" sz="1000">
                        <a:solidFill>
                          <a:srgbClr val="4A4A5A"/>
                        </a:solidFill>
                        <a:latin typeface="Cambria Math" panose="02040503050406030204" pitchFamily="18" charset="0"/>
                      </a:rPr>
                      <m:t>𝑈𝑥</m:t>
                    </m:r>
                    <m:r>
                      <a:rPr lang="fr-FR" sz="1000">
                        <a:solidFill>
                          <a:srgbClr val="4A4A5A"/>
                        </a:solidFill>
                        <a:latin typeface="Cambria Math" panose="02040503050406030204" pitchFamily="18" charset="0"/>
                      </a:rPr>
                      <m:t>=</m:t>
                    </m:r>
                    <m:r>
                      <a:rPr lang="fr-FR" sz="1000">
                        <a:solidFill>
                          <a:srgbClr val="4A4A5A"/>
                        </a:solidFill>
                        <a:latin typeface="Cambria Math" panose="02040503050406030204" pitchFamily="18" charset="0"/>
                      </a:rPr>
                      <m:t>𝑏</m:t>
                    </m:r>
                  </m:oMath>
                </a14:m>
                <a:r>
                  <a:rPr lang="fr-FR" sz="1000" dirty="0">
                    <a:solidFill>
                      <a:srgbClr val="4A4A5A"/>
                    </a:solidFill>
                    <a:latin typeface="Calibri"/>
                  </a:rPr>
                  <a:t>.</a:t>
                </a:r>
              </a:p>
              <a:p>
                <a:pPr>
                  <a:spcAft>
                    <a:spcPts val="200"/>
                  </a:spcAft>
                </a:pPr>
                <a:endParaRPr lang="fr-FR" sz="1000" b="1" dirty="0">
                  <a:solidFill>
                    <a:srgbClr val="0D4F4F"/>
                  </a:solidFill>
                  <a:latin typeface="Calibri"/>
                </a:endParaRPr>
              </a:p>
              <a:p>
                <a:pPr>
                  <a:spcAft>
                    <a:spcPts val="200"/>
                  </a:spcAft>
                </a:pPr>
                <a:r>
                  <a:rPr lang="fr-FR" sz="1000" b="1" dirty="0">
                    <a:solidFill>
                      <a:srgbClr val="0D4F4F"/>
                    </a:solidFill>
                    <a:latin typeface="Calibri"/>
                  </a:rPr>
                  <a:t>Le propriétaire de la ligne </a:t>
                </a:r>
                <a14:m>
                  <m:oMath xmlns:m="http://schemas.openxmlformats.org/officeDocument/2006/math">
                    <m:r>
                      <a:rPr lang="fr-FR" sz="1000" b="1">
                        <a:solidFill>
                          <a:srgbClr val="0D4F4F"/>
                        </a:solidFill>
                        <a:latin typeface="Cambria Math" panose="02040503050406030204" pitchFamily="18" charset="0"/>
                      </a:rPr>
                      <m:t>𝑘</m:t>
                    </m:r>
                  </m:oMath>
                </a14:m>
                <a:r>
                  <a:rPr lang="fr-FR" sz="1000" b="1" dirty="0">
                    <a:solidFill>
                      <a:srgbClr val="0D4F4F"/>
                    </a:solidFill>
                    <a:latin typeface="Calibri"/>
                  </a:rPr>
                  <a:t>calcule </a:t>
                </a:r>
                <a14:m>
                  <m:oMath xmlns:m="http://schemas.openxmlformats.org/officeDocument/2006/math">
                    <m:sSub>
                      <m:sSubPr>
                        <m:ctrlPr>
                          <a:rPr lang="ar-TN" sz="1000" b="1" i="1">
                            <a:solidFill>
                              <a:srgbClr val="0D4F4F"/>
                            </a:solidFill>
                            <a:latin typeface="Cambria Math" panose="02040503050406030204" pitchFamily="18" charset="0"/>
                          </a:rPr>
                        </m:ctrlPr>
                      </m:sSubPr>
                      <m:e>
                        <m:r>
                          <a:rPr lang="ar-TN" sz="1000" b="1">
                            <a:solidFill>
                              <a:srgbClr val="0D4F4F"/>
                            </a:solidFill>
                            <a:latin typeface="Cambria Math" panose="02040503050406030204" pitchFamily="18" charset="0"/>
                          </a:rPr>
                          <m:t>𝑥</m:t>
                        </m:r>
                      </m:e>
                      <m:sub>
                        <m:r>
                          <a:rPr lang="ar-TN" sz="1000" b="1">
                            <a:solidFill>
                              <a:srgbClr val="0D4F4F"/>
                            </a:solidFill>
                            <a:latin typeface="Cambria Math" panose="02040503050406030204" pitchFamily="18" charset="0"/>
                          </a:rPr>
                          <m:t>𝑘</m:t>
                        </m:r>
                      </m:sub>
                    </m:sSub>
                  </m:oMath>
                </a14:m>
                <a:r>
                  <a:rPr lang="ar-TN" sz="1000" b="1" dirty="0">
                    <a:solidFill>
                      <a:srgbClr val="0D4F4F"/>
                    </a:solidFill>
                    <a:latin typeface="Calibri"/>
                  </a:rPr>
                  <a:t>.</a:t>
                </a:r>
                <a:endParaRPr lang="fr-FR" sz="1000" b="1" dirty="0">
                  <a:solidFill>
                    <a:srgbClr val="0D4F4F"/>
                  </a:solidFill>
                  <a:latin typeface="Calibri"/>
                </a:endParaRPr>
              </a:p>
              <a:p>
                <a:pPr>
                  <a:spcAft>
                    <a:spcPts val="200"/>
                  </a:spcAft>
                </a:pPr>
                <a:endParaRPr lang="fr-FR" sz="1000" b="1" dirty="0">
                  <a:solidFill>
                    <a:srgbClr val="E07A5F"/>
                  </a:solidFill>
                  <a:latin typeface="Calibri"/>
                </a:endParaRPr>
              </a:p>
              <a:p>
                <a:pPr>
                  <a:spcAft>
                    <a:spcPts val="200"/>
                  </a:spcAft>
                </a:pPr>
                <a:r>
                  <a:rPr lang="fr-FR" sz="1000" b="1" dirty="0">
                    <a:solidFill>
                      <a:srgbClr val="E07A5F"/>
                    </a:solidFill>
                    <a:latin typeface="Calibri"/>
                  </a:rPr>
                  <a:t>On diffuse </a:t>
                </a:r>
                <a14:m>
                  <m:oMath xmlns:m="http://schemas.openxmlformats.org/officeDocument/2006/math">
                    <m:sSub>
                      <m:sSubPr>
                        <m:ctrlPr>
                          <a:rPr lang="ar-TN" sz="1000" b="1" i="1">
                            <a:solidFill>
                              <a:srgbClr val="E07A5F"/>
                            </a:solidFill>
                            <a:latin typeface="Cambria Math" panose="02040503050406030204" pitchFamily="18" charset="0"/>
                          </a:rPr>
                        </m:ctrlPr>
                      </m:sSubPr>
                      <m:e>
                        <m:r>
                          <a:rPr lang="ar-TN" sz="1000" b="1">
                            <a:solidFill>
                              <a:srgbClr val="E07A5F"/>
                            </a:solidFill>
                            <a:latin typeface="Cambria Math" panose="02040503050406030204" pitchFamily="18" charset="0"/>
                          </a:rPr>
                          <m:t>𝑥</m:t>
                        </m:r>
                      </m:e>
                      <m:sub>
                        <m:r>
                          <a:rPr lang="ar-TN" sz="1000" b="1">
                            <a:solidFill>
                              <a:srgbClr val="E07A5F"/>
                            </a:solidFill>
                            <a:latin typeface="Cambria Math" panose="02040503050406030204" pitchFamily="18" charset="0"/>
                          </a:rPr>
                          <m:t>𝑘</m:t>
                        </m:r>
                      </m:sub>
                    </m:sSub>
                  </m:oMath>
                </a14:m>
                <a:r>
                  <a:rPr lang="fr-FR" sz="1000" b="1" dirty="0">
                    <a:solidFill>
                      <a:srgbClr val="E07A5F"/>
                    </a:solidFill>
                    <a:latin typeface="Calibri"/>
                  </a:rPr>
                  <a:t>à tout le monde avec </a:t>
                </a:r>
                <a:r>
                  <a:rPr lang="fr-FR" sz="1000" b="1" dirty="0" err="1">
                    <a:solidFill>
                      <a:srgbClr val="E07A5F"/>
                    </a:solidFill>
                    <a:latin typeface="Calibri"/>
                  </a:rPr>
                  <a:t>MPI_Bcast</a:t>
                </a:r>
                <a:r>
                  <a:rPr lang="fr-FR" sz="1000" b="1" dirty="0">
                    <a:solidFill>
                      <a:srgbClr val="E07A5F"/>
                    </a:solidFill>
                    <a:latin typeface="Calibri"/>
                  </a:rPr>
                  <a:t>.</a:t>
                </a:r>
              </a:p>
              <a:p>
                <a:pPr>
                  <a:spcAft>
                    <a:spcPts val="200"/>
                  </a:spcAft>
                </a:pPr>
                <a:r>
                  <a:rPr lang="fr-FR" sz="1000" b="1" dirty="0">
                    <a:solidFill>
                      <a:srgbClr val="E07A5F"/>
                    </a:solidFill>
                    <a:latin typeface="Calibri"/>
                  </a:rPr>
                  <a:t> </a:t>
                </a:r>
                <a:r>
                  <a:rPr lang="fr-FR" sz="1000" dirty="0">
                    <a:solidFill>
                      <a:srgbClr val="4A4A5A"/>
                    </a:solidFill>
                    <a:latin typeface="Calibri"/>
                  </a:rPr>
                  <a:t>Chaque processus obtient la même valeur et remplit </a:t>
                </a:r>
                <a:r>
                  <a:rPr lang="fr-FR" sz="1000" dirty="0" err="1">
                    <a:solidFill>
                      <a:srgbClr val="4A4A5A"/>
                    </a:solidFill>
                    <a:latin typeface="Calibri"/>
                  </a:rPr>
                  <a:t>x_global</a:t>
                </a:r>
                <a:r>
                  <a:rPr lang="fr-FR" sz="1000" dirty="0">
                    <a:solidFill>
                      <a:srgbClr val="4A4A5A"/>
                    </a:solidFill>
                    <a:latin typeface="Calibri"/>
                  </a:rPr>
                  <a:t>[k].</a:t>
                </a:r>
                <a:endParaRPr sz="1000" dirty="0">
                  <a:solidFill>
                    <a:srgbClr val="4A4A5A"/>
                  </a:solidFill>
                  <a:latin typeface="Calibri"/>
                </a:endParaRPr>
              </a:p>
            </p:txBody>
          </p:sp>
        </mc:Choice>
        <mc:Fallback xmlns="">
          <p:sp>
            <p:nvSpPr>
              <p:cNvPr id="18" name="TextBox 16">
                <a:extLst>
                  <a:ext uri="{FF2B5EF4-FFF2-40B4-BE49-F238E27FC236}">
                    <a16:creationId xmlns:a16="http://schemas.microsoft.com/office/drawing/2014/main" id="{C4065130-6A7E-FF0F-66A2-A9A517EC411D}"/>
                  </a:ext>
                </a:extLst>
              </p:cNvPr>
              <p:cNvSpPr txBox="1">
                <a:spLocks noRot="1" noChangeAspect="1" noMove="1" noResize="1" noEditPoints="1" noAdjustHandles="1" noChangeArrowheads="1" noChangeShapeType="1" noTextEdit="1"/>
              </p:cNvSpPr>
              <p:nvPr/>
            </p:nvSpPr>
            <p:spPr>
              <a:xfrm>
                <a:off x="4556760" y="2205990"/>
                <a:ext cx="4389120" cy="2041585"/>
              </a:xfrm>
              <a:prstGeom prst="rect">
                <a:avLst/>
              </a:prstGeom>
              <a:blipFill>
                <a:blip r:embed="rId5"/>
                <a:stretch>
                  <a:fillRect b="-597"/>
                </a:stretch>
              </a:blipFill>
            </p:spPr>
            <p:txBody>
              <a:bodyPr/>
              <a:lstStyle/>
              <a:p>
                <a:r>
                  <a:rPr lang="fr-FR">
                    <a:noFill/>
                  </a:rPr>
                  <a:t> </a:t>
                </a:r>
              </a:p>
            </p:txBody>
          </p:sp>
        </mc:Fallback>
      </mc:AlternateContent>
      <p:sp>
        <p:nvSpPr>
          <p:cNvPr id="23" name="TextBox 22">
            <a:extLst>
              <a:ext uri="{FF2B5EF4-FFF2-40B4-BE49-F238E27FC236}">
                <a16:creationId xmlns:a16="http://schemas.microsoft.com/office/drawing/2014/main" id="{E81B49A8-AFA9-78C4-B349-C2792CF0B2A8}"/>
              </a:ext>
            </a:extLst>
          </p:cNvPr>
          <p:cNvSpPr txBox="1"/>
          <p:nvPr/>
        </p:nvSpPr>
        <p:spPr>
          <a:xfrm>
            <a:off x="8394732" y="43934"/>
            <a:ext cx="779381" cy="369332"/>
          </a:xfrm>
          <a:prstGeom prst="rect">
            <a:avLst/>
          </a:prstGeom>
          <a:noFill/>
        </p:spPr>
        <p:txBody>
          <a:bodyPr wrap="none" rtlCol="0">
            <a:spAutoFit/>
          </a:bodyPr>
          <a:lstStyle/>
          <a:p>
            <a:r>
              <a:rPr lang="fr-FR" b="1" dirty="0">
                <a:solidFill>
                  <a:srgbClr val="0D4F4F"/>
                </a:solidFill>
                <a:latin typeface="Georgia"/>
              </a:rPr>
              <a:t>11/21</a:t>
            </a:r>
          </a:p>
        </p:txBody>
      </p:sp>
    </p:spTree>
    <p:extLst>
      <p:ext uri="{BB962C8B-B14F-4D97-AF65-F5344CB8AC3E}">
        <p14:creationId xmlns:p14="http://schemas.microsoft.com/office/powerpoint/2010/main" val="394673496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AF8F0"/>
        </a:solidFill>
        <a:effectLst/>
      </p:bgPr>
    </p:bg>
    <p:spTree>
      <p:nvGrpSpPr>
        <p:cNvPr id="1" name="">
          <a:extLst>
            <a:ext uri="{FF2B5EF4-FFF2-40B4-BE49-F238E27FC236}">
              <a16:creationId xmlns:a16="http://schemas.microsoft.com/office/drawing/2014/main" id="{E38A95B4-D777-E54A-822B-A4BD4F482EEB}"/>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F95DCD14-A641-83B4-ACA3-3EC883D9F808}"/>
              </a:ext>
            </a:extLst>
          </p:cNvPr>
          <p:cNvSpPr/>
          <p:nvPr/>
        </p:nvSpPr>
        <p:spPr>
          <a:xfrm>
            <a:off x="548640" y="228600"/>
            <a:ext cx="8229600" cy="457200"/>
          </a:xfrm>
          <a:prstGeom prst="rect">
            <a:avLst/>
          </a:prstGeom>
          <a:noFill/>
          <a:ln/>
        </p:spPr>
        <p:txBody>
          <a:bodyPr wrap="square" lIns="0" tIns="0" rIns="0" bIns="0" rtlCol="0" anchor="ctr"/>
          <a:lstStyle/>
          <a:p>
            <a:pPr marL="0" indent="0">
              <a:buNone/>
            </a:pPr>
            <a:r>
              <a:rPr lang="en-US" sz="2400" b="1" dirty="0">
                <a:solidFill>
                  <a:srgbClr val="0D4F4F"/>
                </a:solidFill>
                <a:latin typeface="Georgia" pitchFamily="34" charset="0"/>
                <a:ea typeface="Georgia" pitchFamily="34" charset="-122"/>
                <a:cs typeface="Georgia" pitchFamily="34" charset="-120"/>
              </a:rPr>
              <a:t>Le problème : résistance aux antibiotiques</a:t>
            </a:r>
            <a:endParaRPr lang="en-US" sz="2400" dirty="0"/>
          </a:p>
        </p:txBody>
      </p:sp>
      <p:sp>
        <p:nvSpPr>
          <p:cNvPr id="3" name="Text 1">
            <a:extLst>
              <a:ext uri="{FF2B5EF4-FFF2-40B4-BE49-F238E27FC236}">
                <a16:creationId xmlns:a16="http://schemas.microsoft.com/office/drawing/2014/main" id="{C5F3DC0E-0DB9-FFD9-B5C8-53B97454D9E3}"/>
              </a:ext>
            </a:extLst>
          </p:cNvPr>
          <p:cNvSpPr/>
          <p:nvPr/>
        </p:nvSpPr>
        <p:spPr>
          <a:xfrm>
            <a:off x="548640" y="658368"/>
            <a:ext cx="8229600" cy="274320"/>
          </a:xfrm>
          <a:prstGeom prst="rect">
            <a:avLst/>
          </a:prstGeom>
          <a:noFill/>
          <a:ln/>
        </p:spPr>
        <p:txBody>
          <a:bodyPr wrap="square" lIns="0" tIns="0" rIns="0" bIns="0" rtlCol="0" anchor="ctr"/>
          <a:lstStyle/>
          <a:p>
            <a:pPr marL="0" indent="0">
              <a:buNone/>
            </a:pPr>
            <a:r>
              <a:rPr lang="en-US" sz="1200" i="1" dirty="0">
                <a:solidFill>
                  <a:srgbClr val="8A8A9A"/>
                </a:solidFill>
                <a:latin typeface="Calibri" pitchFamily="34" charset="0"/>
                <a:ea typeface="Calibri" pitchFamily="34" charset="-122"/>
                <a:cs typeface="Calibri" pitchFamily="34" charset="-120"/>
              </a:rPr>
              <a:t>L'une des plus grandes menaces pour la santé publique mondiale (OMS, 2014)</a:t>
            </a:r>
            <a:endParaRPr lang="en-US" sz="1200" dirty="0"/>
          </a:p>
        </p:txBody>
      </p:sp>
      <p:sp>
        <p:nvSpPr>
          <p:cNvPr id="5" name="Shape 3">
            <a:extLst>
              <a:ext uri="{FF2B5EF4-FFF2-40B4-BE49-F238E27FC236}">
                <a16:creationId xmlns:a16="http://schemas.microsoft.com/office/drawing/2014/main" id="{2667CC97-9DEE-6FC5-B705-ABC5035AB5D7}"/>
              </a:ext>
            </a:extLst>
          </p:cNvPr>
          <p:cNvSpPr/>
          <p:nvPr/>
        </p:nvSpPr>
        <p:spPr>
          <a:xfrm>
            <a:off x="685800" y="1508760"/>
            <a:ext cx="365760" cy="365760"/>
          </a:xfrm>
          <a:prstGeom prst="ellipse">
            <a:avLst/>
          </a:prstGeom>
          <a:solidFill>
            <a:srgbClr val="0E7C7B"/>
          </a:solidFill>
          <a:ln/>
        </p:spPr>
        <p:txBody>
          <a:bodyPr/>
          <a:lstStyle/>
          <a:p>
            <a:endParaRPr lang="fr-FR"/>
          </a:p>
        </p:txBody>
      </p:sp>
      <p:sp>
        <p:nvSpPr>
          <p:cNvPr id="6" name="Text 4">
            <a:extLst>
              <a:ext uri="{FF2B5EF4-FFF2-40B4-BE49-F238E27FC236}">
                <a16:creationId xmlns:a16="http://schemas.microsoft.com/office/drawing/2014/main" id="{0039C2F6-38EB-6777-4010-87D4559A105A}"/>
              </a:ext>
            </a:extLst>
          </p:cNvPr>
          <p:cNvSpPr/>
          <p:nvPr/>
        </p:nvSpPr>
        <p:spPr>
          <a:xfrm>
            <a:off x="685800" y="1508760"/>
            <a:ext cx="365760" cy="365760"/>
          </a:xfrm>
          <a:prstGeom prst="rect">
            <a:avLst/>
          </a:prstGeom>
          <a:noFill/>
          <a:ln/>
        </p:spPr>
        <p:txBody>
          <a:bodyPr wrap="square"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7" name="Text 5">
            <a:extLst>
              <a:ext uri="{FF2B5EF4-FFF2-40B4-BE49-F238E27FC236}">
                <a16:creationId xmlns:a16="http://schemas.microsoft.com/office/drawing/2014/main" id="{F076C36F-C868-466F-FA68-2198AEF43306}"/>
              </a:ext>
            </a:extLst>
          </p:cNvPr>
          <p:cNvSpPr/>
          <p:nvPr/>
        </p:nvSpPr>
        <p:spPr>
          <a:xfrm>
            <a:off x="1143000" y="1508760"/>
            <a:ext cx="1828800" cy="1097280"/>
          </a:xfrm>
          <a:prstGeom prst="rect">
            <a:avLst/>
          </a:prstGeom>
          <a:noFill/>
          <a:ln/>
        </p:spPr>
        <p:txBody>
          <a:bodyPr wrap="square" rtlCol="0" anchor="t"/>
          <a:lstStyle/>
          <a:p>
            <a:pPr marL="0" indent="0">
              <a:buNone/>
            </a:pPr>
            <a:r>
              <a:rPr lang="en-US" sz="1200" dirty="0">
                <a:solidFill>
                  <a:srgbClr val="1A1A2E"/>
                </a:solidFill>
                <a:latin typeface="Calibri" pitchFamily="34" charset="0"/>
                <a:ea typeface="Calibri" pitchFamily="34" charset="-122"/>
                <a:cs typeface="Calibri" pitchFamily="34" charset="-120"/>
              </a:rPr>
              <a:t>Antibiotiques massivement</a:t>
            </a:r>
            <a:endParaRPr lang="en-US" sz="1200" dirty="0"/>
          </a:p>
          <a:p>
            <a:pPr marL="0" indent="0">
              <a:buNone/>
            </a:pPr>
            <a:r>
              <a:rPr lang="en-US" sz="1200" dirty="0">
                <a:solidFill>
                  <a:srgbClr val="1A1A2E"/>
                </a:solidFill>
                <a:latin typeface="Calibri" pitchFamily="34" charset="0"/>
                <a:ea typeface="Calibri" pitchFamily="34" charset="-122"/>
                <a:cs typeface="Calibri" pitchFamily="34" charset="-120"/>
              </a:rPr>
              <a:t>utilisés en élevage</a:t>
            </a:r>
            <a:endParaRPr lang="en-US" sz="1200" dirty="0"/>
          </a:p>
        </p:txBody>
      </p:sp>
      <p:pic>
        <p:nvPicPr>
          <p:cNvPr id="8" name="Image 0" descr="preencoded.png">
            <a:extLst>
              <a:ext uri="{FF2B5EF4-FFF2-40B4-BE49-F238E27FC236}">
                <a16:creationId xmlns:a16="http://schemas.microsoft.com/office/drawing/2014/main" id="{2253E64F-66C7-AD99-4DC5-70D9F6D95470}"/>
              </a:ext>
            </a:extLst>
          </p:cNvPr>
          <p:cNvPicPr>
            <a:picLocks noChangeAspect="1"/>
          </p:cNvPicPr>
          <p:nvPr/>
        </p:nvPicPr>
        <p:blipFill>
          <a:blip r:embed="rId3"/>
          <a:stretch>
            <a:fillRect/>
          </a:stretch>
        </p:blipFill>
        <p:spPr>
          <a:xfrm>
            <a:off x="3154680" y="1828800"/>
            <a:ext cx="201168" cy="201168"/>
          </a:xfrm>
          <a:prstGeom prst="rect">
            <a:avLst/>
          </a:prstGeom>
        </p:spPr>
      </p:pic>
      <p:sp>
        <p:nvSpPr>
          <p:cNvPr id="10" name="Shape 7">
            <a:extLst>
              <a:ext uri="{FF2B5EF4-FFF2-40B4-BE49-F238E27FC236}">
                <a16:creationId xmlns:a16="http://schemas.microsoft.com/office/drawing/2014/main" id="{C06E165E-BE35-F783-AAAB-82A50923F901}"/>
              </a:ext>
            </a:extLst>
          </p:cNvPr>
          <p:cNvSpPr/>
          <p:nvPr/>
        </p:nvSpPr>
        <p:spPr>
          <a:xfrm>
            <a:off x="3520440" y="1508760"/>
            <a:ext cx="365760" cy="365760"/>
          </a:xfrm>
          <a:prstGeom prst="ellipse">
            <a:avLst/>
          </a:prstGeom>
          <a:solidFill>
            <a:srgbClr val="0E7C7B"/>
          </a:solidFill>
          <a:ln/>
        </p:spPr>
        <p:txBody>
          <a:bodyPr/>
          <a:lstStyle/>
          <a:p>
            <a:endParaRPr lang="fr-FR"/>
          </a:p>
        </p:txBody>
      </p:sp>
      <p:sp>
        <p:nvSpPr>
          <p:cNvPr id="11" name="Text 8">
            <a:extLst>
              <a:ext uri="{FF2B5EF4-FFF2-40B4-BE49-F238E27FC236}">
                <a16:creationId xmlns:a16="http://schemas.microsoft.com/office/drawing/2014/main" id="{F84EA644-9AE2-AD5E-0D51-3B7841827D86}"/>
              </a:ext>
            </a:extLst>
          </p:cNvPr>
          <p:cNvSpPr/>
          <p:nvPr/>
        </p:nvSpPr>
        <p:spPr>
          <a:xfrm>
            <a:off x="3520440" y="1508760"/>
            <a:ext cx="365760" cy="365760"/>
          </a:xfrm>
          <a:prstGeom prst="rect">
            <a:avLst/>
          </a:prstGeom>
          <a:noFill/>
          <a:ln/>
        </p:spPr>
        <p:txBody>
          <a:bodyPr wrap="square"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2" name="Text 9">
            <a:extLst>
              <a:ext uri="{FF2B5EF4-FFF2-40B4-BE49-F238E27FC236}">
                <a16:creationId xmlns:a16="http://schemas.microsoft.com/office/drawing/2014/main" id="{45B470C1-C963-5A4C-4DBC-4DC8F53F836A}"/>
              </a:ext>
            </a:extLst>
          </p:cNvPr>
          <p:cNvSpPr/>
          <p:nvPr/>
        </p:nvSpPr>
        <p:spPr>
          <a:xfrm>
            <a:off x="3977640" y="1508760"/>
            <a:ext cx="1828800" cy="1097280"/>
          </a:xfrm>
          <a:prstGeom prst="rect">
            <a:avLst/>
          </a:prstGeom>
          <a:noFill/>
          <a:ln/>
        </p:spPr>
        <p:txBody>
          <a:bodyPr wrap="square" rtlCol="0" anchor="t"/>
          <a:lstStyle/>
          <a:p>
            <a:pPr marL="0" indent="0">
              <a:buNone/>
            </a:pPr>
            <a:r>
              <a:rPr lang="en-US" sz="1200" dirty="0">
                <a:solidFill>
                  <a:srgbClr val="1A1A2E"/>
                </a:solidFill>
                <a:latin typeface="Calibri" pitchFamily="34" charset="0"/>
                <a:ea typeface="Calibri" pitchFamily="34" charset="-122"/>
                <a:cs typeface="Calibri" pitchFamily="34" charset="-120"/>
              </a:rPr>
              <a:t>Résidus atteignent</a:t>
            </a:r>
            <a:endParaRPr lang="en-US" sz="1200" dirty="0"/>
          </a:p>
          <a:p>
            <a:pPr marL="0" indent="0">
              <a:buNone/>
            </a:pPr>
            <a:r>
              <a:rPr lang="en-US" sz="1200" dirty="0">
                <a:solidFill>
                  <a:srgbClr val="1A1A2E"/>
                </a:solidFill>
                <a:latin typeface="Calibri" pitchFamily="34" charset="0"/>
                <a:ea typeface="Calibri" pitchFamily="34" charset="-122"/>
                <a:cs typeface="Calibri" pitchFamily="34" charset="-120"/>
              </a:rPr>
              <a:t>le côlon</a:t>
            </a:r>
            <a:endParaRPr lang="en-US" sz="1200" dirty="0"/>
          </a:p>
        </p:txBody>
      </p:sp>
      <p:pic>
        <p:nvPicPr>
          <p:cNvPr id="13" name="Image 1" descr="preencoded.png">
            <a:extLst>
              <a:ext uri="{FF2B5EF4-FFF2-40B4-BE49-F238E27FC236}">
                <a16:creationId xmlns:a16="http://schemas.microsoft.com/office/drawing/2014/main" id="{E918A949-1CF4-DEB4-0FA1-A8733F6FEE7C}"/>
              </a:ext>
            </a:extLst>
          </p:cNvPr>
          <p:cNvPicPr>
            <a:picLocks noChangeAspect="1"/>
          </p:cNvPicPr>
          <p:nvPr/>
        </p:nvPicPr>
        <p:blipFill>
          <a:blip r:embed="rId3"/>
          <a:stretch>
            <a:fillRect/>
          </a:stretch>
        </p:blipFill>
        <p:spPr>
          <a:xfrm>
            <a:off x="5989320" y="1828800"/>
            <a:ext cx="201168" cy="201168"/>
          </a:xfrm>
          <a:prstGeom prst="rect">
            <a:avLst/>
          </a:prstGeom>
        </p:spPr>
      </p:pic>
      <p:sp>
        <p:nvSpPr>
          <p:cNvPr id="15" name="Shape 11">
            <a:extLst>
              <a:ext uri="{FF2B5EF4-FFF2-40B4-BE49-F238E27FC236}">
                <a16:creationId xmlns:a16="http://schemas.microsoft.com/office/drawing/2014/main" id="{36D39DB2-1477-438B-2414-1AAE8DB109A6}"/>
              </a:ext>
            </a:extLst>
          </p:cNvPr>
          <p:cNvSpPr/>
          <p:nvPr/>
        </p:nvSpPr>
        <p:spPr>
          <a:xfrm>
            <a:off x="6355080" y="1508760"/>
            <a:ext cx="365760" cy="365760"/>
          </a:xfrm>
          <a:prstGeom prst="ellipse">
            <a:avLst/>
          </a:prstGeom>
          <a:solidFill>
            <a:srgbClr val="0E7C7B"/>
          </a:solidFill>
          <a:ln/>
        </p:spPr>
        <p:txBody>
          <a:bodyPr/>
          <a:lstStyle/>
          <a:p>
            <a:endParaRPr lang="fr-FR"/>
          </a:p>
        </p:txBody>
      </p:sp>
      <p:sp>
        <p:nvSpPr>
          <p:cNvPr id="16" name="Text 12">
            <a:extLst>
              <a:ext uri="{FF2B5EF4-FFF2-40B4-BE49-F238E27FC236}">
                <a16:creationId xmlns:a16="http://schemas.microsoft.com/office/drawing/2014/main" id="{92517074-D412-300C-5F6B-30E9FF2E73C7}"/>
              </a:ext>
            </a:extLst>
          </p:cNvPr>
          <p:cNvSpPr/>
          <p:nvPr/>
        </p:nvSpPr>
        <p:spPr>
          <a:xfrm>
            <a:off x="6355080" y="1508760"/>
            <a:ext cx="365760" cy="365760"/>
          </a:xfrm>
          <a:prstGeom prst="rect">
            <a:avLst/>
          </a:prstGeom>
          <a:noFill/>
          <a:ln/>
        </p:spPr>
        <p:txBody>
          <a:bodyPr wrap="square"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7" name="Text 13">
            <a:extLst>
              <a:ext uri="{FF2B5EF4-FFF2-40B4-BE49-F238E27FC236}">
                <a16:creationId xmlns:a16="http://schemas.microsoft.com/office/drawing/2014/main" id="{6A99251F-4399-5DB1-BED7-F9FB121C62F0}"/>
              </a:ext>
            </a:extLst>
          </p:cNvPr>
          <p:cNvSpPr/>
          <p:nvPr/>
        </p:nvSpPr>
        <p:spPr>
          <a:xfrm>
            <a:off x="6812280" y="1508760"/>
            <a:ext cx="1828800" cy="1097280"/>
          </a:xfrm>
          <a:prstGeom prst="rect">
            <a:avLst/>
          </a:prstGeom>
          <a:noFill/>
          <a:ln/>
        </p:spPr>
        <p:txBody>
          <a:bodyPr wrap="square" rtlCol="0" anchor="t"/>
          <a:lstStyle/>
          <a:p>
            <a:pPr marL="0" indent="0">
              <a:buNone/>
            </a:pPr>
            <a:r>
              <a:rPr lang="en-US" sz="1200" dirty="0">
                <a:solidFill>
                  <a:srgbClr val="1A1A2E"/>
                </a:solidFill>
                <a:latin typeface="Calibri" pitchFamily="34" charset="0"/>
                <a:ea typeface="Calibri" pitchFamily="34" charset="-122"/>
                <a:cs typeface="Calibri" pitchFamily="34" charset="-120"/>
              </a:rPr>
              <a:t>Bactéries sensibles</a:t>
            </a:r>
            <a:endParaRPr lang="en-US" sz="1200" dirty="0"/>
          </a:p>
          <a:p>
            <a:pPr marL="0" indent="0">
              <a:buNone/>
            </a:pPr>
            <a:r>
              <a:rPr lang="en-US" sz="1200" dirty="0">
                <a:solidFill>
                  <a:srgbClr val="1A1A2E"/>
                </a:solidFill>
                <a:latin typeface="Calibri" pitchFamily="34" charset="0"/>
                <a:ea typeface="Calibri" pitchFamily="34" charset="-122"/>
                <a:cs typeface="Calibri" pitchFamily="34" charset="-120"/>
              </a:rPr>
              <a:t>éliminées</a:t>
            </a:r>
            <a:endParaRPr lang="en-US" sz="1200" dirty="0"/>
          </a:p>
        </p:txBody>
      </p:sp>
      <p:sp>
        <p:nvSpPr>
          <p:cNvPr id="19" name="Shape 15">
            <a:extLst>
              <a:ext uri="{FF2B5EF4-FFF2-40B4-BE49-F238E27FC236}">
                <a16:creationId xmlns:a16="http://schemas.microsoft.com/office/drawing/2014/main" id="{B26B3C68-5FAA-FF85-2674-BEA93523B14E}"/>
              </a:ext>
            </a:extLst>
          </p:cNvPr>
          <p:cNvSpPr/>
          <p:nvPr/>
        </p:nvSpPr>
        <p:spPr>
          <a:xfrm>
            <a:off x="685800" y="3200400"/>
            <a:ext cx="365760" cy="365760"/>
          </a:xfrm>
          <a:prstGeom prst="ellipse">
            <a:avLst/>
          </a:prstGeom>
          <a:solidFill>
            <a:srgbClr val="E07A5F"/>
          </a:solidFill>
          <a:ln/>
        </p:spPr>
        <p:txBody>
          <a:bodyPr/>
          <a:lstStyle/>
          <a:p>
            <a:endParaRPr lang="fr-FR"/>
          </a:p>
        </p:txBody>
      </p:sp>
      <p:sp>
        <p:nvSpPr>
          <p:cNvPr id="20" name="Text 16">
            <a:extLst>
              <a:ext uri="{FF2B5EF4-FFF2-40B4-BE49-F238E27FC236}">
                <a16:creationId xmlns:a16="http://schemas.microsoft.com/office/drawing/2014/main" id="{A4F58811-8447-8770-E6DA-A35910144F7A}"/>
              </a:ext>
            </a:extLst>
          </p:cNvPr>
          <p:cNvSpPr/>
          <p:nvPr/>
        </p:nvSpPr>
        <p:spPr>
          <a:xfrm>
            <a:off x="685800" y="3200400"/>
            <a:ext cx="365760" cy="365760"/>
          </a:xfrm>
          <a:prstGeom prst="rect">
            <a:avLst/>
          </a:prstGeom>
          <a:noFill/>
          <a:ln/>
        </p:spPr>
        <p:txBody>
          <a:bodyPr wrap="square"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21" name="Text 17">
            <a:extLst>
              <a:ext uri="{FF2B5EF4-FFF2-40B4-BE49-F238E27FC236}">
                <a16:creationId xmlns:a16="http://schemas.microsoft.com/office/drawing/2014/main" id="{930A54F0-70EA-508B-64B2-2C0C145B3932}"/>
              </a:ext>
            </a:extLst>
          </p:cNvPr>
          <p:cNvSpPr/>
          <p:nvPr/>
        </p:nvSpPr>
        <p:spPr>
          <a:xfrm>
            <a:off x="1143000" y="3200400"/>
            <a:ext cx="1828800" cy="1097280"/>
          </a:xfrm>
          <a:prstGeom prst="rect">
            <a:avLst/>
          </a:prstGeom>
          <a:noFill/>
          <a:ln/>
        </p:spPr>
        <p:txBody>
          <a:bodyPr wrap="square" rtlCol="0" anchor="t"/>
          <a:lstStyle/>
          <a:p>
            <a:pPr marL="0" indent="0">
              <a:buNone/>
            </a:pPr>
            <a:r>
              <a:rPr lang="en-US" sz="1200" dirty="0">
                <a:solidFill>
                  <a:srgbClr val="1A1A2E"/>
                </a:solidFill>
                <a:latin typeface="Calibri" pitchFamily="34" charset="0"/>
                <a:ea typeface="Calibri" pitchFamily="34" charset="-122"/>
                <a:cs typeface="Calibri" pitchFamily="34" charset="-120"/>
              </a:rPr>
              <a:t>Bactéries résistantes</a:t>
            </a:r>
            <a:endParaRPr lang="en-US" sz="1200" dirty="0"/>
          </a:p>
          <a:p>
            <a:pPr marL="0" indent="0">
              <a:buNone/>
            </a:pPr>
            <a:r>
              <a:rPr lang="en-US" sz="1200" dirty="0">
                <a:solidFill>
                  <a:srgbClr val="1A1A2E"/>
                </a:solidFill>
                <a:latin typeface="Calibri" pitchFamily="34" charset="0"/>
                <a:ea typeface="Calibri" pitchFamily="34" charset="-122"/>
                <a:cs typeface="Calibri" pitchFamily="34" charset="-120"/>
              </a:rPr>
              <a:t>colonisent les niches</a:t>
            </a:r>
            <a:endParaRPr lang="en-US" sz="1200" dirty="0"/>
          </a:p>
        </p:txBody>
      </p:sp>
      <p:pic>
        <p:nvPicPr>
          <p:cNvPr id="22" name="Image 2" descr="preencoded.png">
            <a:extLst>
              <a:ext uri="{FF2B5EF4-FFF2-40B4-BE49-F238E27FC236}">
                <a16:creationId xmlns:a16="http://schemas.microsoft.com/office/drawing/2014/main" id="{4E303DE9-75D0-6E96-32D6-66DBA00470A5}"/>
              </a:ext>
            </a:extLst>
          </p:cNvPr>
          <p:cNvPicPr>
            <a:picLocks noChangeAspect="1"/>
          </p:cNvPicPr>
          <p:nvPr/>
        </p:nvPicPr>
        <p:blipFill>
          <a:blip r:embed="rId3"/>
          <a:stretch>
            <a:fillRect/>
          </a:stretch>
        </p:blipFill>
        <p:spPr>
          <a:xfrm>
            <a:off x="3154680" y="3520440"/>
            <a:ext cx="201168" cy="201168"/>
          </a:xfrm>
          <a:prstGeom prst="rect">
            <a:avLst/>
          </a:prstGeom>
        </p:spPr>
      </p:pic>
      <p:sp>
        <p:nvSpPr>
          <p:cNvPr id="24" name="Shape 19">
            <a:extLst>
              <a:ext uri="{FF2B5EF4-FFF2-40B4-BE49-F238E27FC236}">
                <a16:creationId xmlns:a16="http://schemas.microsoft.com/office/drawing/2014/main" id="{784450A8-785D-F841-C009-136F77C666A3}"/>
              </a:ext>
            </a:extLst>
          </p:cNvPr>
          <p:cNvSpPr/>
          <p:nvPr/>
        </p:nvSpPr>
        <p:spPr>
          <a:xfrm>
            <a:off x="3520440" y="3200400"/>
            <a:ext cx="365760" cy="365760"/>
          </a:xfrm>
          <a:prstGeom prst="ellipse">
            <a:avLst/>
          </a:prstGeom>
          <a:solidFill>
            <a:srgbClr val="E07A5F"/>
          </a:solidFill>
          <a:ln/>
        </p:spPr>
        <p:txBody>
          <a:bodyPr/>
          <a:lstStyle/>
          <a:p>
            <a:endParaRPr lang="fr-FR"/>
          </a:p>
        </p:txBody>
      </p:sp>
      <p:sp>
        <p:nvSpPr>
          <p:cNvPr id="25" name="Text 20">
            <a:extLst>
              <a:ext uri="{FF2B5EF4-FFF2-40B4-BE49-F238E27FC236}">
                <a16:creationId xmlns:a16="http://schemas.microsoft.com/office/drawing/2014/main" id="{A06D6B6D-85D5-85B1-14BA-68D3179E3823}"/>
              </a:ext>
            </a:extLst>
          </p:cNvPr>
          <p:cNvSpPr/>
          <p:nvPr/>
        </p:nvSpPr>
        <p:spPr>
          <a:xfrm>
            <a:off x="3520440" y="3200400"/>
            <a:ext cx="365760" cy="365760"/>
          </a:xfrm>
          <a:prstGeom prst="rect">
            <a:avLst/>
          </a:prstGeom>
          <a:noFill/>
          <a:ln/>
        </p:spPr>
        <p:txBody>
          <a:bodyPr wrap="square"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5</a:t>
            </a:r>
            <a:endParaRPr lang="en-US" sz="1400" dirty="0"/>
          </a:p>
        </p:txBody>
      </p:sp>
      <p:sp>
        <p:nvSpPr>
          <p:cNvPr id="26" name="Text 21">
            <a:extLst>
              <a:ext uri="{FF2B5EF4-FFF2-40B4-BE49-F238E27FC236}">
                <a16:creationId xmlns:a16="http://schemas.microsoft.com/office/drawing/2014/main" id="{6187D98F-ADE6-F108-D152-EFAAD3ABC4E0}"/>
              </a:ext>
            </a:extLst>
          </p:cNvPr>
          <p:cNvSpPr/>
          <p:nvPr/>
        </p:nvSpPr>
        <p:spPr>
          <a:xfrm>
            <a:off x="3977640" y="3200400"/>
            <a:ext cx="1828800" cy="1097280"/>
          </a:xfrm>
          <a:prstGeom prst="rect">
            <a:avLst/>
          </a:prstGeom>
          <a:noFill/>
          <a:ln/>
        </p:spPr>
        <p:txBody>
          <a:bodyPr wrap="square" rtlCol="0" anchor="t"/>
          <a:lstStyle/>
          <a:p>
            <a:pPr marL="0" indent="0">
              <a:buNone/>
            </a:pPr>
            <a:r>
              <a:rPr lang="en-US" sz="1200" dirty="0">
                <a:solidFill>
                  <a:srgbClr val="1A1A2E"/>
                </a:solidFill>
                <a:latin typeface="Calibri" pitchFamily="34" charset="0"/>
                <a:ea typeface="Calibri" pitchFamily="34" charset="-122"/>
                <a:cs typeface="Calibri" pitchFamily="34" charset="-120"/>
              </a:rPr>
              <a:t>Excrétion massive</a:t>
            </a:r>
            <a:endParaRPr lang="en-US" sz="1200" dirty="0"/>
          </a:p>
          <a:p>
            <a:pPr marL="0" indent="0">
              <a:buNone/>
            </a:pPr>
            <a:r>
              <a:rPr lang="en-US" sz="1200" dirty="0">
                <a:solidFill>
                  <a:srgbClr val="1A1A2E"/>
                </a:solidFill>
                <a:latin typeface="Calibri" pitchFamily="34" charset="0"/>
                <a:ea typeface="Calibri" pitchFamily="34" charset="-122"/>
                <a:cs typeface="Calibri" pitchFamily="34" charset="-120"/>
              </a:rPr>
              <a:t>dans les fèces</a:t>
            </a:r>
            <a:endParaRPr lang="en-US" sz="1200" dirty="0"/>
          </a:p>
        </p:txBody>
      </p:sp>
      <p:pic>
        <p:nvPicPr>
          <p:cNvPr id="27" name="Image 3" descr="preencoded.png">
            <a:extLst>
              <a:ext uri="{FF2B5EF4-FFF2-40B4-BE49-F238E27FC236}">
                <a16:creationId xmlns:a16="http://schemas.microsoft.com/office/drawing/2014/main" id="{EBA1D203-F17A-8EB4-32D0-3ADE03CE6A57}"/>
              </a:ext>
            </a:extLst>
          </p:cNvPr>
          <p:cNvPicPr>
            <a:picLocks noChangeAspect="1"/>
          </p:cNvPicPr>
          <p:nvPr/>
        </p:nvPicPr>
        <p:blipFill>
          <a:blip r:embed="rId3"/>
          <a:stretch>
            <a:fillRect/>
          </a:stretch>
        </p:blipFill>
        <p:spPr>
          <a:xfrm>
            <a:off x="5989320" y="3520440"/>
            <a:ext cx="201168" cy="201168"/>
          </a:xfrm>
          <a:prstGeom prst="rect">
            <a:avLst/>
          </a:prstGeom>
        </p:spPr>
      </p:pic>
      <p:sp>
        <p:nvSpPr>
          <p:cNvPr id="29" name="Shape 23">
            <a:extLst>
              <a:ext uri="{FF2B5EF4-FFF2-40B4-BE49-F238E27FC236}">
                <a16:creationId xmlns:a16="http://schemas.microsoft.com/office/drawing/2014/main" id="{B6767DA9-61A0-484C-3411-D0BAFC4F1940}"/>
              </a:ext>
            </a:extLst>
          </p:cNvPr>
          <p:cNvSpPr/>
          <p:nvPr/>
        </p:nvSpPr>
        <p:spPr>
          <a:xfrm>
            <a:off x="6355080" y="3200400"/>
            <a:ext cx="365760" cy="365760"/>
          </a:xfrm>
          <a:prstGeom prst="ellipse">
            <a:avLst/>
          </a:prstGeom>
          <a:solidFill>
            <a:srgbClr val="E07A5F"/>
          </a:solidFill>
          <a:ln/>
        </p:spPr>
        <p:txBody>
          <a:bodyPr/>
          <a:lstStyle/>
          <a:p>
            <a:endParaRPr lang="fr-FR"/>
          </a:p>
        </p:txBody>
      </p:sp>
      <p:sp>
        <p:nvSpPr>
          <p:cNvPr id="30" name="Text 24">
            <a:extLst>
              <a:ext uri="{FF2B5EF4-FFF2-40B4-BE49-F238E27FC236}">
                <a16:creationId xmlns:a16="http://schemas.microsoft.com/office/drawing/2014/main" id="{51D80AA5-E396-04B9-12A2-0F08CCAEE06B}"/>
              </a:ext>
            </a:extLst>
          </p:cNvPr>
          <p:cNvSpPr/>
          <p:nvPr/>
        </p:nvSpPr>
        <p:spPr>
          <a:xfrm>
            <a:off x="6355080" y="3200400"/>
            <a:ext cx="365760" cy="365760"/>
          </a:xfrm>
          <a:prstGeom prst="rect">
            <a:avLst/>
          </a:prstGeom>
          <a:noFill/>
          <a:ln/>
        </p:spPr>
        <p:txBody>
          <a:bodyPr wrap="square"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6</a:t>
            </a:r>
            <a:endParaRPr lang="en-US" sz="1400" dirty="0"/>
          </a:p>
        </p:txBody>
      </p:sp>
      <p:sp>
        <p:nvSpPr>
          <p:cNvPr id="31" name="Text 25">
            <a:extLst>
              <a:ext uri="{FF2B5EF4-FFF2-40B4-BE49-F238E27FC236}">
                <a16:creationId xmlns:a16="http://schemas.microsoft.com/office/drawing/2014/main" id="{7DBFC6AB-49B7-D6F4-C27A-105D25EF1C69}"/>
              </a:ext>
            </a:extLst>
          </p:cNvPr>
          <p:cNvSpPr/>
          <p:nvPr/>
        </p:nvSpPr>
        <p:spPr>
          <a:xfrm>
            <a:off x="6812280" y="3200400"/>
            <a:ext cx="1828800" cy="1097280"/>
          </a:xfrm>
          <a:prstGeom prst="rect">
            <a:avLst/>
          </a:prstGeom>
          <a:noFill/>
          <a:ln/>
        </p:spPr>
        <p:txBody>
          <a:bodyPr wrap="square" rtlCol="0" anchor="t"/>
          <a:lstStyle/>
          <a:p>
            <a:pPr marL="0" indent="0">
              <a:buNone/>
            </a:pPr>
            <a:r>
              <a:rPr lang="en-US" sz="1200" dirty="0">
                <a:solidFill>
                  <a:srgbClr val="1A1A2E"/>
                </a:solidFill>
                <a:latin typeface="Calibri" pitchFamily="34" charset="0"/>
                <a:ea typeface="Calibri" pitchFamily="34" charset="-122"/>
                <a:cs typeface="Calibri" pitchFamily="34" charset="-120"/>
              </a:rPr>
              <a:t>Contamination</a:t>
            </a:r>
            <a:endParaRPr lang="en-US" sz="1200" dirty="0"/>
          </a:p>
          <a:p>
            <a:pPr marL="0" indent="0">
              <a:buNone/>
            </a:pPr>
            <a:r>
              <a:rPr lang="en-US" sz="1200" dirty="0">
                <a:solidFill>
                  <a:srgbClr val="1A1A2E"/>
                </a:solidFill>
                <a:latin typeface="Calibri" pitchFamily="34" charset="0"/>
                <a:ea typeface="Calibri" pitchFamily="34" charset="-122"/>
                <a:cs typeface="Calibri" pitchFamily="34" charset="-120"/>
              </a:rPr>
              <a:t>environnement → homme</a:t>
            </a:r>
            <a:endParaRPr lang="en-US" sz="1200" dirty="0"/>
          </a:p>
        </p:txBody>
      </p:sp>
      <p:sp>
        <p:nvSpPr>
          <p:cNvPr id="32" name="Text 26">
            <a:extLst>
              <a:ext uri="{FF2B5EF4-FFF2-40B4-BE49-F238E27FC236}">
                <a16:creationId xmlns:a16="http://schemas.microsoft.com/office/drawing/2014/main" id="{0755C2F9-3B10-A4B3-7E23-21F7384B8063}"/>
              </a:ext>
            </a:extLst>
          </p:cNvPr>
          <p:cNvSpPr/>
          <p:nvPr/>
        </p:nvSpPr>
        <p:spPr>
          <a:xfrm>
            <a:off x="7772400" y="2651760"/>
            <a:ext cx="365760" cy="457200"/>
          </a:xfrm>
          <a:prstGeom prst="rect">
            <a:avLst/>
          </a:prstGeom>
          <a:noFill/>
          <a:ln/>
        </p:spPr>
        <p:txBody>
          <a:bodyPr wrap="square" rtlCol="0" anchor="ctr"/>
          <a:lstStyle/>
          <a:p>
            <a:pPr marL="0" indent="0" algn="ctr">
              <a:buNone/>
            </a:pPr>
            <a:r>
              <a:rPr lang="en-US" sz="2000" dirty="0">
                <a:solidFill>
                  <a:srgbClr val="17A2A2"/>
                </a:solidFill>
              </a:rPr>
              <a:t>↓</a:t>
            </a:r>
            <a:endParaRPr lang="en-US" sz="2000" dirty="0"/>
          </a:p>
        </p:txBody>
      </p:sp>
      <p:pic>
        <p:nvPicPr>
          <p:cNvPr id="34" name="Image 4" descr="preencoded.png">
            <a:extLst>
              <a:ext uri="{FF2B5EF4-FFF2-40B4-BE49-F238E27FC236}">
                <a16:creationId xmlns:a16="http://schemas.microsoft.com/office/drawing/2014/main" id="{E9162025-C5B4-F4A3-2577-117098EB8640}"/>
              </a:ext>
            </a:extLst>
          </p:cNvPr>
          <p:cNvPicPr>
            <a:picLocks noChangeAspect="1"/>
          </p:cNvPicPr>
          <p:nvPr/>
        </p:nvPicPr>
        <p:blipFill>
          <a:blip r:embed="rId4"/>
          <a:stretch>
            <a:fillRect/>
          </a:stretch>
        </p:blipFill>
        <p:spPr>
          <a:xfrm>
            <a:off x="685800" y="4590288"/>
            <a:ext cx="320040" cy="320040"/>
          </a:xfrm>
          <a:prstGeom prst="rect">
            <a:avLst/>
          </a:prstGeom>
        </p:spPr>
      </p:pic>
      <p:sp useBgFill="1">
        <p:nvSpPr>
          <p:cNvPr id="36" name="Rectangle 35">
            <a:extLst>
              <a:ext uri="{FF2B5EF4-FFF2-40B4-BE49-F238E27FC236}">
                <a16:creationId xmlns:a16="http://schemas.microsoft.com/office/drawing/2014/main" id="{AA1904A5-C283-94F2-E29A-F4589B1C234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0"/>
            <a:ext cx="9141714" cy="51435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 name="Text 0">
            <a:extLst>
              <a:ext uri="{FF2B5EF4-FFF2-40B4-BE49-F238E27FC236}">
                <a16:creationId xmlns:a16="http://schemas.microsoft.com/office/drawing/2014/main" id="{0672DAD8-45A1-0817-FD2F-109D47622FC9}"/>
              </a:ext>
            </a:extLst>
          </p:cNvPr>
          <p:cNvSpPr/>
          <p:nvPr/>
        </p:nvSpPr>
        <p:spPr>
          <a:xfrm>
            <a:off x="479160" y="502663"/>
            <a:ext cx="7335912" cy="799377"/>
          </a:xfrm>
          <a:prstGeom prst="rect">
            <a:avLst/>
          </a:prstGeom>
        </p:spPr>
        <p:txBody>
          <a:bodyPr vert="horz" lIns="91440" tIns="45720" rIns="91440" bIns="45720" rtlCol="0" anchor="ctr">
            <a:normAutofit/>
          </a:bodyPr>
          <a:lstStyle/>
          <a:p>
            <a:pPr>
              <a:lnSpc>
                <a:spcPct val="90000"/>
              </a:lnSpc>
              <a:spcBef>
                <a:spcPct val="0"/>
              </a:spcBef>
              <a:spcAft>
                <a:spcPts val="600"/>
              </a:spcAft>
            </a:pPr>
            <a:r>
              <a:rPr lang="en-US" sz="2800" b="1" dirty="0">
                <a:solidFill>
                  <a:srgbClr val="0D4F4F"/>
                </a:solidFill>
                <a:latin typeface="Georgia" pitchFamily="34" charset="0"/>
              </a:rPr>
              <a:t>Mini HPL : </a:t>
            </a:r>
            <a:r>
              <a:rPr lang="en-US" sz="2800" b="1" dirty="0" err="1">
                <a:solidFill>
                  <a:srgbClr val="0D4F4F"/>
                </a:solidFill>
                <a:latin typeface="Georgia" pitchFamily="34" charset="0"/>
              </a:rPr>
              <a:t>Calcul</a:t>
            </a:r>
            <a:r>
              <a:rPr lang="en-US" sz="2800" b="1" dirty="0">
                <a:solidFill>
                  <a:srgbClr val="0D4F4F"/>
                </a:solidFill>
                <a:latin typeface="Georgia" pitchFamily="34" charset="0"/>
              </a:rPr>
              <a:t> du </a:t>
            </a:r>
            <a:r>
              <a:rPr lang="en-US" sz="2800" b="1" dirty="0" err="1">
                <a:solidFill>
                  <a:srgbClr val="0D4F4F"/>
                </a:solidFill>
                <a:latin typeface="Georgia" pitchFamily="34" charset="0"/>
              </a:rPr>
              <a:t>résidu</a:t>
            </a:r>
            <a:r>
              <a:rPr lang="en-US" sz="2800" b="1" dirty="0">
                <a:solidFill>
                  <a:srgbClr val="0D4F4F"/>
                </a:solidFill>
                <a:latin typeface="Georgia" pitchFamily="34" charset="0"/>
              </a:rPr>
              <a:t> </a:t>
            </a:r>
          </a:p>
        </p:txBody>
      </p:sp>
      <p:sp>
        <p:nvSpPr>
          <p:cNvPr id="39" name="sketch line">
            <a:extLst>
              <a:ext uri="{FF2B5EF4-FFF2-40B4-BE49-F238E27FC236}">
                <a16:creationId xmlns:a16="http://schemas.microsoft.com/office/drawing/2014/main" id="{B12720E2-C0B1-7255-0E27-A3F796E1214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2542032" y="1350066"/>
            <a:ext cx="4057650" cy="13716"/>
          </a:xfrm>
          <a:custGeom>
            <a:avLst/>
            <a:gdLst>
              <a:gd name="csX0" fmla="*/ 0 w 4057650"/>
              <a:gd name="csY0" fmla="*/ 0 h 13716"/>
              <a:gd name="csX1" fmla="*/ 757428 w 4057650"/>
              <a:gd name="csY1" fmla="*/ 0 h 13716"/>
              <a:gd name="csX2" fmla="*/ 1474279 w 4057650"/>
              <a:gd name="csY2" fmla="*/ 0 h 13716"/>
              <a:gd name="csX3" fmla="*/ 2191131 w 4057650"/>
              <a:gd name="csY3" fmla="*/ 0 h 13716"/>
              <a:gd name="csX4" fmla="*/ 2745676 w 4057650"/>
              <a:gd name="csY4" fmla="*/ 0 h 13716"/>
              <a:gd name="csX5" fmla="*/ 3340798 w 4057650"/>
              <a:gd name="csY5" fmla="*/ 0 h 13716"/>
              <a:gd name="csX6" fmla="*/ 4057650 w 4057650"/>
              <a:gd name="csY6" fmla="*/ 0 h 13716"/>
              <a:gd name="csX7" fmla="*/ 4057650 w 4057650"/>
              <a:gd name="csY7" fmla="*/ 13716 h 13716"/>
              <a:gd name="csX8" fmla="*/ 3381375 w 4057650"/>
              <a:gd name="csY8" fmla="*/ 13716 h 13716"/>
              <a:gd name="csX9" fmla="*/ 2826830 w 4057650"/>
              <a:gd name="csY9" fmla="*/ 13716 h 13716"/>
              <a:gd name="csX10" fmla="*/ 2272284 w 4057650"/>
              <a:gd name="csY10" fmla="*/ 13716 h 13716"/>
              <a:gd name="csX11" fmla="*/ 1555432 w 4057650"/>
              <a:gd name="csY11" fmla="*/ 13716 h 13716"/>
              <a:gd name="csX12" fmla="*/ 960310 w 4057650"/>
              <a:gd name="csY12" fmla="*/ 13716 h 13716"/>
              <a:gd name="csX13" fmla="*/ 0 w 4057650"/>
              <a:gd name="csY13" fmla="*/ 13716 h 13716"/>
              <a:gd name="csX14" fmla="*/ 0 w 4057650"/>
              <a:gd name="csY14" fmla="*/ 0 h 1371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Lst>
            <a:rect l="l" t="t" r="r" b="b"/>
            <a:pathLst>
              <a:path w="4057650" h="13716" fill="none" extrusionOk="0">
                <a:moveTo>
                  <a:pt x="0" y="0"/>
                </a:moveTo>
                <a:cubicBezTo>
                  <a:pt x="371182" y="3227"/>
                  <a:pt x="494372" y="9222"/>
                  <a:pt x="757428" y="0"/>
                </a:cubicBezTo>
                <a:cubicBezTo>
                  <a:pt x="1020484" y="-9222"/>
                  <a:pt x="1116719" y="-4357"/>
                  <a:pt x="1474279" y="0"/>
                </a:cubicBezTo>
                <a:cubicBezTo>
                  <a:pt x="1831839" y="4357"/>
                  <a:pt x="1920973" y="-11809"/>
                  <a:pt x="2191131" y="0"/>
                </a:cubicBezTo>
                <a:cubicBezTo>
                  <a:pt x="2461289" y="11809"/>
                  <a:pt x="2589480" y="-22604"/>
                  <a:pt x="2745676" y="0"/>
                </a:cubicBezTo>
                <a:cubicBezTo>
                  <a:pt x="2901872" y="22604"/>
                  <a:pt x="3136452" y="-12306"/>
                  <a:pt x="3340798" y="0"/>
                </a:cubicBezTo>
                <a:cubicBezTo>
                  <a:pt x="3545144" y="12306"/>
                  <a:pt x="3766934" y="-21556"/>
                  <a:pt x="4057650" y="0"/>
                </a:cubicBezTo>
                <a:cubicBezTo>
                  <a:pt x="4057378" y="4708"/>
                  <a:pt x="4057987" y="7132"/>
                  <a:pt x="4057650" y="13716"/>
                </a:cubicBezTo>
                <a:cubicBezTo>
                  <a:pt x="3743404" y="35553"/>
                  <a:pt x="3625516" y="-19495"/>
                  <a:pt x="3381375" y="13716"/>
                </a:cubicBezTo>
                <a:cubicBezTo>
                  <a:pt x="3137235" y="46927"/>
                  <a:pt x="2946571" y="-4571"/>
                  <a:pt x="2826830" y="13716"/>
                </a:cubicBezTo>
                <a:cubicBezTo>
                  <a:pt x="2707090" y="32003"/>
                  <a:pt x="2402756" y="-3140"/>
                  <a:pt x="2272284" y="13716"/>
                </a:cubicBezTo>
                <a:cubicBezTo>
                  <a:pt x="2141812" y="30572"/>
                  <a:pt x="1895935" y="13627"/>
                  <a:pt x="1555432" y="13716"/>
                </a:cubicBezTo>
                <a:cubicBezTo>
                  <a:pt x="1214929" y="13805"/>
                  <a:pt x="1103072" y="9931"/>
                  <a:pt x="960310" y="13716"/>
                </a:cubicBezTo>
                <a:cubicBezTo>
                  <a:pt x="817548" y="17501"/>
                  <a:pt x="402272" y="-33931"/>
                  <a:pt x="0" y="13716"/>
                </a:cubicBezTo>
                <a:cubicBezTo>
                  <a:pt x="-460" y="10837"/>
                  <a:pt x="38" y="6680"/>
                  <a:pt x="0" y="0"/>
                </a:cubicBezTo>
                <a:close/>
              </a:path>
              <a:path w="4057650" h="13716" stroke="0" extrusionOk="0">
                <a:moveTo>
                  <a:pt x="0" y="0"/>
                </a:moveTo>
                <a:cubicBezTo>
                  <a:pt x="248348" y="13145"/>
                  <a:pt x="486117" y="25042"/>
                  <a:pt x="635698" y="0"/>
                </a:cubicBezTo>
                <a:cubicBezTo>
                  <a:pt x="785279" y="-25042"/>
                  <a:pt x="917762" y="-5537"/>
                  <a:pt x="1190244" y="0"/>
                </a:cubicBezTo>
                <a:cubicBezTo>
                  <a:pt x="1462726" y="5537"/>
                  <a:pt x="1667120" y="-21232"/>
                  <a:pt x="1947672" y="0"/>
                </a:cubicBezTo>
                <a:cubicBezTo>
                  <a:pt x="2228224" y="21232"/>
                  <a:pt x="2280631" y="-21698"/>
                  <a:pt x="2583370" y="0"/>
                </a:cubicBezTo>
                <a:cubicBezTo>
                  <a:pt x="2886109" y="21698"/>
                  <a:pt x="3022941" y="19647"/>
                  <a:pt x="3219069" y="0"/>
                </a:cubicBezTo>
                <a:cubicBezTo>
                  <a:pt x="3415197" y="-19647"/>
                  <a:pt x="3747500" y="26991"/>
                  <a:pt x="4057650" y="0"/>
                </a:cubicBezTo>
                <a:cubicBezTo>
                  <a:pt x="4056980" y="3019"/>
                  <a:pt x="4057134" y="10425"/>
                  <a:pt x="4057650" y="13716"/>
                </a:cubicBezTo>
                <a:cubicBezTo>
                  <a:pt x="3865148" y="-7885"/>
                  <a:pt x="3702543" y="44896"/>
                  <a:pt x="3381375" y="13716"/>
                </a:cubicBezTo>
                <a:cubicBezTo>
                  <a:pt x="3060208" y="-17464"/>
                  <a:pt x="2956571" y="-13250"/>
                  <a:pt x="2826830" y="13716"/>
                </a:cubicBezTo>
                <a:cubicBezTo>
                  <a:pt x="2697089" y="40682"/>
                  <a:pt x="2411031" y="38582"/>
                  <a:pt x="2150555" y="13716"/>
                </a:cubicBezTo>
                <a:cubicBezTo>
                  <a:pt x="1890080" y="-11150"/>
                  <a:pt x="1741827" y="-5187"/>
                  <a:pt x="1474280" y="13716"/>
                </a:cubicBezTo>
                <a:cubicBezTo>
                  <a:pt x="1206734" y="32619"/>
                  <a:pt x="998203" y="28763"/>
                  <a:pt x="838581" y="13716"/>
                </a:cubicBezTo>
                <a:cubicBezTo>
                  <a:pt x="678959" y="-1331"/>
                  <a:pt x="187101" y="-17784"/>
                  <a:pt x="0" y="13716"/>
                </a:cubicBezTo>
                <a:cubicBezTo>
                  <a:pt x="-114" y="7033"/>
                  <a:pt x="103" y="3429"/>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Shape 2">
            <a:extLst>
              <a:ext uri="{FF2B5EF4-FFF2-40B4-BE49-F238E27FC236}">
                <a16:creationId xmlns:a16="http://schemas.microsoft.com/office/drawing/2014/main" id="{477320A8-98D4-BAAE-F46E-31787888ACB0}"/>
              </a:ext>
            </a:extLst>
          </p:cNvPr>
          <p:cNvSpPr/>
          <p:nvPr/>
        </p:nvSpPr>
        <p:spPr>
          <a:xfrm>
            <a:off x="342900" y="1508760"/>
            <a:ext cx="3732276" cy="3599104"/>
          </a:xfrm>
          <a:prstGeom prst="rect">
            <a:avLst/>
          </a:prstGeom>
          <a:solidFill>
            <a:srgbClr val="FFFFFF"/>
          </a:solidFill>
          <a:ln/>
          <a:effectLst>
            <a:outerShdw blurRad="50800" dist="25400" dir="8100000" algn="bl" rotWithShape="0">
              <a:srgbClr val="000000">
                <a:alpha val="8000"/>
              </a:srgbClr>
            </a:outerShdw>
          </a:effectLst>
        </p:spPr>
        <p:txBody>
          <a:bodyPr/>
          <a:lstStyle/>
          <a:p>
            <a:r>
              <a:rPr lang="fr-FR" sz="1000" b="1" i="1" dirty="0"/>
              <a:t>/* Chaque processus calcule sa contribution locale */</a:t>
            </a:r>
          </a:p>
          <a:p>
            <a:r>
              <a:rPr lang="fr-FR" sz="1000" b="1" i="1" dirty="0"/>
              <a:t>for (</a:t>
            </a:r>
            <a:r>
              <a:rPr lang="fr-FR" sz="1000" b="1" i="1" dirty="0" err="1"/>
              <a:t>int</a:t>
            </a:r>
            <a:r>
              <a:rPr lang="fr-FR" sz="1000" b="1" i="1" dirty="0"/>
              <a:t> li = 0; li &lt; </a:t>
            </a:r>
            <a:r>
              <a:rPr lang="fr-FR" sz="1000" b="1" i="1" dirty="0" err="1"/>
              <a:t>local_rows</a:t>
            </a:r>
            <a:r>
              <a:rPr lang="fr-FR" sz="1000" b="1" i="1" dirty="0"/>
              <a:t>; li++) {</a:t>
            </a:r>
          </a:p>
          <a:p>
            <a:r>
              <a:rPr lang="fr-FR" sz="1000" b="1" i="1" dirty="0"/>
              <a:t>    double </a:t>
            </a:r>
            <a:r>
              <a:rPr lang="fr-FR" sz="1000" b="1" i="1" dirty="0" err="1"/>
              <a:t>row_sum</a:t>
            </a:r>
            <a:r>
              <a:rPr lang="fr-FR" sz="1000" b="1" i="1" dirty="0"/>
              <a:t> = 0.0;</a:t>
            </a:r>
          </a:p>
          <a:p>
            <a:r>
              <a:rPr lang="fr-FR" sz="1000" b="1" i="1" dirty="0"/>
              <a:t>    double </a:t>
            </a:r>
            <a:r>
              <a:rPr lang="fr-FR" sz="1000" b="1" i="1" dirty="0" err="1"/>
              <a:t>Ax_i</a:t>
            </a:r>
            <a:r>
              <a:rPr lang="fr-FR" sz="1000" b="1" i="1" dirty="0"/>
              <a:t>    = 0.0;</a:t>
            </a:r>
          </a:p>
          <a:p>
            <a:r>
              <a:rPr lang="fr-FR" sz="1000" b="1" i="1" dirty="0"/>
              <a:t>    for (</a:t>
            </a:r>
            <a:r>
              <a:rPr lang="fr-FR" sz="1000" b="1" i="1" dirty="0" err="1"/>
              <a:t>int</a:t>
            </a:r>
            <a:r>
              <a:rPr lang="fr-FR" sz="1000" b="1" i="1" dirty="0"/>
              <a:t> j = 0; j &lt; N; j++) {</a:t>
            </a:r>
          </a:p>
          <a:p>
            <a:r>
              <a:rPr lang="fr-FR" sz="1000" b="1" i="1" dirty="0"/>
              <a:t>        </a:t>
            </a:r>
            <a:r>
              <a:rPr lang="fr-FR" sz="1000" b="1" i="1" dirty="0" err="1"/>
              <a:t>row_sum</a:t>
            </a:r>
            <a:r>
              <a:rPr lang="fr-FR" sz="1000" b="1" i="1" dirty="0"/>
              <a:t> += </a:t>
            </a:r>
            <a:r>
              <a:rPr lang="fr-FR" sz="1000" b="1" i="1" dirty="0" err="1"/>
              <a:t>fabs</a:t>
            </a:r>
            <a:r>
              <a:rPr lang="fr-FR" sz="1000" b="1" i="1" dirty="0"/>
              <a:t>(</a:t>
            </a:r>
            <a:r>
              <a:rPr lang="fr-FR" sz="1000" b="1" i="1" dirty="0" err="1"/>
              <a:t>A_orig</a:t>
            </a:r>
            <a:r>
              <a:rPr lang="fr-FR" sz="1000" b="1" i="1" dirty="0"/>
              <a:t>[IDX(li, j, N)]);</a:t>
            </a:r>
          </a:p>
          <a:p>
            <a:r>
              <a:rPr lang="fr-FR" sz="1000" b="1" i="1" dirty="0"/>
              <a:t>        </a:t>
            </a:r>
            <a:r>
              <a:rPr lang="fr-FR" sz="1000" b="1" i="1" dirty="0" err="1"/>
              <a:t>Ax_i</a:t>
            </a:r>
            <a:r>
              <a:rPr lang="fr-FR" sz="1000" b="1" i="1" dirty="0"/>
              <a:t>    += </a:t>
            </a:r>
            <a:r>
              <a:rPr lang="fr-FR" sz="1000" b="1" i="1" dirty="0" err="1"/>
              <a:t>A_orig</a:t>
            </a:r>
            <a:r>
              <a:rPr lang="fr-FR" sz="1000" b="1" i="1" dirty="0"/>
              <a:t>[IDX(li, j, N)] * </a:t>
            </a:r>
            <a:r>
              <a:rPr lang="fr-FR" sz="1000" b="1" i="1" dirty="0" err="1"/>
              <a:t>x_global</a:t>
            </a:r>
            <a:r>
              <a:rPr lang="fr-FR" sz="1000" b="1" i="1" dirty="0"/>
              <a:t>[j];</a:t>
            </a:r>
          </a:p>
          <a:p>
            <a:r>
              <a:rPr lang="fr-FR" sz="1000" b="1" i="1" dirty="0"/>
              <a:t>    }</a:t>
            </a:r>
          </a:p>
          <a:p>
            <a:r>
              <a:rPr lang="fr-FR" sz="1000" b="1" i="1" dirty="0"/>
              <a:t>    </a:t>
            </a:r>
            <a:r>
              <a:rPr lang="fr-FR" sz="1000" b="1" i="1" dirty="0" err="1"/>
              <a:t>local_res_norm</a:t>
            </a:r>
            <a:r>
              <a:rPr lang="fr-FR" sz="1000" b="1" i="1" dirty="0"/>
              <a:t> = </a:t>
            </a:r>
            <a:r>
              <a:rPr lang="fr-FR" sz="1000" b="1" i="1" dirty="0" err="1"/>
              <a:t>fmax</a:t>
            </a:r>
            <a:r>
              <a:rPr lang="fr-FR" sz="1000" b="1" i="1" dirty="0"/>
              <a:t>(</a:t>
            </a:r>
            <a:r>
              <a:rPr lang="fr-FR" sz="1000" b="1" i="1" dirty="0" err="1"/>
              <a:t>local_res_norm</a:t>
            </a:r>
            <a:r>
              <a:rPr lang="fr-FR" sz="1000" b="1" i="1" dirty="0"/>
              <a:t>,</a:t>
            </a:r>
          </a:p>
          <a:p>
            <a:r>
              <a:rPr lang="fr-FR" sz="1000" b="1" i="1" dirty="0"/>
              <a:t>                          </a:t>
            </a:r>
            <a:r>
              <a:rPr lang="fr-FR" sz="1000" b="1" i="1" dirty="0" err="1"/>
              <a:t>fabs</a:t>
            </a:r>
            <a:r>
              <a:rPr lang="fr-FR" sz="1000" b="1" i="1" dirty="0"/>
              <a:t>(</a:t>
            </a:r>
            <a:r>
              <a:rPr lang="fr-FR" sz="1000" b="1" i="1" dirty="0" err="1"/>
              <a:t>Ax_i</a:t>
            </a:r>
            <a:r>
              <a:rPr lang="fr-FR" sz="1000" b="1" i="1" dirty="0"/>
              <a:t> - </a:t>
            </a:r>
            <a:r>
              <a:rPr lang="fr-FR" sz="1000" b="1" i="1" dirty="0" err="1"/>
              <a:t>b_orig</a:t>
            </a:r>
            <a:r>
              <a:rPr lang="fr-FR" sz="1000" b="1" i="1" dirty="0"/>
              <a:t>[li]));</a:t>
            </a:r>
          </a:p>
          <a:p>
            <a:endParaRPr lang="fr-FR" sz="1000" b="1" i="1" dirty="0"/>
          </a:p>
          <a:p>
            <a:r>
              <a:rPr lang="fr-FR" sz="1000" b="1" i="1" dirty="0"/>
              <a:t>    </a:t>
            </a:r>
            <a:r>
              <a:rPr lang="fr-FR" sz="1000" b="1" i="1" dirty="0" err="1"/>
              <a:t>local_A_norm</a:t>
            </a:r>
            <a:r>
              <a:rPr lang="fr-FR" sz="1000" b="1" i="1" dirty="0"/>
              <a:t>   = </a:t>
            </a:r>
            <a:r>
              <a:rPr lang="fr-FR" sz="1000" b="1" i="1" dirty="0" err="1"/>
              <a:t>fmax</a:t>
            </a:r>
            <a:r>
              <a:rPr lang="fr-FR" sz="1000" b="1" i="1" dirty="0"/>
              <a:t>(</a:t>
            </a:r>
            <a:r>
              <a:rPr lang="fr-FR" sz="1000" b="1" i="1" dirty="0" err="1"/>
              <a:t>local_A_norm</a:t>
            </a:r>
            <a:r>
              <a:rPr lang="fr-FR" sz="1000" b="1" i="1" dirty="0"/>
              <a:t>,</a:t>
            </a:r>
          </a:p>
          <a:p>
            <a:r>
              <a:rPr lang="fr-FR" sz="1000" b="1" i="1" dirty="0"/>
              <a:t>                          </a:t>
            </a:r>
            <a:r>
              <a:rPr lang="fr-FR" sz="1000" b="1" i="1" dirty="0" err="1"/>
              <a:t>row_sum</a:t>
            </a:r>
            <a:r>
              <a:rPr lang="fr-FR" sz="1000" b="1" i="1" dirty="0"/>
              <a:t>);</a:t>
            </a:r>
          </a:p>
          <a:p>
            <a:r>
              <a:rPr lang="fr-FR" sz="1000" b="1" i="1" dirty="0"/>
              <a:t>}</a:t>
            </a:r>
          </a:p>
          <a:p>
            <a:endParaRPr lang="fr-FR" sz="1000" b="1" i="1" dirty="0"/>
          </a:p>
          <a:p>
            <a:r>
              <a:rPr lang="fr-FR" sz="1000" b="1" i="1" dirty="0"/>
              <a:t>/* Réduction : maximum global sur le processus 0 */</a:t>
            </a:r>
          </a:p>
          <a:p>
            <a:r>
              <a:rPr lang="fr-FR" sz="1000" b="1" i="1" dirty="0" err="1"/>
              <a:t>MPI_Reduce</a:t>
            </a:r>
            <a:r>
              <a:rPr lang="fr-FR" sz="1000" b="1" i="1" dirty="0"/>
              <a:t>(&amp;</a:t>
            </a:r>
            <a:r>
              <a:rPr lang="fr-FR" sz="1000" b="1" i="1" dirty="0" err="1"/>
              <a:t>local_res_norm</a:t>
            </a:r>
            <a:r>
              <a:rPr lang="fr-FR" sz="1000" b="1" i="1" dirty="0"/>
              <a:t>,</a:t>
            </a:r>
          </a:p>
          <a:p>
            <a:r>
              <a:rPr lang="fr-FR" sz="1000" b="1" i="1" dirty="0"/>
              <a:t>           &amp;</a:t>
            </a:r>
            <a:r>
              <a:rPr lang="fr-FR" sz="1000" b="1" i="1" dirty="0" err="1"/>
              <a:t>global_res_norm</a:t>
            </a:r>
            <a:r>
              <a:rPr lang="fr-FR" sz="1000" b="1" i="1" dirty="0"/>
              <a:t>,</a:t>
            </a:r>
          </a:p>
          <a:p>
            <a:r>
              <a:rPr lang="fr-FR" sz="1000" b="1" i="1" dirty="0"/>
              <a:t>           1,</a:t>
            </a:r>
          </a:p>
          <a:p>
            <a:r>
              <a:rPr lang="fr-FR" sz="1000" b="1" i="1" dirty="0"/>
              <a:t>           MPI_DOUBLE,</a:t>
            </a:r>
          </a:p>
          <a:p>
            <a:r>
              <a:rPr lang="fr-FR" sz="1000" b="1" i="1" dirty="0"/>
              <a:t>           MPI_MAX,</a:t>
            </a:r>
          </a:p>
          <a:p>
            <a:r>
              <a:rPr lang="fr-FR" sz="1000" b="1" i="1" dirty="0"/>
              <a:t>           0,</a:t>
            </a:r>
          </a:p>
          <a:p>
            <a:r>
              <a:rPr lang="fr-FR" sz="1000" b="1" i="1" dirty="0"/>
              <a:t>           MPI_COMM_WORLD);</a:t>
            </a:r>
          </a:p>
        </p:txBody>
      </p:sp>
      <p:pic>
        <p:nvPicPr>
          <p:cNvPr id="40" name="Image 0" descr="preencoded.png">
            <a:extLst>
              <a:ext uri="{FF2B5EF4-FFF2-40B4-BE49-F238E27FC236}">
                <a16:creationId xmlns:a16="http://schemas.microsoft.com/office/drawing/2014/main" id="{159AB926-03B3-FA4F-2C8C-CB3B46B043D1}"/>
              </a:ext>
            </a:extLst>
          </p:cNvPr>
          <p:cNvPicPr>
            <a:picLocks noChangeAspect="1"/>
          </p:cNvPicPr>
          <p:nvPr/>
        </p:nvPicPr>
        <p:blipFill>
          <a:blip r:embed="rId3"/>
          <a:stretch>
            <a:fillRect/>
          </a:stretch>
        </p:blipFill>
        <p:spPr>
          <a:xfrm>
            <a:off x="4129277" y="2544590"/>
            <a:ext cx="274320" cy="274320"/>
          </a:xfrm>
          <a:prstGeom prst="rect">
            <a:avLst/>
          </a:prstGeom>
        </p:spPr>
      </p:pic>
      <p:sp>
        <p:nvSpPr>
          <p:cNvPr id="9" name="Rectangle 8">
            <a:extLst>
              <a:ext uri="{FF2B5EF4-FFF2-40B4-BE49-F238E27FC236}">
                <a16:creationId xmlns:a16="http://schemas.microsoft.com/office/drawing/2014/main" id="{60961DDC-D0BC-7979-7F71-E2CEF88DE4EA}"/>
              </a:ext>
            </a:extLst>
          </p:cNvPr>
          <p:cNvSpPr/>
          <p:nvPr/>
        </p:nvSpPr>
        <p:spPr>
          <a:xfrm>
            <a:off x="4465320" y="1728502"/>
            <a:ext cx="4572000" cy="1862041"/>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a:p>
        </p:txBody>
      </p:sp>
      <p:sp>
        <p:nvSpPr>
          <p:cNvPr id="14" name="TextBox 15">
            <a:extLst>
              <a:ext uri="{FF2B5EF4-FFF2-40B4-BE49-F238E27FC236}">
                <a16:creationId xmlns:a16="http://schemas.microsoft.com/office/drawing/2014/main" id="{16D1483B-636D-0BA1-25E3-66F6DB9421A6}"/>
              </a:ext>
            </a:extLst>
          </p:cNvPr>
          <p:cNvSpPr txBox="1"/>
          <p:nvPr/>
        </p:nvSpPr>
        <p:spPr>
          <a:xfrm>
            <a:off x="4556760" y="1764030"/>
            <a:ext cx="4389120" cy="292388"/>
          </a:xfrm>
          <a:prstGeom prst="rect">
            <a:avLst/>
          </a:prstGeom>
          <a:noFill/>
        </p:spPr>
        <p:txBody>
          <a:bodyPr wrap="square">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l"/>
            <a:r>
              <a:rPr lang="fr-FR" sz="1300" b="1" dirty="0">
                <a:solidFill>
                  <a:srgbClr val="D4A843"/>
                </a:solidFill>
                <a:latin typeface="Calibri"/>
              </a:rPr>
              <a:t>Détails</a:t>
            </a:r>
            <a:endParaRPr sz="1300" b="1" i="0" dirty="0">
              <a:solidFill>
                <a:srgbClr val="D4A843"/>
              </a:solidFill>
              <a:latin typeface="Calibri"/>
            </a:endParaRPr>
          </a:p>
        </p:txBody>
      </p:sp>
      <mc:AlternateContent xmlns:mc="http://schemas.openxmlformats.org/markup-compatibility/2006" xmlns:a14="http://schemas.microsoft.com/office/drawing/2010/main">
        <mc:Choice Requires="a14">
          <p:sp>
            <p:nvSpPr>
              <p:cNvPr id="18" name="TextBox 16">
                <a:extLst>
                  <a:ext uri="{FF2B5EF4-FFF2-40B4-BE49-F238E27FC236}">
                    <a16:creationId xmlns:a16="http://schemas.microsoft.com/office/drawing/2014/main" id="{6331A60F-05DF-B03F-DB66-642BDBBFDE93}"/>
                  </a:ext>
                </a:extLst>
              </p:cNvPr>
              <p:cNvSpPr txBox="1"/>
              <p:nvPr/>
            </p:nvSpPr>
            <p:spPr>
              <a:xfrm>
                <a:off x="4556760" y="2129790"/>
                <a:ext cx="4389120" cy="1323439"/>
              </a:xfrm>
              <a:prstGeom prst="rect">
                <a:avLst/>
              </a:prstGeom>
              <a:noFill/>
            </p:spPr>
            <p:txBody>
              <a:bodyPr wrap="square">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spcAft>
                    <a:spcPts val="200"/>
                  </a:spcAft>
                </a:pPr>
                <a:r>
                  <a:rPr lang="fr-FR" sz="1000" b="1" dirty="0">
                    <a:solidFill>
                      <a:srgbClr val="0D4F4F"/>
                    </a:solidFill>
                  </a:rPr>
                  <a:t>Chaque processus calcule sa partie de </a:t>
                </a:r>
                <a14:m>
                  <m:oMath xmlns:m="http://schemas.openxmlformats.org/officeDocument/2006/math">
                    <m:r>
                      <a:rPr lang="fr-FR" sz="1000" b="1">
                        <a:solidFill>
                          <a:srgbClr val="0D4F4F"/>
                        </a:solidFill>
                        <a:latin typeface="Cambria Math" panose="02040503050406030204" pitchFamily="18" charset="0"/>
                      </a:rPr>
                      <m:t>𝐴𝑥</m:t>
                    </m:r>
                  </m:oMath>
                </a14:m>
                <a:r>
                  <a:rPr lang="fr-FR" sz="1000" b="1" dirty="0">
                    <a:solidFill>
                      <a:srgbClr val="0D4F4F"/>
                    </a:solidFill>
                  </a:rPr>
                  <a:t>sur ses lignes.</a:t>
                </a:r>
                <a:endParaRPr sz="1000" b="1" dirty="0">
                  <a:solidFill>
                    <a:srgbClr val="0D4F4F"/>
                  </a:solidFill>
                </a:endParaRPr>
              </a:p>
              <a:p>
                <a:pPr>
                  <a:spcAft>
                    <a:spcPts val="200"/>
                  </a:spcAft>
                </a:pPr>
                <a:endParaRPr lang="fr-FR" sz="1000" b="1" dirty="0">
                  <a:solidFill>
                    <a:srgbClr val="E07A5F"/>
                  </a:solidFill>
                  <a:latin typeface="Calibri"/>
                </a:endParaRPr>
              </a:p>
              <a:p>
                <a:pPr>
                  <a:spcAft>
                    <a:spcPts val="200"/>
                  </a:spcAft>
                </a:pPr>
                <a:r>
                  <a:rPr lang="fr-FR" sz="1000" b="1" dirty="0">
                    <a:solidFill>
                      <a:srgbClr val="E07A5F"/>
                    </a:solidFill>
                    <a:latin typeface="Calibri"/>
                  </a:rPr>
                  <a:t>On calcule la norme infinie du résidu local.</a:t>
                </a:r>
                <a:endParaRPr sz="1000" b="1" dirty="0">
                  <a:solidFill>
                    <a:srgbClr val="E07A5F"/>
                  </a:solidFill>
                  <a:latin typeface="Calibri"/>
                </a:endParaRPr>
              </a:p>
              <a:p>
                <a:pPr>
                  <a:spcAft>
                    <a:spcPts val="200"/>
                  </a:spcAft>
                </a:pPr>
                <a:endParaRPr lang="fr-FR" sz="1000" b="1" dirty="0">
                  <a:solidFill>
                    <a:srgbClr val="0D4F4F"/>
                  </a:solidFill>
                  <a:latin typeface="Calibri"/>
                </a:endParaRPr>
              </a:p>
              <a:p>
                <a:pPr>
                  <a:spcAft>
                    <a:spcPts val="200"/>
                  </a:spcAft>
                </a:pPr>
                <a:r>
                  <a:rPr lang="fr-FR" sz="1000" b="1" dirty="0">
                    <a:solidFill>
                      <a:srgbClr val="0D4F4F"/>
                    </a:solidFill>
                    <a:latin typeface="Calibri"/>
                  </a:rPr>
                  <a:t>On calcule aussi la norme infinie de </a:t>
                </a:r>
                <a14:m>
                  <m:oMath xmlns:m="http://schemas.openxmlformats.org/officeDocument/2006/math">
                    <m:r>
                      <a:rPr lang="fr-FR" sz="1000" b="1">
                        <a:solidFill>
                          <a:srgbClr val="0D4F4F"/>
                        </a:solidFill>
                        <a:latin typeface="Cambria Math" panose="02040503050406030204" pitchFamily="18" charset="0"/>
                      </a:rPr>
                      <m:t>𝐴</m:t>
                    </m:r>
                  </m:oMath>
                </a14:m>
                <a:r>
                  <a:rPr lang="fr-FR" sz="1000" b="1" dirty="0">
                    <a:solidFill>
                      <a:srgbClr val="0D4F4F"/>
                    </a:solidFill>
                    <a:latin typeface="Calibri"/>
                  </a:rPr>
                  <a:t>localement.</a:t>
                </a:r>
                <a:endParaRPr sz="1000" b="1" dirty="0">
                  <a:solidFill>
                    <a:srgbClr val="0D4F4F"/>
                  </a:solidFill>
                  <a:latin typeface="Calibri"/>
                </a:endParaRPr>
              </a:p>
              <a:p>
                <a:pPr>
                  <a:spcAft>
                    <a:spcPts val="200"/>
                  </a:spcAft>
                </a:pPr>
                <a:endParaRPr lang="fr-FR" sz="1000" dirty="0">
                  <a:solidFill>
                    <a:srgbClr val="4A4A5A"/>
                  </a:solidFill>
                  <a:latin typeface="Calibri"/>
                </a:endParaRPr>
              </a:p>
              <a:p>
                <a:pPr>
                  <a:spcAft>
                    <a:spcPts val="200"/>
                  </a:spcAft>
                </a:pPr>
                <a:r>
                  <a:rPr lang="fr-FR" sz="1000" b="1" dirty="0">
                    <a:solidFill>
                      <a:srgbClr val="E07A5F"/>
                    </a:solidFill>
                    <a:latin typeface="Calibri"/>
                  </a:rPr>
                  <a:t>On récupère le maximum global avec </a:t>
                </a:r>
                <a:r>
                  <a:rPr lang="fr-FR" sz="1000" b="1" dirty="0" err="1">
                    <a:solidFill>
                      <a:srgbClr val="E07A5F"/>
                    </a:solidFill>
                    <a:latin typeface="Calibri"/>
                  </a:rPr>
                  <a:t>MPI_Reduce</a:t>
                </a:r>
                <a:r>
                  <a:rPr lang="fr-FR" sz="1000" b="1" dirty="0">
                    <a:solidFill>
                      <a:srgbClr val="E07A5F"/>
                    </a:solidFill>
                    <a:latin typeface="Calibri"/>
                  </a:rPr>
                  <a:t>.</a:t>
                </a:r>
              </a:p>
            </p:txBody>
          </p:sp>
        </mc:Choice>
        <mc:Fallback xmlns="">
          <p:sp>
            <p:nvSpPr>
              <p:cNvPr id="18" name="TextBox 16">
                <a:extLst>
                  <a:ext uri="{FF2B5EF4-FFF2-40B4-BE49-F238E27FC236}">
                    <a16:creationId xmlns:a16="http://schemas.microsoft.com/office/drawing/2014/main" id="{6331A60F-05DF-B03F-DB66-642BDBBFDE93}"/>
                  </a:ext>
                </a:extLst>
              </p:cNvPr>
              <p:cNvSpPr txBox="1">
                <a:spLocks noRot="1" noChangeAspect="1" noMove="1" noResize="1" noEditPoints="1" noAdjustHandles="1" noChangeArrowheads="1" noChangeShapeType="1" noTextEdit="1"/>
              </p:cNvSpPr>
              <p:nvPr/>
            </p:nvSpPr>
            <p:spPr>
              <a:xfrm>
                <a:off x="4556760" y="2129790"/>
                <a:ext cx="4389120" cy="1323439"/>
              </a:xfrm>
              <a:prstGeom prst="rect">
                <a:avLst/>
              </a:prstGeom>
              <a:blipFill>
                <a:blip r:embed="rId5"/>
                <a:stretch>
                  <a:fillRect b="-2304"/>
                </a:stretch>
              </a:blipFill>
            </p:spPr>
            <p:txBody>
              <a:bodyPr/>
              <a:lstStyle/>
              <a:p>
                <a:r>
                  <a:rPr lang="fr-FR">
                    <a:noFill/>
                  </a:rPr>
                  <a:t> </a:t>
                </a:r>
              </a:p>
            </p:txBody>
          </p:sp>
        </mc:Fallback>
      </mc:AlternateContent>
      <p:pic>
        <p:nvPicPr>
          <p:cNvPr id="23" name="Image 0" descr="preencoded.png">
            <a:extLst>
              <a:ext uri="{FF2B5EF4-FFF2-40B4-BE49-F238E27FC236}">
                <a16:creationId xmlns:a16="http://schemas.microsoft.com/office/drawing/2014/main" id="{349C72FF-5247-573E-D001-CF9960B8FC4F}"/>
              </a:ext>
            </a:extLst>
          </p:cNvPr>
          <p:cNvPicPr>
            <a:picLocks noChangeAspect="1"/>
          </p:cNvPicPr>
          <p:nvPr/>
        </p:nvPicPr>
        <p:blipFill>
          <a:blip r:embed="rId3"/>
          <a:stretch>
            <a:fillRect/>
          </a:stretch>
        </p:blipFill>
        <p:spPr>
          <a:xfrm rot="5400000">
            <a:off x="6477000" y="3663915"/>
            <a:ext cx="274320" cy="274320"/>
          </a:xfrm>
          <a:prstGeom prst="rect">
            <a:avLst/>
          </a:prstGeom>
        </p:spPr>
      </p:pic>
      <p:pic>
        <p:nvPicPr>
          <p:cNvPr id="33" name="Image 32" descr="Une image contenant texte, Police, ligne, nombre&#10;&#10;Le contenu généré par l’IA peut être incorrect.">
            <a:extLst>
              <a:ext uri="{FF2B5EF4-FFF2-40B4-BE49-F238E27FC236}">
                <a16:creationId xmlns:a16="http://schemas.microsoft.com/office/drawing/2014/main" id="{46A8B691-744A-3C18-2755-B9CA687F4C3F}"/>
              </a:ext>
            </a:extLst>
          </p:cNvPr>
          <p:cNvPicPr>
            <a:picLocks noChangeAspect="1"/>
          </p:cNvPicPr>
          <p:nvPr/>
        </p:nvPicPr>
        <p:blipFill>
          <a:blip r:embed="rId6"/>
          <a:stretch>
            <a:fillRect/>
          </a:stretch>
        </p:blipFill>
        <p:spPr>
          <a:xfrm>
            <a:off x="5530024" y="4021351"/>
            <a:ext cx="2009775" cy="542925"/>
          </a:xfrm>
          <a:prstGeom prst="rect">
            <a:avLst/>
          </a:prstGeom>
        </p:spPr>
      </p:pic>
      <p:pic>
        <p:nvPicPr>
          <p:cNvPr id="35" name="Image 0" descr="preencoded.png">
            <a:extLst>
              <a:ext uri="{FF2B5EF4-FFF2-40B4-BE49-F238E27FC236}">
                <a16:creationId xmlns:a16="http://schemas.microsoft.com/office/drawing/2014/main" id="{A42C1CD2-CFEF-F1F0-B7FA-1400A5CC401B}"/>
              </a:ext>
            </a:extLst>
          </p:cNvPr>
          <p:cNvPicPr>
            <a:picLocks noChangeAspect="1"/>
          </p:cNvPicPr>
          <p:nvPr/>
        </p:nvPicPr>
        <p:blipFill>
          <a:blip r:embed="rId3"/>
          <a:stretch>
            <a:fillRect/>
          </a:stretch>
        </p:blipFill>
        <p:spPr>
          <a:xfrm>
            <a:off x="7680960" y="4160520"/>
            <a:ext cx="274320" cy="274320"/>
          </a:xfrm>
          <a:prstGeom prst="rect">
            <a:avLst/>
          </a:prstGeom>
        </p:spPr>
      </p:pic>
      <p:pic>
        <p:nvPicPr>
          <p:cNvPr id="41" name="Image 40">
            <a:extLst>
              <a:ext uri="{FF2B5EF4-FFF2-40B4-BE49-F238E27FC236}">
                <a16:creationId xmlns:a16="http://schemas.microsoft.com/office/drawing/2014/main" id="{3039E323-0AA9-B42E-EDF4-F6839DBD3292}"/>
              </a:ext>
            </a:extLst>
          </p:cNvPr>
          <p:cNvPicPr>
            <a:picLocks noChangeAspect="1"/>
          </p:cNvPicPr>
          <p:nvPr/>
        </p:nvPicPr>
        <p:blipFill>
          <a:blip r:embed="rId7"/>
          <a:stretch>
            <a:fillRect/>
          </a:stretch>
        </p:blipFill>
        <p:spPr>
          <a:xfrm>
            <a:off x="8058722" y="4073842"/>
            <a:ext cx="904875" cy="447675"/>
          </a:xfrm>
          <a:prstGeom prst="rect">
            <a:avLst/>
          </a:prstGeom>
        </p:spPr>
      </p:pic>
      <p:sp>
        <p:nvSpPr>
          <p:cNvPr id="28" name="TextBox 27">
            <a:extLst>
              <a:ext uri="{FF2B5EF4-FFF2-40B4-BE49-F238E27FC236}">
                <a16:creationId xmlns:a16="http://schemas.microsoft.com/office/drawing/2014/main" id="{BD391DC4-88E1-11F0-22D3-D064C940978F}"/>
              </a:ext>
            </a:extLst>
          </p:cNvPr>
          <p:cNvSpPr txBox="1"/>
          <p:nvPr/>
        </p:nvSpPr>
        <p:spPr>
          <a:xfrm>
            <a:off x="8394732" y="43934"/>
            <a:ext cx="809837" cy="369332"/>
          </a:xfrm>
          <a:prstGeom prst="rect">
            <a:avLst/>
          </a:prstGeom>
          <a:noFill/>
        </p:spPr>
        <p:txBody>
          <a:bodyPr wrap="none" rtlCol="0">
            <a:spAutoFit/>
          </a:bodyPr>
          <a:lstStyle/>
          <a:p>
            <a:r>
              <a:rPr lang="fr-FR" b="1" dirty="0">
                <a:solidFill>
                  <a:srgbClr val="0D4F4F"/>
                </a:solidFill>
                <a:latin typeface="Georgia"/>
              </a:rPr>
              <a:t>12/21</a:t>
            </a:r>
          </a:p>
        </p:txBody>
      </p:sp>
    </p:spTree>
    <p:extLst>
      <p:ext uri="{BB962C8B-B14F-4D97-AF65-F5344CB8AC3E}">
        <p14:creationId xmlns:p14="http://schemas.microsoft.com/office/powerpoint/2010/main" val="167992676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9144000" cy="5143500"/>
          </a:xfrm>
          <a:prstGeom prst="rect">
            <a:avLst/>
          </a:prstGeom>
          <a:solidFill>
            <a:srgbClr val="0D4F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548640" y="822960"/>
            <a:ext cx="54864" cy="1645920"/>
          </a:xfrm>
          <a:prstGeom prst="rect">
            <a:avLst/>
          </a:prstGeom>
          <a:solidFill>
            <a:srgbClr val="D4A84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822960" y="731520"/>
            <a:ext cx="7315200" cy="914400"/>
          </a:xfrm>
          <a:prstGeom prst="rect">
            <a:avLst/>
          </a:prstGeom>
          <a:noFill/>
        </p:spPr>
        <p:txBody>
          <a:bodyPr wrap="square">
            <a:spAutoFit/>
          </a:bodyPr>
          <a:lstStyle/>
          <a:p>
            <a:pPr algn="l"/>
            <a:r>
              <a:rPr sz="3000" b="1" i="0">
                <a:solidFill>
                  <a:srgbClr val="FFFFFF"/>
                </a:solidFill>
                <a:latin typeface="Georgia"/>
              </a:rPr>
              <a:t>HPL Benchmark
Implémentation et résultats GPU</a:t>
            </a:r>
          </a:p>
        </p:txBody>
      </p:sp>
      <p:sp>
        <p:nvSpPr>
          <p:cNvPr id="5" name="TextBox 4"/>
          <p:cNvSpPr txBox="1"/>
          <p:nvPr/>
        </p:nvSpPr>
        <p:spPr>
          <a:xfrm>
            <a:off x="822960" y="1828800"/>
            <a:ext cx="7315200" cy="731520"/>
          </a:xfrm>
          <a:prstGeom prst="rect">
            <a:avLst/>
          </a:prstGeom>
          <a:noFill/>
        </p:spPr>
        <p:txBody>
          <a:bodyPr wrap="square">
            <a:spAutoFit/>
          </a:bodyPr>
          <a:lstStyle/>
          <a:p>
            <a:pPr algn="l"/>
            <a:r>
              <a:rPr sz="1600" b="0" i="0">
                <a:solidFill>
                  <a:srgbClr val="B0D4D4"/>
                </a:solidFill>
                <a:latin typeface="Calibri"/>
              </a:rPr>
              <a:t>Analyse comparative A100 (Ampere) vs H100 (Hopper)
Partie 2 : Exécution, Résultats, Analyse</a:t>
            </a:r>
          </a:p>
        </p:txBody>
      </p:sp>
      <p:sp>
        <p:nvSpPr>
          <p:cNvPr id="6" name="Rectangle 5"/>
          <p:cNvSpPr/>
          <p:nvPr/>
        </p:nvSpPr>
        <p:spPr>
          <a:xfrm>
            <a:off x="0" y="3566160"/>
            <a:ext cx="9144000" cy="27432"/>
          </a:xfrm>
          <a:prstGeom prst="rect">
            <a:avLst/>
          </a:prstGeom>
          <a:solidFill>
            <a:srgbClr val="D4A84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822960" y="3703320"/>
            <a:ext cx="7315200" cy="274320"/>
          </a:xfrm>
          <a:prstGeom prst="rect">
            <a:avLst/>
          </a:prstGeom>
          <a:noFill/>
        </p:spPr>
        <p:txBody>
          <a:bodyPr wrap="square">
            <a:spAutoFit/>
          </a:bodyPr>
          <a:lstStyle/>
          <a:p>
            <a:pPr algn="l"/>
            <a:r>
              <a:rPr sz="1400" b="1" i="0" dirty="0">
                <a:solidFill>
                  <a:srgbClr val="D4A843"/>
                </a:solidFill>
                <a:latin typeface="Calibri"/>
              </a:rPr>
              <a:t>BENMALK Achraf</a:t>
            </a:r>
          </a:p>
        </p:txBody>
      </p:sp>
      <p:sp>
        <p:nvSpPr>
          <p:cNvPr id="8" name="TextBox 7"/>
          <p:cNvSpPr txBox="1"/>
          <p:nvPr/>
        </p:nvSpPr>
        <p:spPr>
          <a:xfrm>
            <a:off x="822960" y="3977639"/>
            <a:ext cx="7315200" cy="274320"/>
          </a:xfrm>
          <a:prstGeom prst="rect">
            <a:avLst/>
          </a:prstGeom>
          <a:noFill/>
        </p:spPr>
        <p:txBody>
          <a:bodyPr wrap="square">
            <a:spAutoFit/>
          </a:bodyPr>
          <a:lstStyle/>
          <a:p>
            <a:pPr algn="l"/>
            <a:r>
              <a:rPr sz="1100" b="0" i="0">
                <a:solidFill>
                  <a:srgbClr val="7FB8B8"/>
                </a:solidFill>
                <a:latin typeface="Calibri"/>
              </a:rPr>
              <a:t>Projet MPNA — Méthodes et Programmation Numérique Avancée — 2026</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9144000" cy="5143500"/>
          </a:xfrm>
          <a:prstGeom prst="rect">
            <a:avLst/>
          </a:prstGeom>
          <a:solidFill>
            <a:srgbClr val="FAF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228600"/>
            <a:ext cx="7772400" cy="457200"/>
          </a:xfrm>
          <a:prstGeom prst="rect">
            <a:avLst/>
          </a:prstGeom>
          <a:noFill/>
        </p:spPr>
        <p:txBody>
          <a:bodyPr wrap="square" lIns="0" tIns="0" rIns="0" bIns="0">
            <a:spAutoFit/>
          </a:bodyPr>
          <a:lstStyle/>
          <a:p>
            <a:r>
              <a:rPr sz="2400" b="1">
                <a:solidFill>
                  <a:srgbClr val="0D4F4F"/>
                </a:solidFill>
                <a:latin typeface="Georgia"/>
              </a:rPr>
              <a:t>Plateforme d'exécution</a:t>
            </a:r>
          </a:p>
        </p:txBody>
      </p:sp>
      <p:sp>
        <p:nvSpPr>
          <p:cNvPr id="4" name="TextBox 3"/>
          <p:cNvSpPr txBox="1"/>
          <p:nvPr/>
        </p:nvSpPr>
        <p:spPr>
          <a:xfrm>
            <a:off x="548640" y="658368"/>
            <a:ext cx="7772400" cy="274320"/>
          </a:xfrm>
          <a:prstGeom prst="rect">
            <a:avLst/>
          </a:prstGeom>
          <a:noFill/>
        </p:spPr>
        <p:txBody>
          <a:bodyPr wrap="none" lIns="0" tIns="0" rIns="0" bIns="0">
            <a:spAutoFit/>
          </a:bodyPr>
          <a:lstStyle/>
          <a:p>
            <a:r>
              <a:rPr sz="1200" i="1">
                <a:solidFill>
                  <a:srgbClr val="8A8A9A"/>
                </a:solidFill>
                <a:latin typeface="Calibri"/>
              </a:rPr>
              <a:t>Cluster HPC avec GPUs NVIDIA — Conteneur HPC-Benchmarks 23.10</a:t>
            </a:r>
          </a:p>
        </p:txBody>
      </p:sp>
      <p:sp>
        <p:nvSpPr>
          <p:cNvPr id="5" name="Rectangle 4"/>
          <p:cNvSpPr/>
          <p:nvPr/>
        </p:nvSpPr>
        <p:spPr>
          <a:xfrm>
            <a:off x="365760" y="1097280"/>
            <a:ext cx="3840480" cy="256032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365760" y="1097280"/>
            <a:ext cx="3840480" cy="45720"/>
          </a:xfrm>
          <a:prstGeom prst="rect">
            <a:avLst/>
          </a:prstGeom>
          <a:solidFill>
            <a:srgbClr val="0E7C7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457200" y="1234440"/>
            <a:ext cx="3657600" cy="320040"/>
          </a:xfrm>
          <a:prstGeom prst="rect">
            <a:avLst/>
          </a:prstGeom>
          <a:noFill/>
        </p:spPr>
        <p:txBody>
          <a:bodyPr wrap="square">
            <a:spAutoFit/>
          </a:bodyPr>
          <a:lstStyle/>
          <a:p>
            <a:pPr algn="l"/>
            <a:r>
              <a:rPr sz="1300" b="1" i="0">
                <a:solidFill>
                  <a:srgbClr val="0E7C7B"/>
                </a:solidFill>
                <a:latin typeface="Calibri"/>
              </a:rPr>
              <a:t>Environnement</a:t>
            </a:r>
          </a:p>
        </p:txBody>
      </p:sp>
      <p:sp>
        <p:nvSpPr>
          <p:cNvPr id="8" name="TextBox 7"/>
          <p:cNvSpPr txBox="1"/>
          <p:nvPr/>
        </p:nvSpPr>
        <p:spPr>
          <a:xfrm>
            <a:off x="457200" y="1600200"/>
            <a:ext cx="3657600" cy="1828800"/>
          </a:xfrm>
          <a:prstGeom prst="rect">
            <a:avLst/>
          </a:prstGeom>
          <a:noFill/>
        </p:spPr>
        <p:txBody>
          <a:bodyPr wrap="square">
            <a:spAutoFit/>
          </a:bodyPr>
          <a:lstStyle/>
          <a:p>
            <a:pPr>
              <a:spcAft>
                <a:spcPts val="400"/>
              </a:spcAft>
            </a:pPr>
            <a:r>
              <a:rPr sz="1100" b="0">
                <a:solidFill>
                  <a:srgbClr val="4A4A5A"/>
                </a:solidFill>
                <a:latin typeface="Calibri"/>
              </a:rPr>
              <a:t>Conteneur NVIDIA HPC-Benchmarks 23.10</a:t>
            </a:r>
          </a:p>
          <a:p>
            <a:pPr>
              <a:spcAft>
                <a:spcPts val="400"/>
              </a:spcAft>
            </a:pPr>
            <a:r>
              <a:rPr sz="1100" b="0">
                <a:solidFill>
                  <a:srgbClr val="4A4A5A"/>
                </a:solidFill>
                <a:latin typeface="Calibri"/>
              </a:rPr>
              <a:t>Déploiement via Singularity</a:t>
            </a:r>
          </a:p>
          <a:p>
            <a:pPr>
              <a:spcAft>
                <a:spcPts val="400"/>
              </a:spcAft>
            </a:pPr>
            <a:r>
              <a:rPr sz="1100" b="0">
                <a:solidFill>
                  <a:srgbClr val="4A4A5A"/>
                </a:solidFill>
                <a:latin typeface="Calibri"/>
              </a:rPr>
              <a:t>Bibliothèques : cuBLAS + NCCL</a:t>
            </a:r>
          </a:p>
          <a:p>
            <a:pPr>
              <a:spcAft>
                <a:spcPts val="400"/>
              </a:spcAft>
            </a:pPr>
            <a:r>
              <a:rPr sz="1100" b="0">
                <a:solidFill>
                  <a:srgbClr val="4A4A5A"/>
                </a:solidFill>
                <a:latin typeface="Calibri"/>
              </a:rPr>
              <a:t>Ordonnanceur : Slurm</a:t>
            </a:r>
          </a:p>
          <a:p>
            <a:pPr>
              <a:spcAft>
                <a:spcPts val="400"/>
              </a:spcAft>
            </a:pPr>
            <a:r>
              <a:rPr sz="1100" b="0">
                <a:solidFill>
                  <a:srgbClr val="4A4A5A"/>
                </a:solidFill>
                <a:latin typeface="Calibri"/>
              </a:rPr>
              <a:t>Tensor Cores FP64 pour DGEMM</a:t>
            </a:r>
          </a:p>
        </p:txBody>
      </p:sp>
      <p:sp>
        <p:nvSpPr>
          <p:cNvPr id="9" name="Rectangle 8"/>
          <p:cNvSpPr/>
          <p:nvPr/>
        </p:nvSpPr>
        <p:spPr>
          <a:xfrm>
            <a:off x="4389120" y="1097280"/>
            <a:ext cx="4572000" cy="256032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p:cNvSpPr/>
          <p:nvPr/>
        </p:nvSpPr>
        <p:spPr>
          <a:xfrm>
            <a:off x="4389120" y="1097280"/>
            <a:ext cx="4572000" cy="45720"/>
          </a:xfrm>
          <a:prstGeom prst="rect">
            <a:avLst/>
          </a:prstGeom>
          <a:solidFill>
            <a:srgbClr val="D4A84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4480560" y="1234440"/>
            <a:ext cx="4389120" cy="320040"/>
          </a:xfrm>
          <a:prstGeom prst="rect">
            <a:avLst/>
          </a:prstGeom>
          <a:noFill/>
        </p:spPr>
        <p:txBody>
          <a:bodyPr wrap="square">
            <a:spAutoFit/>
          </a:bodyPr>
          <a:lstStyle/>
          <a:p>
            <a:pPr algn="l"/>
            <a:r>
              <a:rPr sz="1300" b="1" i="0">
                <a:solidFill>
                  <a:srgbClr val="D4A843"/>
                </a:solidFill>
                <a:latin typeface="Calibri"/>
              </a:rPr>
              <a:t>GPUs testés</a:t>
            </a:r>
          </a:p>
        </p:txBody>
      </p:sp>
      <p:graphicFrame>
        <p:nvGraphicFramePr>
          <p:cNvPr id="12" name="Table 11"/>
          <p:cNvGraphicFramePr>
            <a:graphicFrameLocks noGrp="1"/>
          </p:cNvGraphicFramePr>
          <p:nvPr/>
        </p:nvGraphicFramePr>
        <p:xfrm>
          <a:off x="4480560" y="1645920"/>
          <a:ext cx="4389120" cy="1828800"/>
        </p:xfrm>
        <a:graphic>
          <a:graphicData uri="http://schemas.openxmlformats.org/drawingml/2006/table">
            <a:tbl>
              <a:tblPr firstRow="1" bandRow="1">
                <a:tableStyleId>{5C22544A-7EE6-4342-B048-85BDC9FD1C3A}</a:tableStyleId>
              </a:tblPr>
              <a:tblGrid>
                <a:gridCol w="1463040">
                  <a:extLst>
                    <a:ext uri="{9D8B030D-6E8A-4147-A177-3AD203B41FA5}">
                      <a16:colId xmlns:a16="http://schemas.microsoft.com/office/drawing/2014/main" val="20000"/>
                    </a:ext>
                  </a:extLst>
                </a:gridCol>
                <a:gridCol w="1463040">
                  <a:extLst>
                    <a:ext uri="{9D8B030D-6E8A-4147-A177-3AD203B41FA5}">
                      <a16:colId xmlns:a16="http://schemas.microsoft.com/office/drawing/2014/main" val="20001"/>
                    </a:ext>
                  </a:extLst>
                </a:gridCol>
                <a:gridCol w="1463040">
                  <a:extLst>
                    <a:ext uri="{9D8B030D-6E8A-4147-A177-3AD203B41FA5}">
                      <a16:colId xmlns:a16="http://schemas.microsoft.com/office/drawing/2014/main" val="20002"/>
                    </a:ext>
                  </a:extLst>
                </a:gridCol>
              </a:tblGrid>
              <a:tr h="365760">
                <a:tc>
                  <a:txBody>
                    <a:bodyPr/>
                    <a:lstStyle/>
                    <a:p>
                      <a:pPr algn="ctr"/>
                      <a:endParaRPr/>
                    </a:p>
                  </a:txBody>
                  <a:tcPr>
                    <a:solidFill>
                      <a:srgbClr val="0D4F4F"/>
                    </a:solidFill>
                  </a:tcPr>
                </a:tc>
                <a:tc>
                  <a:txBody>
                    <a:bodyPr/>
                    <a:lstStyle/>
                    <a:p>
                      <a:pPr algn="ctr"/>
                      <a:r>
                        <a:rPr sz="1000" b="1">
                          <a:solidFill>
                            <a:srgbClr val="FFFFFF"/>
                          </a:solidFill>
                          <a:latin typeface="Calibri"/>
                        </a:rPr>
                        <a:t>A100 (Ampere)</a:t>
                      </a:r>
                    </a:p>
                  </a:txBody>
                  <a:tcPr>
                    <a:solidFill>
                      <a:srgbClr val="0D4F4F"/>
                    </a:solidFill>
                  </a:tcPr>
                </a:tc>
                <a:tc>
                  <a:txBody>
                    <a:bodyPr/>
                    <a:lstStyle/>
                    <a:p>
                      <a:pPr algn="ctr"/>
                      <a:r>
                        <a:rPr sz="1000" b="1">
                          <a:solidFill>
                            <a:srgbClr val="FFFFFF"/>
                          </a:solidFill>
                          <a:latin typeface="Calibri"/>
                        </a:rPr>
                        <a:t>H100 (Hopper)</a:t>
                      </a:r>
                    </a:p>
                  </a:txBody>
                  <a:tcPr>
                    <a:solidFill>
                      <a:srgbClr val="0D4F4F"/>
                    </a:solidFill>
                  </a:tcPr>
                </a:tc>
                <a:extLst>
                  <a:ext uri="{0D108BD9-81ED-4DB2-BD59-A6C34878D82A}">
                    <a16:rowId xmlns:a16="http://schemas.microsoft.com/office/drawing/2014/main" val="10000"/>
                  </a:ext>
                </a:extLst>
              </a:tr>
              <a:tr h="365760">
                <a:tc>
                  <a:txBody>
                    <a:bodyPr/>
                    <a:lstStyle/>
                    <a:p>
                      <a:pPr algn="ctr"/>
                      <a:r>
                        <a:rPr sz="1000">
                          <a:solidFill>
                            <a:srgbClr val="1A1A2E"/>
                          </a:solidFill>
                          <a:latin typeface="Calibri"/>
                        </a:rPr>
                        <a:t>Partition</a:t>
                      </a:r>
                    </a:p>
                  </a:txBody>
                  <a:tcPr/>
                </a:tc>
                <a:tc>
                  <a:txBody>
                    <a:bodyPr/>
                    <a:lstStyle/>
                    <a:p>
                      <a:pPr algn="ctr"/>
                      <a:r>
                        <a:rPr sz="1000">
                          <a:solidFill>
                            <a:srgbClr val="1A1A2E"/>
                          </a:solidFill>
                          <a:latin typeface="Calibri"/>
                        </a:rPr>
                        <a:t>gpu</a:t>
                      </a:r>
                    </a:p>
                  </a:txBody>
                  <a:tcPr/>
                </a:tc>
                <a:tc>
                  <a:txBody>
                    <a:bodyPr/>
                    <a:lstStyle/>
                    <a:p>
                      <a:pPr algn="ctr"/>
                      <a:r>
                        <a:rPr sz="1000">
                          <a:solidFill>
                            <a:srgbClr val="1A1A2E"/>
                          </a:solidFill>
                          <a:latin typeface="Calibri"/>
                        </a:rPr>
                        <a:t>gpu_h100</a:t>
                      </a:r>
                    </a:p>
                  </a:txBody>
                  <a:tcPr/>
                </a:tc>
                <a:extLst>
                  <a:ext uri="{0D108BD9-81ED-4DB2-BD59-A6C34878D82A}">
                    <a16:rowId xmlns:a16="http://schemas.microsoft.com/office/drawing/2014/main" val="10001"/>
                  </a:ext>
                </a:extLst>
              </a:tr>
              <a:tr h="365760">
                <a:tc>
                  <a:txBody>
                    <a:bodyPr/>
                    <a:lstStyle/>
                    <a:p>
                      <a:pPr algn="ctr"/>
                      <a:r>
                        <a:rPr sz="1000">
                          <a:solidFill>
                            <a:srgbClr val="1A1A2E"/>
                          </a:solidFill>
                          <a:latin typeface="Calibri"/>
                        </a:rPr>
                        <a:t>Mémoire</a:t>
                      </a:r>
                    </a:p>
                  </a:txBody>
                  <a:tcPr>
                    <a:solidFill>
                      <a:srgbClr val="F7F7F7"/>
                    </a:solidFill>
                  </a:tcPr>
                </a:tc>
                <a:tc>
                  <a:txBody>
                    <a:bodyPr/>
                    <a:lstStyle/>
                    <a:p>
                      <a:pPr algn="ctr"/>
                      <a:r>
                        <a:rPr sz="1000">
                          <a:solidFill>
                            <a:srgbClr val="1A1A2E"/>
                          </a:solidFill>
                          <a:latin typeface="Calibri"/>
                        </a:rPr>
                        <a:t>80 Go HBM2e</a:t>
                      </a:r>
                    </a:p>
                  </a:txBody>
                  <a:tcPr>
                    <a:solidFill>
                      <a:srgbClr val="F7F7F7"/>
                    </a:solidFill>
                  </a:tcPr>
                </a:tc>
                <a:tc>
                  <a:txBody>
                    <a:bodyPr/>
                    <a:lstStyle/>
                    <a:p>
                      <a:pPr algn="ctr"/>
                      <a:r>
                        <a:rPr sz="1000">
                          <a:solidFill>
                            <a:srgbClr val="1A1A2E"/>
                          </a:solidFill>
                          <a:latin typeface="Calibri"/>
                        </a:rPr>
                        <a:t>80 Go HBM3</a:t>
                      </a:r>
                    </a:p>
                  </a:txBody>
                  <a:tcPr>
                    <a:solidFill>
                      <a:srgbClr val="F7F7F7"/>
                    </a:solidFill>
                  </a:tcPr>
                </a:tc>
                <a:extLst>
                  <a:ext uri="{0D108BD9-81ED-4DB2-BD59-A6C34878D82A}">
                    <a16:rowId xmlns:a16="http://schemas.microsoft.com/office/drawing/2014/main" val="10002"/>
                  </a:ext>
                </a:extLst>
              </a:tr>
              <a:tr h="365760">
                <a:tc>
                  <a:txBody>
                    <a:bodyPr/>
                    <a:lstStyle/>
                    <a:p>
                      <a:pPr algn="ctr"/>
                      <a:r>
                        <a:rPr sz="1000">
                          <a:solidFill>
                            <a:srgbClr val="1A1A2E"/>
                          </a:solidFill>
                          <a:latin typeface="Calibri"/>
                        </a:rPr>
                        <a:t>Cœurs CUDA</a:t>
                      </a:r>
                    </a:p>
                  </a:txBody>
                  <a:tcPr/>
                </a:tc>
                <a:tc>
                  <a:txBody>
                    <a:bodyPr/>
                    <a:lstStyle/>
                    <a:p>
                      <a:pPr algn="ctr"/>
                      <a:r>
                        <a:rPr sz="1000">
                          <a:solidFill>
                            <a:srgbClr val="1A1A2E"/>
                          </a:solidFill>
                          <a:latin typeface="Calibri"/>
                        </a:rPr>
                        <a:t>6 912</a:t>
                      </a:r>
                    </a:p>
                  </a:txBody>
                  <a:tcPr/>
                </a:tc>
                <a:tc>
                  <a:txBody>
                    <a:bodyPr/>
                    <a:lstStyle/>
                    <a:p>
                      <a:pPr algn="ctr"/>
                      <a:r>
                        <a:rPr sz="1000">
                          <a:solidFill>
                            <a:srgbClr val="1A1A2E"/>
                          </a:solidFill>
                          <a:latin typeface="Calibri"/>
                        </a:rPr>
                        <a:t>16 896</a:t>
                      </a:r>
                    </a:p>
                  </a:txBody>
                  <a:tcPr/>
                </a:tc>
                <a:extLst>
                  <a:ext uri="{0D108BD9-81ED-4DB2-BD59-A6C34878D82A}">
                    <a16:rowId xmlns:a16="http://schemas.microsoft.com/office/drawing/2014/main" val="10003"/>
                  </a:ext>
                </a:extLst>
              </a:tr>
              <a:tr h="365760">
                <a:tc>
                  <a:txBody>
                    <a:bodyPr/>
                    <a:lstStyle/>
                    <a:p>
                      <a:pPr algn="ctr"/>
                      <a:r>
                        <a:rPr sz="1000">
                          <a:solidFill>
                            <a:srgbClr val="1A1A2E"/>
                          </a:solidFill>
                          <a:latin typeface="Calibri"/>
                        </a:rPr>
                        <a:t>Peak FP64</a:t>
                      </a:r>
                    </a:p>
                  </a:txBody>
                  <a:tcPr>
                    <a:solidFill>
                      <a:srgbClr val="F7F7F7"/>
                    </a:solidFill>
                  </a:tcPr>
                </a:tc>
                <a:tc>
                  <a:txBody>
                    <a:bodyPr/>
                    <a:lstStyle/>
                    <a:p>
                      <a:pPr algn="ctr"/>
                      <a:r>
                        <a:rPr sz="1000">
                          <a:solidFill>
                            <a:srgbClr val="1A1A2E"/>
                          </a:solidFill>
                          <a:latin typeface="Calibri"/>
                        </a:rPr>
                        <a:t>19,5 TFLOPS</a:t>
                      </a:r>
                    </a:p>
                  </a:txBody>
                  <a:tcPr>
                    <a:solidFill>
                      <a:srgbClr val="F7F7F7"/>
                    </a:solidFill>
                  </a:tcPr>
                </a:tc>
                <a:tc>
                  <a:txBody>
                    <a:bodyPr/>
                    <a:lstStyle/>
                    <a:p>
                      <a:pPr algn="ctr"/>
                      <a:r>
                        <a:rPr sz="1000">
                          <a:solidFill>
                            <a:srgbClr val="1A1A2E"/>
                          </a:solidFill>
                          <a:latin typeface="Calibri"/>
                        </a:rPr>
                        <a:t>54 TFLOPS</a:t>
                      </a:r>
                    </a:p>
                  </a:txBody>
                  <a:tcPr>
                    <a:solidFill>
                      <a:srgbClr val="F7F7F7"/>
                    </a:solidFill>
                  </a:tcPr>
                </a:tc>
                <a:extLst>
                  <a:ext uri="{0D108BD9-81ED-4DB2-BD59-A6C34878D82A}">
                    <a16:rowId xmlns:a16="http://schemas.microsoft.com/office/drawing/2014/main" val="10004"/>
                  </a:ext>
                </a:extLst>
              </a:tr>
            </a:tbl>
          </a:graphicData>
        </a:graphic>
      </p:graphicFrame>
      <p:sp>
        <p:nvSpPr>
          <p:cNvPr id="13" name="Rectangle 12"/>
          <p:cNvSpPr/>
          <p:nvPr/>
        </p:nvSpPr>
        <p:spPr>
          <a:xfrm>
            <a:off x="365760" y="3886200"/>
            <a:ext cx="8412480" cy="502920"/>
          </a:xfrm>
          <a:prstGeom prst="rect">
            <a:avLst/>
          </a:prstGeom>
          <a:solidFill>
            <a:srgbClr val="E0F2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502920" y="3886200"/>
            <a:ext cx="8229600" cy="276999"/>
          </a:xfrm>
          <a:prstGeom prst="rect">
            <a:avLst/>
          </a:prstGeom>
          <a:noFill/>
        </p:spPr>
        <p:txBody>
          <a:bodyPr wrap="square">
            <a:spAutoFit/>
          </a:bodyPr>
          <a:lstStyle/>
          <a:p>
            <a:pPr algn="ctr"/>
            <a:r>
              <a:rPr sz="1200" b="1" i="0" dirty="0">
                <a:solidFill>
                  <a:srgbClr val="0D4F4F"/>
                </a:solidFill>
                <a:latin typeface="Calibri"/>
              </a:rPr>
              <a:t>Configuration HPL : NB = 576 (blocs larges pour GPU)  |  P × Q = 2 × 1  |  BCAST = 6</a:t>
            </a:r>
          </a:p>
        </p:txBody>
      </p:sp>
      <p:sp>
        <p:nvSpPr>
          <p:cNvPr id="17" name="TextBox 16">
            <a:extLst>
              <a:ext uri="{FF2B5EF4-FFF2-40B4-BE49-F238E27FC236}">
                <a16:creationId xmlns:a16="http://schemas.microsoft.com/office/drawing/2014/main" id="{E9E19329-9C79-A1E1-D0A5-1DB5EE82E4D2}"/>
              </a:ext>
            </a:extLst>
          </p:cNvPr>
          <p:cNvSpPr txBox="1"/>
          <p:nvPr/>
        </p:nvSpPr>
        <p:spPr>
          <a:xfrm>
            <a:off x="8394732" y="43934"/>
            <a:ext cx="816249" cy="369332"/>
          </a:xfrm>
          <a:prstGeom prst="rect">
            <a:avLst/>
          </a:prstGeom>
          <a:noFill/>
        </p:spPr>
        <p:txBody>
          <a:bodyPr wrap="none" rtlCol="0">
            <a:spAutoFit/>
          </a:bodyPr>
          <a:lstStyle/>
          <a:p>
            <a:r>
              <a:rPr lang="fr-FR" b="1" dirty="0">
                <a:solidFill>
                  <a:srgbClr val="0D4F4F"/>
                </a:solidFill>
                <a:latin typeface="Georgia"/>
              </a:rPr>
              <a:t>14/21</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9144000" cy="5143500"/>
          </a:xfrm>
          <a:prstGeom prst="rect">
            <a:avLst/>
          </a:prstGeom>
          <a:solidFill>
            <a:srgbClr val="FAF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228600"/>
            <a:ext cx="7772400" cy="457200"/>
          </a:xfrm>
          <a:prstGeom prst="rect">
            <a:avLst/>
          </a:prstGeom>
          <a:noFill/>
        </p:spPr>
        <p:txBody>
          <a:bodyPr wrap="square" lIns="0" tIns="0" rIns="0" bIns="0">
            <a:spAutoFit/>
          </a:bodyPr>
          <a:lstStyle/>
          <a:p>
            <a:r>
              <a:rPr sz="2400" b="1">
                <a:solidFill>
                  <a:srgbClr val="0D4F4F"/>
                </a:solidFill>
                <a:latin typeface="Georgia"/>
              </a:rPr>
              <a:t>Étapes d'exécution sur GPU</a:t>
            </a:r>
          </a:p>
        </p:txBody>
      </p:sp>
      <p:sp>
        <p:nvSpPr>
          <p:cNvPr id="4" name="TextBox 3"/>
          <p:cNvSpPr txBox="1"/>
          <p:nvPr/>
        </p:nvSpPr>
        <p:spPr>
          <a:xfrm>
            <a:off x="548640" y="658368"/>
            <a:ext cx="7772400" cy="274320"/>
          </a:xfrm>
          <a:prstGeom prst="rect">
            <a:avLst/>
          </a:prstGeom>
          <a:noFill/>
        </p:spPr>
        <p:txBody>
          <a:bodyPr wrap="none" lIns="0" tIns="0" rIns="0" bIns="0">
            <a:spAutoFit/>
          </a:bodyPr>
          <a:lstStyle/>
          <a:p>
            <a:r>
              <a:rPr sz="1200" i="1">
                <a:solidFill>
                  <a:srgbClr val="8A8A9A"/>
                </a:solidFill>
                <a:latin typeface="Calibri"/>
              </a:rPr>
              <a:t>Du fichier de configuration au lancement du benchmark</a:t>
            </a:r>
          </a:p>
        </p:txBody>
      </p:sp>
      <p:sp>
        <p:nvSpPr>
          <p:cNvPr id="5" name="Rectangle 4"/>
          <p:cNvSpPr/>
          <p:nvPr/>
        </p:nvSpPr>
        <p:spPr>
          <a:xfrm>
            <a:off x="365760" y="1051560"/>
            <a:ext cx="4114800" cy="15544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365760" y="1051560"/>
            <a:ext cx="4114800" cy="45720"/>
          </a:xfrm>
          <a:prstGeom prst="rect">
            <a:avLst/>
          </a:prstGeom>
          <a:solidFill>
            <a:srgbClr val="0E7C7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502920" y="1234440"/>
            <a:ext cx="365760" cy="365760"/>
          </a:xfrm>
          <a:prstGeom prst="rect">
            <a:avLst/>
          </a:prstGeom>
          <a:solidFill>
            <a:srgbClr val="0E7C7B"/>
          </a:solidFill>
          <a:ln>
            <a:noFill/>
          </a:ln>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400" b="1">
                <a:solidFill>
                  <a:srgbClr val="FFFFFF"/>
                </a:solidFill>
                <a:latin typeface="Calibri"/>
              </a:rPr>
              <a:t>1</a:t>
            </a:r>
          </a:p>
        </p:txBody>
      </p:sp>
      <p:sp>
        <p:nvSpPr>
          <p:cNvPr id="8" name="TextBox 7"/>
          <p:cNvSpPr txBox="1"/>
          <p:nvPr/>
        </p:nvSpPr>
        <p:spPr>
          <a:xfrm>
            <a:off x="960120" y="1188720"/>
            <a:ext cx="1645920" cy="320040"/>
          </a:xfrm>
          <a:prstGeom prst="rect">
            <a:avLst/>
          </a:prstGeom>
          <a:noFill/>
        </p:spPr>
        <p:txBody>
          <a:bodyPr wrap="square">
            <a:spAutoFit/>
          </a:bodyPr>
          <a:lstStyle/>
          <a:p>
            <a:pPr algn="l"/>
            <a:r>
              <a:rPr sz="1300" b="1" i="0">
                <a:solidFill>
                  <a:srgbClr val="0E7C7B"/>
                </a:solidFill>
                <a:latin typeface="Calibri"/>
              </a:rPr>
              <a:t>HPL.dat</a:t>
            </a:r>
          </a:p>
        </p:txBody>
      </p:sp>
      <p:sp>
        <p:nvSpPr>
          <p:cNvPr id="9" name="TextBox 8"/>
          <p:cNvSpPr txBox="1"/>
          <p:nvPr/>
        </p:nvSpPr>
        <p:spPr>
          <a:xfrm>
            <a:off x="960120" y="1508760"/>
            <a:ext cx="1645920" cy="914400"/>
          </a:xfrm>
          <a:prstGeom prst="rect">
            <a:avLst/>
          </a:prstGeom>
          <a:noFill/>
        </p:spPr>
        <p:txBody>
          <a:bodyPr wrap="square">
            <a:spAutoFit/>
          </a:bodyPr>
          <a:lstStyle/>
          <a:p>
            <a:pPr algn="l"/>
            <a:r>
              <a:rPr sz="1000" b="0" i="0">
                <a:solidFill>
                  <a:srgbClr val="4A4A5A"/>
                </a:solidFill>
                <a:latin typeface="Calibri"/>
              </a:rPr>
              <a:t>Création du fichier de configuration
(N, NB, P×Q, BCAST)</a:t>
            </a:r>
          </a:p>
        </p:txBody>
      </p:sp>
      <p:pic>
        <p:nvPicPr>
          <p:cNvPr id="10" name="Picture 9" descr="Step1.png"/>
          <p:cNvPicPr>
            <a:picLocks noChangeAspect="1"/>
          </p:cNvPicPr>
          <p:nvPr/>
        </p:nvPicPr>
        <p:blipFill>
          <a:blip r:embed="rId3"/>
          <a:stretch>
            <a:fillRect/>
          </a:stretch>
        </p:blipFill>
        <p:spPr>
          <a:xfrm>
            <a:off x="2194865" y="1371600"/>
            <a:ext cx="2239975" cy="914400"/>
          </a:xfrm>
          <a:prstGeom prst="rect">
            <a:avLst/>
          </a:prstGeom>
        </p:spPr>
      </p:pic>
      <p:sp>
        <p:nvSpPr>
          <p:cNvPr id="11" name="Rectangle 10"/>
          <p:cNvSpPr/>
          <p:nvPr/>
        </p:nvSpPr>
        <p:spPr>
          <a:xfrm>
            <a:off x="4663440" y="1051560"/>
            <a:ext cx="4114800" cy="15544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ectangle 11"/>
          <p:cNvSpPr/>
          <p:nvPr/>
        </p:nvSpPr>
        <p:spPr>
          <a:xfrm>
            <a:off x="4663440" y="1051560"/>
            <a:ext cx="4114800" cy="45720"/>
          </a:xfrm>
          <a:prstGeom prst="rect">
            <a:avLst/>
          </a:prstGeom>
          <a:solidFill>
            <a:srgbClr val="0E7C7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ectangle 12"/>
          <p:cNvSpPr/>
          <p:nvPr/>
        </p:nvSpPr>
        <p:spPr>
          <a:xfrm>
            <a:off x="4800600" y="1234440"/>
            <a:ext cx="365760" cy="365760"/>
          </a:xfrm>
          <a:prstGeom prst="rect">
            <a:avLst/>
          </a:prstGeom>
          <a:solidFill>
            <a:srgbClr val="0E7C7B"/>
          </a:solidFill>
          <a:ln>
            <a:noFill/>
          </a:ln>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400" b="1">
                <a:solidFill>
                  <a:srgbClr val="FFFFFF"/>
                </a:solidFill>
                <a:latin typeface="Calibri"/>
              </a:rPr>
              <a:t>2</a:t>
            </a:r>
          </a:p>
        </p:txBody>
      </p:sp>
      <p:sp>
        <p:nvSpPr>
          <p:cNvPr id="14" name="TextBox 13"/>
          <p:cNvSpPr txBox="1"/>
          <p:nvPr/>
        </p:nvSpPr>
        <p:spPr>
          <a:xfrm>
            <a:off x="5257800" y="1188720"/>
            <a:ext cx="1645920" cy="320040"/>
          </a:xfrm>
          <a:prstGeom prst="rect">
            <a:avLst/>
          </a:prstGeom>
          <a:noFill/>
        </p:spPr>
        <p:txBody>
          <a:bodyPr wrap="square">
            <a:spAutoFit/>
          </a:bodyPr>
          <a:lstStyle/>
          <a:p>
            <a:pPr algn="l"/>
            <a:r>
              <a:rPr sz="1300" b="1" i="0">
                <a:solidFill>
                  <a:srgbClr val="0E7C7B"/>
                </a:solidFill>
                <a:latin typeface="Calibri"/>
              </a:rPr>
              <a:t>Singularity</a:t>
            </a:r>
          </a:p>
        </p:txBody>
      </p:sp>
      <p:sp>
        <p:nvSpPr>
          <p:cNvPr id="15" name="TextBox 14"/>
          <p:cNvSpPr txBox="1"/>
          <p:nvPr/>
        </p:nvSpPr>
        <p:spPr>
          <a:xfrm>
            <a:off x="5257800" y="1508760"/>
            <a:ext cx="3300984" cy="400110"/>
          </a:xfrm>
          <a:prstGeom prst="rect">
            <a:avLst/>
          </a:prstGeom>
          <a:noFill/>
        </p:spPr>
        <p:txBody>
          <a:bodyPr wrap="square">
            <a:spAutoFit/>
          </a:bodyPr>
          <a:lstStyle/>
          <a:p>
            <a:pPr algn="l"/>
            <a:r>
              <a:rPr sz="1000" b="0" i="0" dirty="0" err="1">
                <a:solidFill>
                  <a:srgbClr val="4A4A5A"/>
                </a:solidFill>
                <a:latin typeface="Calibri"/>
              </a:rPr>
              <a:t>Lancement</a:t>
            </a:r>
            <a:r>
              <a:rPr sz="1000" b="0" i="0" dirty="0">
                <a:solidFill>
                  <a:srgbClr val="4A4A5A"/>
                </a:solidFill>
                <a:latin typeface="Calibri"/>
              </a:rPr>
              <a:t> du </a:t>
            </a:r>
            <a:r>
              <a:rPr sz="1000" b="0" i="0" dirty="0" err="1">
                <a:solidFill>
                  <a:srgbClr val="4A4A5A"/>
                </a:solidFill>
                <a:latin typeface="Calibri"/>
              </a:rPr>
              <a:t>conteneur</a:t>
            </a:r>
            <a:r>
              <a:rPr sz="1000" b="0" i="0" dirty="0">
                <a:solidFill>
                  <a:srgbClr val="4A4A5A"/>
                </a:solidFill>
                <a:latin typeface="Calibri"/>
              </a:rPr>
              <a:t> NVIDIA
avec bind du </a:t>
            </a:r>
            <a:r>
              <a:rPr sz="1000" b="0" i="0" dirty="0" err="1">
                <a:solidFill>
                  <a:srgbClr val="4A4A5A"/>
                </a:solidFill>
                <a:latin typeface="Calibri"/>
              </a:rPr>
              <a:t>répertoire</a:t>
            </a:r>
            <a:r>
              <a:rPr sz="1000" b="0" i="0" dirty="0">
                <a:solidFill>
                  <a:srgbClr val="4A4A5A"/>
                </a:solidFill>
                <a:latin typeface="Calibri"/>
              </a:rPr>
              <a:t> de travail</a:t>
            </a:r>
          </a:p>
        </p:txBody>
      </p:sp>
      <p:pic>
        <p:nvPicPr>
          <p:cNvPr id="16" name="Picture 15" descr="Step2.png"/>
          <p:cNvPicPr>
            <a:picLocks noChangeAspect="1"/>
          </p:cNvPicPr>
          <p:nvPr/>
        </p:nvPicPr>
        <p:blipFill>
          <a:blip r:embed="rId4"/>
          <a:stretch>
            <a:fillRect/>
          </a:stretch>
        </p:blipFill>
        <p:spPr>
          <a:xfrm>
            <a:off x="4846320" y="1940810"/>
            <a:ext cx="3840480" cy="482350"/>
          </a:xfrm>
          <a:prstGeom prst="rect">
            <a:avLst/>
          </a:prstGeom>
        </p:spPr>
      </p:pic>
      <p:sp>
        <p:nvSpPr>
          <p:cNvPr id="17" name="Rectangle 16"/>
          <p:cNvSpPr/>
          <p:nvPr/>
        </p:nvSpPr>
        <p:spPr>
          <a:xfrm>
            <a:off x="365760" y="2834640"/>
            <a:ext cx="4114800" cy="15544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Rectangle 17"/>
          <p:cNvSpPr/>
          <p:nvPr/>
        </p:nvSpPr>
        <p:spPr>
          <a:xfrm>
            <a:off x="365760" y="2834640"/>
            <a:ext cx="4114800" cy="45720"/>
          </a:xfrm>
          <a:prstGeom prst="rect">
            <a:avLst/>
          </a:prstGeom>
          <a:solidFill>
            <a:srgbClr val="0E7C7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Rectangle 18"/>
          <p:cNvSpPr/>
          <p:nvPr/>
        </p:nvSpPr>
        <p:spPr>
          <a:xfrm>
            <a:off x="502920" y="3017520"/>
            <a:ext cx="365760" cy="365760"/>
          </a:xfrm>
          <a:prstGeom prst="rect">
            <a:avLst/>
          </a:prstGeom>
          <a:solidFill>
            <a:srgbClr val="0E7C7B"/>
          </a:solidFill>
          <a:ln>
            <a:noFill/>
          </a:ln>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400" b="1">
                <a:solidFill>
                  <a:srgbClr val="FFFFFF"/>
                </a:solidFill>
                <a:latin typeface="Calibri"/>
              </a:rPr>
              <a:t>3</a:t>
            </a:r>
          </a:p>
        </p:txBody>
      </p:sp>
      <p:sp>
        <p:nvSpPr>
          <p:cNvPr id="20" name="TextBox 19"/>
          <p:cNvSpPr txBox="1"/>
          <p:nvPr/>
        </p:nvSpPr>
        <p:spPr>
          <a:xfrm>
            <a:off x="960120" y="2971800"/>
            <a:ext cx="1645920" cy="320040"/>
          </a:xfrm>
          <a:prstGeom prst="rect">
            <a:avLst/>
          </a:prstGeom>
          <a:noFill/>
        </p:spPr>
        <p:txBody>
          <a:bodyPr wrap="square">
            <a:spAutoFit/>
          </a:bodyPr>
          <a:lstStyle/>
          <a:p>
            <a:pPr algn="l"/>
            <a:r>
              <a:rPr sz="1300" b="1" i="0">
                <a:solidFill>
                  <a:srgbClr val="0E7C7B"/>
                </a:solidFill>
                <a:latin typeface="Calibri"/>
              </a:rPr>
              <a:t>Slurm</a:t>
            </a:r>
          </a:p>
        </p:txBody>
      </p:sp>
      <p:sp>
        <p:nvSpPr>
          <p:cNvPr id="21" name="TextBox 20"/>
          <p:cNvSpPr txBox="1"/>
          <p:nvPr/>
        </p:nvSpPr>
        <p:spPr>
          <a:xfrm>
            <a:off x="960120" y="3291840"/>
            <a:ext cx="1645920" cy="914400"/>
          </a:xfrm>
          <a:prstGeom prst="rect">
            <a:avLst/>
          </a:prstGeom>
          <a:noFill/>
        </p:spPr>
        <p:txBody>
          <a:bodyPr wrap="square">
            <a:spAutoFit/>
          </a:bodyPr>
          <a:lstStyle/>
          <a:p>
            <a:pPr algn="l"/>
            <a:r>
              <a:rPr sz="1000" b="0" i="0" dirty="0">
                <a:solidFill>
                  <a:srgbClr val="4A4A5A"/>
                </a:solidFill>
                <a:latin typeface="Calibri"/>
              </a:rPr>
              <a:t>Allocation GPU via </a:t>
            </a:r>
            <a:r>
              <a:rPr sz="1000" b="0" i="0" dirty="0" err="1">
                <a:solidFill>
                  <a:srgbClr val="4A4A5A"/>
                </a:solidFill>
                <a:latin typeface="Calibri"/>
              </a:rPr>
              <a:t>salloc</a:t>
            </a:r>
            <a:r>
              <a:rPr sz="1000" b="0" i="0" dirty="0">
                <a:solidFill>
                  <a:srgbClr val="4A4A5A"/>
                </a:solidFill>
                <a:latin typeface="Calibri"/>
              </a:rPr>
              <a:t>
(--</a:t>
            </a:r>
            <a:r>
              <a:rPr sz="1000" b="0" i="0" dirty="0" err="1">
                <a:solidFill>
                  <a:srgbClr val="4A4A5A"/>
                </a:solidFill>
                <a:latin typeface="Calibri"/>
              </a:rPr>
              <a:t>gres</a:t>
            </a:r>
            <a:r>
              <a:rPr sz="1000" b="0" i="0" dirty="0">
                <a:solidFill>
                  <a:srgbClr val="4A4A5A"/>
                </a:solidFill>
                <a:latin typeface="Calibri"/>
              </a:rPr>
              <a:t>=gpu:1 </a:t>
            </a:r>
            <a:r>
              <a:rPr sz="1000" b="0" i="0" dirty="0" err="1">
                <a:solidFill>
                  <a:srgbClr val="4A4A5A"/>
                </a:solidFill>
                <a:latin typeface="Calibri"/>
              </a:rPr>
              <a:t>ou</a:t>
            </a:r>
            <a:r>
              <a:rPr sz="1000" b="0" i="0" dirty="0">
                <a:solidFill>
                  <a:srgbClr val="4A4A5A"/>
                </a:solidFill>
                <a:latin typeface="Calibri"/>
              </a:rPr>
              <a:t> gpu:2)</a:t>
            </a:r>
          </a:p>
        </p:txBody>
      </p:sp>
      <p:pic>
        <p:nvPicPr>
          <p:cNvPr id="22" name="Picture 21" descr="Step3.png"/>
          <p:cNvPicPr>
            <a:picLocks noChangeAspect="1"/>
          </p:cNvPicPr>
          <p:nvPr/>
        </p:nvPicPr>
        <p:blipFill>
          <a:blip r:embed="rId5"/>
          <a:stretch>
            <a:fillRect/>
          </a:stretch>
        </p:blipFill>
        <p:spPr>
          <a:xfrm>
            <a:off x="434340" y="3749040"/>
            <a:ext cx="3977640" cy="564081"/>
          </a:xfrm>
          <a:prstGeom prst="rect">
            <a:avLst/>
          </a:prstGeom>
        </p:spPr>
      </p:pic>
      <p:sp>
        <p:nvSpPr>
          <p:cNvPr id="23" name="Rectangle 22"/>
          <p:cNvSpPr/>
          <p:nvPr/>
        </p:nvSpPr>
        <p:spPr>
          <a:xfrm>
            <a:off x="4663440" y="2834640"/>
            <a:ext cx="4114800" cy="15544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Rectangle 23"/>
          <p:cNvSpPr/>
          <p:nvPr/>
        </p:nvSpPr>
        <p:spPr>
          <a:xfrm>
            <a:off x="4663440" y="2834640"/>
            <a:ext cx="4114800" cy="45720"/>
          </a:xfrm>
          <a:prstGeom prst="rect">
            <a:avLst/>
          </a:prstGeom>
          <a:solidFill>
            <a:srgbClr val="E07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Rectangle 24"/>
          <p:cNvSpPr/>
          <p:nvPr/>
        </p:nvSpPr>
        <p:spPr>
          <a:xfrm>
            <a:off x="4800600" y="3017520"/>
            <a:ext cx="365760" cy="365760"/>
          </a:xfrm>
          <a:prstGeom prst="rect">
            <a:avLst/>
          </a:prstGeom>
          <a:solidFill>
            <a:srgbClr val="E07A5F"/>
          </a:solidFill>
          <a:ln>
            <a:noFill/>
          </a:ln>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400" b="1">
                <a:solidFill>
                  <a:srgbClr val="FFFFFF"/>
                </a:solidFill>
                <a:latin typeface="Calibri"/>
              </a:rPr>
              <a:t>4</a:t>
            </a:r>
          </a:p>
        </p:txBody>
      </p:sp>
      <p:sp>
        <p:nvSpPr>
          <p:cNvPr id="26" name="TextBox 25"/>
          <p:cNvSpPr txBox="1"/>
          <p:nvPr/>
        </p:nvSpPr>
        <p:spPr>
          <a:xfrm>
            <a:off x="5257800" y="2971800"/>
            <a:ext cx="1645920" cy="320040"/>
          </a:xfrm>
          <a:prstGeom prst="rect">
            <a:avLst/>
          </a:prstGeom>
          <a:noFill/>
        </p:spPr>
        <p:txBody>
          <a:bodyPr wrap="square">
            <a:spAutoFit/>
          </a:bodyPr>
          <a:lstStyle/>
          <a:p>
            <a:pPr algn="l"/>
            <a:r>
              <a:rPr sz="1300" b="1" i="0">
                <a:solidFill>
                  <a:srgbClr val="E07A5F"/>
                </a:solidFill>
                <a:latin typeface="Calibri"/>
              </a:rPr>
              <a:t>Exécution</a:t>
            </a:r>
          </a:p>
        </p:txBody>
      </p:sp>
      <p:sp>
        <p:nvSpPr>
          <p:cNvPr id="27" name="TextBox 26"/>
          <p:cNvSpPr txBox="1"/>
          <p:nvPr/>
        </p:nvSpPr>
        <p:spPr>
          <a:xfrm>
            <a:off x="5257800" y="3291840"/>
            <a:ext cx="1645920" cy="914400"/>
          </a:xfrm>
          <a:prstGeom prst="rect">
            <a:avLst/>
          </a:prstGeom>
          <a:noFill/>
        </p:spPr>
        <p:txBody>
          <a:bodyPr wrap="square">
            <a:spAutoFit/>
          </a:bodyPr>
          <a:lstStyle/>
          <a:p>
            <a:pPr algn="l"/>
            <a:r>
              <a:rPr sz="1000" b="0" i="0">
                <a:solidFill>
                  <a:srgbClr val="4A4A5A"/>
                </a:solidFill>
                <a:latin typeface="Calibri"/>
              </a:rPr>
              <a:t>mpirun -np &lt;X&gt; ./hpl.sh
--dat /mnt/HPL.dat</a:t>
            </a:r>
          </a:p>
        </p:txBody>
      </p:sp>
      <p:pic>
        <p:nvPicPr>
          <p:cNvPr id="28" name="Picture 27" descr="Step4.png"/>
          <p:cNvPicPr>
            <a:picLocks noChangeAspect="1"/>
          </p:cNvPicPr>
          <p:nvPr/>
        </p:nvPicPr>
        <p:blipFill>
          <a:blip r:embed="rId6"/>
          <a:stretch>
            <a:fillRect/>
          </a:stretch>
        </p:blipFill>
        <p:spPr>
          <a:xfrm>
            <a:off x="4846319" y="3749040"/>
            <a:ext cx="3797769" cy="564081"/>
          </a:xfrm>
          <a:prstGeom prst="rect">
            <a:avLst/>
          </a:prstGeom>
        </p:spPr>
      </p:pic>
      <p:sp>
        <p:nvSpPr>
          <p:cNvPr id="31" name="TextBox 30">
            <a:extLst>
              <a:ext uri="{FF2B5EF4-FFF2-40B4-BE49-F238E27FC236}">
                <a16:creationId xmlns:a16="http://schemas.microsoft.com/office/drawing/2014/main" id="{55DE341E-4C37-A474-6D95-F105CA8537E0}"/>
              </a:ext>
            </a:extLst>
          </p:cNvPr>
          <p:cNvSpPr txBox="1"/>
          <p:nvPr/>
        </p:nvSpPr>
        <p:spPr>
          <a:xfrm>
            <a:off x="8394732" y="43934"/>
            <a:ext cx="803425" cy="369332"/>
          </a:xfrm>
          <a:prstGeom prst="rect">
            <a:avLst/>
          </a:prstGeom>
          <a:noFill/>
        </p:spPr>
        <p:txBody>
          <a:bodyPr wrap="none" rtlCol="0">
            <a:spAutoFit/>
          </a:bodyPr>
          <a:lstStyle/>
          <a:p>
            <a:r>
              <a:rPr lang="fr-FR" b="1" dirty="0">
                <a:solidFill>
                  <a:srgbClr val="0D4F4F"/>
                </a:solidFill>
                <a:latin typeface="Georgia"/>
              </a:rPr>
              <a:t>15/21</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9144000" cy="5143500"/>
          </a:xfrm>
          <a:prstGeom prst="rect">
            <a:avLst/>
          </a:prstGeom>
          <a:solidFill>
            <a:srgbClr val="FAF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228600"/>
            <a:ext cx="7772400" cy="457200"/>
          </a:xfrm>
          <a:prstGeom prst="rect">
            <a:avLst/>
          </a:prstGeom>
          <a:noFill/>
        </p:spPr>
        <p:txBody>
          <a:bodyPr wrap="square" lIns="0" tIns="0" rIns="0" bIns="0">
            <a:spAutoFit/>
          </a:bodyPr>
          <a:lstStyle/>
          <a:p>
            <a:r>
              <a:rPr sz="2400" b="1">
                <a:solidFill>
                  <a:srgbClr val="0D4F4F"/>
                </a:solidFill>
                <a:latin typeface="Georgia"/>
              </a:rPr>
              <a:t>Résultats : GPU A100 (Ampere)</a:t>
            </a:r>
          </a:p>
        </p:txBody>
      </p:sp>
      <p:sp>
        <p:nvSpPr>
          <p:cNvPr id="4" name="TextBox 3"/>
          <p:cNvSpPr txBox="1"/>
          <p:nvPr/>
        </p:nvSpPr>
        <p:spPr>
          <a:xfrm>
            <a:off x="548640" y="658368"/>
            <a:ext cx="7772400" cy="274320"/>
          </a:xfrm>
          <a:prstGeom prst="rect">
            <a:avLst/>
          </a:prstGeom>
          <a:noFill/>
        </p:spPr>
        <p:txBody>
          <a:bodyPr wrap="none" lIns="0" tIns="0" rIns="0" bIns="0">
            <a:spAutoFit/>
          </a:bodyPr>
          <a:lstStyle/>
          <a:p>
            <a:r>
              <a:rPr sz="1200" i="1">
                <a:solidFill>
                  <a:srgbClr val="8A8A9A"/>
                </a:solidFill>
                <a:latin typeface="Calibri"/>
              </a:rPr>
              <a:t>Peak théorique : 19,5 TFLOPS  |  Configuration : NB=576, P×Q=2×1</a:t>
            </a:r>
          </a:p>
        </p:txBody>
      </p:sp>
      <p:graphicFrame>
        <p:nvGraphicFramePr>
          <p:cNvPr id="5" name="Table 4"/>
          <p:cNvGraphicFramePr>
            <a:graphicFrameLocks noGrp="1"/>
          </p:cNvGraphicFramePr>
          <p:nvPr/>
        </p:nvGraphicFramePr>
        <p:xfrm>
          <a:off x="365760" y="1005840"/>
          <a:ext cx="3657600" cy="2286000"/>
        </p:xfrm>
        <a:graphic>
          <a:graphicData uri="http://schemas.openxmlformats.org/drawingml/2006/table">
            <a:tbl>
              <a:tblPr firstRow="1" bandRow="1">
                <a:tableStyleId>{5C22544A-7EE6-4342-B048-85BDC9FD1C3A}</a:tableStyleId>
              </a:tblPr>
              <a:tblGrid>
                <a:gridCol w="914400">
                  <a:extLst>
                    <a:ext uri="{9D8B030D-6E8A-4147-A177-3AD203B41FA5}">
                      <a16:colId xmlns:a16="http://schemas.microsoft.com/office/drawing/2014/main" val="20000"/>
                    </a:ext>
                  </a:extLst>
                </a:gridCol>
                <a:gridCol w="914400">
                  <a:extLst>
                    <a:ext uri="{9D8B030D-6E8A-4147-A177-3AD203B41FA5}">
                      <a16:colId xmlns:a16="http://schemas.microsoft.com/office/drawing/2014/main" val="20001"/>
                    </a:ext>
                  </a:extLst>
                </a:gridCol>
                <a:gridCol w="914400">
                  <a:extLst>
                    <a:ext uri="{9D8B030D-6E8A-4147-A177-3AD203B41FA5}">
                      <a16:colId xmlns:a16="http://schemas.microsoft.com/office/drawing/2014/main" val="20002"/>
                    </a:ext>
                  </a:extLst>
                </a:gridCol>
                <a:gridCol w="914400">
                  <a:extLst>
                    <a:ext uri="{9D8B030D-6E8A-4147-A177-3AD203B41FA5}">
                      <a16:colId xmlns:a16="http://schemas.microsoft.com/office/drawing/2014/main" val="20003"/>
                    </a:ext>
                  </a:extLst>
                </a:gridCol>
              </a:tblGrid>
              <a:tr h="381000">
                <a:tc>
                  <a:txBody>
                    <a:bodyPr/>
                    <a:lstStyle/>
                    <a:p>
                      <a:pPr algn="ctr"/>
                      <a:r>
                        <a:rPr sz="1000" b="1">
                          <a:solidFill>
                            <a:srgbClr val="FFFFFF"/>
                          </a:solidFill>
                          <a:latin typeface="Calibri"/>
                        </a:rPr>
                        <a:t>N</a:t>
                      </a:r>
                    </a:p>
                  </a:txBody>
                  <a:tcPr>
                    <a:solidFill>
                      <a:srgbClr val="0D4F4F"/>
                    </a:solidFill>
                  </a:tcPr>
                </a:tc>
                <a:tc>
                  <a:txBody>
                    <a:bodyPr/>
                    <a:lstStyle/>
                    <a:p>
                      <a:pPr algn="ctr"/>
                      <a:r>
                        <a:rPr sz="1000" b="1">
                          <a:solidFill>
                            <a:srgbClr val="FFFFFF"/>
                          </a:solidFill>
                          <a:latin typeface="Calibri"/>
                        </a:rPr>
                        <a:t>1 GPU</a:t>
                      </a:r>
                    </a:p>
                  </a:txBody>
                  <a:tcPr>
                    <a:solidFill>
                      <a:srgbClr val="0D4F4F"/>
                    </a:solidFill>
                  </a:tcPr>
                </a:tc>
                <a:tc>
                  <a:txBody>
                    <a:bodyPr/>
                    <a:lstStyle/>
                    <a:p>
                      <a:pPr algn="ctr"/>
                      <a:r>
                        <a:rPr sz="1000" b="1">
                          <a:solidFill>
                            <a:srgbClr val="FFFFFF"/>
                          </a:solidFill>
                          <a:latin typeface="Calibri"/>
                        </a:rPr>
                        <a:t>2 GPUs</a:t>
                      </a:r>
                    </a:p>
                  </a:txBody>
                  <a:tcPr>
                    <a:solidFill>
                      <a:srgbClr val="0D4F4F"/>
                    </a:solidFill>
                  </a:tcPr>
                </a:tc>
                <a:tc>
                  <a:txBody>
                    <a:bodyPr/>
                    <a:lstStyle/>
                    <a:p>
                      <a:pPr algn="ctr"/>
                      <a:r>
                        <a:rPr sz="1000" b="1">
                          <a:solidFill>
                            <a:srgbClr val="FFFFFF"/>
                          </a:solidFill>
                          <a:latin typeface="Calibri"/>
                        </a:rPr>
                        <a:t>Speedup</a:t>
                      </a:r>
                    </a:p>
                  </a:txBody>
                  <a:tcPr>
                    <a:solidFill>
                      <a:srgbClr val="0D4F4F"/>
                    </a:solidFill>
                  </a:tcPr>
                </a:tc>
                <a:extLst>
                  <a:ext uri="{0D108BD9-81ED-4DB2-BD59-A6C34878D82A}">
                    <a16:rowId xmlns:a16="http://schemas.microsoft.com/office/drawing/2014/main" val="10000"/>
                  </a:ext>
                </a:extLst>
              </a:tr>
              <a:tr h="381000">
                <a:tc>
                  <a:txBody>
                    <a:bodyPr/>
                    <a:lstStyle/>
                    <a:p>
                      <a:pPr algn="ctr"/>
                      <a:r>
                        <a:rPr sz="1000">
                          <a:solidFill>
                            <a:srgbClr val="1A1A2E"/>
                          </a:solidFill>
                          <a:latin typeface="Calibri"/>
                        </a:rPr>
                        <a:t>20 000</a:t>
                      </a:r>
                    </a:p>
                  </a:txBody>
                  <a:tcPr/>
                </a:tc>
                <a:tc>
                  <a:txBody>
                    <a:bodyPr/>
                    <a:lstStyle/>
                    <a:p>
                      <a:pPr algn="ctr"/>
                      <a:r>
                        <a:rPr sz="1000">
                          <a:solidFill>
                            <a:srgbClr val="1A1A2E"/>
                          </a:solidFill>
                          <a:latin typeface="Calibri"/>
                        </a:rPr>
                        <a:t>9 731</a:t>
                      </a:r>
                    </a:p>
                  </a:txBody>
                  <a:tcPr/>
                </a:tc>
                <a:tc>
                  <a:txBody>
                    <a:bodyPr/>
                    <a:lstStyle/>
                    <a:p>
                      <a:pPr algn="ctr"/>
                      <a:r>
                        <a:rPr sz="1000">
                          <a:solidFill>
                            <a:srgbClr val="1A1A2E"/>
                          </a:solidFill>
                          <a:latin typeface="Calibri"/>
                        </a:rPr>
                        <a:t>9 106</a:t>
                      </a:r>
                    </a:p>
                  </a:txBody>
                  <a:tcPr/>
                </a:tc>
                <a:tc>
                  <a:txBody>
                    <a:bodyPr/>
                    <a:lstStyle/>
                    <a:p>
                      <a:pPr algn="ctr"/>
                      <a:r>
                        <a:rPr sz="1000">
                          <a:solidFill>
                            <a:srgbClr val="1A1A2E"/>
                          </a:solidFill>
                          <a:latin typeface="Calibri"/>
                        </a:rPr>
                        <a:t>0,94x</a:t>
                      </a:r>
                    </a:p>
                  </a:txBody>
                  <a:tcPr/>
                </a:tc>
                <a:extLst>
                  <a:ext uri="{0D108BD9-81ED-4DB2-BD59-A6C34878D82A}">
                    <a16:rowId xmlns:a16="http://schemas.microsoft.com/office/drawing/2014/main" val="10001"/>
                  </a:ext>
                </a:extLst>
              </a:tr>
              <a:tr h="381000">
                <a:tc>
                  <a:txBody>
                    <a:bodyPr/>
                    <a:lstStyle/>
                    <a:p>
                      <a:pPr algn="ctr"/>
                      <a:r>
                        <a:rPr sz="1000">
                          <a:solidFill>
                            <a:srgbClr val="1A1A2E"/>
                          </a:solidFill>
                          <a:latin typeface="Calibri"/>
                        </a:rPr>
                        <a:t>40 000</a:t>
                      </a:r>
                    </a:p>
                  </a:txBody>
                  <a:tcPr>
                    <a:solidFill>
                      <a:srgbClr val="F7F7F7"/>
                    </a:solidFill>
                  </a:tcPr>
                </a:tc>
                <a:tc>
                  <a:txBody>
                    <a:bodyPr/>
                    <a:lstStyle/>
                    <a:p>
                      <a:pPr algn="ctr"/>
                      <a:r>
                        <a:rPr sz="1000">
                          <a:solidFill>
                            <a:srgbClr val="1A1A2E"/>
                          </a:solidFill>
                          <a:latin typeface="Calibri"/>
                        </a:rPr>
                        <a:t>15 890</a:t>
                      </a:r>
                    </a:p>
                  </a:txBody>
                  <a:tcPr>
                    <a:solidFill>
                      <a:srgbClr val="F7F7F7"/>
                    </a:solidFill>
                  </a:tcPr>
                </a:tc>
                <a:tc>
                  <a:txBody>
                    <a:bodyPr/>
                    <a:lstStyle/>
                    <a:p>
                      <a:pPr algn="ctr"/>
                      <a:r>
                        <a:rPr sz="1000">
                          <a:solidFill>
                            <a:srgbClr val="1A1A2E"/>
                          </a:solidFill>
                          <a:latin typeface="Calibri"/>
                        </a:rPr>
                        <a:t>25 230</a:t>
                      </a:r>
                    </a:p>
                  </a:txBody>
                  <a:tcPr>
                    <a:solidFill>
                      <a:srgbClr val="F7F7F7"/>
                    </a:solidFill>
                  </a:tcPr>
                </a:tc>
                <a:tc>
                  <a:txBody>
                    <a:bodyPr/>
                    <a:lstStyle/>
                    <a:p>
                      <a:pPr algn="ctr"/>
                      <a:r>
                        <a:rPr sz="1000">
                          <a:solidFill>
                            <a:srgbClr val="1A1A2E"/>
                          </a:solidFill>
                          <a:latin typeface="Calibri"/>
                        </a:rPr>
                        <a:t>1,59x</a:t>
                      </a:r>
                    </a:p>
                  </a:txBody>
                  <a:tcPr>
                    <a:solidFill>
                      <a:srgbClr val="F7F7F7"/>
                    </a:solidFill>
                  </a:tcPr>
                </a:tc>
                <a:extLst>
                  <a:ext uri="{0D108BD9-81ED-4DB2-BD59-A6C34878D82A}">
                    <a16:rowId xmlns:a16="http://schemas.microsoft.com/office/drawing/2014/main" val="10002"/>
                  </a:ext>
                </a:extLst>
              </a:tr>
              <a:tr h="381000">
                <a:tc>
                  <a:txBody>
                    <a:bodyPr/>
                    <a:lstStyle/>
                    <a:p>
                      <a:pPr algn="ctr"/>
                      <a:r>
                        <a:rPr sz="1000">
                          <a:solidFill>
                            <a:srgbClr val="1A1A2E"/>
                          </a:solidFill>
                          <a:latin typeface="Calibri"/>
                        </a:rPr>
                        <a:t>60 000</a:t>
                      </a:r>
                    </a:p>
                  </a:txBody>
                  <a:tcPr/>
                </a:tc>
                <a:tc>
                  <a:txBody>
                    <a:bodyPr/>
                    <a:lstStyle/>
                    <a:p>
                      <a:pPr algn="ctr"/>
                      <a:r>
                        <a:rPr sz="1000">
                          <a:solidFill>
                            <a:srgbClr val="1A1A2E"/>
                          </a:solidFill>
                          <a:latin typeface="Calibri"/>
                        </a:rPr>
                        <a:t>17 150</a:t>
                      </a:r>
                    </a:p>
                  </a:txBody>
                  <a:tcPr/>
                </a:tc>
                <a:tc>
                  <a:txBody>
                    <a:bodyPr/>
                    <a:lstStyle/>
                    <a:p>
                      <a:pPr algn="ctr"/>
                      <a:r>
                        <a:rPr sz="1000">
                          <a:solidFill>
                            <a:srgbClr val="1A1A2E"/>
                          </a:solidFill>
                          <a:latin typeface="Calibri"/>
                        </a:rPr>
                        <a:t>31 430</a:t>
                      </a:r>
                    </a:p>
                  </a:txBody>
                  <a:tcPr/>
                </a:tc>
                <a:tc>
                  <a:txBody>
                    <a:bodyPr/>
                    <a:lstStyle/>
                    <a:p>
                      <a:pPr algn="ctr"/>
                      <a:r>
                        <a:rPr sz="1000">
                          <a:solidFill>
                            <a:srgbClr val="1A1A2E"/>
                          </a:solidFill>
                          <a:latin typeface="Calibri"/>
                        </a:rPr>
                        <a:t>1,83x</a:t>
                      </a:r>
                    </a:p>
                  </a:txBody>
                  <a:tcPr/>
                </a:tc>
                <a:extLst>
                  <a:ext uri="{0D108BD9-81ED-4DB2-BD59-A6C34878D82A}">
                    <a16:rowId xmlns:a16="http://schemas.microsoft.com/office/drawing/2014/main" val="10003"/>
                  </a:ext>
                </a:extLst>
              </a:tr>
              <a:tr h="381000">
                <a:tc>
                  <a:txBody>
                    <a:bodyPr/>
                    <a:lstStyle/>
                    <a:p>
                      <a:pPr algn="ctr"/>
                      <a:r>
                        <a:rPr sz="1000">
                          <a:solidFill>
                            <a:srgbClr val="1A1A2E"/>
                          </a:solidFill>
                          <a:latin typeface="Calibri"/>
                        </a:rPr>
                        <a:t>80 000</a:t>
                      </a:r>
                    </a:p>
                  </a:txBody>
                  <a:tcPr>
                    <a:solidFill>
                      <a:srgbClr val="F7F7F7"/>
                    </a:solidFill>
                  </a:tcPr>
                </a:tc>
                <a:tc>
                  <a:txBody>
                    <a:bodyPr/>
                    <a:lstStyle/>
                    <a:p>
                      <a:pPr algn="ctr"/>
                      <a:r>
                        <a:rPr sz="1000">
                          <a:solidFill>
                            <a:srgbClr val="1A1A2E"/>
                          </a:solidFill>
                          <a:latin typeface="Calibri"/>
                        </a:rPr>
                        <a:t>17 600</a:t>
                      </a:r>
                    </a:p>
                  </a:txBody>
                  <a:tcPr>
                    <a:solidFill>
                      <a:srgbClr val="F7F7F7"/>
                    </a:solidFill>
                  </a:tcPr>
                </a:tc>
                <a:tc>
                  <a:txBody>
                    <a:bodyPr/>
                    <a:lstStyle/>
                    <a:p>
                      <a:pPr algn="ctr"/>
                      <a:r>
                        <a:rPr sz="1000">
                          <a:solidFill>
                            <a:srgbClr val="1A1A2E"/>
                          </a:solidFill>
                          <a:latin typeface="Calibri"/>
                        </a:rPr>
                        <a:t>33 560</a:t>
                      </a:r>
                    </a:p>
                  </a:txBody>
                  <a:tcPr>
                    <a:solidFill>
                      <a:srgbClr val="F7F7F7"/>
                    </a:solidFill>
                  </a:tcPr>
                </a:tc>
                <a:tc>
                  <a:txBody>
                    <a:bodyPr/>
                    <a:lstStyle/>
                    <a:p>
                      <a:pPr algn="ctr"/>
                      <a:r>
                        <a:rPr sz="1000">
                          <a:solidFill>
                            <a:srgbClr val="1A1A2E"/>
                          </a:solidFill>
                          <a:latin typeface="Calibri"/>
                        </a:rPr>
                        <a:t>1,91x</a:t>
                      </a:r>
                    </a:p>
                  </a:txBody>
                  <a:tcPr>
                    <a:solidFill>
                      <a:srgbClr val="F7F7F7"/>
                    </a:solidFill>
                  </a:tcPr>
                </a:tc>
                <a:extLst>
                  <a:ext uri="{0D108BD9-81ED-4DB2-BD59-A6C34878D82A}">
                    <a16:rowId xmlns:a16="http://schemas.microsoft.com/office/drawing/2014/main" val="10004"/>
                  </a:ext>
                </a:extLst>
              </a:tr>
              <a:tr h="381000">
                <a:tc>
                  <a:txBody>
                    <a:bodyPr/>
                    <a:lstStyle/>
                    <a:p>
                      <a:pPr algn="ctr"/>
                      <a:r>
                        <a:rPr sz="1000">
                          <a:solidFill>
                            <a:srgbClr val="1A1A2E"/>
                          </a:solidFill>
                          <a:latin typeface="Calibri"/>
                        </a:rPr>
                        <a:t>100 000</a:t>
                      </a:r>
                    </a:p>
                  </a:txBody>
                  <a:tcPr/>
                </a:tc>
                <a:tc>
                  <a:txBody>
                    <a:bodyPr/>
                    <a:lstStyle/>
                    <a:p>
                      <a:pPr algn="ctr"/>
                      <a:r>
                        <a:rPr sz="1000">
                          <a:solidFill>
                            <a:srgbClr val="1A1A2E"/>
                          </a:solidFill>
                          <a:latin typeface="Calibri"/>
                        </a:rPr>
                        <a:t>17 860</a:t>
                      </a:r>
                    </a:p>
                  </a:txBody>
                  <a:tcPr/>
                </a:tc>
                <a:tc>
                  <a:txBody>
                    <a:bodyPr/>
                    <a:lstStyle/>
                    <a:p>
                      <a:pPr algn="ctr"/>
                      <a:r>
                        <a:rPr sz="1000">
                          <a:solidFill>
                            <a:srgbClr val="1A1A2E"/>
                          </a:solidFill>
                          <a:latin typeface="Calibri"/>
                        </a:rPr>
                        <a:t>34 720</a:t>
                      </a:r>
                    </a:p>
                  </a:txBody>
                  <a:tcPr/>
                </a:tc>
                <a:tc>
                  <a:txBody>
                    <a:bodyPr/>
                    <a:lstStyle/>
                    <a:p>
                      <a:pPr algn="ctr"/>
                      <a:r>
                        <a:rPr sz="1000">
                          <a:solidFill>
                            <a:srgbClr val="1A1A2E"/>
                          </a:solidFill>
                          <a:latin typeface="Calibri"/>
                        </a:rPr>
                        <a:t>1,95x</a:t>
                      </a:r>
                    </a:p>
                  </a:txBody>
                  <a:tcPr/>
                </a:tc>
                <a:extLst>
                  <a:ext uri="{0D108BD9-81ED-4DB2-BD59-A6C34878D82A}">
                    <a16:rowId xmlns:a16="http://schemas.microsoft.com/office/drawing/2014/main" val="10005"/>
                  </a:ext>
                </a:extLst>
              </a:tr>
            </a:tbl>
          </a:graphicData>
        </a:graphic>
      </p:graphicFrame>
      <p:pic>
        <p:nvPicPr>
          <p:cNvPr id="6" name="Picture 5" descr="hpl-a100.png"/>
          <p:cNvPicPr>
            <a:picLocks noChangeAspect="1"/>
          </p:cNvPicPr>
          <p:nvPr/>
        </p:nvPicPr>
        <p:blipFill>
          <a:blip r:embed="rId3"/>
          <a:stretch>
            <a:fillRect/>
          </a:stretch>
        </p:blipFill>
        <p:spPr>
          <a:xfrm>
            <a:off x="4206240" y="1005840"/>
            <a:ext cx="4754880" cy="2905474"/>
          </a:xfrm>
          <a:prstGeom prst="rect">
            <a:avLst/>
          </a:prstGeom>
        </p:spPr>
      </p:pic>
      <p:sp>
        <p:nvSpPr>
          <p:cNvPr id="7" name="Rectangle 6"/>
          <p:cNvSpPr/>
          <p:nvPr/>
        </p:nvSpPr>
        <p:spPr>
          <a:xfrm>
            <a:off x="365760" y="4096173"/>
            <a:ext cx="3931920" cy="73152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365760" y="4096173"/>
            <a:ext cx="3931920" cy="45720"/>
          </a:xfrm>
          <a:prstGeom prst="rect">
            <a:avLst/>
          </a:prstGeom>
          <a:solidFill>
            <a:srgbClr val="0E7C7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457200" y="4187613"/>
            <a:ext cx="3749039" cy="548640"/>
          </a:xfrm>
          <a:prstGeom prst="rect">
            <a:avLst/>
          </a:prstGeom>
          <a:noFill/>
        </p:spPr>
        <p:txBody>
          <a:bodyPr wrap="square">
            <a:spAutoFit/>
          </a:bodyPr>
          <a:lstStyle/>
          <a:p>
            <a:pPr algn="l"/>
            <a:r>
              <a:rPr sz="1100" b="1" i="0">
                <a:solidFill>
                  <a:srgbClr val="0E7C7B"/>
                </a:solidFill>
                <a:latin typeface="Calibri"/>
              </a:rPr>
              <a:t>Efficacité : 17 860 / 19 487 = 91,7%
Speedup 2 GPUs : 1,95x → eff. parallèle 97%</a:t>
            </a:r>
          </a:p>
        </p:txBody>
      </p:sp>
      <p:sp>
        <p:nvSpPr>
          <p:cNvPr id="10" name="Rectangle 9"/>
          <p:cNvSpPr/>
          <p:nvPr/>
        </p:nvSpPr>
        <p:spPr>
          <a:xfrm>
            <a:off x="4480560" y="4096173"/>
            <a:ext cx="4480560" cy="73152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4480560" y="4096173"/>
            <a:ext cx="4480560" cy="45720"/>
          </a:xfrm>
          <a:prstGeom prst="rect">
            <a:avLst/>
          </a:prstGeom>
          <a:solidFill>
            <a:srgbClr val="E07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4572000" y="4187613"/>
            <a:ext cx="4297680" cy="548640"/>
          </a:xfrm>
          <a:prstGeom prst="rect">
            <a:avLst/>
          </a:prstGeom>
          <a:noFill/>
        </p:spPr>
        <p:txBody>
          <a:bodyPr wrap="square">
            <a:spAutoFit/>
          </a:bodyPr>
          <a:lstStyle/>
          <a:p>
            <a:pPr algn="l"/>
            <a:r>
              <a:rPr sz="1100" b="1" i="0">
                <a:solidFill>
                  <a:srgbClr val="E07A5F"/>
                </a:solidFill>
                <a:latin typeface="Calibri"/>
              </a:rPr>
              <a:t>Anomalie N=20K : 2 GPUs plus lents (-6,4%)
Tous les tests : résidu PASSED</a:t>
            </a:r>
          </a:p>
        </p:txBody>
      </p:sp>
      <p:sp>
        <p:nvSpPr>
          <p:cNvPr id="15" name="TextBox 14">
            <a:extLst>
              <a:ext uri="{FF2B5EF4-FFF2-40B4-BE49-F238E27FC236}">
                <a16:creationId xmlns:a16="http://schemas.microsoft.com/office/drawing/2014/main" id="{B4D7BB51-2887-24BE-C173-0F13910040D9}"/>
              </a:ext>
            </a:extLst>
          </p:cNvPr>
          <p:cNvSpPr txBox="1"/>
          <p:nvPr/>
        </p:nvSpPr>
        <p:spPr>
          <a:xfrm>
            <a:off x="8394732" y="43934"/>
            <a:ext cx="814647" cy="369332"/>
          </a:xfrm>
          <a:prstGeom prst="rect">
            <a:avLst/>
          </a:prstGeom>
          <a:noFill/>
        </p:spPr>
        <p:txBody>
          <a:bodyPr wrap="none" rtlCol="0">
            <a:spAutoFit/>
          </a:bodyPr>
          <a:lstStyle/>
          <a:p>
            <a:r>
              <a:rPr lang="fr-FR" b="1" dirty="0">
                <a:solidFill>
                  <a:srgbClr val="0D4F4F"/>
                </a:solidFill>
                <a:latin typeface="Georgia"/>
              </a:rPr>
              <a:t>16/21</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9144000" cy="5143500"/>
          </a:xfrm>
          <a:prstGeom prst="rect">
            <a:avLst/>
          </a:prstGeom>
          <a:solidFill>
            <a:srgbClr val="FAF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228600"/>
            <a:ext cx="7772400" cy="457200"/>
          </a:xfrm>
          <a:prstGeom prst="rect">
            <a:avLst/>
          </a:prstGeom>
          <a:noFill/>
        </p:spPr>
        <p:txBody>
          <a:bodyPr wrap="square" lIns="0" tIns="0" rIns="0" bIns="0">
            <a:spAutoFit/>
          </a:bodyPr>
          <a:lstStyle/>
          <a:p>
            <a:r>
              <a:rPr sz="2400" b="1">
                <a:solidFill>
                  <a:srgbClr val="0D4F4F"/>
                </a:solidFill>
                <a:latin typeface="Georgia"/>
              </a:rPr>
              <a:t>Résultats : GPU H100 (Hopper)</a:t>
            </a:r>
          </a:p>
        </p:txBody>
      </p:sp>
      <p:sp>
        <p:nvSpPr>
          <p:cNvPr id="4" name="TextBox 3"/>
          <p:cNvSpPr txBox="1"/>
          <p:nvPr/>
        </p:nvSpPr>
        <p:spPr>
          <a:xfrm>
            <a:off x="548640" y="658368"/>
            <a:ext cx="7772400" cy="274320"/>
          </a:xfrm>
          <a:prstGeom prst="rect">
            <a:avLst/>
          </a:prstGeom>
          <a:noFill/>
        </p:spPr>
        <p:txBody>
          <a:bodyPr wrap="none" lIns="0" tIns="0" rIns="0" bIns="0">
            <a:spAutoFit/>
          </a:bodyPr>
          <a:lstStyle/>
          <a:p>
            <a:r>
              <a:rPr sz="1200" i="1">
                <a:solidFill>
                  <a:srgbClr val="8A8A9A"/>
                </a:solidFill>
                <a:latin typeface="Calibri"/>
              </a:rPr>
              <a:t>Peak théorique : 54 TFLOPS  |  Configuration : NB=576, P×Q=2×1</a:t>
            </a:r>
          </a:p>
        </p:txBody>
      </p:sp>
      <p:graphicFrame>
        <p:nvGraphicFramePr>
          <p:cNvPr id="5" name="Table 4"/>
          <p:cNvGraphicFramePr>
            <a:graphicFrameLocks noGrp="1"/>
          </p:cNvGraphicFramePr>
          <p:nvPr/>
        </p:nvGraphicFramePr>
        <p:xfrm>
          <a:off x="365760" y="1005840"/>
          <a:ext cx="3657600" cy="2286000"/>
        </p:xfrm>
        <a:graphic>
          <a:graphicData uri="http://schemas.openxmlformats.org/drawingml/2006/table">
            <a:tbl>
              <a:tblPr firstRow="1" bandRow="1">
                <a:tableStyleId>{5C22544A-7EE6-4342-B048-85BDC9FD1C3A}</a:tableStyleId>
              </a:tblPr>
              <a:tblGrid>
                <a:gridCol w="914400">
                  <a:extLst>
                    <a:ext uri="{9D8B030D-6E8A-4147-A177-3AD203B41FA5}">
                      <a16:colId xmlns:a16="http://schemas.microsoft.com/office/drawing/2014/main" val="20000"/>
                    </a:ext>
                  </a:extLst>
                </a:gridCol>
                <a:gridCol w="914400">
                  <a:extLst>
                    <a:ext uri="{9D8B030D-6E8A-4147-A177-3AD203B41FA5}">
                      <a16:colId xmlns:a16="http://schemas.microsoft.com/office/drawing/2014/main" val="20001"/>
                    </a:ext>
                  </a:extLst>
                </a:gridCol>
                <a:gridCol w="914400">
                  <a:extLst>
                    <a:ext uri="{9D8B030D-6E8A-4147-A177-3AD203B41FA5}">
                      <a16:colId xmlns:a16="http://schemas.microsoft.com/office/drawing/2014/main" val="20002"/>
                    </a:ext>
                  </a:extLst>
                </a:gridCol>
                <a:gridCol w="914400">
                  <a:extLst>
                    <a:ext uri="{9D8B030D-6E8A-4147-A177-3AD203B41FA5}">
                      <a16:colId xmlns:a16="http://schemas.microsoft.com/office/drawing/2014/main" val="20003"/>
                    </a:ext>
                  </a:extLst>
                </a:gridCol>
              </a:tblGrid>
              <a:tr h="381000">
                <a:tc>
                  <a:txBody>
                    <a:bodyPr/>
                    <a:lstStyle/>
                    <a:p>
                      <a:pPr algn="ctr"/>
                      <a:r>
                        <a:rPr sz="1000" b="1">
                          <a:solidFill>
                            <a:srgbClr val="FFFFFF"/>
                          </a:solidFill>
                          <a:latin typeface="Calibri"/>
                        </a:rPr>
                        <a:t>N</a:t>
                      </a:r>
                    </a:p>
                  </a:txBody>
                  <a:tcPr>
                    <a:solidFill>
                      <a:srgbClr val="0D4F4F"/>
                    </a:solidFill>
                  </a:tcPr>
                </a:tc>
                <a:tc>
                  <a:txBody>
                    <a:bodyPr/>
                    <a:lstStyle/>
                    <a:p>
                      <a:pPr algn="ctr"/>
                      <a:r>
                        <a:rPr sz="1000" b="1">
                          <a:solidFill>
                            <a:srgbClr val="FFFFFF"/>
                          </a:solidFill>
                          <a:latin typeface="Calibri"/>
                        </a:rPr>
                        <a:t>1 GPU</a:t>
                      </a:r>
                    </a:p>
                  </a:txBody>
                  <a:tcPr>
                    <a:solidFill>
                      <a:srgbClr val="0D4F4F"/>
                    </a:solidFill>
                  </a:tcPr>
                </a:tc>
                <a:tc>
                  <a:txBody>
                    <a:bodyPr/>
                    <a:lstStyle/>
                    <a:p>
                      <a:pPr algn="ctr"/>
                      <a:r>
                        <a:rPr sz="1000" b="1">
                          <a:solidFill>
                            <a:srgbClr val="FFFFFF"/>
                          </a:solidFill>
                          <a:latin typeface="Calibri"/>
                        </a:rPr>
                        <a:t>2 GPUs</a:t>
                      </a:r>
                    </a:p>
                  </a:txBody>
                  <a:tcPr>
                    <a:solidFill>
                      <a:srgbClr val="0D4F4F"/>
                    </a:solidFill>
                  </a:tcPr>
                </a:tc>
                <a:tc>
                  <a:txBody>
                    <a:bodyPr/>
                    <a:lstStyle/>
                    <a:p>
                      <a:pPr algn="ctr"/>
                      <a:r>
                        <a:rPr sz="1000" b="1">
                          <a:solidFill>
                            <a:srgbClr val="FFFFFF"/>
                          </a:solidFill>
                          <a:latin typeface="Calibri"/>
                        </a:rPr>
                        <a:t>Speedup</a:t>
                      </a:r>
                    </a:p>
                  </a:txBody>
                  <a:tcPr>
                    <a:solidFill>
                      <a:srgbClr val="0D4F4F"/>
                    </a:solidFill>
                  </a:tcPr>
                </a:tc>
                <a:extLst>
                  <a:ext uri="{0D108BD9-81ED-4DB2-BD59-A6C34878D82A}">
                    <a16:rowId xmlns:a16="http://schemas.microsoft.com/office/drawing/2014/main" val="10000"/>
                  </a:ext>
                </a:extLst>
              </a:tr>
              <a:tr h="381000">
                <a:tc>
                  <a:txBody>
                    <a:bodyPr/>
                    <a:lstStyle/>
                    <a:p>
                      <a:pPr algn="ctr"/>
                      <a:r>
                        <a:rPr sz="1000">
                          <a:solidFill>
                            <a:srgbClr val="1A1A2E"/>
                          </a:solidFill>
                          <a:latin typeface="Calibri"/>
                        </a:rPr>
                        <a:t>20 000</a:t>
                      </a:r>
                    </a:p>
                  </a:txBody>
                  <a:tcPr/>
                </a:tc>
                <a:tc>
                  <a:txBody>
                    <a:bodyPr/>
                    <a:lstStyle/>
                    <a:p>
                      <a:pPr algn="ctr"/>
                      <a:r>
                        <a:rPr sz="1000">
                          <a:solidFill>
                            <a:srgbClr val="1A1A2E"/>
                          </a:solidFill>
                          <a:latin typeface="Calibri"/>
                        </a:rPr>
                        <a:t>16 130</a:t>
                      </a:r>
                    </a:p>
                  </a:txBody>
                  <a:tcPr/>
                </a:tc>
                <a:tc>
                  <a:txBody>
                    <a:bodyPr/>
                    <a:lstStyle/>
                    <a:p>
                      <a:pPr algn="ctr"/>
                      <a:r>
                        <a:rPr sz="1000">
                          <a:solidFill>
                            <a:srgbClr val="1A1A2E"/>
                          </a:solidFill>
                          <a:latin typeface="Calibri"/>
                        </a:rPr>
                        <a:t>11 510</a:t>
                      </a:r>
                    </a:p>
                  </a:txBody>
                  <a:tcPr/>
                </a:tc>
                <a:tc>
                  <a:txBody>
                    <a:bodyPr/>
                    <a:lstStyle/>
                    <a:p>
                      <a:pPr algn="ctr"/>
                      <a:r>
                        <a:rPr sz="1000">
                          <a:solidFill>
                            <a:srgbClr val="1A1A2E"/>
                          </a:solidFill>
                          <a:latin typeface="Calibri"/>
                        </a:rPr>
                        <a:t>0,71x</a:t>
                      </a:r>
                    </a:p>
                  </a:txBody>
                  <a:tcPr/>
                </a:tc>
                <a:extLst>
                  <a:ext uri="{0D108BD9-81ED-4DB2-BD59-A6C34878D82A}">
                    <a16:rowId xmlns:a16="http://schemas.microsoft.com/office/drawing/2014/main" val="10001"/>
                  </a:ext>
                </a:extLst>
              </a:tr>
              <a:tr h="381000">
                <a:tc>
                  <a:txBody>
                    <a:bodyPr/>
                    <a:lstStyle/>
                    <a:p>
                      <a:pPr algn="ctr"/>
                      <a:r>
                        <a:rPr sz="1000">
                          <a:solidFill>
                            <a:srgbClr val="1A1A2E"/>
                          </a:solidFill>
                          <a:latin typeface="Calibri"/>
                        </a:rPr>
                        <a:t>40 000</a:t>
                      </a:r>
                    </a:p>
                  </a:txBody>
                  <a:tcPr>
                    <a:solidFill>
                      <a:srgbClr val="F7F7F7"/>
                    </a:solidFill>
                  </a:tcPr>
                </a:tc>
                <a:tc>
                  <a:txBody>
                    <a:bodyPr/>
                    <a:lstStyle/>
                    <a:p>
                      <a:pPr algn="ctr"/>
                      <a:r>
                        <a:rPr sz="1000">
                          <a:solidFill>
                            <a:srgbClr val="1A1A2E"/>
                          </a:solidFill>
                          <a:latin typeface="Calibri"/>
                        </a:rPr>
                        <a:t>35 760</a:t>
                      </a:r>
                    </a:p>
                  </a:txBody>
                  <a:tcPr>
                    <a:solidFill>
                      <a:srgbClr val="F7F7F7"/>
                    </a:solidFill>
                  </a:tcPr>
                </a:tc>
                <a:tc>
                  <a:txBody>
                    <a:bodyPr/>
                    <a:lstStyle/>
                    <a:p>
                      <a:pPr algn="ctr"/>
                      <a:r>
                        <a:rPr sz="1000">
                          <a:solidFill>
                            <a:srgbClr val="1A1A2E"/>
                          </a:solidFill>
                          <a:latin typeface="Calibri"/>
                        </a:rPr>
                        <a:t>41 460</a:t>
                      </a:r>
                    </a:p>
                  </a:txBody>
                  <a:tcPr>
                    <a:solidFill>
                      <a:srgbClr val="F7F7F7"/>
                    </a:solidFill>
                  </a:tcPr>
                </a:tc>
                <a:tc>
                  <a:txBody>
                    <a:bodyPr/>
                    <a:lstStyle/>
                    <a:p>
                      <a:pPr algn="ctr"/>
                      <a:r>
                        <a:rPr sz="1000">
                          <a:solidFill>
                            <a:srgbClr val="1A1A2E"/>
                          </a:solidFill>
                          <a:latin typeface="Calibri"/>
                        </a:rPr>
                        <a:t>1,16x</a:t>
                      </a:r>
                    </a:p>
                  </a:txBody>
                  <a:tcPr>
                    <a:solidFill>
                      <a:srgbClr val="F7F7F7"/>
                    </a:solidFill>
                  </a:tcPr>
                </a:tc>
                <a:extLst>
                  <a:ext uri="{0D108BD9-81ED-4DB2-BD59-A6C34878D82A}">
                    <a16:rowId xmlns:a16="http://schemas.microsoft.com/office/drawing/2014/main" val="10002"/>
                  </a:ext>
                </a:extLst>
              </a:tr>
              <a:tr h="381000">
                <a:tc>
                  <a:txBody>
                    <a:bodyPr/>
                    <a:lstStyle/>
                    <a:p>
                      <a:pPr algn="ctr"/>
                      <a:r>
                        <a:rPr sz="1000">
                          <a:solidFill>
                            <a:srgbClr val="1A1A2E"/>
                          </a:solidFill>
                          <a:latin typeface="Calibri"/>
                        </a:rPr>
                        <a:t>60 000</a:t>
                      </a:r>
                    </a:p>
                  </a:txBody>
                  <a:tcPr/>
                </a:tc>
                <a:tc>
                  <a:txBody>
                    <a:bodyPr/>
                    <a:lstStyle/>
                    <a:p>
                      <a:pPr algn="ctr"/>
                      <a:r>
                        <a:rPr sz="1000">
                          <a:solidFill>
                            <a:srgbClr val="1A1A2E"/>
                          </a:solidFill>
                          <a:latin typeface="Calibri"/>
                        </a:rPr>
                        <a:t>41 760</a:t>
                      </a:r>
                    </a:p>
                  </a:txBody>
                  <a:tcPr/>
                </a:tc>
                <a:tc>
                  <a:txBody>
                    <a:bodyPr/>
                    <a:lstStyle/>
                    <a:p>
                      <a:pPr algn="ctr"/>
                      <a:r>
                        <a:rPr sz="1000">
                          <a:solidFill>
                            <a:srgbClr val="1A1A2E"/>
                          </a:solidFill>
                          <a:latin typeface="Calibri"/>
                        </a:rPr>
                        <a:t>64 700</a:t>
                      </a:r>
                    </a:p>
                  </a:txBody>
                  <a:tcPr/>
                </a:tc>
                <a:tc>
                  <a:txBody>
                    <a:bodyPr/>
                    <a:lstStyle/>
                    <a:p>
                      <a:pPr algn="ctr"/>
                      <a:r>
                        <a:rPr sz="1000">
                          <a:solidFill>
                            <a:srgbClr val="1A1A2E"/>
                          </a:solidFill>
                          <a:latin typeface="Calibri"/>
                        </a:rPr>
                        <a:t>1,55x</a:t>
                      </a:r>
                    </a:p>
                  </a:txBody>
                  <a:tcPr/>
                </a:tc>
                <a:extLst>
                  <a:ext uri="{0D108BD9-81ED-4DB2-BD59-A6C34878D82A}">
                    <a16:rowId xmlns:a16="http://schemas.microsoft.com/office/drawing/2014/main" val="10003"/>
                  </a:ext>
                </a:extLst>
              </a:tr>
              <a:tr h="381000">
                <a:tc>
                  <a:txBody>
                    <a:bodyPr/>
                    <a:lstStyle/>
                    <a:p>
                      <a:pPr algn="ctr"/>
                      <a:r>
                        <a:rPr sz="1000">
                          <a:solidFill>
                            <a:srgbClr val="1A1A2E"/>
                          </a:solidFill>
                          <a:latin typeface="Calibri"/>
                        </a:rPr>
                        <a:t>80 000</a:t>
                      </a:r>
                    </a:p>
                  </a:txBody>
                  <a:tcPr>
                    <a:solidFill>
                      <a:srgbClr val="F7F7F7"/>
                    </a:solidFill>
                  </a:tcPr>
                </a:tc>
                <a:tc>
                  <a:txBody>
                    <a:bodyPr/>
                    <a:lstStyle/>
                    <a:p>
                      <a:pPr algn="ctr"/>
                      <a:r>
                        <a:rPr sz="1000">
                          <a:solidFill>
                            <a:srgbClr val="1A1A2E"/>
                          </a:solidFill>
                          <a:latin typeface="Calibri"/>
                        </a:rPr>
                        <a:t>44 130</a:t>
                      </a:r>
                    </a:p>
                  </a:txBody>
                  <a:tcPr>
                    <a:solidFill>
                      <a:srgbClr val="F7F7F7"/>
                    </a:solidFill>
                  </a:tcPr>
                </a:tc>
                <a:tc>
                  <a:txBody>
                    <a:bodyPr/>
                    <a:lstStyle/>
                    <a:p>
                      <a:pPr algn="ctr"/>
                      <a:r>
                        <a:rPr sz="1000">
                          <a:solidFill>
                            <a:srgbClr val="1A1A2E"/>
                          </a:solidFill>
                          <a:latin typeface="Calibri"/>
                        </a:rPr>
                        <a:t>76 730</a:t>
                      </a:r>
                    </a:p>
                  </a:txBody>
                  <a:tcPr>
                    <a:solidFill>
                      <a:srgbClr val="F7F7F7"/>
                    </a:solidFill>
                  </a:tcPr>
                </a:tc>
                <a:tc>
                  <a:txBody>
                    <a:bodyPr/>
                    <a:lstStyle/>
                    <a:p>
                      <a:pPr algn="ctr"/>
                      <a:r>
                        <a:rPr sz="1000">
                          <a:solidFill>
                            <a:srgbClr val="1A1A2E"/>
                          </a:solidFill>
                          <a:latin typeface="Calibri"/>
                        </a:rPr>
                        <a:t>1,74x</a:t>
                      </a:r>
                    </a:p>
                  </a:txBody>
                  <a:tcPr>
                    <a:solidFill>
                      <a:srgbClr val="F7F7F7"/>
                    </a:solidFill>
                  </a:tcPr>
                </a:tc>
                <a:extLst>
                  <a:ext uri="{0D108BD9-81ED-4DB2-BD59-A6C34878D82A}">
                    <a16:rowId xmlns:a16="http://schemas.microsoft.com/office/drawing/2014/main" val="10004"/>
                  </a:ext>
                </a:extLst>
              </a:tr>
              <a:tr h="381000">
                <a:tc>
                  <a:txBody>
                    <a:bodyPr/>
                    <a:lstStyle/>
                    <a:p>
                      <a:pPr algn="ctr"/>
                      <a:r>
                        <a:rPr sz="1000">
                          <a:solidFill>
                            <a:srgbClr val="1A1A2E"/>
                          </a:solidFill>
                          <a:latin typeface="Calibri"/>
                        </a:rPr>
                        <a:t>100 000</a:t>
                      </a:r>
                    </a:p>
                  </a:txBody>
                  <a:tcPr/>
                </a:tc>
                <a:tc>
                  <a:txBody>
                    <a:bodyPr/>
                    <a:lstStyle/>
                    <a:p>
                      <a:pPr algn="ctr"/>
                      <a:r>
                        <a:rPr sz="1000">
                          <a:solidFill>
                            <a:srgbClr val="1A1A2E"/>
                          </a:solidFill>
                          <a:latin typeface="Calibri"/>
                        </a:rPr>
                        <a:t>45 110</a:t>
                      </a:r>
                    </a:p>
                  </a:txBody>
                  <a:tcPr/>
                </a:tc>
                <a:tc>
                  <a:txBody>
                    <a:bodyPr/>
                    <a:lstStyle/>
                    <a:p>
                      <a:pPr algn="ctr"/>
                      <a:r>
                        <a:rPr sz="1000">
                          <a:solidFill>
                            <a:srgbClr val="1A1A2E"/>
                          </a:solidFill>
                          <a:latin typeface="Calibri"/>
                        </a:rPr>
                        <a:t>81 970</a:t>
                      </a:r>
                    </a:p>
                  </a:txBody>
                  <a:tcPr/>
                </a:tc>
                <a:tc>
                  <a:txBody>
                    <a:bodyPr/>
                    <a:lstStyle/>
                    <a:p>
                      <a:pPr algn="ctr"/>
                      <a:r>
                        <a:rPr sz="1000">
                          <a:solidFill>
                            <a:srgbClr val="1A1A2E"/>
                          </a:solidFill>
                          <a:latin typeface="Calibri"/>
                        </a:rPr>
                        <a:t>1,82x</a:t>
                      </a:r>
                    </a:p>
                  </a:txBody>
                  <a:tcPr/>
                </a:tc>
                <a:extLst>
                  <a:ext uri="{0D108BD9-81ED-4DB2-BD59-A6C34878D82A}">
                    <a16:rowId xmlns:a16="http://schemas.microsoft.com/office/drawing/2014/main" val="10005"/>
                  </a:ext>
                </a:extLst>
              </a:tr>
            </a:tbl>
          </a:graphicData>
        </a:graphic>
      </p:graphicFrame>
      <p:pic>
        <p:nvPicPr>
          <p:cNvPr id="6" name="Picture 5" descr="hpl-h100.png"/>
          <p:cNvPicPr>
            <a:picLocks noChangeAspect="1"/>
          </p:cNvPicPr>
          <p:nvPr/>
        </p:nvPicPr>
        <p:blipFill>
          <a:blip r:embed="rId3"/>
          <a:stretch>
            <a:fillRect/>
          </a:stretch>
        </p:blipFill>
        <p:spPr>
          <a:xfrm>
            <a:off x="4206240" y="1005840"/>
            <a:ext cx="4754880" cy="2918120"/>
          </a:xfrm>
          <a:prstGeom prst="rect">
            <a:avLst/>
          </a:prstGeom>
        </p:spPr>
      </p:pic>
      <p:sp>
        <p:nvSpPr>
          <p:cNvPr id="7" name="Rectangle 6"/>
          <p:cNvSpPr/>
          <p:nvPr/>
        </p:nvSpPr>
        <p:spPr>
          <a:xfrm>
            <a:off x="365760" y="4104641"/>
            <a:ext cx="3931920" cy="73152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365760" y="4104641"/>
            <a:ext cx="3931920" cy="45720"/>
          </a:xfrm>
          <a:prstGeom prst="rect">
            <a:avLst/>
          </a:prstGeom>
          <a:solidFill>
            <a:srgbClr val="0E7C7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457200" y="4196081"/>
            <a:ext cx="3749039" cy="548640"/>
          </a:xfrm>
          <a:prstGeom prst="rect">
            <a:avLst/>
          </a:prstGeom>
          <a:noFill/>
        </p:spPr>
        <p:txBody>
          <a:bodyPr wrap="square">
            <a:spAutoFit/>
          </a:bodyPr>
          <a:lstStyle/>
          <a:p>
            <a:pPr algn="l"/>
            <a:r>
              <a:rPr sz="1100" b="1" i="0">
                <a:solidFill>
                  <a:srgbClr val="0E7C7B"/>
                </a:solidFill>
                <a:latin typeface="Calibri"/>
              </a:rPr>
              <a:t>Efficacité : 45 110 / 54 067 = 83,4%
Speedup 2 GPUs : 1,82x → eff. parallèle 91%</a:t>
            </a:r>
          </a:p>
        </p:txBody>
      </p:sp>
      <p:sp>
        <p:nvSpPr>
          <p:cNvPr id="10" name="Rectangle 9"/>
          <p:cNvSpPr/>
          <p:nvPr/>
        </p:nvSpPr>
        <p:spPr>
          <a:xfrm>
            <a:off x="4480560" y="4104641"/>
            <a:ext cx="4480560" cy="73152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4480560" y="4104641"/>
            <a:ext cx="4480560" cy="45720"/>
          </a:xfrm>
          <a:prstGeom prst="rect">
            <a:avLst/>
          </a:prstGeom>
          <a:solidFill>
            <a:srgbClr val="C039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4572000" y="4196081"/>
            <a:ext cx="4297680" cy="548640"/>
          </a:xfrm>
          <a:prstGeom prst="rect">
            <a:avLst/>
          </a:prstGeom>
          <a:noFill/>
        </p:spPr>
        <p:txBody>
          <a:bodyPr wrap="square">
            <a:spAutoFit/>
          </a:bodyPr>
          <a:lstStyle/>
          <a:p>
            <a:pPr algn="l"/>
            <a:r>
              <a:rPr sz="1100" b="1" i="0">
                <a:solidFill>
                  <a:srgbClr val="C0392B"/>
                </a:solidFill>
                <a:latin typeface="Calibri"/>
              </a:rPr>
              <a:t>Anomalie N=20K : 2 GPUs 28,6% PLUS LENTS !
Tous les tests : résidu PASSED</a:t>
            </a:r>
          </a:p>
        </p:txBody>
      </p:sp>
      <p:sp>
        <p:nvSpPr>
          <p:cNvPr id="15" name="TextBox 14">
            <a:extLst>
              <a:ext uri="{FF2B5EF4-FFF2-40B4-BE49-F238E27FC236}">
                <a16:creationId xmlns:a16="http://schemas.microsoft.com/office/drawing/2014/main" id="{B0632CD8-6453-68C9-436F-82976F875AB7}"/>
              </a:ext>
            </a:extLst>
          </p:cNvPr>
          <p:cNvSpPr txBox="1"/>
          <p:nvPr/>
        </p:nvSpPr>
        <p:spPr>
          <a:xfrm>
            <a:off x="8394732" y="43934"/>
            <a:ext cx="793807" cy="369332"/>
          </a:xfrm>
          <a:prstGeom prst="rect">
            <a:avLst/>
          </a:prstGeom>
          <a:noFill/>
        </p:spPr>
        <p:txBody>
          <a:bodyPr wrap="none" rtlCol="0">
            <a:spAutoFit/>
          </a:bodyPr>
          <a:lstStyle/>
          <a:p>
            <a:r>
              <a:rPr lang="fr-FR" b="1" dirty="0">
                <a:solidFill>
                  <a:srgbClr val="0D4F4F"/>
                </a:solidFill>
                <a:latin typeface="Georgia"/>
              </a:rPr>
              <a:t>17/21</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9144000" cy="5143500"/>
          </a:xfrm>
          <a:prstGeom prst="rect">
            <a:avLst/>
          </a:prstGeom>
          <a:solidFill>
            <a:srgbClr val="FAF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228600"/>
            <a:ext cx="7772400" cy="457200"/>
          </a:xfrm>
          <a:prstGeom prst="rect">
            <a:avLst/>
          </a:prstGeom>
          <a:noFill/>
        </p:spPr>
        <p:txBody>
          <a:bodyPr wrap="square" lIns="0" tIns="0" rIns="0" bIns="0">
            <a:spAutoFit/>
          </a:bodyPr>
          <a:lstStyle/>
          <a:p>
            <a:r>
              <a:rPr sz="2400" b="1">
                <a:solidFill>
                  <a:srgbClr val="0D4F4F"/>
                </a:solidFill>
                <a:latin typeface="Georgia"/>
              </a:rPr>
              <a:t>Anomalie : 2 GPUs plus lents qu'un seul</a:t>
            </a:r>
          </a:p>
        </p:txBody>
      </p:sp>
      <p:sp>
        <p:nvSpPr>
          <p:cNvPr id="4" name="TextBox 3"/>
          <p:cNvSpPr txBox="1"/>
          <p:nvPr/>
        </p:nvSpPr>
        <p:spPr>
          <a:xfrm>
            <a:off x="548640" y="658368"/>
            <a:ext cx="7772400" cy="274320"/>
          </a:xfrm>
          <a:prstGeom prst="rect">
            <a:avLst/>
          </a:prstGeom>
          <a:noFill/>
        </p:spPr>
        <p:txBody>
          <a:bodyPr wrap="none" lIns="0" tIns="0" rIns="0" bIns="0">
            <a:spAutoFit/>
          </a:bodyPr>
          <a:lstStyle/>
          <a:p>
            <a:r>
              <a:rPr sz="1200" i="1">
                <a:solidFill>
                  <a:srgbClr val="8A8A9A"/>
                </a:solidFill>
                <a:latin typeface="Calibri"/>
              </a:rPr>
              <a:t>Dégradation de performance observée à N = 20 000</a:t>
            </a:r>
          </a:p>
        </p:txBody>
      </p:sp>
      <p:graphicFrame>
        <p:nvGraphicFramePr>
          <p:cNvPr id="5" name="Table 4"/>
          <p:cNvGraphicFramePr>
            <a:graphicFrameLocks noGrp="1"/>
          </p:cNvGraphicFramePr>
          <p:nvPr/>
        </p:nvGraphicFramePr>
        <p:xfrm>
          <a:off x="365760" y="1276772"/>
          <a:ext cx="3840480" cy="914400"/>
        </p:xfrm>
        <a:graphic>
          <a:graphicData uri="http://schemas.openxmlformats.org/drawingml/2006/table">
            <a:tbl>
              <a:tblPr firstRow="1" bandRow="1">
                <a:tableStyleId>{5C22544A-7EE6-4342-B048-85BDC9FD1C3A}</a:tableStyleId>
              </a:tblPr>
              <a:tblGrid>
                <a:gridCol w="960120">
                  <a:extLst>
                    <a:ext uri="{9D8B030D-6E8A-4147-A177-3AD203B41FA5}">
                      <a16:colId xmlns:a16="http://schemas.microsoft.com/office/drawing/2014/main" val="20000"/>
                    </a:ext>
                  </a:extLst>
                </a:gridCol>
                <a:gridCol w="960120">
                  <a:extLst>
                    <a:ext uri="{9D8B030D-6E8A-4147-A177-3AD203B41FA5}">
                      <a16:colId xmlns:a16="http://schemas.microsoft.com/office/drawing/2014/main" val="20001"/>
                    </a:ext>
                  </a:extLst>
                </a:gridCol>
                <a:gridCol w="960120">
                  <a:extLst>
                    <a:ext uri="{9D8B030D-6E8A-4147-A177-3AD203B41FA5}">
                      <a16:colId xmlns:a16="http://schemas.microsoft.com/office/drawing/2014/main" val="20002"/>
                    </a:ext>
                  </a:extLst>
                </a:gridCol>
                <a:gridCol w="960120">
                  <a:extLst>
                    <a:ext uri="{9D8B030D-6E8A-4147-A177-3AD203B41FA5}">
                      <a16:colId xmlns:a16="http://schemas.microsoft.com/office/drawing/2014/main" val="20003"/>
                    </a:ext>
                  </a:extLst>
                </a:gridCol>
              </a:tblGrid>
              <a:tr h="304800">
                <a:tc>
                  <a:txBody>
                    <a:bodyPr/>
                    <a:lstStyle/>
                    <a:p>
                      <a:pPr algn="ctr"/>
                      <a:r>
                        <a:rPr sz="1000" b="1">
                          <a:solidFill>
                            <a:srgbClr val="FFFFFF"/>
                          </a:solidFill>
                          <a:latin typeface="Calibri"/>
                        </a:rPr>
                        <a:t>GPU</a:t>
                      </a:r>
                    </a:p>
                  </a:txBody>
                  <a:tcPr>
                    <a:solidFill>
                      <a:srgbClr val="0D4F4F"/>
                    </a:solidFill>
                  </a:tcPr>
                </a:tc>
                <a:tc>
                  <a:txBody>
                    <a:bodyPr/>
                    <a:lstStyle/>
                    <a:p>
                      <a:pPr algn="ctr"/>
                      <a:r>
                        <a:rPr sz="1000" b="1">
                          <a:solidFill>
                            <a:srgbClr val="FFFFFF"/>
                          </a:solidFill>
                          <a:latin typeface="Calibri"/>
                        </a:rPr>
                        <a:t>1 GPU</a:t>
                      </a:r>
                    </a:p>
                  </a:txBody>
                  <a:tcPr>
                    <a:solidFill>
                      <a:srgbClr val="0D4F4F"/>
                    </a:solidFill>
                  </a:tcPr>
                </a:tc>
                <a:tc>
                  <a:txBody>
                    <a:bodyPr/>
                    <a:lstStyle/>
                    <a:p>
                      <a:pPr algn="ctr"/>
                      <a:r>
                        <a:rPr sz="1000" b="1">
                          <a:solidFill>
                            <a:srgbClr val="FFFFFF"/>
                          </a:solidFill>
                          <a:latin typeface="Calibri"/>
                        </a:rPr>
                        <a:t>2 GPUs</a:t>
                      </a:r>
                    </a:p>
                  </a:txBody>
                  <a:tcPr>
                    <a:solidFill>
                      <a:srgbClr val="0D4F4F"/>
                    </a:solidFill>
                  </a:tcPr>
                </a:tc>
                <a:tc>
                  <a:txBody>
                    <a:bodyPr/>
                    <a:lstStyle/>
                    <a:p>
                      <a:pPr algn="ctr"/>
                      <a:r>
                        <a:rPr sz="1000" b="1">
                          <a:solidFill>
                            <a:srgbClr val="FFFFFF"/>
                          </a:solidFill>
                          <a:latin typeface="Calibri"/>
                        </a:rPr>
                        <a:t>Dégradation</a:t>
                      </a:r>
                    </a:p>
                  </a:txBody>
                  <a:tcPr>
                    <a:solidFill>
                      <a:srgbClr val="0D4F4F"/>
                    </a:solidFill>
                  </a:tcPr>
                </a:tc>
                <a:extLst>
                  <a:ext uri="{0D108BD9-81ED-4DB2-BD59-A6C34878D82A}">
                    <a16:rowId xmlns:a16="http://schemas.microsoft.com/office/drawing/2014/main" val="10000"/>
                  </a:ext>
                </a:extLst>
              </a:tr>
              <a:tr h="304800">
                <a:tc>
                  <a:txBody>
                    <a:bodyPr/>
                    <a:lstStyle/>
                    <a:p>
                      <a:pPr algn="ctr"/>
                      <a:r>
                        <a:rPr sz="1000">
                          <a:solidFill>
                            <a:srgbClr val="1A1A2E"/>
                          </a:solidFill>
                          <a:latin typeface="Calibri"/>
                        </a:rPr>
                        <a:t>A100</a:t>
                      </a:r>
                    </a:p>
                  </a:txBody>
                  <a:tcPr/>
                </a:tc>
                <a:tc>
                  <a:txBody>
                    <a:bodyPr/>
                    <a:lstStyle/>
                    <a:p>
                      <a:pPr algn="ctr"/>
                      <a:r>
                        <a:rPr sz="1000">
                          <a:solidFill>
                            <a:srgbClr val="1A1A2E"/>
                          </a:solidFill>
                          <a:latin typeface="Calibri"/>
                        </a:rPr>
                        <a:t>9 731</a:t>
                      </a:r>
                    </a:p>
                  </a:txBody>
                  <a:tcPr/>
                </a:tc>
                <a:tc>
                  <a:txBody>
                    <a:bodyPr/>
                    <a:lstStyle/>
                    <a:p>
                      <a:pPr algn="ctr"/>
                      <a:r>
                        <a:rPr sz="1000">
                          <a:solidFill>
                            <a:srgbClr val="1A1A2E"/>
                          </a:solidFill>
                          <a:latin typeface="Calibri"/>
                        </a:rPr>
                        <a:t>9 106</a:t>
                      </a:r>
                    </a:p>
                  </a:txBody>
                  <a:tcPr/>
                </a:tc>
                <a:tc>
                  <a:txBody>
                    <a:bodyPr/>
                    <a:lstStyle/>
                    <a:p>
                      <a:pPr algn="ctr"/>
                      <a:r>
                        <a:rPr sz="1000">
                          <a:solidFill>
                            <a:srgbClr val="1A1A2E"/>
                          </a:solidFill>
                          <a:latin typeface="Calibri"/>
                        </a:rPr>
                        <a:t>-6,4%</a:t>
                      </a:r>
                    </a:p>
                  </a:txBody>
                  <a:tcPr/>
                </a:tc>
                <a:extLst>
                  <a:ext uri="{0D108BD9-81ED-4DB2-BD59-A6C34878D82A}">
                    <a16:rowId xmlns:a16="http://schemas.microsoft.com/office/drawing/2014/main" val="10001"/>
                  </a:ext>
                </a:extLst>
              </a:tr>
              <a:tr h="304800">
                <a:tc>
                  <a:txBody>
                    <a:bodyPr/>
                    <a:lstStyle/>
                    <a:p>
                      <a:pPr algn="ctr"/>
                      <a:r>
                        <a:rPr sz="1000">
                          <a:solidFill>
                            <a:srgbClr val="1A1A2E"/>
                          </a:solidFill>
                          <a:latin typeface="Calibri"/>
                        </a:rPr>
                        <a:t>H100</a:t>
                      </a:r>
                    </a:p>
                  </a:txBody>
                  <a:tcPr>
                    <a:solidFill>
                      <a:srgbClr val="F7F7F7"/>
                    </a:solidFill>
                  </a:tcPr>
                </a:tc>
                <a:tc>
                  <a:txBody>
                    <a:bodyPr/>
                    <a:lstStyle/>
                    <a:p>
                      <a:pPr algn="ctr"/>
                      <a:r>
                        <a:rPr sz="1000">
                          <a:solidFill>
                            <a:srgbClr val="1A1A2E"/>
                          </a:solidFill>
                          <a:latin typeface="Calibri"/>
                        </a:rPr>
                        <a:t>16 130</a:t>
                      </a:r>
                    </a:p>
                  </a:txBody>
                  <a:tcPr>
                    <a:solidFill>
                      <a:srgbClr val="F7F7F7"/>
                    </a:solidFill>
                  </a:tcPr>
                </a:tc>
                <a:tc>
                  <a:txBody>
                    <a:bodyPr/>
                    <a:lstStyle/>
                    <a:p>
                      <a:pPr algn="ctr"/>
                      <a:r>
                        <a:rPr sz="1000">
                          <a:solidFill>
                            <a:srgbClr val="1A1A2E"/>
                          </a:solidFill>
                          <a:latin typeface="Calibri"/>
                        </a:rPr>
                        <a:t>11 510</a:t>
                      </a:r>
                    </a:p>
                  </a:txBody>
                  <a:tcPr>
                    <a:solidFill>
                      <a:srgbClr val="F7F7F7"/>
                    </a:solidFill>
                  </a:tcPr>
                </a:tc>
                <a:tc>
                  <a:txBody>
                    <a:bodyPr/>
                    <a:lstStyle/>
                    <a:p>
                      <a:pPr algn="ctr"/>
                      <a:r>
                        <a:rPr sz="1000">
                          <a:solidFill>
                            <a:srgbClr val="1A1A2E"/>
                          </a:solidFill>
                          <a:latin typeface="Calibri"/>
                        </a:rPr>
                        <a:t>-28,6%</a:t>
                      </a:r>
                    </a:p>
                  </a:txBody>
                  <a:tcPr>
                    <a:solidFill>
                      <a:srgbClr val="F7F7F7"/>
                    </a:solidFill>
                  </a:tcPr>
                </a:tc>
                <a:extLst>
                  <a:ext uri="{0D108BD9-81ED-4DB2-BD59-A6C34878D82A}">
                    <a16:rowId xmlns:a16="http://schemas.microsoft.com/office/drawing/2014/main" val="10002"/>
                  </a:ext>
                </a:extLst>
              </a:tr>
            </a:tbl>
          </a:graphicData>
        </a:graphic>
      </p:graphicFrame>
      <p:sp>
        <p:nvSpPr>
          <p:cNvPr id="6" name="Rectangle 5"/>
          <p:cNvSpPr/>
          <p:nvPr/>
        </p:nvSpPr>
        <p:spPr>
          <a:xfrm>
            <a:off x="457200" y="2374052"/>
            <a:ext cx="365760" cy="365760"/>
          </a:xfrm>
          <a:prstGeom prst="rect">
            <a:avLst/>
          </a:prstGeom>
          <a:solidFill>
            <a:srgbClr val="0E7C7B"/>
          </a:solidFill>
          <a:ln>
            <a:noFill/>
          </a:ln>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400" b="1">
                <a:solidFill>
                  <a:srgbClr val="FFFFFF"/>
                </a:solidFill>
                <a:latin typeface="Calibri"/>
              </a:rPr>
              <a:t>1</a:t>
            </a:r>
          </a:p>
        </p:txBody>
      </p:sp>
      <p:sp>
        <p:nvSpPr>
          <p:cNvPr id="7" name="TextBox 6"/>
          <p:cNvSpPr txBox="1"/>
          <p:nvPr/>
        </p:nvSpPr>
        <p:spPr>
          <a:xfrm>
            <a:off x="914400" y="2374052"/>
            <a:ext cx="3200400" cy="411480"/>
          </a:xfrm>
          <a:prstGeom prst="rect">
            <a:avLst/>
          </a:prstGeom>
          <a:noFill/>
        </p:spPr>
        <p:txBody>
          <a:bodyPr wrap="square">
            <a:spAutoFit/>
          </a:bodyPr>
          <a:lstStyle/>
          <a:p>
            <a:pPr algn="l"/>
            <a:r>
              <a:rPr sz="1100" b="0" i="0">
                <a:solidFill>
                  <a:srgbClr val="1A1A2E"/>
                </a:solidFill>
                <a:latin typeface="Calibri"/>
              </a:rPr>
              <a:t>Problème trop petit — chaque GPU reçoit une portion insuffisante</a:t>
            </a:r>
          </a:p>
        </p:txBody>
      </p:sp>
      <p:sp>
        <p:nvSpPr>
          <p:cNvPr id="8" name="Rectangle 7"/>
          <p:cNvSpPr/>
          <p:nvPr/>
        </p:nvSpPr>
        <p:spPr>
          <a:xfrm>
            <a:off x="457200" y="2876971"/>
            <a:ext cx="365760" cy="365760"/>
          </a:xfrm>
          <a:prstGeom prst="rect">
            <a:avLst/>
          </a:prstGeom>
          <a:solidFill>
            <a:srgbClr val="0E7C7B"/>
          </a:solidFill>
          <a:ln>
            <a:noFill/>
          </a:ln>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400" b="1">
                <a:solidFill>
                  <a:srgbClr val="FFFFFF"/>
                </a:solidFill>
                <a:latin typeface="Calibri"/>
              </a:rPr>
              <a:t>2</a:t>
            </a:r>
          </a:p>
        </p:txBody>
      </p:sp>
      <p:sp>
        <p:nvSpPr>
          <p:cNvPr id="9" name="TextBox 8"/>
          <p:cNvSpPr txBox="1"/>
          <p:nvPr/>
        </p:nvSpPr>
        <p:spPr>
          <a:xfrm>
            <a:off x="914400" y="2876971"/>
            <a:ext cx="3200400" cy="411480"/>
          </a:xfrm>
          <a:prstGeom prst="rect">
            <a:avLst/>
          </a:prstGeom>
          <a:noFill/>
        </p:spPr>
        <p:txBody>
          <a:bodyPr wrap="square">
            <a:spAutoFit/>
          </a:bodyPr>
          <a:lstStyle/>
          <a:p>
            <a:pPr algn="l"/>
            <a:r>
              <a:rPr sz="1100" b="0" i="0">
                <a:solidFill>
                  <a:srgbClr val="1A1A2E"/>
                </a:solidFill>
                <a:latin typeface="Calibri"/>
              </a:rPr>
              <a:t>Coût de communication inter-GPU &gt; gain de calcul</a:t>
            </a:r>
          </a:p>
        </p:txBody>
      </p:sp>
      <p:sp>
        <p:nvSpPr>
          <p:cNvPr id="10" name="Rectangle 9"/>
          <p:cNvSpPr/>
          <p:nvPr/>
        </p:nvSpPr>
        <p:spPr>
          <a:xfrm>
            <a:off x="457200" y="3379892"/>
            <a:ext cx="365760" cy="365760"/>
          </a:xfrm>
          <a:prstGeom prst="rect">
            <a:avLst/>
          </a:prstGeom>
          <a:solidFill>
            <a:srgbClr val="0E7C7B"/>
          </a:solidFill>
          <a:ln>
            <a:noFill/>
          </a:ln>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400" b="1">
                <a:solidFill>
                  <a:srgbClr val="FFFFFF"/>
                </a:solidFill>
                <a:latin typeface="Calibri"/>
              </a:rPr>
              <a:t>3</a:t>
            </a:r>
          </a:p>
        </p:txBody>
      </p:sp>
      <p:sp>
        <p:nvSpPr>
          <p:cNvPr id="11" name="TextBox 10"/>
          <p:cNvSpPr txBox="1"/>
          <p:nvPr/>
        </p:nvSpPr>
        <p:spPr>
          <a:xfrm>
            <a:off x="914400" y="3379892"/>
            <a:ext cx="3200400" cy="411480"/>
          </a:xfrm>
          <a:prstGeom prst="rect">
            <a:avLst/>
          </a:prstGeom>
          <a:noFill/>
        </p:spPr>
        <p:txBody>
          <a:bodyPr wrap="square">
            <a:spAutoFit/>
          </a:bodyPr>
          <a:lstStyle/>
          <a:p>
            <a:pPr algn="l"/>
            <a:r>
              <a:rPr sz="1100" b="0" i="0">
                <a:solidFill>
                  <a:srgbClr val="1A1A2E"/>
                </a:solidFill>
                <a:latin typeface="Calibri"/>
              </a:rPr>
              <a:t>Plus prononcé sur H100 : 16 896 vs 6 912 cœurs</a:t>
            </a:r>
          </a:p>
        </p:txBody>
      </p:sp>
      <p:sp>
        <p:nvSpPr>
          <p:cNvPr id="12" name="Rectangle 11"/>
          <p:cNvSpPr/>
          <p:nvPr/>
        </p:nvSpPr>
        <p:spPr>
          <a:xfrm>
            <a:off x="457200" y="3882812"/>
            <a:ext cx="365760" cy="365760"/>
          </a:xfrm>
          <a:prstGeom prst="rect">
            <a:avLst/>
          </a:prstGeom>
          <a:solidFill>
            <a:srgbClr val="E07A5F"/>
          </a:solidFill>
          <a:ln>
            <a:noFill/>
          </a:ln>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400" b="1">
                <a:solidFill>
                  <a:srgbClr val="FFFFFF"/>
                </a:solidFill>
                <a:latin typeface="Calibri"/>
              </a:rPr>
              <a:t>4</a:t>
            </a:r>
          </a:p>
        </p:txBody>
      </p:sp>
      <p:sp>
        <p:nvSpPr>
          <p:cNvPr id="13" name="TextBox 12"/>
          <p:cNvSpPr txBox="1"/>
          <p:nvPr/>
        </p:nvSpPr>
        <p:spPr>
          <a:xfrm>
            <a:off x="914400" y="3882812"/>
            <a:ext cx="3200400" cy="411480"/>
          </a:xfrm>
          <a:prstGeom prst="rect">
            <a:avLst/>
          </a:prstGeom>
          <a:noFill/>
        </p:spPr>
        <p:txBody>
          <a:bodyPr wrap="square">
            <a:spAutoFit/>
          </a:bodyPr>
          <a:lstStyle/>
          <a:p>
            <a:pPr algn="l"/>
            <a:r>
              <a:rPr sz="1100" b="0" i="0" dirty="0" err="1">
                <a:solidFill>
                  <a:srgbClr val="1A1A2E"/>
                </a:solidFill>
                <a:latin typeface="Calibri"/>
              </a:rPr>
              <a:t>Seuil</a:t>
            </a:r>
            <a:r>
              <a:rPr sz="1100" b="0" i="0" dirty="0">
                <a:solidFill>
                  <a:srgbClr val="1A1A2E"/>
                </a:solidFill>
                <a:latin typeface="Calibri"/>
              </a:rPr>
              <a:t> de </a:t>
            </a:r>
            <a:r>
              <a:rPr sz="1100" b="0" i="0" dirty="0" err="1">
                <a:solidFill>
                  <a:srgbClr val="1A1A2E"/>
                </a:solidFill>
                <a:latin typeface="Calibri"/>
              </a:rPr>
              <a:t>rentabilité</a:t>
            </a:r>
            <a:r>
              <a:rPr sz="1100" b="0" i="0" dirty="0">
                <a:solidFill>
                  <a:srgbClr val="1A1A2E"/>
                </a:solidFill>
                <a:latin typeface="Calibri"/>
              </a:rPr>
              <a:t> : entre N = 20K et 40K</a:t>
            </a:r>
          </a:p>
        </p:txBody>
      </p:sp>
      <p:sp>
        <p:nvSpPr>
          <p:cNvPr id="14" name="Rectangle 13"/>
          <p:cNvSpPr/>
          <p:nvPr/>
        </p:nvSpPr>
        <p:spPr>
          <a:xfrm>
            <a:off x="4389120" y="1276772"/>
            <a:ext cx="4572000" cy="301752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ectangle 14"/>
          <p:cNvSpPr/>
          <p:nvPr/>
        </p:nvSpPr>
        <p:spPr>
          <a:xfrm>
            <a:off x="4389120" y="1276772"/>
            <a:ext cx="4572000" cy="45720"/>
          </a:xfrm>
          <a:prstGeom prst="rect">
            <a:avLst/>
          </a:prstGeom>
          <a:solidFill>
            <a:srgbClr val="D4A84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4480560" y="1413932"/>
            <a:ext cx="4389120" cy="274320"/>
          </a:xfrm>
          <a:prstGeom prst="rect">
            <a:avLst/>
          </a:prstGeom>
          <a:noFill/>
        </p:spPr>
        <p:txBody>
          <a:bodyPr wrap="square">
            <a:spAutoFit/>
          </a:bodyPr>
          <a:lstStyle/>
          <a:p>
            <a:pPr algn="l"/>
            <a:r>
              <a:rPr sz="1300" b="1" i="0">
                <a:solidFill>
                  <a:srgbClr val="D4A843"/>
                </a:solidFill>
                <a:latin typeface="Calibri"/>
              </a:rPr>
              <a:t>Pourquoi ?</a:t>
            </a:r>
          </a:p>
        </p:txBody>
      </p:sp>
      <p:sp>
        <p:nvSpPr>
          <p:cNvPr id="17" name="TextBox 16"/>
          <p:cNvSpPr txBox="1"/>
          <p:nvPr/>
        </p:nvSpPr>
        <p:spPr>
          <a:xfrm>
            <a:off x="4480560" y="1779692"/>
            <a:ext cx="4389120" cy="2377440"/>
          </a:xfrm>
          <a:prstGeom prst="rect">
            <a:avLst/>
          </a:prstGeom>
          <a:noFill/>
        </p:spPr>
        <p:txBody>
          <a:bodyPr wrap="square">
            <a:spAutoFit/>
          </a:bodyPr>
          <a:lstStyle/>
          <a:p>
            <a:pPr>
              <a:spcAft>
                <a:spcPts val="200"/>
              </a:spcAft>
            </a:pPr>
            <a:r>
              <a:rPr sz="1000" b="1">
                <a:solidFill>
                  <a:srgbClr val="0D4F4F"/>
                </a:solidFill>
                <a:latin typeface="Calibri"/>
              </a:rPr>
              <a:t>Le calcul croît en O(N³)</a:t>
            </a:r>
          </a:p>
          <a:p>
            <a:pPr>
              <a:spcAft>
                <a:spcPts val="200"/>
              </a:spcAft>
            </a:pPr>
            <a:r>
              <a:rPr sz="1000" b="0">
                <a:solidFill>
                  <a:srgbClr val="4A4A5A"/>
                </a:solidFill>
                <a:latin typeface="Calibri"/>
              </a:rPr>
              <a:t>Volume de travail augmente cubiquement avec N</a:t>
            </a:r>
          </a:p>
          <a:p>
            <a:pPr>
              <a:spcAft>
                <a:spcPts val="200"/>
              </a:spcAft>
            </a:pPr>
            <a:endParaRPr sz="1000" b="0">
              <a:solidFill>
                <a:srgbClr val="4A4A5A"/>
              </a:solidFill>
              <a:latin typeface="Calibri"/>
            </a:endParaRPr>
          </a:p>
          <a:p>
            <a:pPr>
              <a:spcAft>
                <a:spcPts val="200"/>
              </a:spcAft>
            </a:pPr>
            <a:r>
              <a:rPr sz="1000" b="1">
                <a:solidFill>
                  <a:srgbClr val="E07A5F"/>
                </a:solidFill>
                <a:latin typeface="Calibri"/>
              </a:rPr>
              <a:t>La communication croît en O(N²)</a:t>
            </a:r>
          </a:p>
          <a:p>
            <a:pPr>
              <a:spcAft>
                <a:spcPts val="200"/>
              </a:spcAft>
            </a:pPr>
            <a:r>
              <a:rPr sz="1000" b="0">
                <a:solidFill>
                  <a:srgbClr val="4A4A5A"/>
                </a:solidFill>
                <a:latin typeface="Calibri"/>
              </a:rPr>
              <a:t>Échanges inter-GPU augmentent quadratiquement</a:t>
            </a:r>
          </a:p>
          <a:p>
            <a:pPr>
              <a:spcAft>
                <a:spcPts val="200"/>
              </a:spcAft>
            </a:pPr>
            <a:endParaRPr sz="1000" b="0">
              <a:solidFill>
                <a:srgbClr val="4A4A5A"/>
              </a:solidFill>
              <a:latin typeface="Calibri"/>
            </a:endParaRPr>
          </a:p>
          <a:p>
            <a:pPr>
              <a:spcAft>
                <a:spcPts val="200"/>
              </a:spcAft>
            </a:pPr>
            <a:r>
              <a:rPr sz="1000" b="1">
                <a:solidFill>
                  <a:srgbClr val="0D4F4F"/>
                </a:solidFill>
                <a:latin typeface="Calibri"/>
              </a:rPr>
              <a:t>Pour les grands N, le calcul domine</a:t>
            </a:r>
          </a:p>
          <a:p>
            <a:pPr>
              <a:spcAft>
                <a:spcPts val="200"/>
              </a:spcAft>
            </a:pPr>
            <a:r>
              <a:rPr sz="1000" b="0">
                <a:solidFill>
                  <a:srgbClr val="4A4A5A"/>
                </a:solidFill>
                <a:latin typeface="Calibri"/>
              </a:rPr>
              <a:t>Les GPUs passent plus de temps à calculer qu'à communiquer</a:t>
            </a:r>
          </a:p>
          <a:p>
            <a:pPr>
              <a:spcAft>
                <a:spcPts val="200"/>
              </a:spcAft>
            </a:pPr>
            <a:endParaRPr sz="1000" b="0">
              <a:solidFill>
                <a:srgbClr val="4A4A5A"/>
              </a:solidFill>
              <a:latin typeface="Calibri"/>
            </a:endParaRPr>
          </a:p>
          <a:p>
            <a:pPr>
              <a:spcAft>
                <a:spcPts val="200"/>
              </a:spcAft>
            </a:pPr>
            <a:r>
              <a:rPr sz="1000" b="1">
                <a:solidFill>
                  <a:srgbClr val="E07A5F"/>
                </a:solidFill>
                <a:latin typeface="Calibri"/>
              </a:rPr>
              <a:t>Pour les petits N, la communication domine</a:t>
            </a:r>
          </a:p>
          <a:p>
            <a:pPr>
              <a:spcAft>
                <a:spcPts val="200"/>
              </a:spcAft>
            </a:pPr>
            <a:r>
              <a:rPr sz="1000" b="0">
                <a:solidFill>
                  <a:srgbClr val="4A4A5A"/>
                </a:solidFill>
                <a:latin typeface="Calibri"/>
              </a:rPr>
              <a:t>Le surcoût de synchronisation dépasse le bénéfice du parallélisme</a:t>
            </a:r>
          </a:p>
        </p:txBody>
      </p:sp>
      <p:sp>
        <p:nvSpPr>
          <p:cNvPr id="20" name="TextBox 19">
            <a:extLst>
              <a:ext uri="{FF2B5EF4-FFF2-40B4-BE49-F238E27FC236}">
                <a16:creationId xmlns:a16="http://schemas.microsoft.com/office/drawing/2014/main" id="{01DA503D-5BCC-320A-2F8E-DE0BF34B698B}"/>
              </a:ext>
            </a:extLst>
          </p:cNvPr>
          <p:cNvSpPr txBox="1"/>
          <p:nvPr/>
        </p:nvSpPr>
        <p:spPr>
          <a:xfrm>
            <a:off x="8394732" y="43934"/>
            <a:ext cx="821059" cy="369332"/>
          </a:xfrm>
          <a:prstGeom prst="rect">
            <a:avLst/>
          </a:prstGeom>
          <a:noFill/>
        </p:spPr>
        <p:txBody>
          <a:bodyPr wrap="none" rtlCol="0">
            <a:spAutoFit/>
          </a:bodyPr>
          <a:lstStyle/>
          <a:p>
            <a:r>
              <a:rPr lang="fr-FR" b="1" dirty="0">
                <a:solidFill>
                  <a:srgbClr val="0D4F4F"/>
                </a:solidFill>
                <a:latin typeface="Georgia"/>
              </a:rPr>
              <a:t>18/21</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9144000" cy="5143500"/>
          </a:xfrm>
          <a:prstGeom prst="rect">
            <a:avLst/>
          </a:prstGeom>
          <a:solidFill>
            <a:srgbClr val="FAF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228600"/>
            <a:ext cx="7772400" cy="457200"/>
          </a:xfrm>
          <a:prstGeom prst="rect">
            <a:avLst/>
          </a:prstGeom>
          <a:noFill/>
        </p:spPr>
        <p:txBody>
          <a:bodyPr wrap="square" lIns="0" tIns="0" rIns="0" bIns="0">
            <a:spAutoFit/>
          </a:bodyPr>
          <a:lstStyle/>
          <a:p>
            <a:r>
              <a:rPr sz="2400" b="1">
                <a:solidFill>
                  <a:srgbClr val="0D4F4F"/>
                </a:solidFill>
                <a:latin typeface="Georgia"/>
              </a:rPr>
              <a:t>Comparaison architecturale : A100 vs H100</a:t>
            </a:r>
          </a:p>
        </p:txBody>
      </p:sp>
      <p:sp>
        <p:nvSpPr>
          <p:cNvPr id="4" name="TextBox 3"/>
          <p:cNvSpPr txBox="1"/>
          <p:nvPr/>
        </p:nvSpPr>
        <p:spPr>
          <a:xfrm>
            <a:off x="548640" y="658368"/>
            <a:ext cx="7772400" cy="274320"/>
          </a:xfrm>
          <a:prstGeom prst="rect">
            <a:avLst/>
          </a:prstGeom>
          <a:noFill/>
        </p:spPr>
        <p:txBody>
          <a:bodyPr wrap="none" lIns="0" tIns="0" rIns="0" bIns="0">
            <a:spAutoFit/>
          </a:bodyPr>
          <a:lstStyle/>
          <a:p>
            <a:r>
              <a:rPr sz="1200" i="1">
                <a:solidFill>
                  <a:srgbClr val="8A8A9A"/>
                </a:solidFill>
                <a:latin typeface="Calibri"/>
              </a:rPr>
              <a:t>Facteur d'accélération en fonction de la taille du problème</a:t>
            </a:r>
          </a:p>
        </p:txBody>
      </p:sp>
      <p:pic>
        <p:nvPicPr>
          <p:cNvPr id="5" name="Picture 4" descr="a100-h100-hpl.png"/>
          <p:cNvPicPr>
            <a:picLocks noChangeAspect="1"/>
          </p:cNvPicPr>
          <p:nvPr/>
        </p:nvPicPr>
        <p:blipFill>
          <a:blip r:embed="rId3"/>
          <a:stretch>
            <a:fillRect/>
          </a:stretch>
        </p:blipFill>
        <p:spPr>
          <a:xfrm>
            <a:off x="274320" y="1197187"/>
            <a:ext cx="4389120" cy="2548745"/>
          </a:xfrm>
          <a:prstGeom prst="rect">
            <a:avLst/>
          </a:prstGeom>
        </p:spPr>
      </p:pic>
      <p:graphicFrame>
        <p:nvGraphicFramePr>
          <p:cNvPr id="6" name="Table 5"/>
          <p:cNvGraphicFramePr>
            <a:graphicFrameLocks noGrp="1"/>
          </p:cNvGraphicFramePr>
          <p:nvPr/>
        </p:nvGraphicFramePr>
        <p:xfrm>
          <a:off x="4846320" y="1197187"/>
          <a:ext cx="4114800" cy="2286000"/>
        </p:xfrm>
        <a:graphic>
          <a:graphicData uri="http://schemas.openxmlformats.org/drawingml/2006/table">
            <a:tbl>
              <a:tblPr firstRow="1" bandRow="1">
                <a:tableStyleId>{5C22544A-7EE6-4342-B048-85BDC9FD1C3A}</a:tableStyleId>
              </a:tblPr>
              <a:tblGrid>
                <a:gridCol w="1028700">
                  <a:extLst>
                    <a:ext uri="{9D8B030D-6E8A-4147-A177-3AD203B41FA5}">
                      <a16:colId xmlns:a16="http://schemas.microsoft.com/office/drawing/2014/main" val="20000"/>
                    </a:ext>
                  </a:extLst>
                </a:gridCol>
                <a:gridCol w="1028700">
                  <a:extLst>
                    <a:ext uri="{9D8B030D-6E8A-4147-A177-3AD203B41FA5}">
                      <a16:colId xmlns:a16="http://schemas.microsoft.com/office/drawing/2014/main" val="20001"/>
                    </a:ext>
                  </a:extLst>
                </a:gridCol>
                <a:gridCol w="1028700">
                  <a:extLst>
                    <a:ext uri="{9D8B030D-6E8A-4147-A177-3AD203B41FA5}">
                      <a16:colId xmlns:a16="http://schemas.microsoft.com/office/drawing/2014/main" val="20002"/>
                    </a:ext>
                  </a:extLst>
                </a:gridCol>
                <a:gridCol w="1028700">
                  <a:extLst>
                    <a:ext uri="{9D8B030D-6E8A-4147-A177-3AD203B41FA5}">
                      <a16:colId xmlns:a16="http://schemas.microsoft.com/office/drawing/2014/main" val="20003"/>
                    </a:ext>
                  </a:extLst>
                </a:gridCol>
              </a:tblGrid>
              <a:tr h="381000">
                <a:tc>
                  <a:txBody>
                    <a:bodyPr/>
                    <a:lstStyle/>
                    <a:p>
                      <a:pPr algn="ctr"/>
                      <a:r>
                        <a:rPr sz="1000" b="1">
                          <a:solidFill>
                            <a:srgbClr val="FFFFFF"/>
                          </a:solidFill>
                          <a:latin typeface="Calibri"/>
                        </a:rPr>
                        <a:t>N</a:t>
                      </a:r>
                    </a:p>
                  </a:txBody>
                  <a:tcPr>
                    <a:solidFill>
                      <a:srgbClr val="0D4F4F"/>
                    </a:solidFill>
                  </a:tcPr>
                </a:tc>
                <a:tc>
                  <a:txBody>
                    <a:bodyPr/>
                    <a:lstStyle/>
                    <a:p>
                      <a:pPr algn="ctr"/>
                      <a:r>
                        <a:rPr sz="1000" b="1">
                          <a:solidFill>
                            <a:srgbClr val="FFFFFF"/>
                          </a:solidFill>
                          <a:latin typeface="Calibri"/>
                        </a:rPr>
                        <a:t>A100</a:t>
                      </a:r>
                    </a:p>
                  </a:txBody>
                  <a:tcPr>
                    <a:solidFill>
                      <a:srgbClr val="0D4F4F"/>
                    </a:solidFill>
                  </a:tcPr>
                </a:tc>
                <a:tc>
                  <a:txBody>
                    <a:bodyPr/>
                    <a:lstStyle/>
                    <a:p>
                      <a:pPr algn="ctr"/>
                      <a:r>
                        <a:rPr sz="1000" b="1">
                          <a:solidFill>
                            <a:srgbClr val="FFFFFF"/>
                          </a:solidFill>
                          <a:latin typeface="Calibri"/>
                        </a:rPr>
                        <a:t>H100</a:t>
                      </a:r>
                    </a:p>
                  </a:txBody>
                  <a:tcPr>
                    <a:solidFill>
                      <a:srgbClr val="0D4F4F"/>
                    </a:solidFill>
                  </a:tcPr>
                </a:tc>
                <a:tc>
                  <a:txBody>
                    <a:bodyPr/>
                    <a:lstStyle/>
                    <a:p>
                      <a:pPr algn="ctr"/>
                      <a:r>
                        <a:rPr sz="1000" b="1">
                          <a:solidFill>
                            <a:srgbClr val="FFFFFF"/>
                          </a:solidFill>
                          <a:latin typeface="Calibri"/>
                        </a:rPr>
                        <a:t>Ratio</a:t>
                      </a:r>
                    </a:p>
                  </a:txBody>
                  <a:tcPr>
                    <a:solidFill>
                      <a:srgbClr val="0D4F4F"/>
                    </a:solidFill>
                  </a:tcPr>
                </a:tc>
                <a:extLst>
                  <a:ext uri="{0D108BD9-81ED-4DB2-BD59-A6C34878D82A}">
                    <a16:rowId xmlns:a16="http://schemas.microsoft.com/office/drawing/2014/main" val="10000"/>
                  </a:ext>
                </a:extLst>
              </a:tr>
              <a:tr h="381000">
                <a:tc>
                  <a:txBody>
                    <a:bodyPr/>
                    <a:lstStyle/>
                    <a:p>
                      <a:pPr algn="ctr"/>
                      <a:r>
                        <a:rPr sz="1000">
                          <a:solidFill>
                            <a:srgbClr val="1A1A2E"/>
                          </a:solidFill>
                          <a:latin typeface="Calibri"/>
                        </a:rPr>
                        <a:t>20K</a:t>
                      </a:r>
                    </a:p>
                  </a:txBody>
                  <a:tcPr/>
                </a:tc>
                <a:tc>
                  <a:txBody>
                    <a:bodyPr/>
                    <a:lstStyle/>
                    <a:p>
                      <a:pPr algn="ctr"/>
                      <a:r>
                        <a:rPr sz="1000">
                          <a:solidFill>
                            <a:srgbClr val="1A1A2E"/>
                          </a:solidFill>
                          <a:latin typeface="Calibri"/>
                        </a:rPr>
                        <a:t>9 731</a:t>
                      </a:r>
                    </a:p>
                  </a:txBody>
                  <a:tcPr/>
                </a:tc>
                <a:tc>
                  <a:txBody>
                    <a:bodyPr/>
                    <a:lstStyle/>
                    <a:p>
                      <a:pPr algn="ctr"/>
                      <a:r>
                        <a:rPr sz="1000">
                          <a:solidFill>
                            <a:srgbClr val="1A1A2E"/>
                          </a:solidFill>
                          <a:latin typeface="Calibri"/>
                        </a:rPr>
                        <a:t>16 130</a:t>
                      </a:r>
                    </a:p>
                  </a:txBody>
                  <a:tcPr/>
                </a:tc>
                <a:tc>
                  <a:txBody>
                    <a:bodyPr/>
                    <a:lstStyle/>
                    <a:p>
                      <a:pPr algn="ctr"/>
                      <a:r>
                        <a:rPr sz="1000">
                          <a:solidFill>
                            <a:srgbClr val="1A1A2E"/>
                          </a:solidFill>
                          <a:latin typeface="Calibri"/>
                        </a:rPr>
                        <a:t>1,66x</a:t>
                      </a:r>
                    </a:p>
                  </a:txBody>
                  <a:tcPr/>
                </a:tc>
                <a:extLst>
                  <a:ext uri="{0D108BD9-81ED-4DB2-BD59-A6C34878D82A}">
                    <a16:rowId xmlns:a16="http://schemas.microsoft.com/office/drawing/2014/main" val="10001"/>
                  </a:ext>
                </a:extLst>
              </a:tr>
              <a:tr h="381000">
                <a:tc>
                  <a:txBody>
                    <a:bodyPr/>
                    <a:lstStyle/>
                    <a:p>
                      <a:pPr algn="ctr"/>
                      <a:r>
                        <a:rPr sz="1000">
                          <a:solidFill>
                            <a:srgbClr val="1A1A2E"/>
                          </a:solidFill>
                          <a:latin typeface="Calibri"/>
                        </a:rPr>
                        <a:t>40K</a:t>
                      </a:r>
                    </a:p>
                  </a:txBody>
                  <a:tcPr>
                    <a:solidFill>
                      <a:srgbClr val="F7F7F7"/>
                    </a:solidFill>
                  </a:tcPr>
                </a:tc>
                <a:tc>
                  <a:txBody>
                    <a:bodyPr/>
                    <a:lstStyle/>
                    <a:p>
                      <a:pPr algn="ctr"/>
                      <a:r>
                        <a:rPr sz="1000">
                          <a:solidFill>
                            <a:srgbClr val="1A1A2E"/>
                          </a:solidFill>
                          <a:latin typeface="Calibri"/>
                        </a:rPr>
                        <a:t>15 890</a:t>
                      </a:r>
                    </a:p>
                  </a:txBody>
                  <a:tcPr>
                    <a:solidFill>
                      <a:srgbClr val="F7F7F7"/>
                    </a:solidFill>
                  </a:tcPr>
                </a:tc>
                <a:tc>
                  <a:txBody>
                    <a:bodyPr/>
                    <a:lstStyle/>
                    <a:p>
                      <a:pPr algn="ctr"/>
                      <a:r>
                        <a:rPr sz="1000">
                          <a:solidFill>
                            <a:srgbClr val="1A1A2E"/>
                          </a:solidFill>
                          <a:latin typeface="Calibri"/>
                        </a:rPr>
                        <a:t>35 760</a:t>
                      </a:r>
                    </a:p>
                  </a:txBody>
                  <a:tcPr>
                    <a:solidFill>
                      <a:srgbClr val="F7F7F7"/>
                    </a:solidFill>
                  </a:tcPr>
                </a:tc>
                <a:tc>
                  <a:txBody>
                    <a:bodyPr/>
                    <a:lstStyle/>
                    <a:p>
                      <a:pPr algn="ctr"/>
                      <a:r>
                        <a:rPr sz="1000">
                          <a:solidFill>
                            <a:srgbClr val="1A1A2E"/>
                          </a:solidFill>
                          <a:latin typeface="Calibri"/>
                        </a:rPr>
                        <a:t>2,25x</a:t>
                      </a:r>
                    </a:p>
                  </a:txBody>
                  <a:tcPr>
                    <a:solidFill>
                      <a:srgbClr val="F7F7F7"/>
                    </a:solidFill>
                  </a:tcPr>
                </a:tc>
                <a:extLst>
                  <a:ext uri="{0D108BD9-81ED-4DB2-BD59-A6C34878D82A}">
                    <a16:rowId xmlns:a16="http://schemas.microsoft.com/office/drawing/2014/main" val="10002"/>
                  </a:ext>
                </a:extLst>
              </a:tr>
              <a:tr h="381000">
                <a:tc>
                  <a:txBody>
                    <a:bodyPr/>
                    <a:lstStyle/>
                    <a:p>
                      <a:pPr algn="ctr"/>
                      <a:r>
                        <a:rPr sz="1000">
                          <a:solidFill>
                            <a:srgbClr val="1A1A2E"/>
                          </a:solidFill>
                          <a:latin typeface="Calibri"/>
                        </a:rPr>
                        <a:t>60K</a:t>
                      </a:r>
                    </a:p>
                  </a:txBody>
                  <a:tcPr/>
                </a:tc>
                <a:tc>
                  <a:txBody>
                    <a:bodyPr/>
                    <a:lstStyle/>
                    <a:p>
                      <a:pPr algn="ctr"/>
                      <a:r>
                        <a:rPr sz="1000">
                          <a:solidFill>
                            <a:srgbClr val="1A1A2E"/>
                          </a:solidFill>
                          <a:latin typeface="Calibri"/>
                        </a:rPr>
                        <a:t>17 150</a:t>
                      </a:r>
                    </a:p>
                  </a:txBody>
                  <a:tcPr/>
                </a:tc>
                <a:tc>
                  <a:txBody>
                    <a:bodyPr/>
                    <a:lstStyle/>
                    <a:p>
                      <a:pPr algn="ctr"/>
                      <a:r>
                        <a:rPr sz="1000">
                          <a:solidFill>
                            <a:srgbClr val="1A1A2E"/>
                          </a:solidFill>
                          <a:latin typeface="Calibri"/>
                        </a:rPr>
                        <a:t>41 760</a:t>
                      </a:r>
                    </a:p>
                  </a:txBody>
                  <a:tcPr/>
                </a:tc>
                <a:tc>
                  <a:txBody>
                    <a:bodyPr/>
                    <a:lstStyle/>
                    <a:p>
                      <a:pPr algn="ctr"/>
                      <a:r>
                        <a:rPr sz="1000">
                          <a:solidFill>
                            <a:srgbClr val="1A1A2E"/>
                          </a:solidFill>
                          <a:latin typeface="Calibri"/>
                        </a:rPr>
                        <a:t>2,43x</a:t>
                      </a:r>
                    </a:p>
                  </a:txBody>
                  <a:tcPr/>
                </a:tc>
                <a:extLst>
                  <a:ext uri="{0D108BD9-81ED-4DB2-BD59-A6C34878D82A}">
                    <a16:rowId xmlns:a16="http://schemas.microsoft.com/office/drawing/2014/main" val="10003"/>
                  </a:ext>
                </a:extLst>
              </a:tr>
              <a:tr h="381000">
                <a:tc>
                  <a:txBody>
                    <a:bodyPr/>
                    <a:lstStyle/>
                    <a:p>
                      <a:pPr algn="ctr"/>
                      <a:r>
                        <a:rPr sz="1000">
                          <a:solidFill>
                            <a:srgbClr val="1A1A2E"/>
                          </a:solidFill>
                          <a:latin typeface="Calibri"/>
                        </a:rPr>
                        <a:t>80K</a:t>
                      </a:r>
                    </a:p>
                  </a:txBody>
                  <a:tcPr>
                    <a:solidFill>
                      <a:srgbClr val="F7F7F7"/>
                    </a:solidFill>
                  </a:tcPr>
                </a:tc>
                <a:tc>
                  <a:txBody>
                    <a:bodyPr/>
                    <a:lstStyle/>
                    <a:p>
                      <a:pPr algn="ctr"/>
                      <a:r>
                        <a:rPr sz="1000">
                          <a:solidFill>
                            <a:srgbClr val="1A1A2E"/>
                          </a:solidFill>
                          <a:latin typeface="Calibri"/>
                        </a:rPr>
                        <a:t>17 600</a:t>
                      </a:r>
                    </a:p>
                  </a:txBody>
                  <a:tcPr>
                    <a:solidFill>
                      <a:srgbClr val="F7F7F7"/>
                    </a:solidFill>
                  </a:tcPr>
                </a:tc>
                <a:tc>
                  <a:txBody>
                    <a:bodyPr/>
                    <a:lstStyle/>
                    <a:p>
                      <a:pPr algn="ctr"/>
                      <a:r>
                        <a:rPr sz="1000">
                          <a:solidFill>
                            <a:srgbClr val="1A1A2E"/>
                          </a:solidFill>
                          <a:latin typeface="Calibri"/>
                        </a:rPr>
                        <a:t>44 130</a:t>
                      </a:r>
                    </a:p>
                  </a:txBody>
                  <a:tcPr>
                    <a:solidFill>
                      <a:srgbClr val="F7F7F7"/>
                    </a:solidFill>
                  </a:tcPr>
                </a:tc>
                <a:tc>
                  <a:txBody>
                    <a:bodyPr/>
                    <a:lstStyle/>
                    <a:p>
                      <a:pPr algn="ctr"/>
                      <a:r>
                        <a:rPr sz="1000">
                          <a:solidFill>
                            <a:srgbClr val="1A1A2E"/>
                          </a:solidFill>
                          <a:latin typeface="Calibri"/>
                        </a:rPr>
                        <a:t>2,51x</a:t>
                      </a:r>
                    </a:p>
                  </a:txBody>
                  <a:tcPr>
                    <a:solidFill>
                      <a:srgbClr val="F7F7F7"/>
                    </a:solidFill>
                  </a:tcPr>
                </a:tc>
                <a:extLst>
                  <a:ext uri="{0D108BD9-81ED-4DB2-BD59-A6C34878D82A}">
                    <a16:rowId xmlns:a16="http://schemas.microsoft.com/office/drawing/2014/main" val="10004"/>
                  </a:ext>
                </a:extLst>
              </a:tr>
              <a:tr h="381000">
                <a:tc>
                  <a:txBody>
                    <a:bodyPr/>
                    <a:lstStyle/>
                    <a:p>
                      <a:pPr algn="ctr"/>
                      <a:r>
                        <a:rPr sz="1000">
                          <a:solidFill>
                            <a:srgbClr val="1A1A2E"/>
                          </a:solidFill>
                          <a:latin typeface="Calibri"/>
                        </a:rPr>
                        <a:t>100K</a:t>
                      </a:r>
                    </a:p>
                  </a:txBody>
                  <a:tcPr/>
                </a:tc>
                <a:tc>
                  <a:txBody>
                    <a:bodyPr/>
                    <a:lstStyle/>
                    <a:p>
                      <a:pPr algn="ctr"/>
                      <a:r>
                        <a:rPr sz="1000">
                          <a:solidFill>
                            <a:srgbClr val="1A1A2E"/>
                          </a:solidFill>
                          <a:latin typeface="Calibri"/>
                        </a:rPr>
                        <a:t>17 860</a:t>
                      </a:r>
                    </a:p>
                  </a:txBody>
                  <a:tcPr/>
                </a:tc>
                <a:tc>
                  <a:txBody>
                    <a:bodyPr/>
                    <a:lstStyle/>
                    <a:p>
                      <a:pPr algn="ctr"/>
                      <a:r>
                        <a:rPr sz="1000">
                          <a:solidFill>
                            <a:srgbClr val="1A1A2E"/>
                          </a:solidFill>
                          <a:latin typeface="Calibri"/>
                        </a:rPr>
                        <a:t>45 110</a:t>
                      </a:r>
                    </a:p>
                  </a:txBody>
                  <a:tcPr/>
                </a:tc>
                <a:tc>
                  <a:txBody>
                    <a:bodyPr/>
                    <a:lstStyle/>
                    <a:p>
                      <a:pPr algn="ctr"/>
                      <a:r>
                        <a:rPr sz="1000">
                          <a:solidFill>
                            <a:srgbClr val="1A1A2E"/>
                          </a:solidFill>
                          <a:latin typeface="Calibri"/>
                        </a:rPr>
                        <a:t>2,53x</a:t>
                      </a:r>
                    </a:p>
                  </a:txBody>
                  <a:tcPr/>
                </a:tc>
                <a:extLst>
                  <a:ext uri="{0D108BD9-81ED-4DB2-BD59-A6C34878D82A}">
                    <a16:rowId xmlns:a16="http://schemas.microsoft.com/office/drawing/2014/main" val="10005"/>
                  </a:ext>
                </a:extLst>
              </a:tr>
            </a:tbl>
          </a:graphicData>
        </a:graphic>
      </p:graphicFrame>
      <p:sp>
        <p:nvSpPr>
          <p:cNvPr id="7" name="Rectangle 6"/>
          <p:cNvSpPr/>
          <p:nvPr/>
        </p:nvSpPr>
        <p:spPr>
          <a:xfrm>
            <a:off x="4846320" y="3620347"/>
            <a:ext cx="4114800" cy="10972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4846320" y="3620347"/>
            <a:ext cx="4114800" cy="45720"/>
          </a:xfrm>
          <a:prstGeom prst="rect">
            <a:avLst/>
          </a:prstGeom>
          <a:solidFill>
            <a:srgbClr val="0E7C7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4937760" y="3711787"/>
            <a:ext cx="3931920" cy="914400"/>
          </a:xfrm>
          <a:prstGeom prst="rect">
            <a:avLst/>
          </a:prstGeom>
          <a:noFill/>
        </p:spPr>
        <p:txBody>
          <a:bodyPr wrap="square">
            <a:spAutoFit/>
          </a:bodyPr>
          <a:lstStyle/>
          <a:p>
            <a:pPr>
              <a:spcAft>
                <a:spcPts val="300"/>
              </a:spcAft>
            </a:pPr>
            <a:r>
              <a:rPr sz="1100" b="1">
                <a:solidFill>
                  <a:srgbClr val="0E7C7B"/>
                </a:solidFill>
                <a:latin typeface="Calibri"/>
              </a:rPr>
              <a:t>Ratio théorique : 54 / 19,5 = 2,77x</a:t>
            </a:r>
          </a:p>
          <a:p>
            <a:pPr>
              <a:spcAft>
                <a:spcPts val="300"/>
              </a:spcAft>
            </a:pPr>
            <a:r>
              <a:rPr sz="1100" b="1">
                <a:solidFill>
                  <a:srgbClr val="0D4F4F"/>
                </a:solidFill>
                <a:latin typeface="Calibri"/>
              </a:rPr>
              <a:t>Ratio mesuré (N=100K) : 2,53x</a:t>
            </a:r>
          </a:p>
          <a:p>
            <a:pPr>
              <a:spcAft>
                <a:spcPts val="300"/>
              </a:spcAft>
            </a:pPr>
            <a:r>
              <a:rPr sz="1100" b="0">
                <a:solidFill>
                  <a:srgbClr val="4A4A5A"/>
                </a:solidFill>
                <a:latin typeface="Calibri"/>
              </a:rPr>
              <a:t>Écart ~9% — dû à la différence d'efficacité</a:t>
            </a:r>
          </a:p>
          <a:p>
            <a:pPr>
              <a:spcAft>
                <a:spcPts val="300"/>
              </a:spcAft>
            </a:pPr>
            <a:r>
              <a:rPr sz="1100" b="0">
                <a:solidFill>
                  <a:srgbClr val="4A4A5A"/>
                </a:solidFill>
                <a:latin typeface="Calibri"/>
              </a:rPr>
              <a:t>H100 : 83,4%  vs  A100 : 91,7%</a:t>
            </a:r>
          </a:p>
        </p:txBody>
      </p:sp>
      <p:sp>
        <p:nvSpPr>
          <p:cNvPr id="12" name="TextBox 11">
            <a:extLst>
              <a:ext uri="{FF2B5EF4-FFF2-40B4-BE49-F238E27FC236}">
                <a16:creationId xmlns:a16="http://schemas.microsoft.com/office/drawing/2014/main" id="{B810AC27-49A1-C4A1-D518-F2EF49E15C71}"/>
              </a:ext>
            </a:extLst>
          </p:cNvPr>
          <p:cNvSpPr txBox="1"/>
          <p:nvPr/>
        </p:nvSpPr>
        <p:spPr>
          <a:xfrm>
            <a:off x="8394732" y="43934"/>
            <a:ext cx="814647" cy="369332"/>
          </a:xfrm>
          <a:prstGeom prst="rect">
            <a:avLst/>
          </a:prstGeom>
          <a:noFill/>
        </p:spPr>
        <p:txBody>
          <a:bodyPr wrap="none" rtlCol="0">
            <a:spAutoFit/>
          </a:bodyPr>
          <a:lstStyle/>
          <a:p>
            <a:r>
              <a:rPr lang="fr-FR" b="1" dirty="0">
                <a:solidFill>
                  <a:srgbClr val="0D4F4F"/>
                </a:solidFill>
                <a:latin typeface="Georgia"/>
              </a:rPr>
              <a:t>19/21</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9144000" cy="5143500"/>
          </a:xfrm>
          <a:prstGeom prst="rect">
            <a:avLst/>
          </a:prstGeom>
          <a:solidFill>
            <a:srgbClr val="FAF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228600"/>
            <a:ext cx="7772400" cy="457200"/>
          </a:xfrm>
          <a:prstGeom prst="rect">
            <a:avLst/>
          </a:prstGeom>
          <a:noFill/>
        </p:spPr>
        <p:txBody>
          <a:bodyPr wrap="square" lIns="0" tIns="0" rIns="0" bIns="0">
            <a:spAutoFit/>
          </a:bodyPr>
          <a:lstStyle/>
          <a:p>
            <a:r>
              <a:rPr sz="2400" b="1">
                <a:solidFill>
                  <a:srgbClr val="0D4F4F"/>
                </a:solidFill>
                <a:latin typeface="Georgia"/>
              </a:rPr>
              <a:t>Synthèse de l'efficacité</a:t>
            </a:r>
          </a:p>
        </p:txBody>
      </p:sp>
      <p:sp>
        <p:nvSpPr>
          <p:cNvPr id="4" name="TextBox 3"/>
          <p:cNvSpPr txBox="1"/>
          <p:nvPr/>
        </p:nvSpPr>
        <p:spPr>
          <a:xfrm>
            <a:off x="548640" y="658368"/>
            <a:ext cx="7772400" cy="274320"/>
          </a:xfrm>
          <a:prstGeom prst="rect">
            <a:avLst/>
          </a:prstGeom>
          <a:noFill/>
        </p:spPr>
        <p:txBody>
          <a:bodyPr wrap="none" lIns="0" tIns="0" rIns="0" bIns="0">
            <a:spAutoFit/>
          </a:bodyPr>
          <a:lstStyle/>
          <a:p>
            <a:r>
              <a:rPr sz="1200" i="1">
                <a:solidFill>
                  <a:srgbClr val="8A8A9A"/>
                </a:solidFill>
                <a:latin typeface="Calibri"/>
              </a:rPr>
              <a:t>Efficacité = GFLOPS mesurés / Pic théorique × 100%</a:t>
            </a:r>
          </a:p>
        </p:txBody>
      </p:sp>
      <p:graphicFrame>
        <p:nvGraphicFramePr>
          <p:cNvPr id="5" name="Table 4"/>
          <p:cNvGraphicFramePr>
            <a:graphicFrameLocks noGrp="1"/>
          </p:cNvGraphicFramePr>
          <p:nvPr/>
        </p:nvGraphicFramePr>
        <p:xfrm>
          <a:off x="365760" y="1188723"/>
          <a:ext cx="8412480" cy="2011680"/>
        </p:xfrm>
        <a:graphic>
          <a:graphicData uri="http://schemas.openxmlformats.org/drawingml/2006/table">
            <a:tbl>
              <a:tblPr firstRow="1" bandRow="1">
                <a:tableStyleId>{5C22544A-7EE6-4342-B048-85BDC9FD1C3A}</a:tableStyleId>
              </a:tblPr>
              <a:tblGrid>
                <a:gridCol w="1682496">
                  <a:extLst>
                    <a:ext uri="{9D8B030D-6E8A-4147-A177-3AD203B41FA5}">
                      <a16:colId xmlns:a16="http://schemas.microsoft.com/office/drawing/2014/main" val="20000"/>
                    </a:ext>
                  </a:extLst>
                </a:gridCol>
                <a:gridCol w="1682496">
                  <a:extLst>
                    <a:ext uri="{9D8B030D-6E8A-4147-A177-3AD203B41FA5}">
                      <a16:colId xmlns:a16="http://schemas.microsoft.com/office/drawing/2014/main" val="20001"/>
                    </a:ext>
                  </a:extLst>
                </a:gridCol>
                <a:gridCol w="1682496">
                  <a:extLst>
                    <a:ext uri="{9D8B030D-6E8A-4147-A177-3AD203B41FA5}">
                      <a16:colId xmlns:a16="http://schemas.microsoft.com/office/drawing/2014/main" val="20002"/>
                    </a:ext>
                  </a:extLst>
                </a:gridCol>
                <a:gridCol w="1682496">
                  <a:extLst>
                    <a:ext uri="{9D8B030D-6E8A-4147-A177-3AD203B41FA5}">
                      <a16:colId xmlns:a16="http://schemas.microsoft.com/office/drawing/2014/main" val="20003"/>
                    </a:ext>
                  </a:extLst>
                </a:gridCol>
                <a:gridCol w="1682496">
                  <a:extLst>
                    <a:ext uri="{9D8B030D-6E8A-4147-A177-3AD203B41FA5}">
                      <a16:colId xmlns:a16="http://schemas.microsoft.com/office/drawing/2014/main" val="20004"/>
                    </a:ext>
                  </a:extLst>
                </a:gridCol>
              </a:tblGrid>
              <a:tr h="402336">
                <a:tc>
                  <a:txBody>
                    <a:bodyPr/>
                    <a:lstStyle/>
                    <a:p>
                      <a:pPr algn="ctr"/>
                      <a:r>
                        <a:rPr sz="1000" b="1" dirty="0">
                          <a:solidFill>
                            <a:srgbClr val="FFFFFF"/>
                          </a:solidFill>
                          <a:latin typeface="Calibri"/>
                        </a:rPr>
                        <a:t>Configuration</a:t>
                      </a:r>
                    </a:p>
                  </a:txBody>
                  <a:tcPr>
                    <a:solidFill>
                      <a:srgbClr val="0D4F4F"/>
                    </a:solidFill>
                  </a:tcPr>
                </a:tc>
                <a:tc>
                  <a:txBody>
                    <a:bodyPr/>
                    <a:lstStyle/>
                    <a:p>
                      <a:pPr algn="ctr"/>
                      <a:r>
                        <a:rPr sz="1000" b="1">
                          <a:solidFill>
                            <a:srgbClr val="FFFFFF"/>
                          </a:solidFill>
                          <a:latin typeface="Calibri"/>
                        </a:rPr>
                        <a:t>Peak (TFLOPS)</a:t>
                      </a:r>
                    </a:p>
                  </a:txBody>
                  <a:tcPr>
                    <a:solidFill>
                      <a:srgbClr val="0D4F4F"/>
                    </a:solidFill>
                  </a:tcPr>
                </a:tc>
                <a:tc>
                  <a:txBody>
                    <a:bodyPr/>
                    <a:lstStyle/>
                    <a:p>
                      <a:pPr algn="ctr"/>
                      <a:r>
                        <a:rPr sz="1000" b="1">
                          <a:solidFill>
                            <a:srgbClr val="FFFFFF"/>
                          </a:solidFill>
                          <a:latin typeface="Calibri"/>
                        </a:rPr>
                        <a:t>Meilleur (GFLOPS)</a:t>
                      </a:r>
                    </a:p>
                  </a:txBody>
                  <a:tcPr>
                    <a:solidFill>
                      <a:srgbClr val="0D4F4F"/>
                    </a:solidFill>
                  </a:tcPr>
                </a:tc>
                <a:tc>
                  <a:txBody>
                    <a:bodyPr/>
                    <a:lstStyle/>
                    <a:p>
                      <a:pPr algn="ctr"/>
                      <a:r>
                        <a:rPr sz="1000" b="1">
                          <a:solidFill>
                            <a:srgbClr val="FFFFFF"/>
                          </a:solidFill>
                          <a:latin typeface="Calibri"/>
                        </a:rPr>
                        <a:t>Efficacité</a:t>
                      </a:r>
                    </a:p>
                  </a:txBody>
                  <a:tcPr>
                    <a:solidFill>
                      <a:srgbClr val="0D4F4F"/>
                    </a:solidFill>
                  </a:tcPr>
                </a:tc>
                <a:tc>
                  <a:txBody>
                    <a:bodyPr/>
                    <a:lstStyle/>
                    <a:p>
                      <a:pPr algn="ctr"/>
                      <a:r>
                        <a:rPr sz="1000" b="1">
                          <a:solidFill>
                            <a:srgbClr val="FFFFFF"/>
                          </a:solidFill>
                          <a:latin typeface="Calibri"/>
                        </a:rPr>
                        <a:t>Eff. parallèle</a:t>
                      </a:r>
                    </a:p>
                  </a:txBody>
                  <a:tcPr>
                    <a:solidFill>
                      <a:srgbClr val="0D4F4F"/>
                    </a:solidFill>
                  </a:tcPr>
                </a:tc>
                <a:extLst>
                  <a:ext uri="{0D108BD9-81ED-4DB2-BD59-A6C34878D82A}">
                    <a16:rowId xmlns:a16="http://schemas.microsoft.com/office/drawing/2014/main" val="10000"/>
                  </a:ext>
                </a:extLst>
              </a:tr>
              <a:tr h="402336">
                <a:tc>
                  <a:txBody>
                    <a:bodyPr/>
                    <a:lstStyle/>
                    <a:p>
                      <a:pPr algn="ctr"/>
                      <a:r>
                        <a:rPr sz="1000">
                          <a:solidFill>
                            <a:srgbClr val="1A1A2E"/>
                          </a:solidFill>
                          <a:latin typeface="Calibri"/>
                        </a:rPr>
                        <a:t>A100 (1 GPU)</a:t>
                      </a:r>
                    </a:p>
                  </a:txBody>
                  <a:tcPr/>
                </a:tc>
                <a:tc>
                  <a:txBody>
                    <a:bodyPr/>
                    <a:lstStyle/>
                    <a:p>
                      <a:pPr algn="ctr"/>
                      <a:r>
                        <a:rPr sz="1000">
                          <a:solidFill>
                            <a:srgbClr val="1A1A2E"/>
                          </a:solidFill>
                          <a:latin typeface="Calibri"/>
                        </a:rPr>
                        <a:t>19,5</a:t>
                      </a:r>
                    </a:p>
                  </a:txBody>
                  <a:tcPr/>
                </a:tc>
                <a:tc>
                  <a:txBody>
                    <a:bodyPr/>
                    <a:lstStyle/>
                    <a:p>
                      <a:pPr algn="ctr"/>
                      <a:r>
                        <a:rPr sz="1000">
                          <a:solidFill>
                            <a:srgbClr val="1A1A2E"/>
                          </a:solidFill>
                          <a:latin typeface="Calibri"/>
                        </a:rPr>
                        <a:t>17 860</a:t>
                      </a:r>
                    </a:p>
                  </a:txBody>
                  <a:tcPr/>
                </a:tc>
                <a:tc>
                  <a:txBody>
                    <a:bodyPr/>
                    <a:lstStyle/>
                    <a:p>
                      <a:pPr algn="ctr"/>
                      <a:r>
                        <a:rPr sz="1000">
                          <a:solidFill>
                            <a:srgbClr val="1A1A2E"/>
                          </a:solidFill>
                          <a:latin typeface="Calibri"/>
                        </a:rPr>
                        <a:t>91,7%</a:t>
                      </a:r>
                    </a:p>
                  </a:txBody>
                  <a:tcPr/>
                </a:tc>
                <a:tc>
                  <a:txBody>
                    <a:bodyPr/>
                    <a:lstStyle/>
                    <a:p>
                      <a:pPr algn="ctr"/>
                      <a:r>
                        <a:rPr sz="1000">
                          <a:solidFill>
                            <a:srgbClr val="1A1A2E"/>
                          </a:solidFill>
                          <a:latin typeface="Calibri"/>
                        </a:rPr>
                        <a:t>—</a:t>
                      </a:r>
                    </a:p>
                  </a:txBody>
                  <a:tcPr/>
                </a:tc>
                <a:extLst>
                  <a:ext uri="{0D108BD9-81ED-4DB2-BD59-A6C34878D82A}">
                    <a16:rowId xmlns:a16="http://schemas.microsoft.com/office/drawing/2014/main" val="10001"/>
                  </a:ext>
                </a:extLst>
              </a:tr>
              <a:tr h="402336">
                <a:tc>
                  <a:txBody>
                    <a:bodyPr/>
                    <a:lstStyle/>
                    <a:p>
                      <a:pPr algn="ctr"/>
                      <a:r>
                        <a:rPr sz="1000" dirty="0">
                          <a:solidFill>
                            <a:srgbClr val="1A1A2E"/>
                          </a:solidFill>
                          <a:latin typeface="Calibri"/>
                        </a:rPr>
                        <a:t>H100 (1 GPU)</a:t>
                      </a:r>
                    </a:p>
                  </a:txBody>
                  <a:tcPr>
                    <a:solidFill>
                      <a:srgbClr val="F7F7F7"/>
                    </a:solidFill>
                  </a:tcPr>
                </a:tc>
                <a:tc>
                  <a:txBody>
                    <a:bodyPr/>
                    <a:lstStyle/>
                    <a:p>
                      <a:pPr algn="ctr"/>
                      <a:r>
                        <a:rPr sz="1000">
                          <a:solidFill>
                            <a:srgbClr val="1A1A2E"/>
                          </a:solidFill>
                          <a:latin typeface="Calibri"/>
                        </a:rPr>
                        <a:t>54,0</a:t>
                      </a:r>
                    </a:p>
                  </a:txBody>
                  <a:tcPr>
                    <a:solidFill>
                      <a:srgbClr val="F7F7F7"/>
                    </a:solidFill>
                  </a:tcPr>
                </a:tc>
                <a:tc>
                  <a:txBody>
                    <a:bodyPr/>
                    <a:lstStyle/>
                    <a:p>
                      <a:pPr algn="ctr"/>
                      <a:r>
                        <a:rPr sz="1000">
                          <a:solidFill>
                            <a:srgbClr val="1A1A2E"/>
                          </a:solidFill>
                          <a:latin typeface="Calibri"/>
                        </a:rPr>
                        <a:t>45 110</a:t>
                      </a:r>
                    </a:p>
                  </a:txBody>
                  <a:tcPr>
                    <a:solidFill>
                      <a:srgbClr val="F7F7F7"/>
                    </a:solidFill>
                  </a:tcPr>
                </a:tc>
                <a:tc>
                  <a:txBody>
                    <a:bodyPr/>
                    <a:lstStyle/>
                    <a:p>
                      <a:pPr algn="ctr"/>
                      <a:r>
                        <a:rPr sz="1000">
                          <a:solidFill>
                            <a:srgbClr val="1A1A2E"/>
                          </a:solidFill>
                          <a:latin typeface="Calibri"/>
                        </a:rPr>
                        <a:t>83,4%</a:t>
                      </a:r>
                    </a:p>
                  </a:txBody>
                  <a:tcPr>
                    <a:solidFill>
                      <a:srgbClr val="F7F7F7"/>
                    </a:solidFill>
                  </a:tcPr>
                </a:tc>
                <a:tc>
                  <a:txBody>
                    <a:bodyPr/>
                    <a:lstStyle/>
                    <a:p>
                      <a:pPr algn="ctr"/>
                      <a:r>
                        <a:rPr sz="1000">
                          <a:solidFill>
                            <a:srgbClr val="1A1A2E"/>
                          </a:solidFill>
                          <a:latin typeface="Calibri"/>
                        </a:rPr>
                        <a:t>—</a:t>
                      </a:r>
                    </a:p>
                  </a:txBody>
                  <a:tcPr>
                    <a:solidFill>
                      <a:srgbClr val="F7F7F7"/>
                    </a:solidFill>
                  </a:tcPr>
                </a:tc>
                <a:extLst>
                  <a:ext uri="{0D108BD9-81ED-4DB2-BD59-A6C34878D82A}">
                    <a16:rowId xmlns:a16="http://schemas.microsoft.com/office/drawing/2014/main" val="10002"/>
                  </a:ext>
                </a:extLst>
              </a:tr>
              <a:tr h="402336">
                <a:tc>
                  <a:txBody>
                    <a:bodyPr/>
                    <a:lstStyle/>
                    <a:p>
                      <a:pPr algn="ctr"/>
                      <a:r>
                        <a:rPr sz="1000" dirty="0">
                          <a:solidFill>
                            <a:srgbClr val="1A1A2E"/>
                          </a:solidFill>
                          <a:latin typeface="Calibri"/>
                        </a:rPr>
                        <a:t>A100 (2 GPUs)</a:t>
                      </a:r>
                    </a:p>
                  </a:txBody>
                  <a:tcPr/>
                </a:tc>
                <a:tc>
                  <a:txBody>
                    <a:bodyPr/>
                    <a:lstStyle/>
                    <a:p>
                      <a:pPr algn="ctr"/>
                      <a:r>
                        <a:rPr sz="1000">
                          <a:solidFill>
                            <a:srgbClr val="1A1A2E"/>
                          </a:solidFill>
                          <a:latin typeface="Calibri"/>
                        </a:rPr>
                        <a:t>39,0</a:t>
                      </a:r>
                    </a:p>
                  </a:txBody>
                  <a:tcPr/>
                </a:tc>
                <a:tc>
                  <a:txBody>
                    <a:bodyPr/>
                    <a:lstStyle/>
                    <a:p>
                      <a:pPr algn="ctr"/>
                      <a:r>
                        <a:rPr sz="1000">
                          <a:solidFill>
                            <a:srgbClr val="1A1A2E"/>
                          </a:solidFill>
                          <a:latin typeface="Calibri"/>
                        </a:rPr>
                        <a:t>34 720</a:t>
                      </a:r>
                    </a:p>
                  </a:txBody>
                  <a:tcPr/>
                </a:tc>
                <a:tc>
                  <a:txBody>
                    <a:bodyPr/>
                    <a:lstStyle/>
                    <a:p>
                      <a:pPr algn="ctr"/>
                      <a:r>
                        <a:rPr sz="1000">
                          <a:solidFill>
                            <a:srgbClr val="1A1A2E"/>
                          </a:solidFill>
                          <a:latin typeface="Calibri"/>
                        </a:rPr>
                        <a:t>89,0%</a:t>
                      </a:r>
                    </a:p>
                  </a:txBody>
                  <a:tcPr/>
                </a:tc>
                <a:tc>
                  <a:txBody>
                    <a:bodyPr/>
                    <a:lstStyle/>
                    <a:p>
                      <a:pPr algn="ctr"/>
                      <a:r>
                        <a:rPr sz="1000">
                          <a:solidFill>
                            <a:srgbClr val="1A1A2E"/>
                          </a:solidFill>
                          <a:latin typeface="Calibri"/>
                        </a:rPr>
                        <a:t>97%</a:t>
                      </a:r>
                    </a:p>
                  </a:txBody>
                  <a:tcPr/>
                </a:tc>
                <a:extLst>
                  <a:ext uri="{0D108BD9-81ED-4DB2-BD59-A6C34878D82A}">
                    <a16:rowId xmlns:a16="http://schemas.microsoft.com/office/drawing/2014/main" val="10003"/>
                  </a:ext>
                </a:extLst>
              </a:tr>
              <a:tr h="402336">
                <a:tc>
                  <a:txBody>
                    <a:bodyPr/>
                    <a:lstStyle/>
                    <a:p>
                      <a:pPr algn="ctr"/>
                      <a:r>
                        <a:rPr sz="1000">
                          <a:solidFill>
                            <a:srgbClr val="1A1A2E"/>
                          </a:solidFill>
                          <a:latin typeface="Calibri"/>
                        </a:rPr>
                        <a:t>H100 (2 GPUs)</a:t>
                      </a:r>
                    </a:p>
                  </a:txBody>
                  <a:tcPr>
                    <a:solidFill>
                      <a:srgbClr val="F7F7F7"/>
                    </a:solidFill>
                  </a:tcPr>
                </a:tc>
                <a:tc>
                  <a:txBody>
                    <a:bodyPr/>
                    <a:lstStyle/>
                    <a:p>
                      <a:pPr algn="ctr"/>
                      <a:r>
                        <a:rPr sz="1000">
                          <a:solidFill>
                            <a:srgbClr val="1A1A2E"/>
                          </a:solidFill>
                          <a:latin typeface="Calibri"/>
                        </a:rPr>
                        <a:t>108,0</a:t>
                      </a:r>
                    </a:p>
                  </a:txBody>
                  <a:tcPr>
                    <a:solidFill>
                      <a:srgbClr val="F7F7F7"/>
                    </a:solidFill>
                  </a:tcPr>
                </a:tc>
                <a:tc>
                  <a:txBody>
                    <a:bodyPr/>
                    <a:lstStyle/>
                    <a:p>
                      <a:pPr algn="ctr"/>
                      <a:r>
                        <a:rPr sz="1000">
                          <a:solidFill>
                            <a:srgbClr val="1A1A2E"/>
                          </a:solidFill>
                          <a:latin typeface="Calibri"/>
                        </a:rPr>
                        <a:t>81 970</a:t>
                      </a:r>
                    </a:p>
                  </a:txBody>
                  <a:tcPr>
                    <a:solidFill>
                      <a:srgbClr val="F7F7F7"/>
                    </a:solidFill>
                  </a:tcPr>
                </a:tc>
                <a:tc>
                  <a:txBody>
                    <a:bodyPr/>
                    <a:lstStyle/>
                    <a:p>
                      <a:pPr algn="ctr"/>
                      <a:r>
                        <a:rPr sz="1000">
                          <a:solidFill>
                            <a:srgbClr val="1A1A2E"/>
                          </a:solidFill>
                          <a:latin typeface="Calibri"/>
                        </a:rPr>
                        <a:t>75,8%</a:t>
                      </a:r>
                    </a:p>
                  </a:txBody>
                  <a:tcPr>
                    <a:solidFill>
                      <a:srgbClr val="F7F7F7"/>
                    </a:solidFill>
                  </a:tcPr>
                </a:tc>
                <a:tc>
                  <a:txBody>
                    <a:bodyPr/>
                    <a:lstStyle/>
                    <a:p>
                      <a:pPr algn="ctr"/>
                      <a:r>
                        <a:rPr sz="1000" dirty="0">
                          <a:solidFill>
                            <a:srgbClr val="1A1A2E"/>
                          </a:solidFill>
                          <a:latin typeface="Calibri"/>
                        </a:rPr>
                        <a:t>91%</a:t>
                      </a:r>
                    </a:p>
                  </a:txBody>
                  <a:tcPr>
                    <a:solidFill>
                      <a:srgbClr val="F7F7F7"/>
                    </a:solidFill>
                  </a:tcPr>
                </a:tc>
                <a:extLst>
                  <a:ext uri="{0D108BD9-81ED-4DB2-BD59-A6C34878D82A}">
                    <a16:rowId xmlns:a16="http://schemas.microsoft.com/office/drawing/2014/main" val="10004"/>
                  </a:ext>
                </a:extLst>
              </a:tr>
            </a:tbl>
          </a:graphicData>
        </a:graphic>
      </p:graphicFrame>
      <p:sp>
        <p:nvSpPr>
          <p:cNvPr id="6" name="Rectangle 5"/>
          <p:cNvSpPr/>
          <p:nvPr/>
        </p:nvSpPr>
        <p:spPr>
          <a:xfrm>
            <a:off x="365760" y="3429003"/>
            <a:ext cx="4023360" cy="100584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365760" y="3429003"/>
            <a:ext cx="4023360" cy="45720"/>
          </a:xfrm>
          <a:prstGeom prst="rect">
            <a:avLst/>
          </a:prstGeom>
          <a:solidFill>
            <a:srgbClr val="0E7C7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457200" y="3520443"/>
            <a:ext cx="3840480" cy="822960"/>
          </a:xfrm>
          <a:prstGeom prst="rect">
            <a:avLst/>
          </a:prstGeom>
          <a:noFill/>
        </p:spPr>
        <p:txBody>
          <a:bodyPr wrap="square">
            <a:spAutoFit/>
          </a:bodyPr>
          <a:lstStyle/>
          <a:p>
            <a:pPr>
              <a:spcAft>
                <a:spcPts val="200"/>
              </a:spcAft>
            </a:pPr>
            <a:r>
              <a:rPr sz="1000" b="1">
                <a:solidFill>
                  <a:srgbClr val="0E7C7B"/>
                </a:solidFill>
                <a:latin typeface="Calibri"/>
              </a:rPr>
              <a:t>HPL est compute-bound</a:t>
            </a:r>
          </a:p>
          <a:p>
            <a:pPr>
              <a:spcAft>
                <a:spcPts val="200"/>
              </a:spcAft>
            </a:pPr>
            <a:r>
              <a:rPr sz="1000" b="0">
                <a:solidFill>
                  <a:srgbClr val="4A4A5A"/>
                </a:solidFill>
                <a:latin typeface="Calibri"/>
              </a:rPr>
              <a:t>Le calcul (DGEMM) domine le temps d'exécution.</a:t>
            </a:r>
          </a:p>
          <a:p>
            <a:pPr>
              <a:spcAft>
                <a:spcPts val="200"/>
              </a:spcAft>
            </a:pPr>
            <a:r>
              <a:rPr sz="1000" b="0">
                <a:solidFill>
                  <a:srgbClr val="4A4A5A"/>
                </a:solidFill>
                <a:latin typeface="Calibri"/>
              </a:rPr>
              <a:t>L'A100 est plus facile à saturer → meilleure efficacité.</a:t>
            </a:r>
          </a:p>
        </p:txBody>
      </p:sp>
      <p:sp>
        <p:nvSpPr>
          <p:cNvPr id="9" name="Rectangle 8"/>
          <p:cNvSpPr/>
          <p:nvPr/>
        </p:nvSpPr>
        <p:spPr>
          <a:xfrm>
            <a:off x="4572000" y="3429003"/>
            <a:ext cx="4389120" cy="100584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p:cNvSpPr/>
          <p:nvPr/>
        </p:nvSpPr>
        <p:spPr>
          <a:xfrm>
            <a:off x="4572000" y="3429003"/>
            <a:ext cx="4389120" cy="45720"/>
          </a:xfrm>
          <a:prstGeom prst="rect">
            <a:avLst/>
          </a:prstGeom>
          <a:solidFill>
            <a:srgbClr val="E07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4663440" y="3520443"/>
            <a:ext cx="4206240" cy="822960"/>
          </a:xfrm>
          <a:prstGeom prst="rect">
            <a:avLst/>
          </a:prstGeom>
          <a:noFill/>
        </p:spPr>
        <p:txBody>
          <a:bodyPr wrap="square">
            <a:spAutoFit/>
          </a:bodyPr>
          <a:lstStyle/>
          <a:p>
            <a:pPr>
              <a:spcAft>
                <a:spcPts val="200"/>
              </a:spcAft>
            </a:pPr>
            <a:r>
              <a:rPr sz="1000" b="1">
                <a:solidFill>
                  <a:srgbClr val="E07A5F"/>
                </a:solidFill>
                <a:latin typeface="Calibri"/>
              </a:rPr>
              <a:t>Plus de puissance = plus difficile à exploiter</a:t>
            </a:r>
          </a:p>
          <a:p>
            <a:pPr>
              <a:spcAft>
                <a:spcPts val="200"/>
              </a:spcAft>
            </a:pPr>
            <a:r>
              <a:rPr sz="1000" b="0">
                <a:solidFill>
                  <a:srgbClr val="4A4A5A"/>
                </a:solidFill>
                <a:latin typeface="Calibri"/>
              </a:rPr>
              <a:t>L'efficacité diminue de 91,7% (A100 1 GPU)</a:t>
            </a:r>
          </a:p>
          <a:p>
            <a:pPr>
              <a:spcAft>
                <a:spcPts val="200"/>
              </a:spcAft>
            </a:pPr>
            <a:r>
              <a:rPr sz="1000" b="0">
                <a:solidFill>
                  <a:srgbClr val="4A4A5A"/>
                </a:solidFill>
                <a:latin typeface="Calibri"/>
              </a:rPr>
              <a:t>à 75,8% (H100 2 GPUs).</a:t>
            </a:r>
          </a:p>
        </p:txBody>
      </p:sp>
      <p:sp>
        <p:nvSpPr>
          <p:cNvPr id="14" name="TextBox 13">
            <a:extLst>
              <a:ext uri="{FF2B5EF4-FFF2-40B4-BE49-F238E27FC236}">
                <a16:creationId xmlns:a16="http://schemas.microsoft.com/office/drawing/2014/main" id="{AE128637-6940-D6D8-CA07-C0C9A0D30BFA}"/>
              </a:ext>
            </a:extLst>
          </p:cNvPr>
          <p:cNvSpPr txBox="1"/>
          <p:nvPr/>
        </p:nvSpPr>
        <p:spPr>
          <a:xfrm>
            <a:off x="8363200" y="43934"/>
            <a:ext cx="857927" cy="369332"/>
          </a:xfrm>
          <a:prstGeom prst="rect">
            <a:avLst/>
          </a:prstGeom>
          <a:noFill/>
        </p:spPr>
        <p:txBody>
          <a:bodyPr wrap="none" rtlCol="0">
            <a:spAutoFit/>
          </a:bodyPr>
          <a:lstStyle/>
          <a:p>
            <a:r>
              <a:rPr lang="fr-FR" b="1" dirty="0">
                <a:solidFill>
                  <a:srgbClr val="0D4F4F"/>
                </a:solidFill>
                <a:latin typeface="Georgia"/>
              </a:rPr>
              <a:t>20/21</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9144000" cy="5143500"/>
          </a:xfrm>
          <a:prstGeom prst="rect">
            <a:avLst/>
          </a:prstGeom>
          <a:solidFill>
            <a:srgbClr val="FAF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228600"/>
            <a:ext cx="7772400" cy="369332"/>
          </a:xfrm>
          <a:prstGeom prst="rect">
            <a:avLst/>
          </a:prstGeom>
          <a:noFill/>
        </p:spPr>
        <p:txBody>
          <a:bodyPr wrap="square" lIns="0" tIns="0" rIns="0" bIns="0">
            <a:spAutoFit/>
          </a:bodyPr>
          <a:lstStyle/>
          <a:p>
            <a:r>
              <a:rPr sz="2400" b="1" dirty="0">
                <a:solidFill>
                  <a:srgbClr val="0D4F4F"/>
                </a:solidFill>
                <a:latin typeface="Georgia"/>
              </a:rPr>
              <a:t>Conclusion</a:t>
            </a:r>
          </a:p>
        </p:txBody>
      </p:sp>
      <p:sp>
        <p:nvSpPr>
          <p:cNvPr id="4" name="TextBox 3"/>
          <p:cNvSpPr txBox="1"/>
          <p:nvPr/>
        </p:nvSpPr>
        <p:spPr>
          <a:xfrm>
            <a:off x="548640" y="658368"/>
            <a:ext cx="7772400" cy="274320"/>
          </a:xfrm>
          <a:prstGeom prst="rect">
            <a:avLst/>
          </a:prstGeom>
          <a:noFill/>
        </p:spPr>
        <p:txBody>
          <a:bodyPr wrap="none" lIns="0" tIns="0" rIns="0" bIns="0">
            <a:spAutoFit/>
          </a:bodyPr>
          <a:lstStyle/>
          <a:p>
            <a:r>
              <a:rPr sz="1200" i="1">
                <a:solidFill>
                  <a:srgbClr val="8A8A9A"/>
                </a:solidFill>
                <a:latin typeface="Calibri"/>
              </a:rPr>
              <a:t>5 résultats clés de notre analyse HPL sur GPU</a:t>
            </a:r>
          </a:p>
        </p:txBody>
      </p:sp>
      <p:sp>
        <p:nvSpPr>
          <p:cNvPr id="5" name="Rectangle 4"/>
          <p:cNvSpPr/>
          <p:nvPr/>
        </p:nvSpPr>
        <p:spPr>
          <a:xfrm>
            <a:off x="365760" y="960120"/>
            <a:ext cx="8412480" cy="59436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365760" y="960120"/>
            <a:ext cx="8412480" cy="45720"/>
          </a:xfrm>
          <a:prstGeom prst="rect">
            <a:avLst/>
          </a:prstGeom>
          <a:solidFill>
            <a:srgbClr val="0E7C7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502920" y="1069848"/>
            <a:ext cx="365760" cy="365760"/>
          </a:xfrm>
          <a:prstGeom prst="rect">
            <a:avLst/>
          </a:prstGeom>
          <a:solidFill>
            <a:srgbClr val="0E7C7B"/>
          </a:solidFill>
          <a:ln>
            <a:noFill/>
          </a:ln>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400" b="1">
                <a:solidFill>
                  <a:srgbClr val="FFFFFF"/>
                </a:solidFill>
                <a:latin typeface="Calibri"/>
              </a:rPr>
              <a:t>1</a:t>
            </a:r>
          </a:p>
        </p:txBody>
      </p:sp>
      <p:sp>
        <p:nvSpPr>
          <p:cNvPr id="8" name="TextBox 7"/>
          <p:cNvSpPr txBox="1"/>
          <p:nvPr/>
        </p:nvSpPr>
        <p:spPr>
          <a:xfrm>
            <a:off x="1005840" y="1005840"/>
            <a:ext cx="3657600" cy="274320"/>
          </a:xfrm>
          <a:prstGeom prst="rect">
            <a:avLst/>
          </a:prstGeom>
          <a:noFill/>
        </p:spPr>
        <p:txBody>
          <a:bodyPr wrap="square">
            <a:spAutoFit/>
          </a:bodyPr>
          <a:lstStyle/>
          <a:p>
            <a:pPr algn="l"/>
            <a:r>
              <a:rPr sz="1200" b="1" i="0">
                <a:solidFill>
                  <a:srgbClr val="0E7C7B"/>
                </a:solidFill>
                <a:latin typeface="Calibri"/>
              </a:rPr>
              <a:t>HPL est compute-bound</a:t>
            </a:r>
          </a:p>
        </p:txBody>
      </p:sp>
      <p:sp>
        <p:nvSpPr>
          <p:cNvPr id="9" name="TextBox 8"/>
          <p:cNvSpPr txBox="1"/>
          <p:nvPr/>
        </p:nvSpPr>
        <p:spPr>
          <a:xfrm>
            <a:off x="1005840" y="1261872"/>
            <a:ext cx="7589520" cy="228600"/>
          </a:xfrm>
          <a:prstGeom prst="rect">
            <a:avLst/>
          </a:prstGeom>
          <a:noFill/>
        </p:spPr>
        <p:txBody>
          <a:bodyPr wrap="square">
            <a:spAutoFit/>
          </a:bodyPr>
          <a:lstStyle/>
          <a:p>
            <a:pPr algn="l"/>
            <a:r>
              <a:rPr sz="1000" b="0" i="0">
                <a:solidFill>
                  <a:srgbClr val="4A4A5A"/>
                </a:solidFill>
                <a:latin typeface="Calibri"/>
              </a:rPr>
              <a:t>Efficacités de 83 à 92% — le calcul domine</a:t>
            </a:r>
          </a:p>
        </p:txBody>
      </p:sp>
      <p:sp>
        <p:nvSpPr>
          <p:cNvPr id="10" name="Rectangle 9"/>
          <p:cNvSpPr/>
          <p:nvPr/>
        </p:nvSpPr>
        <p:spPr>
          <a:xfrm>
            <a:off x="365760" y="1645920"/>
            <a:ext cx="8412480" cy="59436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365760" y="1645920"/>
            <a:ext cx="8412480" cy="45720"/>
          </a:xfrm>
          <a:prstGeom prst="rect">
            <a:avLst/>
          </a:prstGeom>
          <a:solidFill>
            <a:srgbClr val="0E7C7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ectangle 11"/>
          <p:cNvSpPr/>
          <p:nvPr/>
        </p:nvSpPr>
        <p:spPr>
          <a:xfrm>
            <a:off x="502920" y="1755648"/>
            <a:ext cx="365760" cy="365760"/>
          </a:xfrm>
          <a:prstGeom prst="rect">
            <a:avLst/>
          </a:prstGeom>
          <a:solidFill>
            <a:srgbClr val="0E7C7B"/>
          </a:solidFill>
          <a:ln>
            <a:noFill/>
          </a:ln>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400" b="1">
                <a:solidFill>
                  <a:srgbClr val="FFFFFF"/>
                </a:solidFill>
                <a:latin typeface="Calibri"/>
              </a:rPr>
              <a:t>2</a:t>
            </a:r>
          </a:p>
        </p:txBody>
      </p:sp>
      <p:sp>
        <p:nvSpPr>
          <p:cNvPr id="13" name="TextBox 12"/>
          <p:cNvSpPr txBox="1"/>
          <p:nvPr/>
        </p:nvSpPr>
        <p:spPr>
          <a:xfrm>
            <a:off x="1005840" y="1691640"/>
            <a:ext cx="3657600" cy="274320"/>
          </a:xfrm>
          <a:prstGeom prst="rect">
            <a:avLst/>
          </a:prstGeom>
          <a:noFill/>
        </p:spPr>
        <p:txBody>
          <a:bodyPr wrap="square">
            <a:spAutoFit/>
          </a:bodyPr>
          <a:lstStyle/>
          <a:p>
            <a:pPr algn="l"/>
            <a:r>
              <a:rPr sz="1200" b="1" i="0">
                <a:solidFill>
                  <a:srgbClr val="0E7C7B"/>
                </a:solidFill>
                <a:latin typeface="Calibri"/>
              </a:rPr>
              <a:t>La taille du problème est déterminante</a:t>
            </a:r>
          </a:p>
        </p:txBody>
      </p:sp>
      <p:sp>
        <p:nvSpPr>
          <p:cNvPr id="14" name="TextBox 13"/>
          <p:cNvSpPr txBox="1"/>
          <p:nvPr/>
        </p:nvSpPr>
        <p:spPr>
          <a:xfrm>
            <a:off x="1005840" y="1947672"/>
            <a:ext cx="7589520" cy="228600"/>
          </a:xfrm>
          <a:prstGeom prst="rect">
            <a:avLst/>
          </a:prstGeom>
          <a:noFill/>
        </p:spPr>
        <p:txBody>
          <a:bodyPr wrap="square">
            <a:spAutoFit/>
          </a:bodyPr>
          <a:lstStyle/>
          <a:p>
            <a:pPr algn="l"/>
            <a:r>
              <a:rPr sz="1000" b="0" i="0">
                <a:solidFill>
                  <a:srgbClr val="4A4A5A"/>
                </a:solidFill>
                <a:latin typeface="Calibri"/>
              </a:rPr>
              <a:t>O(N³) calcul vs O(N²) communication</a:t>
            </a:r>
          </a:p>
        </p:txBody>
      </p:sp>
      <p:sp>
        <p:nvSpPr>
          <p:cNvPr id="15" name="Rectangle 14"/>
          <p:cNvSpPr/>
          <p:nvPr/>
        </p:nvSpPr>
        <p:spPr>
          <a:xfrm>
            <a:off x="365760" y="2331720"/>
            <a:ext cx="8412480" cy="59436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ectangle 15"/>
          <p:cNvSpPr/>
          <p:nvPr/>
        </p:nvSpPr>
        <p:spPr>
          <a:xfrm>
            <a:off x="365760" y="2331720"/>
            <a:ext cx="8412480" cy="45720"/>
          </a:xfrm>
          <a:prstGeom prst="rect">
            <a:avLst/>
          </a:prstGeom>
          <a:solidFill>
            <a:srgbClr val="0E7C7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ectangle 16"/>
          <p:cNvSpPr/>
          <p:nvPr/>
        </p:nvSpPr>
        <p:spPr>
          <a:xfrm>
            <a:off x="502920" y="2441448"/>
            <a:ext cx="365760" cy="365760"/>
          </a:xfrm>
          <a:prstGeom prst="rect">
            <a:avLst/>
          </a:prstGeom>
          <a:solidFill>
            <a:srgbClr val="0E7C7B"/>
          </a:solidFill>
          <a:ln>
            <a:noFill/>
          </a:ln>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400" b="1">
                <a:solidFill>
                  <a:srgbClr val="FFFFFF"/>
                </a:solidFill>
                <a:latin typeface="Calibri"/>
              </a:rPr>
              <a:t>3</a:t>
            </a:r>
          </a:p>
        </p:txBody>
      </p:sp>
      <p:sp>
        <p:nvSpPr>
          <p:cNvPr id="18" name="TextBox 17"/>
          <p:cNvSpPr txBox="1"/>
          <p:nvPr/>
        </p:nvSpPr>
        <p:spPr>
          <a:xfrm>
            <a:off x="1005840" y="2377440"/>
            <a:ext cx="3657600" cy="274320"/>
          </a:xfrm>
          <a:prstGeom prst="rect">
            <a:avLst/>
          </a:prstGeom>
          <a:noFill/>
        </p:spPr>
        <p:txBody>
          <a:bodyPr wrap="square">
            <a:spAutoFit/>
          </a:bodyPr>
          <a:lstStyle/>
          <a:p>
            <a:pPr algn="l"/>
            <a:r>
              <a:rPr sz="1200" b="1" i="0">
                <a:solidFill>
                  <a:srgbClr val="0E7C7B"/>
                </a:solidFill>
                <a:latin typeface="Calibri"/>
              </a:rPr>
              <a:t>Le multi-GPU a un seuil de rentabilité</a:t>
            </a:r>
          </a:p>
        </p:txBody>
      </p:sp>
      <p:sp>
        <p:nvSpPr>
          <p:cNvPr id="19" name="TextBox 18"/>
          <p:cNvSpPr txBox="1"/>
          <p:nvPr/>
        </p:nvSpPr>
        <p:spPr>
          <a:xfrm>
            <a:off x="1005840" y="2633472"/>
            <a:ext cx="7589520" cy="228600"/>
          </a:xfrm>
          <a:prstGeom prst="rect">
            <a:avLst/>
          </a:prstGeom>
          <a:noFill/>
        </p:spPr>
        <p:txBody>
          <a:bodyPr wrap="square">
            <a:spAutoFit/>
          </a:bodyPr>
          <a:lstStyle/>
          <a:p>
            <a:pPr algn="l"/>
            <a:r>
              <a:rPr sz="1000" b="0" i="0">
                <a:solidFill>
                  <a:srgbClr val="4A4A5A"/>
                </a:solidFill>
                <a:latin typeface="Calibri"/>
              </a:rPr>
              <a:t>N entre 20K et 40K — en dessous, contre-productif</a:t>
            </a:r>
          </a:p>
        </p:txBody>
      </p:sp>
      <p:sp>
        <p:nvSpPr>
          <p:cNvPr id="20" name="Rectangle 19"/>
          <p:cNvSpPr/>
          <p:nvPr/>
        </p:nvSpPr>
        <p:spPr>
          <a:xfrm>
            <a:off x="365760" y="3017520"/>
            <a:ext cx="8412480" cy="59436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Rectangle 20"/>
          <p:cNvSpPr/>
          <p:nvPr/>
        </p:nvSpPr>
        <p:spPr>
          <a:xfrm>
            <a:off x="365760" y="3017520"/>
            <a:ext cx="8412480" cy="45720"/>
          </a:xfrm>
          <a:prstGeom prst="rect">
            <a:avLst/>
          </a:prstGeom>
          <a:solidFill>
            <a:srgbClr val="E07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Rectangle 21"/>
          <p:cNvSpPr/>
          <p:nvPr/>
        </p:nvSpPr>
        <p:spPr>
          <a:xfrm>
            <a:off x="502920" y="3127248"/>
            <a:ext cx="365760" cy="365760"/>
          </a:xfrm>
          <a:prstGeom prst="rect">
            <a:avLst/>
          </a:prstGeom>
          <a:solidFill>
            <a:srgbClr val="E07A5F"/>
          </a:solidFill>
          <a:ln>
            <a:noFill/>
          </a:ln>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400" b="1">
                <a:solidFill>
                  <a:srgbClr val="FFFFFF"/>
                </a:solidFill>
                <a:latin typeface="Calibri"/>
              </a:rPr>
              <a:t>4</a:t>
            </a:r>
          </a:p>
        </p:txBody>
      </p:sp>
      <p:sp>
        <p:nvSpPr>
          <p:cNvPr id="23" name="TextBox 22"/>
          <p:cNvSpPr txBox="1"/>
          <p:nvPr/>
        </p:nvSpPr>
        <p:spPr>
          <a:xfrm>
            <a:off x="1005840" y="3063240"/>
            <a:ext cx="3657600" cy="274320"/>
          </a:xfrm>
          <a:prstGeom prst="rect">
            <a:avLst/>
          </a:prstGeom>
          <a:noFill/>
        </p:spPr>
        <p:txBody>
          <a:bodyPr wrap="square">
            <a:spAutoFit/>
          </a:bodyPr>
          <a:lstStyle/>
          <a:p>
            <a:pPr algn="l"/>
            <a:r>
              <a:rPr sz="1200" b="1" i="0">
                <a:solidFill>
                  <a:srgbClr val="E07A5F"/>
                </a:solidFill>
                <a:latin typeface="Calibri"/>
              </a:rPr>
              <a:t>Le H100 offre ≈2,5x l'A100</a:t>
            </a:r>
          </a:p>
        </p:txBody>
      </p:sp>
      <p:sp>
        <p:nvSpPr>
          <p:cNvPr id="24" name="TextBox 23"/>
          <p:cNvSpPr txBox="1"/>
          <p:nvPr/>
        </p:nvSpPr>
        <p:spPr>
          <a:xfrm>
            <a:off x="1005840" y="3319272"/>
            <a:ext cx="7589520" cy="228600"/>
          </a:xfrm>
          <a:prstGeom prst="rect">
            <a:avLst/>
          </a:prstGeom>
          <a:noFill/>
        </p:spPr>
        <p:txBody>
          <a:bodyPr wrap="square">
            <a:spAutoFit/>
          </a:bodyPr>
          <a:lstStyle/>
          <a:p>
            <a:pPr algn="l"/>
            <a:r>
              <a:rPr sz="1000" b="0" i="0">
                <a:solidFill>
                  <a:srgbClr val="4A4A5A"/>
                </a:solidFill>
                <a:latin typeface="Calibri"/>
              </a:rPr>
              <a:t>Ratio mesuré 2,53x vs théorique 2,77x</a:t>
            </a:r>
          </a:p>
        </p:txBody>
      </p:sp>
      <p:sp>
        <p:nvSpPr>
          <p:cNvPr id="25" name="Rectangle 24"/>
          <p:cNvSpPr/>
          <p:nvPr/>
        </p:nvSpPr>
        <p:spPr>
          <a:xfrm>
            <a:off x="365760" y="3703320"/>
            <a:ext cx="8412480" cy="59436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Rectangle 25"/>
          <p:cNvSpPr/>
          <p:nvPr/>
        </p:nvSpPr>
        <p:spPr>
          <a:xfrm>
            <a:off x="365760" y="3703320"/>
            <a:ext cx="8412480" cy="45720"/>
          </a:xfrm>
          <a:prstGeom prst="rect">
            <a:avLst/>
          </a:prstGeom>
          <a:solidFill>
            <a:srgbClr val="E07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Rectangle 26"/>
          <p:cNvSpPr/>
          <p:nvPr/>
        </p:nvSpPr>
        <p:spPr>
          <a:xfrm>
            <a:off x="502920" y="3813048"/>
            <a:ext cx="365760" cy="365760"/>
          </a:xfrm>
          <a:prstGeom prst="rect">
            <a:avLst/>
          </a:prstGeom>
          <a:solidFill>
            <a:srgbClr val="E07A5F"/>
          </a:solidFill>
          <a:ln>
            <a:noFill/>
          </a:ln>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400" b="1">
                <a:solidFill>
                  <a:srgbClr val="FFFFFF"/>
                </a:solidFill>
                <a:latin typeface="Calibri"/>
              </a:rPr>
              <a:t>5</a:t>
            </a:r>
          </a:p>
        </p:txBody>
      </p:sp>
      <p:sp>
        <p:nvSpPr>
          <p:cNvPr id="28" name="TextBox 27"/>
          <p:cNvSpPr txBox="1"/>
          <p:nvPr/>
        </p:nvSpPr>
        <p:spPr>
          <a:xfrm>
            <a:off x="1005840" y="3749040"/>
            <a:ext cx="3657600" cy="274320"/>
          </a:xfrm>
          <a:prstGeom prst="rect">
            <a:avLst/>
          </a:prstGeom>
          <a:noFill/>
        </p:spPr>
        <p:txBody>
          <a:bodyPr wrap="square">
            <a:spAutoFit/>
          </a:bodyPr>
          <a:lstStyle/>
          <a:p>
            <a:pPr algn="l"/>
            <a:r>
              <a:rPr sz="1200" b="1" i="0">
                <a:solidFill>
                  <a:srgbClr val="E07A5F"/>
                </a:solidFill>
                <a:latin typeface="Calibri"/>
              </a:rPr>
              <a:t>L'efficacité diminue avec la puissance</a:t>
            </a:r>
          </a:p>
        </p:txBody>
      </p:sp>
      <p:sp>
        <p:nvSpPr>
          <p:cNvPr id="29" name="TextBox 28"/>
          <p:cNvSpPr txBox="1"/>
          <p:nvPr/>
        </p:nvSpPr>
        <p:spPr>
          <a:xfrm>
            <a:off x="1005840" y="4005072"/>
            <a:ext cx="7589520" cy="228600"/>
          </a:xfrm>
          <a:prstGeom prst="rect">
            <a:avLst/>
          </a:prstGeom>
          <a:noFill/>
        </p:spPr>
        <p:txBody>
          <a:bodyPr wrap="square">
            <a:spAutoFit/>
          </a:bodyPr>
          <a:lstStyle/>
          <a:p>
            <a:pPr algn="l"/>
            <a:r>
              <a:rPr sz="1000" b="0" i="0">
                <a:solidFill>
                  <a:srgbClr val="4A4A5A"/>
                </a:solidFill>
                <a:latin typeface="Calibri"/>
              </a:rPr>
              <a:t>97% (A100) vs 91% (H100) en parallèle</a:t>
            </a:r>
          </a:p>
        </p:txBody>
      </p:sp>
      <p:sp>
        <p:nvSpPr>
          <p:cNvPr id="30" name="Rectangle 29"/>
          <p:cNvSpPr/>
          <p:nvPr/>
        </p:nvSpPr>
        <p:spPr>
          <a:xfrm>
            <a:off x="365760" y="4526280"/>
            <a:ext cx="8412480" cy="502920"/>
          </a:xfrm>
          <a:prstGeom prst="rect">
            <a:avLst/>
          </a:prstGeom>
          <a:solidFill>
            <a:srgbClr val="E0F2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502920" y="4526280"/>
            <a:ext cx="8229600" cy="276999"/>
          </a:xfrm>
          <a:prstGeom prst="rect">
            <a:avLst/>
          </a:prstGeom>
          <a:noFill/>
        </p:spPr>
        <p:txBody>
          <a:bodyPr wrap="square">
            <a:spAutoFit/>
          </a:bodyPr>
          <a:lstStyle/>
          <a:p>
            <a:pPr algn="ctr"/>
            <a:r>
              <a:rPr sz="1200" b="1" i="0" dirty="0">
                <a:solidFill>
                  <a:srgbClr val="0D4F4F"/>
                </a:solidFill>
                <a:latin typeface="Calibri"/>
              </a:rPr>
              <a:t>Puissance brute, passage à </a:t>
            </a:r>
            <a:r>
              <a:rPr sz="1200" b="1" i="0" dirty="0" err="1">
                <a:solidFill>
                  <a:srgbClr val="0D4F4F"/>
                </a:solidFill>
                <a:latin typeface="Calibri"/>
              </a:rPr>
              <a:t>l'échelle</a:t>
            </a:r>
            <a:r>
              <a:rPr sz="1200" b="1" i="0" dirty="0">
                <a:solidFill>
                  <a:srgbClr val="0D4F4F"/>
                </a:solidFill>
                <a:latin typeface="Calibri"/>
              </a:rPr>
              <a:t> et </a:t>
            </a:r>
            <a:r>
              <a:rPr sz="1200" b="1" i="0" dirty="0" err="1">
                <a:solidFill>
                  <a:srgbClr val="0D4F4F"/>
                </a:solidFill>
                <a:latin typeface="Calibri"/>
              </a:rPr>
              <a:t>dimensionnement</a:t>
            </a:r>
            <a:r>
              <a:rPr sz="1200" b="1" i="0" dirty="0">
                <a:solidFill>
                  <a:srgbClr val="0D4F4F"/>
                </a:solidFill>
                <a:latin typeface="Calibri"/>
              </a:rPr>
              <a:t> du </a:t>
            </a:r>
            <a:r>
              <a:rPr sz="1200" b="1" i="0" dirty="0" err="1">
                <a:solidFill>
                  <a:srgbClr val="0D4F4F"/>
                </a:solidFill>
                <a:latin typeface="Calibri"/>
              </a:rPr>
              <a:t>problème</a:t>
            </a:r>
            <a:r>
              <a:rPr sz="1200" b="1" i="0" dirty="0">
                <a:solidFill>
                  <a:srgbClr val="0D4F4F"/>
                </a:solidFill>
                <a:latin typeface="Calibri"/>
              </a:rPr>
              <a:t> </a:t>
            </a:r>
            <a:r>
              <a:rPr sz="1200" b="1" i="0" dirty="0" err="1">
                <a:solidFill>
                  <a:srgbClr val="0D4F4F"/>
                </a:solidFill>
                <a:latin typeface="Calibri"/>
              </a:rPr>
              <a:t>sont</a:t>
            </a:r>
            <a:r>
              <a:rPr sz="1200" b="1" i="0" dirty="0">
                <a:solidFill>
                  <a:srgbClr val="0D4F4F"/>
                </a:solidFill>
                <a:latin typeface="Calibri"/>
              </a:rPr>
              <a:t> </a:t>
            </a:r>
            <a:r>
              <a:rPr sz="1200" b="1" i="0" dirty="0" err="1">
                <a:solidFill>
                  <a:srgbClr val="0D4F4F"/>
                </a:solidFill>
                <a:latin typeface="Calibri"/>
              </a:rPr>
              <a:t>étroitement</a:t>
            </a:r>
            <a:r>
              <a:rPr sz="1200" b="1" i="0" dirty="0">
                <a:solidFill>
                  <a:srgbClr val="0D4F4F"/>
                </a:solidFill>
                <a:latin typeface="Calibri"/>
              </a:rPr>
              <a:t> </a:t>
            </a:r>
            <a:r>
              <a:rPr sz="1200" b="1" i="0" dirty="0" err="1">
                <a:solidFill>
                  <a:srgbClr val="0D4F4F"/>
                </a:solidFill>
                <a:latin typeface="Calibri"/>
              </a:rPr>
              <a:t>liés</a:t>
            </a:r>
            <a:r>
              <a:rPr sz="1200" b="1" i="0" dirty="0">
                <a:solidFill>
                  <a:srgbClr val="0D4F4F"/>
                </a:solidFill>
                <a:latin typeface="Calibri"/>
              </a:rPr>
              <a:t>.</a:t>
            </a:r>
          </a:p>
        </p:txBody>
      </p:sp>
      <p:sp>
        <p:nvSpPr>
          <p:cNvPr id="34" name="TextBox 33">
            <a:extLst>
              <a:ext uri="{FF2B5EF4-FFF2-40B4-BE49-F238E27FC236}">
                <a16:creationId xmlns:a16="http://schemas.microsoft.com/office/drawing/2014/main" id="{69497BE7-6404-13B5-A4BD-53AD7CC15024}"/>
              </a:ext>
            </a:extLst>
          </p:cNvPr>
          <p:cNvSpPr txBox="1"/>
          <p:nvPr/>
        </p:nvSpPr>
        <p:spPr>
          <a:xfrm>
            <a:off x="8394732" y="43934"/>
            <a:ext cx="809837" cy="369332"/>
          </a:xfrm>
          <a:prstGeom prst="rect">
            <a:avLst/>
          </a:prstGeom>
          <a:noFill/>
        </p:spPr>
        <p:txBody>
          <a:bodyPr wrap="none" rtlCol="0">
            <a:spAutoFit/>
          </a:bodyPr>
          <a:lstStyle/>
          <a:p>
            <a:r>
              <a:rPr lang="fr-FR" b="1" dirty="0">
                <a:solidFill>
                  <a:srgbClr val="0D4F4F"/>
                </a:solidFill>
                <a:latin typeface="Georgia"/>
              </a:rPr>
              <a:t>21/21</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448</TotalTime>
  <Words>3405</Words>
  <Application>Microsoft Office PowerPoint</Application>
  <PresentationFormat>On-screen Show (16:9)</PresentationFormat>
  <Paragraphs>691</Paragraphs>
  <Slides>21</Slides>
  <Notes>19</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21</vt:i4>
      </vt:variant>
    </vt:vector>
  </HeadingPairs>
  <TitlesOfParts>
    <vt:vector size="26" baseType="lpstr">
      <vt:lpstr>Arial</vt:lpstr>
      <vt:lpstr>Calibri</vt:lpstr>
      <vt:lpstr>Cambria Math</vt:lpstr>
      <vt:lpstr>Georgia</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Nguyen et al. 2014 - Modelisation cinetique bacterienne</dc:title>
  <dc:subject>PptxGenJS Presentation</dc:subject>
  <dc:creator>Achraf Benmalk</dc:creator>
  <cp:lastModifiedBy>BENMALK Achraf</cp:lastModifiedBy>
  <cp:revision>18</cp:revision>
  <dcterms:created xsi:type="dcterms:W3CDTF">2026-02-09T15:08:39Z</dcterms:created>
  <dcterms:modified xsi:type="dcterms:W3CDTF">2026-02-18T15:26:38Z</dcterms:modified>
</cp:coreProperties>
</file>